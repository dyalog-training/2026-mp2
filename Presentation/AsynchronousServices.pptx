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p:sldMasterIdLst>
    <p:sldMasterId id="2147483648" r:id="rId1"/>
  </p:sldMasterIdLst>
  <p:notesMasterIdLst>
    <p:notesMasterId r:id="rId32"/>
  </p:notesMasterIdLst>
  <p:handoutMasterIdLst>
    <p:handoutMasterId r:id="rId33"/>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89" r:id="rId14"/>
    <p:sldId id="269" r:id="rId15"/>
    <p:sldId id="270" r:id="rId16"/>
    <p:sldId id="271" r:id="rId17"/>
    <p:sldId id="272" r:id="rId18"/>
    <p:sldId id="273" r:id="rId19"/>
    <p:sldId id="284" r:id="rId20"/>
    <p:sldId id="275" r:id="rId21"/>
    <p:sldId id="276" r:id="rId22"/>
    <p:sldId id="277" r:id="rId23"/>
    <p:sldId id="286" r:id="rId24"/>
    <p:sldId id="279" r:id="rId25"/>
    <p:sldId id="280" r:id="rId26"/>
    <p:sldId id="287" r:id="rId27"/>
    <p:sldId id="281" r:id="rId28"/>
    <p:sldId id="288" r:id="rId29"/>
    <p:sldId id="283" r:id="rId30"/>
    <p:sldId id="290" r:id="rId31"/>
  </p:sldIdLst>
  <p:sldSz cx="9144000" cy="5143500" type="screen16x9"/>
  <p:notesSz cx="7010400" cy="9296400"/>
  <p:embeddedFontLst>
    <p:embeddedFont>
      <p:font typeface="APL385 Unicode" panose="020B0709000202000203" pitchFamily="49" charset="0"/>
      <p:regular r:id="rId34"/>
    </p:embeddedFont>
    <p:embeddedFont>
      <p:font typeface="Sarabun" panose="00000500000000000000" pitchFamily="2" charset="-34"/>
      <p:regular r:id="rId35"/>
      <p:bold r:id="rId36"/>
      <p:italic r:id="rId37"/>
      <p:boldItalic r:id="rId38"/>
    </p:embeddedFont>
    <p:embeddedFont>
      <p:font typeface="Wingdings 2" panose="05020102010507070707" pitchFamily="18" charset="2"/>
      <p:regular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3B0BA1BA-3AA8-4179-94D3-F5439F7260ED}">
          <p14:sldIdLst>
            <p14:sldId id="256"/>
          </p14:sldIdLst>
        </p14:section>
        <p14:section name="Asynchronous services and the tools" id="{54DF8042-6321-47A8-BD77-456EAE8E00F4}">
          <p14:sldIdLst>
            <p14:sldId id="257"/>
            <p14:sldId id="258"/>
            <p14:sldId id="259"/>
            <p14:sldId id="260"/>
            <p14:sldId id="261"/>
            <p14:sldId id="262"/>
            <p14:sldId id="263"/>
          </p14:sldIdLst>
        </p14:section>
        <p14:section name="Web hooks" id="{1747C6B5-AEFA-4816-B96C-8F6A8AB03F39}">
          <p14:sldIdLst>
            <p14:sldId id="264"/>
            <p14:sldId id="265"/>
            <p14:sldId id="266"/>
            <p14:sldId id="267"/>
            <p14:sldId id="289"/>
            <p14:sldId id="269"/>
          </p14:sldIdLst>
        </p14:section>
        <p14:section name="Server-Sent Events" id="{3B9B7D50-D763-4320-9217-75BAC91CD2AC}">
          <p14:sldIdLst>
            <p14:sldId id="270"/>
            <p14:sldId id="271"/>
            <p14:sldId id="272"/>
            <p14:sldId id="273"/>
            <p14:sldId id="284"/>
            <p14:sldId id="275"/>
          </p14:sldIdLst>
        </p14:section>
        <p14:section name="WebSockets" id="{2973A957-17E6-4294-AFD3-6BB4A80B4592}">
          <p14:sldIdLst>
            <p14:sldId id="276"/>
            <p14:sldId id="277"/>
            <p14:sldId id="286"/>
            <p14:sldId id="279"/>
            <p14:sldId id="280"/>
            <p14:sldId id="287"/>
            <p14:sldId id="281"/>
          </p14:sldIdLst>
        </p14:section>
        <p14:section name="Wrap-up" id="{44C2B4BB-3B2C-4114-B102-B9E2473A96B8}">
          <p14:sldIdLst>
            <p14:sldId id="288"/>
            <p14:sldId id="283"/>
            <p14:sldId id="290"/>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928" userDrawn="1">
          <p15:clr>
            <a:srgbClr val="A4A3A4"/>
          </p15:clr>
        </p15:guide>
        <p15:guide id="2"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a:srgbClr val="5A6D8F"/>
    <a:srgbClr val="3B475E"/>
    <a:srgbClr val="ED7F00"/>
    <a:srgbClr val="FDFDF5"/>
    <a:srgbClr val="F6F6D9"/>
    <a:srgbClr val="BBB5D6"/>
    <a:srgbClr val="928ABD"/>
    <a:srgbClr val="37353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771" autoAdjust="0"/>
    <p:restoredTop sz="76180" autoAdjust="0"/>
  </p:normalViewPr>
  <p:slideViewPr>
    <p:cSldViewPr snapToGrid="0">
      <p:cViewPr varScale="1">
        <p:scale>
          <a:sx n="74" d="100"/>
          <a:sy n="74" d="100"/>
        </p:scale>
        <p:origin x="1589" y="62"/>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89" d="100"/>
          <a:sy n="89" d="100"/>
        </p:scale>
        <p:origin x="3672" y="66"/>
      </p:cViewPr>
      <p:guideLst>
        <p:guide orient="horz" pos="2928"/>
        <p:guide pos="2208"/>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6.fntdata"/><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openxmlformats.org/officeDocument/2006/relationships/font" Target="fonts/font5.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GB" dirty="0">
              <a:latin typeface="Sarabun" panose="00000500000000000000" pitchFamily="2" charset="-34"/>
            </a:endParaRPr>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8CA6A3BD-28BD-4949-B52F-24E999822598}" type="datetimeFigureOut">
              <a:rPr lang="en-GB" smtClean="0">
                <a:latin typeface="Sarabun" panose="00000500000000000000" pitchFamily="2" charset="-34"/>
              </a:rPr>
              <a:t>10/10/2026</a:t>
            </a:fld>
            <a:endParaRPr lang="en-GB" dirty="0">
              <a:latin typeface="Sarabun" panose="00000500000000000000" pitchFamily="2" charset="-34"/>
            </a:endParaRPr>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GB" dirty="0">
              <a:latin typeface="Sarabun" panose="00000500000000000000" pitchFamily="2" charset="-34"/>
            </a:endParaRPr>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DD7370AB-76A5-41F1-9753-9FE7E667F0C0}" type="slidenum">
              <a:rPr lang="en-GB" smtClean="0">
                <a:latin typeface="Sarabun" panose="00000500000000000000" pitchFamily="2" charset="-34"/>
              </a:rPr>
              <a:t>‹#›</a:t>
            </a:fld>
            <a:endParaRPr lang="en-GB" dirty="0">
              <a:latin typeface="Sarabun" panose="00000500000000000000" pitchFamily="2" charset="-34"/>
            </a:endParaRPr>
          </a:p>
        </p:txBody>
      </p:sp>
    </p:spTree>
    <p:extLst>
      <p:ext uri="{BB962C8B-B14F-4D97-AF65-F5344CB8AC3E}">
        <p14:creationId xmlns:p14="http://schemas.microsoft.com/office/powerpoint/2010/main" val="356471822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atin typeface="Sarabun" panose="00000500000000000000" pitchFamily="2" charset="-34"/>
              </a:defRPr>
            </a:lvl1pPr>
          </a:lstStyle>
          <a:p>
            <a:endParaRPr lang="en-GB" dirty="0"/>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atin typeface="Sarabun" panose="00000500000000000000" pitchFamily="2" charset="-34"/>
              </a:defRPr>
            </a:lvl1pPr>
          </a:lstStyle>
          <a:p>
            <a:fld id="{CDEAEF8A-5BB8-41C8-B8C2-160617C17EF4}" type="datetimeFigureOut">
              <a:rPr lang="en-GB" smtClean="0"/>
              <a:pPr/>
              <a:t>10/10/2026</a:t>
            </a:fld>
            <a:endParaRPr lang="en-GB" dirty="0"/>
          </a:p>
        </p:txBody>
      </p:sp>
      <p:sp>
        <p:nvSpPr>
          <p:cNvPr id="4" name="Slide Image Placeholder 3"/>
          <p:cNvSpPr>
            <a:spLocks noGrp="1" noRot="1" noChangeAspect="1"/>
          </p:cNvSpPr>
          <p:nvPr>
            <p:ph type="sldImg" idx="2"/>
          </p:nvPr>
        </p:nvSpPr>
        <p:spPr>
          <a:xfrm>
            <a:off x="406400" y="696913"/>
            <a:ext cx="6197600" cy="3486150"/>
          </a:xfrm>
          <a:prstGeom prst="rect">
            <a:avLst/>
          </a:prstGeom>
          <a:noFill/>
          <a:ln w="12700">
            <a:solidFill>
              <a:prstClr val="black"/>
            </a:solidFill>
          </a:ln>
        </p:spPr>
        <p:txBody>
          <a:bodyPr vert="horz" lIns="93177" tIns="46589" rIns="93177" bIns="46589" rtlCol="0" anchor="ctr"/>
          <a:lstStyle/>
          <a:p>
            <a:endParaRPr lang="en-GB" dirty="0"/>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atin typeface="Sarabun" panose="00000500000000000000" pitchFamily="2" charset="-34"/>
              </a:defRPr>
            </a:lvl1pPr>
          </a:lstStyle>
          <a:p>
            <a:endParaRPr lang="en-GB" dirty="0"/>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atin typeface="Sarabun" panose="00000500000000000000" pitchFamily="2" charset="-34"/>
              </a:defRPr>
            </a:lvl1pPr>
          </a:lstStyle>
          <a:p>
            <a:fld id="{4320660A-27FD-4528-AE7F-EC6080404EEB}" type="slidenum">
              <a:rPr lang="en-GB" smtClean="0"/>
              <a:pPr/>
              <a:t>‹#›</a:t>
            </a:fld>
            <a:endParaRPr lang="en-GB" dirty="0"/>
          </a:p>
        </p:txBody>
      </p:sp>
    </p:spTree>
    <p:extLst>
      <p:ext uri="{BB962C8B-B14F-4D97-AF65-F5344CB8AC3E}">
        <p14:creationId xmlns:p14="http://schemas.microsoft.com/office/powerpoint/2010/main" val="2012133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Sarabun" panose="00000500000000000000" pitchFamily="2" charset="-34"/>
        <a:ea typeface="+mn-ea"/>
        <a:cs typeface="+mn-cs"/>
      </a:defRPr>
    </a:lvl1pPr>
    <a:lvl2pPr marL="457200" algn="l" defTabSz="914400" rtl="0" eaLnBrk="1" latinLnBrk="0" hangingPunct="1">
      <a:defRPr sz="1200" kern="1200">
        <a:solidFill>
          <a:schemeClr val="tx1"/>
        </a:solidFill>
        <a:latin typeface="Sarabun" panose="00000500000000000000" pitchFamily="2" charset="-34"/>
        <a:ea typeface="+mn-ea"/>
        <a:cs typeface="+mn-cs"/>
      </a:defRPr>
    </a:lvl2pPr>
    <a:lvl3pPr marL="914400" algn="l" defTabSz="914400" rtl="0" eaLnBrk="1" latinLnBrk="0" hangingPunct="1">
      <a:defRPr sz="1200" kern="1200">
        <a:solidFill>
          <a:schemeClr val="tx1"/>
        </a:solidFill>
        <a:latin typeface="Sarabun" panose="00000500000000000000" pitchFamily="2" charset="-34"/>
        <a:ea typeface="+mn-ea"/>
        <a:cs typeface="+mn-cs"/>
      </a:defRPr>
    </a:lvl3pPr>
    <a:lvl4pPr marL="1371600" algn="l" defTabSz="914400" rtl="0" eaLnBrk="1" latinLnBrk="0" hangingPunct="1">
      <a:defRPr sz="1200" kern="1200">
        <a:solidFill>
          <a:schemeClr val="tx1"/>
        </a:solidFill>
        <a:latin typeface="Sarabun" panose="00000500000000000000" pitchFamily="2" charset="-34"/>
        <a:ea typeface="+mn-ea"/>
        <a:cs typeface="+mn-cs"/>
      </a:defRPr>
    </a:lvl4pPr>
    <a:lvl5pPr marL="1828800" algn="l" defTabSz="914400" rtl="0" eaLnBrk="1" latinLnBrk="0" hangingPunct="1">
      <a:defRPr sz="1200" kern="1200">
        <a:solidFill>
          <a:schemeClr val="tx1"/>
        </a:solidFill>
        <a:latin typeface="Sarabun" panose="00000500000000000000" pitchFamily="2" charset="-34"/>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Welcome. This afternoon is about services that don't make the client wait for an answer.</a:t>
            </a:r>
          </a:p>
          <a:p>
            <a:endParaRPr/>
          </a:p>
          <a:p>
            <a:r>
              <a:t>Before starting: the APL code on these slides uses the APL385 Unicode font, which must be installed on the presenting machine, or the APL symbols will not display correctly.</a:t>
            </a:r>
          </a:p>
          <a:p>
            <a:endParaRPr/>
          </a:p>
          <a:p>
            <a:r>
              <a:t>Check that everyone has run Setup and seen Ready (Exercises/README.md). Use the first ten minutes for that.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The schedule: 10 minutes of setup, then talk 1 (15 minutes) and Exercise 1; talk 2 on web hooks just before the first break, so people can start Exercise 2 straight after it; talks 3 and 4 each lead into their exercise. Five minutes of wrap-up at the end.</a:t>
            </a:r>
          </a:p>
          <a:p>
            <a:endParaRPr/>
          </a:p>
          <a:p>
            <a:r>
              <a:t>Stress that falling behind is fine: every exercise has a Solution folder, and 'Solution' Run1 (Run2, ...) loads it.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what Exercise 1 builds: the client asks, and waits for the answer on the same connection. That's fine for quick answers. For slow work it causes three problems: connections held open, timeouts, and a client that can't get on with anything else.</a:t>
            </a:r>
          </a:p>
          <a:p>
            <a:endParaRPr/>
          </a:p>
          <a:p>
            <a:r>
              <a:t>The rest of the afternoon is three ways around this.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Four patterns. Orange arrows go from the client, purple arrows from the server.</a:t>
            </a:r>
          </a:p>
          <a:p>
            <a:endParaRPr/>
          </a:p>
          <a:p>
            <a:r>
              <a:t>Polling: the client keeps asking. Simple, but most requests are wasted.</a:t>
            </a:r>
          </a:p>
          <a:p>
            <a:r>
              <a:t>Web hook: the client gives the server a URL; the server replies at once with a ticket and calls that URL when the work is done. Exercise 2.</a:t>
            </a:r>
          </a:p>
          <a:p>
            <a:r>
              <a:t>Server-Sent Events: the client asks once, and the server keeps the response open and sends events whenever it likes, one way only. Exercise 3.</a:t>
            </a:r>
          </a:p>
          <a:p>
            <a:r>
              <a:t>WebSockets: an HTTP request that upgrades to a two-way connection; either side sends at any time. Exercise 4.</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The three tools, all open source from Dyalog, all in the Source folder of the workshop materials (Jarvis 1.23.1, HttpCommand 5.11.2, WebSocketClient 1.0.1).</a:t>
            </a:r>
          </a:p>
          <a:p>
            <a:endParaRPr/>
          </a:p>
          <a:p>
            <a:r>
              <a:t>HttpCommand is the client side: Exercises 1 and 2, and the worker in Exercise 2 uses it to call the web hook. r.IsOK is 1 only when the request worked (rc 0) and the server said yes (HttpStatus 200 to 299); when it's 0, rc, msg and HttpStatus say why.</a:t>
            </a:r>
          </a:p>
          <a:p>
            <a:r>
              <a:t>Jarvis is the server side in every exercise: plain JSON endpoints, Server-Sent Events, and WebSockets.</a:t>
            </a:r>
          </a:p>
          <a:p>
            <a:r>
              <a:t>WebSocketClient joins the Exercise 4 chat from APL.</a:t>
            </a:r>
          </a:p>
          <a:p>
            <a:endParaRPr/>
          </a:p>
          <a:p>
            <a:r>
              <a:t>All three sit on Conga. Setup copies Conga into # before loading them, which is why there's nothing to configure.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Every exercise works the same way. Setup once per session, then Load 1 (and so on) for each exercise. Each exercise has a Run function, Run1 to Run4, that starts its servers from the Start folder, where a few short functions are left for you to write.</a:t>
            </a:r>
          </a:p>
          <a:p>
            <a:endParaRPr dirty="0"/>
          </a:p>
          <a:p>
            <a:r>
              <a:rPr dirty="0"/>
              <a:t>You edit with )ED, and Jarvis uses the new definition on the next request, so there's no restart. Exercise 3 has one exception: its broadcast loop, which the README explains (Restart).</a:t>
            </a:r>
          </a:p>
          <a:p>
            <a:endParaRPr dirty="0"/>
          </a:p>
          <a:p>
            <a:r>
              <a:rPr dirty="0"/>
              <a:t>If you fall behind, 'Solution' Run1 (and so on) loads the finished version. Each Run function stops any server it started before, so running it twice can't leave an old server answering.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Attendees may be on Dyalog 19 or 20. All the supplied code is Dyalog 19 style, so it runs everywhere. Where 20 is clearly neater, the READMEs show the 20 version too, and the solutions carry it as a ⍝ v20: comment.</a:t>
            </a:r>
          </a:p>
          <a:p>
            <a:endParaRPr/>
          </a:p>
          <a:p>
            <a:r>
              <a:t>Only three 20 features are used: array notation (shown here), ⎕VGET with a fallback value, and ⎕VSET.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Leave this on screen for the 30 minutes.</a:t>
            </a:r>
          </a:p>
          <a:p>
            <a:endParaRPr/>
          </a:p>
          <a:p>
            <a:r>
              <a:t>Key points to watch for: rc is 0 when the request worked even if HttpStatus says 404; Jarvis passes '' rather than a namespace when a request has no body; GET with a query string needs AllowGETs←1.</a:t>
            </a:r>
          </a:p>
          <a:p>
            <a:endParaRPr/>
          </a:p>
          <a:p>
            <a:r>
              <a:t>If the venue network is down, Part A has an offline fallback against the attendee's own Part B server.</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Talk 2, before the first break, so people can start Exercise 2 as soon as they're back.</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The flow in Exercise 2. The client posts a job with a callback URL. The ticket server answers immediately with a ticket number, and starts the work in a separate thread. When the work is done, the ticket server posts the result to the callback URL: that call is the web hook.</a:t>
            </a:r>
          </a:p>
          <a:p>
            <a:endParaRPr/>
          </a:p>
          <a:p>
            <a:r>
              <a:t>In real life the callback server belongs to someone else, on another machine. In the exercise both servers run in your session, so you can see everything happen.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The heart of Submit. &amp; is the key: it starts Work in its own thread and Submit carries on and returns the ticket.</a:t>
            </a:r>
          </a:p>
          <a:p>
            <a:endParaRPr dirty="0"/>
          </a:p>
          <a:p>
            <a:r>
              <a:rPr dirty="0"/>
              <a:t>:Hold protects the ticket counter. Strictly, a one-line update can't be interleaved in Dyalog, but :Hold is the right habit.</a:t>
            </a:r>
          </a:p>
          <a:p>
            <a:endParaRPr dirty="0"/>
          </a:p>
          <a:p>
            <a:r>
              <a:rPr dirty="0"/>
              <a:t>The solution also checks that n is a whole number from 2 to 1E12 and that callback is text, replying 400 otherwise. Without that, a job with n of '</a:t>
            </a:r>
            <a:r>
              <a:rPr dirty="0" err="1"/>
              <a:t>abc</a:t>
            </a:r>
            <a:r>
              <a:rPr dirty="0"/>
              <a:t>' gets a ticket and then fails inside Work.</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Two lessons from building Exercise 2.</a:t>
            </a:r>
          </a:p>
          <a:p>
            <a:endParaRPr dirty="0"/>
          </a:p>
          <a:p>
            <a:r>
              <a:rPr dirty="0"/>
              <a:t>First, from Exercise 1: </a:t>
            </a:r>
            <a:r>
              <a:rPr dirty="0" err="1"/>
              <a:t>rc</a:t>
            </a:r>
            <a:r>
              <a:rPr dirty="0"/>
              <a:t> and </a:t>
            </a:r>
            <a:r>
              <a:rPr dirty="0" err="1"/>
              <a:t>HttpStatus</a:t>
            </a:r>
            <a:r>
              <a:rPr dirty="0"/>
              <a:t> mean different things. </a:t>
            </a:r>
            <a:r>
              <a:rPr dirty="0" err="1"/>
              <a:t>rc</a:t>
            </a:r>
            <a:r>
              <a:rPr dirty="0"/>
              <a:t> is about the request (did anyone answer?), </a:t>
            </a:r>
            <a:r>
              <a:rPr dirty="0" err="1"/>
              <a:t>HttpStatus</a:t>
            </a:r>
            <a:r>
              <a:rPr dirty="0"/>
              <a:t> is the server's answer.</a:t>
            </a:r>
          </a:p>
          <a:p>
            <a:endParaRPr dirty="0"/>
          </a:p>
          <a:p>
            <a:r>
              <a:rPr dirty="0"/>
              <a:t>Second: Jarvis catches errors in your endpoints and replies 500. A thread started with &amp; has no such protection. </a:t>
            </a:r>
            <a:r>
              <a:rPr dirty="0" err="1"/>
              <a:t>Untrapped</a:t>
            </a:r>
            <a:r>
              <a:rPr dirty="0"/>
              <a:t>, an error suspends that thread in a session, or stops APL altogether when the service runs as a script. So Work's whole body is inside :Trap 0, and failures are printed with the ticket number.</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BDC5E-F42C-A297-F3C2-B835B705DD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B8A9AF-D474-71DB-A1D6-7B5E73F1D90E}"/>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4BCF4C28-8562-C7A6-6DE1-F1AFDAD02FE9}"/>
              </a:ext>
            </a:extLst>
          </p:cNvPr>
          <p:cNvSpPr>
            <a:spLocks noGrp="1"/>
          </p:cNvSpPr>
          <p:nvPr>
            <p:ph type="body" sz="quarter" idx="3"/>
          </p:nvPr>
        </p:nvSpPr>
        <p:spPr/>
        <p:txBody>
          <a:bodyPr/>
          <a:lstStyle/>
          <a:p>
            <a:r>
              <a:t>Web hooks aren't free: the client has to be reachable, and if it isn't when the result is ready, the result is lost unless the server retries. That's why services often offer both: a web hook, and a status endpoint to poll if a call back was missed. Both are stretch goals in Exercise 2 (S2 retry, S3 Status).</a:t>
            </a:r>
          </a:p>
        </p:txBody>
      </p:sp>
      <p:sp>
        <p:nvSpPr>
          <p:cNvPr id="4" name="Slide Number Placeholder 3">
            <a:extLst>
              <a:ext uri="{FF2B5EF4-FFF2-40B4-BE49-F238E27FC236}">
                <a16:creationId xmlns:a16="http://schemas.microsoft.com/office/drawing/2014/main" id="{9519E882-0D5E-4F3B-BC31-F87A728097AF}"/>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7789585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Leave on screen after the break.</a:t>
            </a:r>
          </a:p>
          <a:p>
            <a:endParaRPr/>
          </a:p>
          <a:p>
            <a:r>
              <a:t>Watch for: Submit is dyadic (it needs req for req.Fail); Work's results arriving in a different order from the tickets is the point; with the callback server stopped (stretch S1), Work prints 'could not reach' and Client gives up after 10 seconds.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Talk 3.</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Server-Sent Events: the browser makes one GET, and Jarvis keeps the response open, sending events whenever it likes. Only the server sends. It's ordinary HTTP, so it works through most proxies, and the browser's EventSource reconnects automatically if the connection drops.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everything on the wire. Each event is a few lines and a blank line. event: names the type, data: carries the content, here JSON. A line that starts with a colon is a comment; Jarvis sends one every 30 seconds (SSEHeartbeatInterval) so idle connections stay open.</a:t>
            </a:r>
          </a:p>
          <a:p>
            <a:endParaRPr/>
          </a:p>
          <a:p>
            <a:r>
              <a:t>FormatSSE builds the text for you: a namespace is converted to JSON. In Exercise 3 attendees try this in the session first.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The browser side is supplied: attendees don't need to write JavaScript. EventSource opens the stream; each event type gets its own listener. When the connection drops, EventSource reconnects on its own, and Jarvis calls Ticker again for the new connection, so the welcome event is sent again.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6D79F-E377-862A-AC93-E5438520DC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215C9-6768-D6FB-899E-D08EC6CCED48}"/>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A0ECDB07-EB04-DEFD-9DCD-FA95CF391692}"/>
              </a:ext>
            </a:extLst>
          </p:cNvPr>
          <p:cNvSpPr>
            <a:spLocks noGrp="1"/>
          </p:cNvSpPr>
          <p:nvPr>
            <p:ph type="body" sz="quarter" idx="3"/>
          </p:nvPr>
        </p:nvSpPr>
        <p:spPr/>
        <p:txBody>
          <a:bodyPr/>
          <a:lstStyle/>
          <a:p>
            <a:r>
              <a:t>The four Jarvis pieces. SSEEndpoints names the stream; Ticker is called once per new client, so it's where you welcome that client. SSEConnections lists who's connected, and SendSSE sends to them.</a:t>
            </a:r>
          </a:p>
          <a:p>
            <a:endParaRPr/>
          </a:p>
          <a:p>
            <a:r>
              <a:t>One trap, found while building the exercise: Broadcast runs as one long call in its own thread, so editing it doesn't change the running loop. Restart stops the loop and starts it again with the current code. Don't use Run3 for this: it reloads the functions from the files and throws the attendee's edits away.</a:t>
            </a:r>
          </a:p>
        </p:txBody>
      </p:sp>
      <p:sp>
        <p:nvSpPr>
          <p:cNvPr id="4" name="Slide Number Placeholder 3">
            <a:extLst>
              <a:ext uri="{FF2B5EF4-FFF2-40B4-BE49-F238E27FC236}">
                <a16:creationId xmlns:a16="http://schemas.microsoft.com/office/drawing/2014/main" id="{31F7DD51-B660-78FD-0F1F-FF1190B29416}"/>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40674033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Leave on screen.</a:t>
            </a:r>
          </a:p>
          <a:p>
            <a:endParaRPr dirty="0"/>
          </a:p>
          <a:p>
            <a:r>
              <a:rPr dirty="0"/>
              <a:t>Watch for: Ticker must return no result or 0 (anything else closes the connection); after editing Broadcast, Restart (Run3 would reload the files); the table fills within a couple of seconds of Restart.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Talk 4, after the second break.</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A WebSocket starts as an HTTP GET asking to upgrade. Once the server answers 101, the same connection carries messages both ways, whenever either side likes. That's what a chat needs.</a:t>
            </a:r>
          </a:p>
          <a:p>
            <a:endParaRPr/>
          </a:p>
          <a:p>
            <a:r>
              <a:t>Unlike EventSource, a WebSocket does not reconnect by itself: when it closes, the page shows 'not connected' and you Join again.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0B5D5-C580-29A0-60E4-1824A8CAB4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AA2A4-A0A5-168B-373D-2CB8AB272326}"/>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5FC41975-0801-221D-2B69-14371963E8A2}"/>
              </a:ext>
            </a:extLst>
          </p:cNvPr>
          <p:cNvSpPr>
            <a:spLocks noGrp="1"/>
          </p:cNvSpPr>
          <p:nvPr>
            <p:ph type="body" sz="quarter" idx="3"/>
          </p:nvPr>
        </p:nvSpPr>
        <p:spPr/>
        <p:txBody>
          <a:bodyPr/>
          <a:lstStyle/>
          <a:p>
            <a:r>
              <a:rPr dirty="0"/>
              <a:t>The three hooks attendees write in Exercise 4: Connect, Receive, Disconnect, named by </a:t>
            </a:r>
            <a:r>
              <a:rPr dirty="0" err="1"/>
              <a:t>OnWsUpgradeFn</a:t>
            </a:r>
            <a:r>
              <a:rPr dirty="0"/>
              <a:t>, </a:t>
            </a:r>
            <a:r>
              <a:rPr dirty="0" err="1"/>
              <a:t>OnWsReceiveFn</a:t>
            </a:r>
            <a:r>
              <a:rPr dirty="0"/>
              <a:t> and </a:t>
            </a:r>
            <a:r>
              <a:rPr dirty="0" err="1"/>
              <a:t>OnWsCloseFn</a:t>
            </a:r>
            <a:r>
              <a:rPr dirty="0"/>
              <a:t>.</a:t>
            </a:r>
          </a:p>
          <a:p>
            <a:endParaRPr dirty="0"/>
          </a:p>
          <a:p>
            <a:r>
              <a:rPr dirty="0"/>
              <a:t>Every hook must return a result, or Jarvis won't start.</a:t>
            </a:r>
          </a:p>
        </p:txBody>
      </p:sp>
      <p:sp>
        <p:nvSpPr>
          <p:cNvPr id="4" name="Slide Number Placeholder 3">
            <a:extLst>
              <a:ext uri="{FF2B5EF4-FFF2-40B4-BE49-F238E27FC236}">
                <a16:creationId xmlns:a16="http://schemas.microsoft.com/office/drawing/2014/main" id="{2A5E41CC-E14E-D1D5-F014-14E867474A42}"/>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51925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WebSocketClient creates its client from a namespace of settings, like HttpCommand.New. OnWSReceive names the function called for each message, and it must be dyadic. A monadic function there fails in WebSocketClient's own thread, and the connection just closes: no error in the session, which is very confusing if you don't know.</a:t>
            </a:r>
          </a:p>
          <a:p>
            <a:endParaRPr/>
          </a:p>
          <a:p>
            <a:r>
              <a:t>Like HttpCommand.New, a misspelled setting doesn't signal; New returns a result with rc ¯11. Chat.Join checks rc after New and after Connect.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If only the server needs to talk, Server-Sent Events are simpler: plain HTTP, and the browser reconnects for you. If both sides talk, use WebSockets.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DFBA8-7967-9FB4-66DC-F24ED2E0E1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7B00AB-D87C-E458-95F2-A281654688F4}"/>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4E13CF13-C07F-1C10-D66B-56ACCBE96FB8}"/>
              </a:ext>
            </a:extLst>
          </p:cNvPr>
          <p:cNvSpPr>
            <a:spLocks noGrp="1"/>
          </p:cNvSpPr>
          <p:nvPr>
            <p:ph type="body" sz="quarter" idx="3"/>
          </p:nvPr>
        </p:nvSpPr>
        <p:spPr/>
        <p:txBody>
          <a:bodyPr/>
          <a:lstStyle/>
          <a:p>
            <a:r>
              <a:t>If only the server needs to talk, Server-Sent Events are simpler: plain HTTP, and the browser reconnects for you. If both sides talk, use WebSockets.</a:t>
            </a:r>
          </a:p>
        </p:txBody>
      </p:sp>
      <p:sp>
        <p:nvSpPr>
          <p:cNvPr id="4" name="Slide Number Placeholder 3">
            <a:extLst>
              <a:ext uri="{FF2B5EF4-FFF2-40B4-BE49-F238E27FC236}">
                <a16:creationId xmlns:a16="http://schemas.microsoft.com/office/drawing/2014/main" id="{9DB280C2-EC46-AC98-0CAC-0DBA3F1E5902}"/>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7320531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Leave on screen.</a:t>
            </a:r>
          </a:p>
          <a:p>
            <a:endParaRPr/>
          </a:p>
          <a:p>
            <a:r>
              <a:t>Watch for: hooks must return a result (r←0); WsSend needs Clients to hold connection names; after changing Connect, Leave and Join again on the page so the new code sees the connection; the S3 stretch (an /apl bot) comes with a warning never to execute text received from the network.</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D3B42-35A5-FBBC-20E9-559BD98E84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13CCA-825E-73CB-DFE9-05BE03D4A562}"/>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662828C3-20C5-7752-303A-0EB9509AC8DF}"/>
              </a:ext>
            </a:extLst>
          </p:cNvPr>
          <p:cNvSpPr>
            <a:spLocks noGrp="1"/>
          </p:cNvSpPr>
          <p:nvPr>
            <p:ph type="body" sz="quarter" idx="3"/>
          </p:nvPr>
        </p:nvSpPr>
        <p:spPr/>
        <p:txBody>
          <a:bodyPr/>
          <a:lstStyle/>
          <a:p>
            <a:r>
              <a:t>One table to take away. The quick question to ask: who needs to start the conversation, and which way do messages flow?</a:t>
            </a:r>
          </a:p>
        </p:txBody>
      </p:sp>
      <p:sp>
        <p:nvSpPr>
          <p:cNvPr id="4" name="Slide Number Placeholder 3">
            <a:extLst>
              <a:ext uri="{FF2B5EF4-FFF2-40B4-BE49-F238E27FC236}">
                <a16:creationId xmlns:a16="http://schemas.microsoft.com/office/drawing/2014/main" id="{3B0620D8-8F5D-223A-CC19-07BA9167D067}"/>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8955137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Pointers to the documentation for each tool, and the workshop repository, which keeps the exercises, solutions, and READMEs.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45060" y="1688053"/>
            <a:ext cx="5073517" cy="1767394"/>
          </a:xfrm>
          <a:prstGeom prst="rect">
            <a:avLst/>
          </a:prstGeom>
        </p:spPr>
        <p:txBody>
          <a:bodyPr anchor="ctr" anchorCtr="0">
            <a:noAutofit/>
          </a:bodyPr>
          <a:lstStyle>
            <a:lvl1pPr algn="l">
              <a:lnSpc>
                <a:spcPct val="100000"/>
              </a:lnSpc>
              <a:defRPr sz="3600" b="0">
                <a:solidFill>
                  <a:srgbClr val="3B475E"/>
                </a:solidFill>
                <a:latin typeface="Sarabun" panose="00000500000000000000" pitchFamily="2" charset="-34"/>
              </a:defRPr>
            </a:lvl1pPr>
          </a:lstStyle>
          <a:p>
            <a:r>
              <a:rPr lang="en-US" dirty="0"/>
              <a:t>Title</a:t>
            </a:r>
            <a:endParaRPr lang="en-GB" dirty="0"/>
          </a:p>
        </p:txBody>
      </p:sp>
      <p:sp>
        <p:nvSpPr>
          <p:cNvPr id="9" name="Text Placeholder 8"/>
          <p:cNvSpPr>
            <a:spLocks noGrp="1"/>
          </p:cNvSpPr>
          <p:nvPr>
            <p:ph type="body" sz="quarter" idx="10" hasCustomPrompt="1"/>
          </p:nvPr>
        </p:nvSpPr>
        <p:spPr>
          <a:xfrm>
            <a:off x="445061" y="3741620"/>
            <a:ext cx="5073516" cy="1024109"/>
          </a:xfrm>
        </p:spPr>
        <p:txBody>
          <a:bodyPr anchor="t" anchorCtr="0">
            <a:noAutofit/>
          </a:bodyPr>
          <a:lstStyle>
            <a:lvl1pPr marL="0" indent="0" algn="l">
              <a:lnSpc>
                <a:spcPct val="100000"/>
              </a:lnSpc>
              <a:buNone/>
              <a:defRPr sz="2400" i="1" baseline="0">
                <a:solidFill>
                  <a:srgbClr val="3B475E"/>
                </a:solidFill>
                <a:latin typeface="Sarabun" panose="00000500000000000000" pitchFamily="2" charset="-34"/>
              </a:defRPr>
            </a:lvl1pPr>
          </a:lstStyle>
          <a:p>
            <a:pPr lvl="0"/>
            <a:r>
              <a:rPr lang="en-US" dirty="0"/>
              <a:t>Presenter</a:t>
            </a:r>
          </a:p>
        </p:txBody>
      </p:sp>
      <p:sp useBgFill="1">
        <p:nvSpPr>
          <p:cNvPr id="3" name="Rounded Rectangle 2"/>
          <p:cNvSpPr/>
          <p:nvPr userDrawn="1"/>
        </p:nvSpPr>
        <p:spPr>
          <a:xfrm>
            <a:off x="8616917" y="51470"/>
            <a:ext cx="405045" cy="27003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Sarabun" panose="00000500000000000000" pitchFamily="2" charset="-34"/>
            </a:endParaRPr>
          </a:p>
        </p:txBody>
      </p:sp>
      <p:pic>
        <p:nvPicPr>
          <p:cNvPr id="4" name="Picture 3">
            <a:extLst>
              <a:ext uri="{FF2B5EF4-FFF2-40B4-BE49-F238E27FC236}">
                <a16:creationId xmlns:a16="http://schemas.microsoft.com/office/drawing/2014/main" id="{91A7F93E-0AC9-4994-C087-EC47479093D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45060" y="577889"/>
            <a:ext cx="2186609" cy="734076"/>
          </a:xfrm>
          <a:prstGeom prst="rect">
            <a:avLst/>
          </a:prstGeom>
        </p:spPr>
      </p:pic>
      <p:sp>
        <p:nvSpPr>
          <p:cNvPr id="5" name="Rectangle 4">
            <a:extLst>
              <a:ext uri="{FF2B5EF4-FFF2-40B4-BE49-F238E27FC236}">
                <a16:creationId xmlns:a16="http://schemas.microsoft.com/office/drawing/2014/main" id="{7D2228C3-8F95-166E-8A09-DC52EB61BD50}"/>
              </a:ext>
            </a:extLst>
          </p:cNvPr>
          <p:cNvSpPr/>
          <p:nvPr userDrawn="1"/>
        </p:nvSpPr>
        <p:spPr>
          <a:xfrm>
            <a:off x="72887" y="4813353"/>
            <a:ext cx="372173" cy="2345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3804001-4A52-A7FB-FC2A-F450E7C6EB4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273349" y="1961586"/>
            <a:ext cx="2343568" cy="2343568"/>
          </a:xfrm>
          <a:prstGeom prst="rect">
            <a:avLst/>
          </a:prstGeom>
        </p:spPr>
      </p:pic>
      <p:sp>
        <p:nvSpPr>
          <p:cNvPr id="11" name="Rectangle 10">
            <a:extLst>
              <a:ext uri="{FF2B5EF4-FFF2-40B4-BE49-F238E27FC236}">
                <a16:creationId xmlns:a16="http://schemas.microsoft.com/office/drawing/2014/main" id="{CF9ED9E2-3219-F619-9BA3-FFB47D247704}"/>
              </a:ext>
            </a:extLst>
          </p:cNvPr>
          <p:cNvSpPr/>
          <p:nvPr userDrawn="1"/>
        </p:nvSpPr>
        <p:spPr>
          <a:xfrm>
            <a:off x="7678522" y="4583477"/>
            <a:ext cx="1273321" cy="4644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6612EFF5-B5C4-29F2-5FBE-E79CCD7FC086}"/>
              </a:ext>
            </a:extLst>
          </p:cNvPr>
          <p:cNvSpPr/>
          <p:nvPr userDrawn="1"/>
        </p:nvSpPr>
        <p:spPr>
          <a:xfrm>
            <a:off x="1159566" y="4813352"/>
            <a:ext cx="6155634" cy="2345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473736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Ref idx="1001">
        <a:schemeClr val="bg1"/>
      </p:bgRef>
    </p:bg>
    <p:spTree>
      <p:nvGrpSpPr>
        <p:cNvPr id="1" name=""/>
        <p:cNvGrpSpPr/>
        <p:nvPr/>
      </p:nvGrpSpPr>
      <p:grpSpPr>
        <a:xfrm>
          <a:off x="0" y="0"/>
          <a:ext cx="0" cy="0"/>
          <a:chOff x="0" y="0"/>
          <a:chExt cx="0" cy="0"/>
        </a:xfrm>
      </p:grpSpPr>
      <p:sp>
        <p:nvSpPr>
          <p:cNvPr id="7" name="Content Placeholder 2"/>
          <p:cNvSpPr>
            <a:spLocks noGrp="1"/>
          </p:cNvSpPr>
          <p:nvPr>
            <p:ph idx="10" hasCustomPrompt="1"/>
          </p:nvPr>
        </p:nvSpPr>
        <p:spPr>
          <a:xfrm>
            <a:off x="6723925" y="1417983"/>
            <a:ext cx="2127975" cy="3088981"/>
          </a:xfrm>
        </p:spPr>
        <p:txBody>
          <a:bodyPr>
            <a:normAutofit/>
          </a:bodyPr>
          <a:lstStyle>
            <a:lvl1pPr marL="0" indent="0">
              <a:lnSpc>
                <a:spcPct val="100000"/>
              </a:lnSpc>
              <a:spcBef>
                <a:spcPts val="0"/>
              </a:spcBef>
              <a:buFont typeface="Arial" panose="020B0604020202020204" pitchFamily="34" charset="0"/>
              <a:buNone/>
              <a:defRPr sz="1800"/>
            </a:lvl1pPr>
            <a:lvl2pPr marL="717550" indent="-355600">
              <a:buSzPct val="60000"/>
              <a:buFont typeface="Courier New" panose="02070309020205020404" pitchFamily="49" charset="0"/>
              <a:buChar char="o"/>
              <a:defRPr/>
            </a:lvl2pPr>
            <a:lvl3pPr marL="1079500" indent="-361950">
              <a:buFont typeface="Wingdings" panose="05000000000000000000" pitchFamily="2" charset="2"/>
              <a:buChar char="§"/>
              <a:defRPr/>
            </a:lvl3pPr>
            <a:lvl4pPr marL="1433513" indent="-354013">
              <a:buFont typeface="Calibri" panose="020F0502020204030204" pitchFamily="34" charset="0"/>
              <a:buChar char="–"/>
              <a:defRPr/>
            </a:lvl4pPr>
          </a:lstStyle>
          <a:p>
            <a:r>
              <a:rPr lang="da-DK" dirty="0"/>
              <a:t>Space here </a:t>
            </a:r>
            <a:br>
              <a:rPr lang="da-DK" dirty="0"/>
            </a:br>
            <a:r>
              <a:rPr lang="da-DK" dirty="0"/>
              <a:t>for code </a:t>
            </a:r>
            <a:r>
              <a:rPr lang="da-DK" dirty="0">
                <a:latin typeface="APL385 Unicode" panose="020B0709000202000203" pitchFamily="49" charset="0"/>
              </a:rPr>
              <a:t>{⍺×⍵}</a:t>
            </a:r>
            <a:br>
              <a:rPr lang="da-DK" dirty="0"/>
            </a:br>
            <a:r>
              <a:rPr lang="da-DK" dirty="0"/>
              <a:t>pictures</a:t>
            </a:r>
            <a:br>
              <a:rPr lang="da-DK" dirty="0"/>
            </a:br>
            <a:r>
              <a:rPr lang="da-DK" dirty="0"/>
              <a:t>etc.</a:t>
            </a:r>
          </a:p>
        </p:txBody>
      </p:sp>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264925"/>
            <a:ext cx="6092513" cy="3242040"/>
          </a:xfrm>
          <a:prstGeom prst="rect">
            <a:avLst/>
          </a:prstGeom>
        </p:spPr>
        <p:txBody>
          <a:bodyPr vert="horz" lIns="91440" tIns="45720" rIns="91440" bIns="45720" rtlCol="0">
            <a:normAutofit/>
          </a:bodyPr>
          <a:lstStyle>
            <a:lvl1pPr>
              <a:spcBef>
                <a:spcPts val="0"/>
              </a:spcBef>
              <a:buClr>
                <a:srgbClr val="FF6A13"/>
              </a:buClr>
              <a:defRPr/>
            </a:lvl1pPr>
            <a:lvl2pPr>
              <a:spcBef>
                <a:spcPts val="0"/>
              </a:spcBef>
              <a:buClr>
                <a:srgbClr val="FF6A13"/>
              </a:buClr>
              <a:defRPr/>
            </a:lvl2pPr>
            <a:lvl3pPr>
              <a:spcBef>
                <a:spcPts val="0"/>
              </a:spcBef>
              <a:buClr>
                <a:srgbClr val="FF6A13"/>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8" y="267657"/>
            <a:ext cx="8528371"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31835220"/>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Wide">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264925"/>
            <a:ext cx="8521769" cy="3242040"/>
          </a:xfrm>
          <a:prstGeom prst="rect">
            <a:avLst/>
          </a:prstGeom>
        </p:spPr>
        <p:txBody>
          <a:bodyPr vert="horz" lIns="91440" tIns="45720" rIns="91440" bIns="45720" rtlCol="0">
            <a:normAutofit/>
          </a:bodyPr>
          <a:lstStyle>
            <a:lvl1pPr>
              <a:spcBef>
                <a:spcPts val="0"/>
              </a:spcBef>
              <a:buClr>
                <a:srgbClr val="FF6A13"/>
              </a:buClr>
              <a:defRPr/>
            </a:lvl1pPr>
            <a:lvl2pPr>
              <a:spcBef>
                <a:spcPts val="0"/>
              </a:spcBef>
              <a:buClr>
                <a:srgbClr val="FF6A13"/>
              </a:buClr>
              <a:defRPr/>
            </a:lvl2pPr>
            <a:lvl3pPr>
              <a:spcBef>
                <a:spcPts val="0"/>
              </a:spcBef>
              <a:buClr>
                <a:srgbClr val="FF6A13"/>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8" y="267657"/>
            <a:ext cx="8521767"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47611461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BE1C07FA-679D-46C0-86F7-8D17779A014C}"/>
              </a:ext>
            </a:extLst>
          </p:cNvPr>
          <p:cNvSpPr>
            <a:spLocks noGrp="1"/>
          </p:cNvSpPr>
          <p:nvPr>
            <p:ph idx="1"/>
          </p:nvPr>
        </p:nvSpPr>
        <p:spPr>
          <a:xfrm>
            <a:off x="323527"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itle Placeholder 1">
            <a:extLst>
              <a:ext uri="{FF2B5EF4-FFF2-40B4-BE49-F238E27FC236}">
                <a16:creationId xmlns:a16="http://schemas.microsoft.com/office/drawing/2014/main" id="{1378A4D6-E4A6-4021-9A3E-CD1962CFECD1}"/>
              </a:ext>
            </a:extLst>
          </p:cNvPr>
          <p:cNvSpPr>
            <a:spLocks noGrp="1"/>
          </p:cNvSpPr>
          <p:nvPr>
            <p:ph type="title"/>
          </p:nvPr>
        </p:nvSpPr>
        <p:spPr>
          <a:xfrm>
            <a:off x="323529" y="267657"/>
            <a:ext cx="8496946"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2" name="Text Placeholder 2">
            <a:extLst>
              <a:ext uri="{FF2B5EF4-FFF2-40B4-BE49-F238E27FC236}">
                <a16:creationId xmlns:a16="http://schemas.microsoft.com/office/drawing/2014/main" id="{524709DA-7321-C012-5950-141DDACE71D0}"/>
              </a:ext>
            </a:extLst>
          </p:cNvPr>
          <p:cNvSpPr>
            <a:spLocks noGrp="1"/>
          </p:cNvSpPr>
          <p:nvPr>
            <p:ph idx="12"/>
          </p:nvPr>
        </p:nvSpPr>
        <p:spPr>
          <a:xfrm>
            <a:off x="4716475"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414322680"/>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bg>
      <p:bgRef idx="1001">
        <a:schemeClr val="bg1"/>
      </p:bgRef>
    </p:bg>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4C4900D4-E042-4F52-A837-0B504DD6A4AA}"/>
              </a:ext>
            </a:extLst>
          </p:cNvPr>
          <p:cNvSpPr>
            <a:spLocks noGrp="1"/>
          </p:cNvSpPr>
          <p:nvPr>
            <p:ph type="title"/>
          </p:nvPr>
        </p:nvSpPr>
        <p:spPr>
          <a:xfrm>
            <a:off x="323528" y="267657"/>
            <a:ext cx="8515671"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226472367"/>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7694286"/>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Two Content">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BE1C07FA-679D-46C0-86F7-8D17779A014C}"/>
              </a:ext>
            </a:extLst>
          </p:cNvPr>
          <p:cNvSpPr>
            <a:spLocks noGrp="1"/>
          </p:cNvSpPr>
          <p:nvPr>
            <p:ph idx="1"/>
          </p:nvPr>
        </p:nvSpPr>
        <p:spPr>
          <a:xfrm>
            <a:off x="323527"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itle Placeholder 1">
            <a:extLst>
              <a:ext uri="{FF2B5EF4-FFF2-40B4-BE49-F238E27FC236}">
                <a16:creationId xmlns:a16="http://schemas.microsoft.com/office/drawing/2014/main" id="{1378A4D6-E4A6-4021-9A3E-CD1962CFECD1}"/>
              </a:ext>
            </a:extLst>
          </p:cNvPr>
          <p:cNvSpPr>
            <a:spLocks noGrp="1"/>
          </p:cNvSpPr>
          <p:nvPr>
            <p:ph type="title"/>
          </p:nvPr>
        </p:nvSpPr>
        <p:spPr>
          <a:xfrm>
            <a:off x="323529" y="267657"/>
            <a:ext cx="6554350"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Media Placeholder 3">
            <a:extLst>
              <a:ext uri="{FF2B5EF4-FFF2-40B4-BE49-F238E27FC236}">
                <a16:creationId xmlns:a16="http://schemas.microsoft.com/office/drawing/2014/main" id="{CFE9A372-03E3-E60F-6496-867B43D28DDD}"/>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
        <p:nvSpPr>
          <p:cNvPr id="2" name="Text Placeholder 2">
            <a:extLst>
              <a:ext uri="{FF2B5EF4-FFF2-40B4-BE49-F238E27FC236}">
                <a16:creationId xmlns:a16="http://schemas.microsoft.com/office/drawing/2014/main" id="{524709DA-7321-C012-5950-141DDACE71D0}"/>
              </a:ext>
            </a:extLst>
          </p:cNvPr>
          <p:cNvSpPr>
            <a:spLocks noGrp="1"/>
          </p:cNvSpPr>
          <p:nvPr>
            <p:ph idx="12"/>
          </p:nvPr>
        </p:nvSpPr>
        <p:spPr>
          <a:xfrm>
            <a:off x="4716475"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422627193"/>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3528" y="267657"/>
            <a:ext cx="8528372"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323527" y="1264925"/>
            <a:ext cx="8528373" cy="324204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Content Placeholder 2">
            <a:extLst>
              <a:ext uri="{FF2B5EF4-FFF2-40B4-BE49-F238E27FC236}">
                <a16:creationId xmlns:a16="http://schemas.microsoft.com/office/drawing/2014/main" id="{79B4391E-A2CA-4E7C-B5A9-A31CF000D3E5}"/>
              </a:ext>
            </a:extLst>
          </p:cNvPr>
          <p:cNvSpPr txBox="1">
            <a:spLocks/>
          </p:cNvSpPr>
          <p:nvPr userDrawn="1"/>
        </p:nvSpPr>
        <p:spPr>
          <a:xfrm>
            <a:off x="710852" y="4745354"/>
            <a:ext cx="7066640" cy="398145"/>
          </a:xfrm>
          <a:prstGeom prst="rect">
            <a:avLst/>
          </a:prstGeom>
        </p:spPr>
        <p:txBody>
          <a:bodyPr anchor="ctr">
            <a:normAutofit/>
          </a:bodyPr>
          <a:lstStyle>
            <a:lvl1pPr marL="0" indent="0" algn="l" defTabSz="914400" rtl="0" eaLnBrk="1" latinLnBrk="0" hangingPunct="1">
              <a:lnSpc>
                <a:spcPct val="80000"/>
              </a:lnSpc>
              <a:spcBef>
                <a:spcPts val="400"/>
              </a:spcBef>
              <a:buClr>
                <a:srgbClr val="FF9421"/>
              </a:buClr>
              <a:buFont typeface="Arial" panose="020B0604020202020204" pitchFamily="34" charset="0"/>
              <a:buNone/>
              <a:defRPr sz="1800" kern="1200">
                <a:solidFill>
                  <a:schemeClr val="bg1"/>
                </a:solidFill>
                <a:latin typeface="+mn-lt"/>
                <a:ea typeface="+mn-ea"/>
                <a:cs typeface="+mn-cs"/>
              </a:defRPr>
            </a:lvl1pPr>
            <a:lvl2pPr marL="717550" indent="-355600" algn="l" defTabSz="914400" rtl="0" eaLnBrk="1" latinLnBrk="0" hangingPunct="1">
              <a:lnSpc>
                <a:spcPct val="80000"/>
              </a:lnSpc>
              <a:spcBef>
                <a:spcPts val="400"/>
              </a:spcBef>
              <a:buClr>
                <a:srgbClr val="FF9421"/>
              </a:buClr>
              <a:buSzPct val="60000"/>
              <a:buFont typeface="Courier New" panose="02070309020205020404" pitchFamily="49" charset="0"/>
              <a:buChar char="o"/>
              <a:defRPr sz="2400" kern="1200">
                <a:solidFill>
                  <a:schemeClr val="bg1"/>
                </a:solidFill>
                <a:latin typeface="+mn-lt"/>
                <a:ea typeface="+mn-ea"/>
                <a:cs typeface="+mn-cs"/>
              </a:defRPr>
            </a:lvl2pPr>
            <a:lvl3pPr marL="1079500" indent="-361950" algn="l" defTabSz="914400" rtl="0" eaLnBrk="1" latinLnBrk="0" hangingPunct="1">
              <a:lnSpc>
                <a:spcPct val="80000"/>
              </a:lnSpc>
              <a:spcBef>
                <a:spcPts val="400"/>
              </a:spcBef>
              <a:buClr>
                <a:srgbClr val="FF9421"/>
              </a:buClr>
              <a:buSzPct val="75000"/>
              <a:buFont typeface="Wingdings" panose="05000000000000000000" pitchFamily="2" charset="2"/>
              <a:buChar char="§"/>
              <a:defRPr sz="2000" kern="1200">
                <a:solidFill>
                  <a:schemeClr val="bg1"/>
                </a:solidFill>
                <a:latin typeface="+mn-lt"/>
                <a:ea typeface="+mn-ea"/>
                <a:cs typeface="+mn-cs"/>
              </a:defRPr>
            </a:lvl3pPr>
            <a:lvl4pPr marL="1433513" indent="-354013" algn="l" defTabSz="914400" rtl="0" eaLnBrk="1" latinLnBrk="0" hangingPunct="1">
              <a:lnSpc>
                <a:spcPct val="80000"/>
              </a:lnSpc>
              <a:spcBef>
                <a:spcPts val="400"/>
              </a:spcBef>
              <a:buClr>
                <a:srgbClr val="FF9421"/>
              </a:buClr>
              <a:buFont typeface="Calibri" panose="020F0502020204030204" pitchFamily="34" charset="0"/>
              <a:buChar char="–"/>
              <a:defRPr sz="1600" kern="1200">
                <a:solidFill>
                  <a:schemeClr val="bg1"/>
                </a:solidFill>
                <a:latin typeface="+mn-lt"/>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ctr" rtl="0">
              <a:spcBef>
                <a:spcPts val="0"/>
              </a:spcBef>
            </a:pPr>
            <a:r>
              <a:rPr lang="en-US" sz="1600" dirty="0">
                <a:solidFill>
                  <a:srgbClr val="282828"/>
                </a:solidFill>
                <a:latin typeface="Sarabun" panose="00000500000000000000" pitchFamily="2" charset="-34"/>
              </a:rPr>
              <a:t>Asynchronous Services</a:t>
            </a:r>
          </a:p>
        </p:txBody>
      </p:sp>
      <p:sp>
        <p:nvSpPr>
          <p:cNvPr id="49" name="Date Placeholder 3"/>
          <p:cNvSpPr txBox="1">
            <a:spLocks/>
          </p:cNvSpPr>
          <p:nvPr userDrawn="1"/>
        </p:nvSpPr>
        <p:spPr>
          <a:xfrm>
            <a:off x="45720" y="4743900"/>
            <a:ext cx="665132" cy="399600"/>
          </a:xfrm>
          <a:prstGeom prst="rect">
            <a:avLst/>
          </a:prstGeom>
        </p:spPr>
        <p:txBody>
          <a:bodyPr vert="horz" lIns="91440" tIns="45720" rIns="91440" bIns="45720" rtlCol="0" anchor="ctr"/>
          <a:lstStyle>
            <a:defPPr>
              <a:defRPr lang="en-US"/>
            </a:defPPr>
            <a:lvl1pPr marL="0" algn="l" defTabSz="914400" rtl="0" eaLnBrk="1" latinLnBrk="0" hangingPunct="1">
              <a:defRPr sz="2000" b="0" kern="1200">
                <a:solidFill>
                  <a:schemeClr val="bg1"/>
                </a:solidFill>
                <a:latin typeface="Klavika Medium" panose="02000603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02EDF88B-1B61-4481-9BD6-D2E23BF0DCD8}" type="slidenum">
              <a:rPr lang="en-GB" sz="1600" baseline="0" smtClean="0">
                <a:solidFill>
                  <a:srgbClr val="FF6A13"/>
                </a:solidFill>
                <a:latin typeface="Sarabun" panose="00000500000000000000" pitchFamily="2" charset="-34"/>
              </a:rPr>
              <a:pPr algn="l"/>
              <a:t>‹#›</a:t>
            </a:fld>
            <a:endParaRPr lang="en-GB" sz="1600" baseline="0" dirty="0">
              <a:solidFill>
                <a:srgbClr val="FF6A13"/>
              </a:solidFill>
              <a:latin typeface="Sarabun" panose="00000500000000000000" pitchFamily="2" charset="-34"/>
            </a:endParaRPr>
          </a:p>
        </p:txBody>
      </p:sp>
      <p:pic>
        <p:nvPicPr>
          <p:cNvPr id="5" name="Picture 4">
            <a:extLst>
              <a:ext uri="{FF2B5EF4-FFF2-40B4-BE49-F238E27FC236}">
                <a16:creationId xmlns:a16="http://schemas.microsoft.com/office/drawing/2014/main" id="{CFEC5741-2586-9026-BBB0-7FC530AB64E7}"/>
              </a:ext>
            </a:extLst>
          </p:cNvPr>
          <p:cNvPicPr>
            <a:picLocks noChangeAspect="1"/>
          </p:cNvPicPr>
          <p:nvPr userDrawn="1"/>
        </p:nvPicPr>
        <p:blipFill>
          <a:blip>
            <a:extLst>
              <a:ext uri="{96DAC541-7B7A-43D3-8B79-37D633B846F1}">
                <asvg:svgBlip xmlns:asvg="http://schemas.microsoft.com/office/drawing/2016/SVG/main" r:embed="rId9"/>
              </a:ext>
            </a:extLst>
          </a:blip>
          <a:srcRect/>
          <a:stretch/>
        </p:blipFill>
        <p:spPr>
          <a:xfrm>
            <a:off x="7699513" y="4665641"/>
            <a:ext cx="1152387" cy="386873"/>
          </a:xfrm>
          <a:prstGeom prst="rect">
            <a:avLst/>
          </a:prstGeom>
        </p:spPr>
      </p:pic>
      <p:cxnSp>
        <p:nvCxnSpPr>
          <p:cNvPr id="10" name="Straight Connector 9">
            <a:extLst>
              <a:ext uri="{FF2B5EF4-FFF2-40B4-BE49-F238E27FC236}">
                <a16:creationId xmlns:a16="http://schemas.microsoft.com/office/drawing/2014/main" id="{8AB9ED5D-5652-ECE7-BCC6-63EFE93D812C}"/>
              </a:ext>
            </a:extLst>
          </p:cNvPr>
          <p:cNvCxnSpPr>
            <a:cxnSpLocks/>
          </p:cNvCxnSpPr>
          <p:nvPr userDrawn="1"/>
        </p:nvCxnSpPr>
        <p:spPr>
          <a:xfrm>
            <a:off x="0" y="5119690"/>
            <a:ext cx="9144000" cy="0"/>
          </a:xfrm>
          <a:prstGeom prst="line">
            <a:avLst/>
          </a:prstGeom>
          <a:ln w="508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1740000"/>
      </p:ext>
    </p:extLst>
  </p:cSld>
  <p:clrMap bg1="lt1" tx1="dk1" bg2="lt2" tx2="dk2" accent1="accent1" accent2="accent2" accent3="accent3" accent4="accent4" accent5="accent5" accent6="accent6" hlink="hlink" folHlink="folHlink"/>
  <p:sldLayoutIdLst>
    <p:sldLayoutId id="2147483657" r:id="rId1"/>
    <p:sldLayoutId id="2147483650" r:id="rId2"/>
    <p:sldLayoutId id="2147483658" r:id="rId3"/>
    <p:sldLayoutId id="2147483652" r:id="rId4"/>
    <p:sldLayoutId id="2147483654" r:id="rId5"/>
    <p:sldLayoutId id="2147483655" r:id="rId6"/>
    <p:sldLayoutId id="2147483659" r:id="rId7"/>
  </p:sldLayoutIdLst>
  <p:hf sldNum="0" hdr="0" dt="0"/>
  <p:txStyles>
    <p:titleStyle>
      <a:lvl1pPr algn="l" defTabSz="914400" rtl="0" eaLnBrk="1" latinLnBrk="0" hangingPunct="1">
        <a:spcBef>
          <a:spcPct val="0"/>
        </a:spcBef>
        <a:buNone/>
        <a:defRPr sz="3600" b="0" kern="1200">
          <a:solidFill>
            <a:srgbClr val="3B475E"/>
          </a:solidFill>
          <a:latin typeface="Sarabun" panose="00000500000000000000" pitchFamily="2" charset="-34"/>
          <a:ea typeface="+mj-ea"/>
          <a:cs typeface="Calibri" panose="020F0502020204030204" pitchFamily="34" charset="0"/>
        </a:defRPr>
      </a:lvl1pPr>
    </p:titleStyle>
    <p:bodyStyle>
      <a:lvl1pPr marL="458788" indent="-458788"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2400" kern="1200">
          <a:solidFill>
            <a:srgbClr val="3B475E"/>
          </a:solidFill>
          <a:latin typeface="Sarabun" panose="00000500000000000000" pitchFamily="2" charset="-34"/>
          <a:ea typeface="+mn-ea"/>
          <a:cs typeface="+mn-cs"/>
        </a:defRPr>
      </a:lvl1pPr>
      <a:lvl2pPr marL="858838" indent="-401638"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lang="en-US" sz="2000" kern="1200" dirty="0" smtClean="0">
          <a:solidFill>
            <a:srgbClr val="3B475E"/>
          </a:solidFill>
          <a:latin typeface="Sarabun" panose="00000500000000000000" pitchFamily="2" charset="-34"/>
          <a:ea typeface="+mn-ea"/>
          <a:cs typeface="+mn-cs"/>
        </a:defRPr>
      </a:lvl2pPr>
      <a:lvl3pPr marL="1257300" indent="-342900"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1800" kern="1200">
          <a:solidFill>
            <a:srgbClr val="3B475E"/>
          </a:solidFill>
          <a:latin typeface="Sarabun" panose="00000500000000000000" pitchFamily="2" charset="-34"/>
          <a:ea typeface="+mn-ea"/>
          <a:cs typeface="+mn-cs"/>
        </a:defRPr>
      </a:lvl3pPr>
      <a:lvl4pPr marL="1655763" indent="-284163"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1400" kern="1200">
          <a:solidFill>
            <a:srgbClr val="3B475E"/>
          </a:solidFill>
          <a:latin typeface="Sarabun" panose="00000500000000000000" pitchFamily="2" charset="-34"/>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dyalog-training/2026-MP2"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hyperlink" Target="https://dyalog.github.io/WebSocketClient" TargetMode="External"/><Relationship Id="rId5" Type="http://schemas.openxmlformats.org/officeDocument/2006/relationships/hyperlink" Target="https://dyalog.github.io/Jarvis" TargetMode="External"/><Relationship Id="rId4" Type="http://schemas.openxmlformats.org/officeDocument/2006/relationships/hyperlink" Target="https://dyalog.github.io/HttpCommand"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eedback.dyalog.com/" TargetMode="External"/><Relationship Id="rId2" Type="http://schemas.openxmlformats.org/officeDocument/2006/relationships/image" Target="../media/image4.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t>Asynchronous Services</a:t>
            </a:r>
            <a:br/>
            <a:r>
              <a:rPr sz="1800">
                <a:solidFill>
                  <a:schemeClr val="tx1"/>
                </a:solidFill>
              </a:rPr>
              <a:t>Web hooks, Server-Sent Events</a:t>
            </a:r>
            <a:br/>
            <a:r>
              <a:rPr sz="1800">
                <a:solidFill>
                  <a:schemeClr val="tx1"/>
                </a:solidFill>
              </a:rPr>
              <a:t>and WebSockets in Dyalog APL</a:t>
            </a:r>
            <a:br/>
            <a:endParaRPr/>
          </a:p>
        </p:txBody>
      </p:sp>
      <p:sp>
        <p:nvSpPr>
          <p:cNvPr id="3" name="Text Placeholder 2"/>
          <p:cNvSpPr>
            <a:spLocks noGrp="1"/>
          </p:cNvSpPr>
          <p:nvPr>
            <p:ph type="body" sz="quarter" idx="10"/>
          </p:nvPr>
        </p:nvSpPr>
        <p:spPr/>
        <p:txBody>
          <a:bodyPr/>
          <a:lstStyle/>
          <a:p>
            <a:r>
              <a:rPr sz="1400" b="0" i="0" dirty="0">
                <a:solidFill>
                  <a:schemeClr val="tx1"/>
                </a:solidFill>
              </a:rPr>
              <a:t>Brian Becker</a:t>
            </a:r>
            <a:br>
              <a:rPr lang="en-US" sz="1400" i="0" dirty="0">
                <a:solidFill>
                  <a:schemeClr val="tx1"/>
                </a:solidFill>
              </a:rPr>
            </a:br>
            <a:r>
              <a:rPr lang="en-US" sz="1400" i="0" dirty="0">
                <a:solidFill>
                  <a:schemeClr val="tx1"/>
                </a:solidFill>
              </a:rPr>
              <a:t>Assisted by</a:t>
            </a:r>
            <a:r>
              <a:rPr sz="1400" b="0" i="0" dirty="0">
                <a:solidFill>
                  <a:schemeClr val="tx1"/>
                </a:solidFill>
              </a:rPr>
              <a:t> Holden Hoover</a:t>
            </a:r>
            <a:r>
              <a:rPr lang="en-US" sz="1400" b="0" i="0" dirty="0">
                <a:solidFill>
                  <a:schemeClr val="tx1"/>
                </a:solidFill>
              </a:rPr>
              <a:t>, Rich Park, Stefan Kruger</a:t>
            </a:r>
            <a:endParaRPr sz="1400" b="0" i="0" dirty="0">
              <a:solidFill>
                <a:schemeClr val="tx1"/>
              </a:solidFill>
            </a:endParaRPr>
          </a:p>
          <a:p>
            <a:r>
              <a:rPr sz="1400" b="0" dirty="0">
                <a:solidFill>
                  <a:schemeClr val="accent1"/>
                </a:solidFill>
              </a:rPr>
              <a:t>Dyalog26 User Meeting · 12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This afternoon</a:t>
            </a:r>
          </a:p>
        </p:txBody>
      </p:sp>
      <p:sp>
        <p:nvSpPr>
          <p:cNvPr id="3" name="schedule block"/>
          <p:cNvSpPr/>
          <p:nvPr/>
        </p:nvSpPr>
        <p:spPr>
          <a:xfrm>
            <a:off x="334057"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chedule block"/>
          <p:cNvSpPr/>
          <p:nvPr/>
        </p:nvSpPr>
        <p:spPr>
          <a:xfrm>
            <a:off x="739006" y="1924234"/>
            <a:ext cx="579387"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chedule block"/>
          <p:cNvSpPr/>
          <p:nvPr/>
        </p:nvSpPr>
        <p:spPr>
          <a:xfrm>
            <a:off x="1346429"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chedule label"/>
          <p:cNvSpPr txBox="1"/>
          <p:nvPr/>
        </p:nvSpPr>
        <p:spPr>
          <a:xfrm>
            <a:off x="1332411" y="1924234"/>
            <a:ext cx="1214845" cy="656947"/>
          </a:xfrm>
          <a:prstGeom prst="rect">
            <a:avLst/>
          </a:prstGeom>
          <a:noFill/>
        </p:spPr>
        <p:txBody>
          <a:bodyPr wrap="square" lIns="0" tIns="0" rIns="0" bIns="0" anchor="ctr">
            <a:spAutoFit/>
          </a:bodyPr>
          <a:lstStyle/>
          <a:p>
            <a:pPr algn="ctr"/>
            <a:r>
              <a:rPr sz="1200" b="1">
                <a:solidFill>
                  <a:schemeClr val="bg1"/>
                </a:solidFill>
              </a:rPr>
              <a:t>Ex 1</a:t>
            </a:r>
          </a:p>
        </p:txBody>
      </p:sp>
      <p:sp>
        <p:nvSpPr>
          <p:cNvPr id="7" name="schedule block"/>
          <p:cNvSpPr/>
          <p:nvPr/>
        </p:nvSpPr>
        <p:spPr>
          <a:xfrm>
            <a:off x="2561274"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chedule block"/>
          <p:cNvSpPr/>
          <p:nvPr/>
        </p:nvSpPr>
        <p:spPr>
          <a:xfrm>
            <a:off x="2966223" y="1924234"/>
            <a:ext cx="579387" cy="65694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chedule block"/>
          <p:cNvSpPr/>
          <p:nvPr/>
        </p:nvSpPr>
        <p:spPr>
          <a:xfrm>
            <a:off x="3573646"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chedule label"/>
          <p:cNvSpPr txBox="1"/>
          <p:nvPr/>
        </p:nvSpPr>
        <p:spPr>
          <a:xfrm>
            <a:off x="3559628" y="1924234"/>
            <a:ext cx="1214845" cy="656947"/>
          </a:xfrm>
          <a:prstGeom prst="rect">
            <a:avLst/>
          </a:prstGeom>
          <a:noFill/>
        </p:spPr>
        <p:txBody>
          <a:bodyPr wrap="square" lIns="0" tIns="0" rIns="0" bIns="0" anchor="ctr">
            <a:spAutoFit/>
          </a:bodyPr>
          <a:lstStyle/>
          <a:p>
            <a:pPr algn="ctr"/>
            <a:r>
              <a:rPr sz="1200" b="1">
                <a:solidFill>
                  <a:schemeClr val="bg1"/>
                </a:solidFill>
              </a:rPr>
              <a:t>Ex 2</a:t>
            </a:r>
          </a:p>
        </p:txBody>
      </p:sp>
      <p:sp>
        <p:nvSpPr>
          <p:cNvPr id="11" name="schedule block"/>
          <p:cNvSpPr/>
          <p:nvPr/>
        </p:nvSpPr>
        <p:spPr>
          <a:xfrm>
            <a:off x="4788492"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chedule block"/>
          <p:cNvSpPr/>
          <p:nvPr/>
        </p:nvSpPr>
        <p:spPr>
          <a:xfrm>
            <a:off x="5193440"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chedule label"/>
          <p:cNvSpPr txBox="1"/>
          <p:nvPr/>
        </p:nvSpPr>
        <p:spPr>
          <a:xfrm>
            <a:off x="5179422" y="1924234"/>
            <a:ext cx="1214845" cy="656947"/>
          </a:xfrm>
          <a:prstGeom prst="rect">
            <a:avLst/>
          </a:prstGeom>
          <a:noFill/>
        </p:spPr>
        <p:txBody>
          <a:bodyPr wrap="square" lIns="0" tIns="0" rIns="0" bIns="0" anchor="ctr">
            <a:spAutoFit/>
          </a:bodyPr>
          <a:lstStyle/>
          <a:p>
            <a:pPr algn="ctr"/>
            <a:r>
              <a:rPr sz="1200" b="1">
                <a:solidFill>
                  <a:schemeClr val="bg1"/>
                </a:solidFill>
              </a:rPr>
              <a:t>Ex 3</a:t>
            </a:r>
          </a:p>
        </p:txBody>
      </p:sp>
      <p:sp>
        <p:nvSpPr>
          <p:cNvPr id="14" name="schedule block"/>
          <p:cNvSpPr/>
          <p:nvPr/>
        </p:nvSpPr>
        <p:spPr>
          <a:xfrm>
            <a:off x="6408286" y="1924234"/>
            <a:ext cx="579387" cy="656947"/>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chedule block"/>
          <p:cNvSpPr/>
          <p:nvPr/>
        </p:nvSpPr>
        <p:spPr>
          <a:xfrm>
            <a:off x="7015709" y="1924234"/>
            <a:ext cx="376912"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hedule block"/>
          <p:cNvSpPr/>
          <p:nvPr/>
        </p:nvSpPr>
        <p:spPr>
          <a:xfrm>
            <a:off x="7420657" y="1924234"/>
            <a:ext cx="1186810" cy="656947"/>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chedule label"/>
          <p:cNvSpPr txBox="1"/>
          <p:nvPr/>
        </p:nvSpPr>
        <p:spPr>
          <a:xfrm>
            <a:off x="7406640" y="1924234"/>
            <a:ext cx="1214845" cy="656947"/>
          </a:xfrm>
          <a:prstGeom prst="rect">
            <a:avLst/>
          </a:prstGeom>
          <a:noFill/>
        </p:spPr>
        <p:txBody>
          <a:bodyPr wrap="square" lIns="0" tIns="0" rIns="0" bIns="0" anchor="ctr">
            <a:spAutoFit/>
          </a:bodyPr>
          <a:lstStyle/>
          <a:p>
            <a:pPr algn="ctr"/>
            <a:r>
              <a:rPr sz="1200" b="1">
                <a:solidFill>
                  <a:schemeClr val="bg1"/>
                </a:solidFill>
              </a:rPr>
              <a:t>Ex 4</a:t>
            </a:r>
          </a:p>
        </p:txBody>
      </p:sp>
      <p:sp>
        <p:nvSpPr>
          <p:cNvPr id="18" name="schedule block"/>
          <p:cNvSpPr/>
          <p:nvPr/>
        </p:nvSpPr>
        <p:spPr>
          <a:xfrm>
            <a:off x="8635503" y="1924234"/>
            <a:ext cx="174438" cy="65694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legend swatch"/>
          <p:cNvSpPr/>
          <p:nvPr/>
        </p:nvSpPr>
        <p:spPr>
          <a:xfrm>
            <a:off x="320040" y="2843961"/>
            <a:ext cx="245312" cy="229931"/>
          </a:xfrm>
          <a:prstGeom prst="rect">
            <a:avLst/>
          </a:prstGeom>
          <a:solidFill>
            <a:schemeClr val="tx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
          <p:cNvSpPr txBox="1"/>
          <p:nvPr/>
        </p:nvSpPr>
        <p:spPr>
          <a:xfrm>
            <a:off x="670485" y="2843961"/>
            <a:ext cx="2102675" cy="229931"/>
          </a:xfrm>
          <a:prstGeom prst="rect">
            <a:avLst/>
          </a:prstGeom>
          <a:noFill/>
        </p:spPr>
        <p:txBody>
          <a:bodyPr wrap="square" lIns="0" tIns="0" rIns="0" bIns="0" anchor="ctr">
            <a:spAutoFit/>
          </a:bodyPr>
          <a:lstStyle/>
          <a:p>
            <a:r>
              <a:rPr sz="1200" b="0">
                <a:solidFill>
                  <a:schemeClr val="tx1"/>
                </a:solidFill>
              </a:rPr>
              <a:t>Talk</a:t>
            </a:r>
          </a:p>
        </p:txBody>
      </p:sp>
      <p:sp>
        <p:nvSpPr>
          <p:cNvPr id="21" name="legend swatch"/>
          <p:cNvSpPr/>
          <p:nvPr/>
        </p:nvSpPr>
        <p:spPr>
          <a:xfrm>
            <a:off x="2843250" y="2843961"/>
            <a:ext cx="245312" cy="229931"/>
          </a:xfrm>
          <a:prstGeom prst="rect">
            <a:avLst/>
          </a:prstGeom>
          <a:solidFill>
            <a:schemeClr val="accent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
          <p:cNvSpPr txBox="1"/>
          <p:nvPr/>
        </p:nvSpPr>
        <p:spPr>
          <a:xfrm>
            <a:off x="3193696" y="2843961"/>
            <a:ext cx="2102675" cy="229931"/>
          </a:xfrm>
          <a:prstGeom prst="rect">
            <a:avLst/>
          </a:prstGeom>
          <a:noFill/>
        </p:spPr>
        <p:txBody>
          <a:bodyPr wrap="square" lIns="0" tIns="0" rIns="0" bIns="0" anchor="ctr">
            <a:spAutoFit/>
          </a:bodyPr>
          <a:lstStyle/>
          <a:p>
            <a:r>
              <a:rPr sz="1200" b="0">
                <a:solidFill>
                  <a:schemeClr val="tx1"/>
                </a:solidFill>
              </a:rPr>
              <a:t>Exercise, 30 minutes each</a:t>
            </a:r>
          </a:p>
        </p:txBody>
      </p:sp>
      <p:sp>
        <p:nvSpPr>
          <p:cNvPr id="23" name="legend swatch"/>
          <p:cNvSpPr/>
          <p:nvPr/>
        </p:nvSpPr>
        <p:spPr>
          <a:xfrm>
            <a:off x="5366460" y="2843961"/>
            <a:ext cx="245312" cy="229931"/>
          </a:xfrm>
          <a:prstGeom prst="rect">
            <a:avLst/>
          </a:prstGeom>
          <a:solidFill>
            <a:schemeClr val="bg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
          <p:cNvSpPr txBox="1"/>
          <p:nvPr/>
        </p:nvSpPr>
        <p:spPr>
          <a:xfrm>
            <a:off x="5716906" y="2843961"/>
            <a:ext cx="2102675" cy="229931"/>
          </a:xfrm>
          <a:prstGeom prst="rect">
            <a:avLst/>
          </a:prstGeom>
          <a:noFill/>
        </p:spPr>
        <p:txBody>
          <a:bodyPr wrap="square" lIns="0" tIns="0" rIns="0" bIns="0" anchor="ctr">
            <a:spAutoFit/>
          </a:bodyPr>
          <a:lstStyle/>
          <a:p>
            <a:r>
              <a:rPr sz="1200" b="0">
                <a:solidFill>
                  <a:schemeClr val="tx1"/>
                </a:solidFill>
              </a:rPr>
              <a:t>Break, 15 minutes</a:t>
            </a:r>
          </a:p>
        </p:txBody>
      </p:sp>
      <p:sp>
        <p:nvSpPr>
          <p:cNvPr id="25" name="text"/>
          <p:cNvSpPr txBox="1"/>
          <p:nvPr/>
        </p:nvSpPr>
        <p:spPr>
          <a:xfrm>
            <a:off x="320040" y="1234440"/>
            <a:ext cx="8060255" cy="525558"/>
          </a:xfrm>
          <a:prstGeom prst="rect">
            <a:avLst/>
          </a:prstGeom>
          <a:noFill/>
        </p:spPr>
        <p:txBody>
          <a:bodyPr wrap="square" lIns="0" tIns="0" rIns="0" bIns="0" anchor="t">
            <a:spAutoFit/>
          </a:bodyPr>
          <a:lstStyle/>
          <a:p>
            <a:r>
              <a:rPr sz="1600" b="0">
                <a:solidFill>
                  <a:schemeClr val="tx1"/>
                </a:solidFill>
              </a:rPr>
              <a:t>3 hours 30 minutes: four short talks, four 30-minute exercises, two breaks. Each talk sets up the exercise that follows it.</a:t>
            </a:r>
          </a:p>
        </p:txBody>
      </p:sp>
      <p:grpSp>
        <p:nvGrpSpPr>
          <p:cNvPr id="35" name="Group 34">
            <a:extLst>
              <a:ext uri="{FF2B5EF4-FFF2-40B4-BE49-F238E27FC236}">
                <a16:creationId xmlns:a16="http://schemas.microsoft.com/office/drawing/2014/main" id="{1760939F-2B0D-0E83-014A-4108513FD22D}"/>
              </a:ext>
            </a:extLst>
          </p:cNvPr>
          <p:cNvGrpSpPr/>
          <p:nvPr/>
        </p:nvGrpSpPr>
        <p:grpSpPr>
          <a:xfrm>
            <a:off x="320040" y="3303824"/>
            <a:ext cx="2663388" cy="1281047"/>
            <a:chOff x="320040" y="3303824"/>
            <a:chExt cx="2663388" cy="1281047"/>
          </a:xfrm>
        </p:grpSpPr>
        <p:sp>
          <p:nvSpPr>
            <p:cNvPr id="26" name="card"/>
            <p:cNvSpPr/>
            <p:nvPr/>
          </p:nvSpPr>
          <p:spPr>
            <a:xfrm>
              <a:off x="320040"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card head"/>
            <p:cNvSpPr txBox="1"/>
            <p:nvPr/>
          </p:nvSpPr>
          <p:spPr>
            <a:xfrm>
              <a:off x="530307" y="3448353"/>
              <a:ext cx="2242853" cy="328473"/>
            </a:xfrm>
            <a:prstGeom prst="rect">
              <a:avLst/>
            </a:prstGeom>
            <a:noFill/>
          </p:spPr>
          <p:txBody>
            <a:bodyPr wrap="square" lIns="0" tIns="0" rIns="0" bIns="0" anchor="t">
              <a:spAutoFit/>
            </a:bodyPr>
            <a:lstStyle/>
            <a:p>
              <a:r>
                <a:rPr sz="1600" b="1">
                  <a:solidFill>
                    <a:schemeClr val="tx1"/>
                  </a:solidFill>
                </a:rPr>
                <a:t>Behind?</a:t>
              </a:r>
            </a:p>
          </p:txBody>
        </p:sp>
        <p:sp>
          <p:nvSpPr>
            <p:cNvPr id="28" name="card body"/>
            <p:cNvSpPr txBox="1"/>
            <p:nvPr/>
          </p:nvSpPr>
          <p:spPr>
            <a:xfrm>
              <a:off x="530307" y="3829382"/>
              <a:ext cx="2242853" cy="656947"/>
            </a:xfrm>
            <a:prstGeom prst="rect">
              <a:avLst/>
            </a:prstGeom>
            <a:noFill/>
          </p:spPr>
          <p:txBody>
            <a:bodyPr wrap="square" lIns="0" tIns="0" rIns="0" bIns="0" anchor="t">
              <a:spAutoFit/>
            </a:bodyPr>
            <a:lstStyle/>
            <a:p>
              <a:r>
                <a:rPr sz="1100" b="0">
                  <a:solidFill>
                    <a:schemeClr val="tx1"/>
                  </a:solidFill>
                </a:rPr>
                <a:t>Load the exercise's Solution and carry on. No exercise depends on your own earlier code.</a:t>
              </a:r>
            </a:p>
          </p:txBody>
        </p:sp>
      </p:grpSp>
      <p:grpSp>
        <p:nvGrpSpPr>
          <p:cNvPr id="36" name="Group 35">
            <a:extLst>
              <a:ext uri="{FF2B5EF4-FFF2-40B4-BE49-F238E27FC236}">
                <a16:creationId xmlns:a16="http://schemas.microsoft.com/office/drawing/2014/main" id="{02ACD594-316D-4429-B4BB-38879FED309D}"/>
              </a:ext>
            </a:extLst>
          </p:cNvPr>
          <p:cNvGrpSpPr/>
          <p:nvPr/>
        </p:nvGrpSpPr>
        <p:grpSpPr>
          <a:xfrm>
            <a:off x="3228740" y="3303824"/>
            <a:ext cx="2663388" cy="1281047"/>
            <a:chOff x="3228740" y="3303824"/>
            <a:chExt cx="2663388" cy="1281047"/>
          </a:xfrm>
        </p:grpSpPr>
        <p:sp>
          <p:nvSpPr>
            <p:cNvPr id="29" name="card"/>
            <p:cNvSpPr/>
            <p:nvPr/>
          </p:nvSpPr>
          <p:spPr>
            <a:xfrm>
              <a:off x="3228740"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card head"/>
            <p:cNvSpPr txBox="1"/>
            <p:nvPr/>
          </p:nvSpPr>
          <p:spPr>
            <a:xfrm>
              <a:off x="3439008" y="3448353"/>
              <a:ext cx="2242853" cy="328473"/>
            </a:xfrm>
            <a:prstGeom prst="rect">
              <a:avLst/>
            </a:prstGeom>
            <a:noFill/>
          </p:spPr>
          <p:txBody>
            <a:bodyPr wrap="square" lIns="0" tIns="0" rIns="0" bIns="0" anchor="t">
              <a:spAutoFit/>
            </a:bodyPr>
            <a:lstStyle/>
            <a:p>
              <a:r>
                <a:rPr sz="1600" b="1">
                  <a:solidFill>
                    <a:schemeClr val="tx1"/>
                  </a:solidFill>
                </a:rPr>
                <a:t>Ahead?</a:t>
              </a:r>
            </a:p>
          </p:txBody>
        </p:sp>
        <p:sp>
          <p:nvSpPr>
            <p:cNvPr id="31" name="card body"/>
            <p:cNvSpPr txBox="1"/>
            <p:nvPr/>
          </p:nvSpPr>
          <p:spPr>
            <a:xfrm>
              <a:off x="3439008" y="3829382"/>
              <a:ext cx="2242853" cy="338554"/>
            </a:xfrm>
            <a:prstGeom prst="rect">
              <a:avLst/>
            </a:prstGeom>
            <a:noFill/>
          </p:spPr>
          <p:txBody>
            <a:bodyPr wrap="square" lIns="0" tIns="0" rIns="0" bIns="0" anchor="t">
              <a:spAutoFit/>
            </a:bodyPr>
            <a:lstStyle/>
            <a:p>
              <a:r>
                <a:rPr sz="1100" b="0" dirty="0">
                  <a:solidFill>
                    <a:schemeClr val="tx1"/>
                  </a:solidFill>
                </a:rPr>
                <a:t>Each </a:t>
              </a:r>
              <a:r>
                <a:rPr lang="en-US" sz="1100" b="0" dirty="0">
                  <a:solidFill>
                    <a:schemeClr val="tx1"/>
                  </a:solidFill>
                </a:rPr>
                <a:t>exercise's </a:t>
              </a:r>
              <a:r>
                <a:rPr sz="1100" b="0" dirty="0">
                  <a:solidFill>
                    <a:schemeClr val="tx1"/>
                  </a:solidFill>
                </a:rPr>
                <a:t>README has stretch goals, marked as optional.</a:t>
              </a:r>
            </a:p>
          </p:txBody>
        </p:sp>
      </p:grpSp>
      <p:grpSp>
        <p:nvGrpSpPr>
          <p:cNvPr id="37" name="Group 36">
            <a:extLst>
              <a:ext uri="{FF2B5EF4-FFF2-40B4-BE49-F238E27FC236}">
                <a16:creationId xmlns:a16="http://schemas.microsoft.com/office/drawing/2014/main" id="{E0522E72-ADFD-B5B7-998B-8CABD13E0BB4}"/>
              </a:ext>
            </a:extLst>
          </p:cNvPr>
          <p:cNvGrpSpPr/>
          <p:nvPr/>
        </p:nvGrpSpPr>
        <p:grpSpPr>
          <a:xfrm>
            <a:off x="6137441" y="3303824"/>
            <a:ext cx="2663388" cy="1281047"/>
            <a:chOff x="6137441" y="3303824"/>
            <a:chExt cx="2663388" cy="1281047"/>
          </a:xfrm>
        </p:grpSpPr>
        <p:sp>
          <p:nvSpPr>
            <p:cNvPr id="32" name="card"/>
            <p:cNvSpPr/>
            <p:nvPr/>
          </p:nvSpPr>
          <p:spPr>
            <a:xfrm>
              <a:off x="6137441" y="3303824"/>
              <a:ext cx="2663388" cy="1281047"/>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card head"/>
            <p:cNvSpPr txBox="1"/>
            <p:nvPr/>
          </p:nvSpPr>
          <p:spPr>
            <a:xfrm>
              <a:off x="6347709" y="3448353"/>
              <a:ext cx="2242853" cy="328473"/>
            </a:xfrm>
            <a:prstGeom prst="rect">
              <a:avLst/>
            </a:prstGeom>
            <a:noFill/>
          </p:spPr>
          <p:txBody>
            <a:bodyPr wrap="square" lIns="0" tIns="0" rIns="0" bIns="0" anchor="t">
              <a:spAutoFit/>
            </a:bodyPr>
            <a:lstStyle/>
            <a:p>
              <a:r>
                <a:rPr sz="1600" b="1">
                  <a:solidFill>
                    <a:schemeClr val="tx1"/>
                  </a:solidFill>
                </a:rPr>
                <a:t>Stuck?</a:t>
              </a:r>
            </a:p>
          </p:txBody>
        </p:sp>
        <p:sp>
          <p:nvSpPr>
            <p:cNvPr id="34" name="card body"/>
            <p:cNvSpPr txBox="1"/>
            <p:nvPr/>
          </p:nvSpPr>
          <p:spPr>
            <a:xfrm>
              <a:off x="6347709" y="3829382"/>
              <a:ext cx="2242853" cy="656947"/>
            </a:xfrm>
            <a:prstGeom prst="rect">
              <a:avLst/>
            </a:prstGeom>
            <a:noFill/>
          </p:spPr>
          <p:txBody>
            <a:bodyPr wrap="square" lIns="0" tIns="0" rIns="0" bIns="0" anchor="t">
              <a:spAutoFit/>
            </a:bodyPr>
            <a:lstStyle/>
            <a:p>
              <a:r>
                <a:rPr sz="1100" b="0">
                  <a:solidFill>
                    <a:schemeClr val="tx1"/>
                  </a:solidFill>
                </a:rPr>
                <a:t>Ask. The breaks are also for catching up.</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5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Request and response: ask, then wait</a:t>
            </a:r>
          </a:p>
        </p:txBody>
      </p:sp>
      <p:cxnSp>
        <p:nvCxnSpPr>
          <p:cNvPr id="3" name="lane"/>
          <p:cNvCxnSpPr/>
          <p:nvPr/>
        </p:nvCxnSpPr>
        <p:spPr>
          <a:xfrm>
            <a:off x="1406422" y="1628608"/>
            <a:ext cx="0" cy="2857722"/>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495262" y="1267287"/>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495262" y="1267287"/>
            <a:ext cx="1822318" cy="361321"/>
          </a:xfrm>
          <a:prstGeom prst="rect">
            <a:avLst/>
          </a:prstGeom>
          <a:noFill/>
        </p:spPr>
        <p:txBody>
          <a:bodyPr wrap="square" lIns="0" tIns="0" rIns="0" bIns="0" anchor="ctr">
            <a:spAutoFit/>
          </a:bodyPr>
          <a:lstStyle/>
          <a:p>
            <a:pPr algn="ctr"/>
            <a:r>
              <a:rPr sz="1200" b="1">
                <a:solidFill>
                  <a:schemeClr val="tx1"/>
                </a:solidFill>
              </a:rPr>
              <a:t>Client</a:t>
            </a:r>
          </a:p>
        </p:txBody>
      </p:sp>
      <p:cxnSp>
        <p:nvCxnSpPr>
          <p:cNvPr id="6" name="lane"/>
          <p:cNvCxnSpPr/>
          <p:nvPr/>
        </p:nvCxnSpPr>
        <p:spPr>
          <a:xfrm>
            <a:off x="3579186" y="1628608"/>
            <a:ext cx="0" cy="2857722"/>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2668027" y="1267287"/>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2668027" y="1267287"/>
            <a:ext cx="1822318" cy="361321"/>
          </a:xfrm>
          <a:prstGeom prst="rect">
            <a:avLst/>
          </a:prstGeom>
          <a:noFill/>
        </p:spPr>
        <p:txBody>
          <a:bodyPr wrap="square" lIns="0" tIns="0" rIns="0" bIns="0" anchor="ctr">
            <a:spAutoFit/>
          </a:bodyPr>
          <a:lstStyle/>
          <a:p>
            <a:pPr algn="ctr"/>
            <a:r>
              <a:rPr sz="1200" b="1">
                <a:solidFill>
                  <a:schemeClr val="tx1"/>
                </a:solidFill>
              </a:rPr>
              <a:t>Server</a:t>
            </a:r>
          </a:p>
        </p:txBody>
      </p:sp>
      <p:grpSp>
        <p:nvGrpSpPr>
          <p:cNvPr id="30" name="Group 29">
            <a:extLst>
              <a:ext uri="{FF2B5EF4-FFF2-40B4-BE49-F238E27FC236}">
                <a16:creationId xmlns:a16="http://schemas.microsoft.com/office/drawing/2014/main" id="{EC043ED6-6614-ECD3-2765-33ED9FCF7EC6}"/>
              </a:ext>
            </a:extLst>
          </p:cNvPr>
          <p:cNvGrpSpPr/>
          <p:nvPr/>
        </p:nvGrpSpPr>
        <p:grpSpPr>
          <a:xfrm>
            <a:off x="1406422" y="1707442"/>
            <a:ext cx="2172764" cy="282487"/>
            <a:chOff x="1406422" y="1707442"/>
            <a:chExt cx="2172764" cy="282487"/>
          </a:xfrm>
        </p:grpSpPr>
        <p:cxnSp>
          <p:nvCxnSpPr>
            <p:cNvPr id="9" name="message"/>
            <p:cNvCxnSpPr/>
            <p:nvPr/>
          </p:nvCxnSpPr>
          <p:spPr>
            <a:xfrm>
              <a:off x="1406422" y="1989929"/>
              <a:ext cx="2172764"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441466" y="1707442"/>
              <a:ext cx="2102675" cy="236501"/>
            </a:xfrm>
            <a:prstGeom prst="rect">
              <a:avLst/>
            </a:prstGeom>
            <a:noFill/>
          </p:spPr>
          <p:txBody>
            <a:bodyPr wrap="square" lIns="0" tIns="0" rIns="0" bIns="0" anchor="b">
              <a:spAutoFit/>
            </a:bodyPr>
            <a:lstStyle/>
            <a:p>
              <a:pPr algn="ctr"/>
              <a:r>
                <a:rPr sz="1000" b="0" dirty="0">
                  <a:solidFill>
                    <a:schemeClr val="tx1"/>
                  </a:solidFill>
                  <a:latin typeface="APL385 Unicode"/>
                </a:rPr>
                <a:t>POST /</a:t>
              </a:r>
              <a:r>
                <a:rPr sz="1000" b="0" dirty="0" err="1">
                  <a:solidFill>
                    <a:schemeClr val="tx1"/>
                  </a:solidFill>
                  <a:latin typeface="APL385 Unicode"/>
                </a:rPr>
                <a:t>SlowWork</a:t>
              </a:r>
              <a:r>
                <a:rPr sz="1000" b="0" dirty="0">
                  <a:solidFill>
                    <a:schemeClr val="tx1"/>
                  </a:solidFill>
                  <a:latin typeface="APL385 Unicode"/>
                </a:rPr>
                <a:t> {…}</a:t>
              </a:r>
            </a:p>
          </p:txBody>
        </p:sp>
      </p:grpSp>
      <p:grpSp>
        <p:nvGrpSpPr>
          <p:cNvPr id="31" name="Group 30">
            <a:extLst>
              <a:ext uri="{FF2B5EF4-FFF2-40B4-BE49-F238E27FC236}">
                <a16:creationId xmlns:a16="http://schemas.microsoft.com/office/drawing/2014/main" id="{9141AFCE-A79E-9E2B-7E10-3AFBCB66CE6F}"/>
              </a:ext>
            </a:extLst>
          </p:cNvPr>
          <p:cNvGrpSpPr/>
          <p:nvPr/>
        </p:nvGrpSpPr>
        <p:grpSpPr>
          <a:xfrm>
            <a:off x="635441" y="2252708"/>
            <a:ext cx="3714725" cy="1051116"/>
            <a:chOff x="635441" y="2252708"/>
            <a:chExt cx="3714725" cy="1051116"/>
          </a:xfrm>
        </p:grpSpPr>
        <p:sp>
          <p:nvSpPr>
            <p:cNvPr id="11" name="lane note"/>
            <p:cNvSpPr/>
            <p:nvPr/>
          </p:nvSpPr>
          <p:spPr>
            <a:xfrm>
              <a:off x="2808205" y="2252708"/>
              <a:ext cx="1541961" cy="1051116"/>
            </a:xfrm>
            <a:prstGeom prst="roundRect">
              <a:avLst>
                <a:gd name="adj" fmla="val 8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lane note text"/>
            <p:cNvSpPr txBox="1"/>
            <p:nvPr/>
          </p:nvSpPr>
          <p:spPr>
            <a:xfrm>
              <a:off x="2864277" y="2252708"/>
              <a:ext cx="1429819" cy="1051116"/>
            </a:xfrm>
            <a:prstGeom prst="rect">
              <a:avLst/>
            </a:prstGeom>
            <a:noFill/>
          </p:spPr>
          <p:txBody>
            <a:bodyPr wrap="square" lIns="0" tIns="0" rIns="0" bIns="0" anchor="ctr">
              <a:spAutoFit/>
            </a:bodyPr>
            <a:lstStyle/>
            <a:p>
              <a:pPr algn="ctr"/>
              <a:r>
                <a:rPr sz="1000" b="0">
                  <a:solidFill>
                    <a:schemeClr val="tx1"/>
                  </a:solidFill>
                </a:rPr>
                <a:t>working…</a:t>
              </a:r>
            </a:p>
            <a:p>
              <a:pPr algn="ctr"/>
              <a:r>
                <a:rPr sz="1000" b="0">
                  <a:solidFill>
                    <a:schemeClr val="tx1"/>
                  </a:solidFill>
                </a:rPr>
                <a:t>(seconds or minutes)</a:t>
              </a:r>
            </a:p>
          </p:txBody>
        </p:sp>
        <p:sp>
          <p:nvSpPr>
            <p:cNvPr id="13" name="lane note"/>
            <p:cNvSpPr/>
            <p:nvPr/>
          </p:nvSpPr>
          <p:spPr>
            <a:xfrm>
              <a:off x="635441" y="2252708"/>
              <a:ext cx="1541961" cy="1051116"/>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lane note text"/>
            <p:cNvSpPr txBox="1"/>
            <p:nvPr/>
          </p:nvSpPr>
          <p:spPr>
            <a:xfrm>
              <a:off x="691512" y="2252708"/>
              <a:ext cx="1429819" cy="1051116"/>
            </a:xfrm>
            <a:prstGeom prst="rect">
              <a:avLst/>
            </a:prstGeom>
            <a:noFill/>
          </p:spPr>
          <p:txBody>
            <a:bodyPr wrap="square" lIns="0" tIns="0" rIns="0" bIns="0" anchor="ctr">
              <a:spAutoFit/>
            </a:bodyPr>
            <a:lstStyle/>
            <a:p>
              <a:pPr algn="ctr"/>
              <a:r>
                <a:rPr sz="1000" b="0">
                  <a:solidFill>
                    <a:schemeClr val="tx1"/>
                  </a:solidFill>
                </a:rPr>
                <a:t>waiting…</a:t>
              </a:r>
            </a:p>
            <a:p>
              <a:pPr algn="ctr"/>
              <a:r>
                <a:rPr sz="1000" b="0">
                  <a:solidFill>
                    <a:schemeClr val="tx1"/>
                  </a:solidFill>
                </a:rPr>
                <a:t>connection held open</a:t>
              </a:r>
            </a:p>
          </p:txBody>
        </p:sp>
      </p:grpSp>
      <p:grpSp>
        <p:nvGrpSpPr>
          <p:cNvPr id="32" name="Group 31">
            <a:extLst>
              <a:ext uri="{FF2B5EF4-FFF2-40B4-BE49-F238E27FC236}">
                <a16:creationId xmlns:a16="http://schemas.microsoft.com/office/drawing/2014/main" id="{B6958A55-0E3B-AE9C-6712-535E8BDA2329}"/>
              </a:ext>
            </a:extLst>
          </p:cNvPr>
          <p:cNvGrpSpPr/>
          <p:nvPr/>
        </p:nvGrpSpPr>
        <p:grpSpPr>
          <a:xfrm>
            <a:off x="1406422" y="3612590"/>
            <a:ext cx="2172764" cy="282487"/>
            <a:chOff x="1406422" y="3612590"/>
            <a:chExt cx="2172764" cy="282487"/>
          </a:xfrm>
        </p:grpSpPr>
        <p:cxnSp>
          <p:nvCxnSpPr>
            <p:cNvPr id="15" name="message"/>
            <p:cNvCxnSpPr/>
            <p:nvPr/>
          </p:nvCxnSpPr>
          <p:spPr>
            <a:xfrm flipH="1">
              <a:off x="1406422" y="3895077"/>
              <a:ext cx="2172764"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441466" y="3612590"/>
              <a:ext cx="2102675" cy="236501"/>
            </a:xfrm>
            <a:prstGeom prst="rect">
              <a:avLst/>
            </a:prstGeom>
            <a:noFill/>
          </p:spPr>
          <p:txBody>
            <a:bodyPr wrap="square" lIns="0" tIns="0" rIns="0" bIns="0" anchor="b">
              <a:spAutoFit/>
            </a:bodyPr>
            <a:lstStyle/>
            <a:p>
              <a:pPr algn="ctr"/>
              <a:r>
                <a:rPr sz="1000" b="0">
                  <a:solidFill>
                    <a:schemeClr val="tx1"/>
                  </a:solidFill>
                  <a:latin typeface="APL385 Unicode"/>
                </a:rPr>
                <a:t>{"result":…}</a:t>
              </a:r>
            </a:p>
          </p:txBody>
        </p:sp>
      </p:grpSp>
      <p:grpSp>
        <p:nvGrpSpPr>
          <p:cNvPr id="27" name="Group 26">
            <a:extLst>
              <a:ext uri="{FF2B5EF4-FFF2-40B4-BE49-F238E27FC236}">
                <a16:creationId xmlns:a16="http://schemas.microsoft.com/office/drawing/2014/main" id="{BFACF33C-7F18-112B-1A42-23A10EE6BAD9}"/>
              </a:ext>
            </a:extLst>
          </p:cNvPr>
          <p:cNvGrpSpPr/>
          <p:nvPr/>
        </p:nvGrpSpPr>
        <p:grpSpPr>
          <a:xfrm>
            <a:off x="5086104" y="1267287"/>
            <a:ext cx="3714726" cy="1051116"/>
            <a:chOff x="5086104" y="1267287"/>
            <a:chExt cx="3714726" cy="1051116"/>
          </a:xfrm>
        </p:grpSpPr>
        <p:sp>
          <p:nvSpPr>
            <p:cNvPr id="17" name="card"/>
            <p:cNvSpPr/>
            <p:nvPr/>
          </p:nvSpPr>
          <p:spPr>
            <a:xfrm>
              <a:off x="5086104" y="1267287"/>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card head"/>
            <p:cNvSpPr txBox="1"/>
            <p:nvPr/>
          </p:nvSpPr>
          <p:spPr>
            <a:xfrm>
              <a:off x="5296371" y="1411815"/>
              <a:ext cx="3294191" cy="328473"/>
            </a:xfrm>
            <a:prstGeom prst="rect">
              <a:avLst/>
            </a:prstGeom>
            <a:noFill/>
          </p:spPr>
          <p:txBody>
            <a:bodyPr wrap="square" lIns="0" tIns="0" rIns="0" bIns="0" anchor="t">
              <a:spAutoFit/>
            </a:bodyPr>
            <a:lstStyle/>
            <a:p>
              <a:r>
                <a:rPr sz="1500" b="1" dirty="0">
                  <a:solidFill>
                    <a:schemeClr val="tx1"/>
                  </a:solidFill>
                </a:rPr>
                <a:t>The connection stays open</a:t>
              </a:r>
            </a:p>
          </p:txBody>
        </p:sp>
        <p:sp>
          <p:nvSpPr>
            <p:cNvPr id="19" name="card body"/>
            <p:cNvSpPr txBox="1"/>
            <p:nvPr/>
          </p:nvSpPr>
          <p:spPr>
            <a:xfrm>
              <a:off x="5296371" y="1792845"/>
              <a:ext cx="3294191" cy="427015"/>
            </a:xfrm>
            <a:prstGeom prst="rect">
              <a:avLst/>
            </a:prstGeom>
            <a:noFill/>
          </p:spPr>
          <p:txBody>
            <a:bodyPr wrap="square" lIns="0" tIns="0" rIns="0" bIns="0" anchor="t">
              <a:spAutoFit/>
            </a:bodyPr>
            <a:lstStyle/>
            <a:p>
              <a:r>
                <a:rPr sz="1200" b="0">
                  <a:solidFill>
                    <a:schemeClr val="tx1"/>
                  </a:solidFill>
                </a:rPr>
                <a:t>Every waiting client holds a connection on the server.</a:t>
              </a:r>
            </a:p>
          </p:txBody>
        </p:sp>
      </p:grpSp>
      <p:grpSp>
        <p:nvGrpSpPr>
          <p:cNvPr id="28" name="Group 27">
            <a:extLst>
              <a:ext uri="{FF2B5EF4-FFF2-40B4-BE49-F238E27FC236}">
                <a16:creationId xmlns:a16="http://schemas.microsoft.com/office/drawing/2014/main" id="{A71EA7EF-57D7-B30B-5EA7-C6F48280E0E8}"/>
              </a:ext>
            </a:extLst>
          </p:cNvPr>
          <p:cNvGrpSpPr/>
          <p:nvPr/>
        </p:nvGrpSpPr>
        <p:grpSpPr>
          <a:xfrm>
            <a:off x="5086104" y="2416945"/>
            <a:ext cx="3714726" cy="1051116"/>
            <a:chOff x="5086104" y="2416945"/>
            <a:chExt cx="3714726" cy="1051116"/>
          </a:xfrm>
        </p:grpSpPr>
        <p:sp>
          <p:nvSpPr>
            <p:cNvPr id="20" name="card"/>
            <p:cNvSpPr/>
            <p:nvPr/>
          </p:nvSpPr>
          <p:spPr>
            <a:xfrm>
              <a:off x="5086104" y="2416945"/>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card head"/>
            <p:cNvSpPr txBox="1"/>
            <p:nvPr/>
          </p:nvSpPr>
          <p:spPr>
            <a:xfrm>
              <a:off x="5296371" y="2561474"/>
              <a:ext cx="3294191" cy="328473"/>
            </a:xfrm>
            <a:prstGeom prst="rect">
              <a:avLst/>
            </a:prstGeom>
            <a:noFill/>
          </p:spPr>
          <p:txBody>
            <a:bodyPr wrap="square" lIns="0" tIns="0" rIns="0" bIns="0" anchor="t">
              <a:spAutoFit/>
            </a:bodyPr>
            <a:lstStyle/>
            <a:p>
              <a:r>
                <a:rPr sz="1500" b="1">
                  <a:solidFill>
                    <a:schemeClr val="tx1"/>
                  </a:solidFill>
                </a:rPr>
                <a:t>Timeouts</a:t>
              </a:r>
            </a:p>
          </p:txBody>
        </p:sp>
        <p:sp>
          <p:nvSpPr>
            <p:cNvPr id="22" name="card body"/>
            <p:cNvSpPr txBox="1"/>
            <p:nvPr/>
          </p:nvSpPr>
          <p:spPr>
            <a:xfrm>
              <a:off x="5296371" y="2942503"/>
              <a:ext cx="3294191" cy="427015"/>
            </a:xfrm>
            <a:prstGeom prst="rect">
              <a:avLst/>
            </a:prstGeom>
            <a:noFill/>
          </p:spPr>
          <p:txBody>
            <a:bodyPr wrap="square" lIns="0" tIns="0" rIns="0" bIns="0" anchor="t">
              <a:spAutoFit/>
            </a:bodyPr>
            <a:lstStyle/>
            <a:p>
              <a:r>
                <a:rPr sz="1200" b="0">
                  <a:solidFill>
                    <a:schemeClr val="tx1"/>
                  </a:solidFill>
                </a:rPr>
                <a:t>Proxies, browsers and HttpCommand give up after a while.</a:t>
              </a:r>
            </a:p>
          </p:txBody>
        </p:sp>
      </p:grpSp>
      <p:grpSp>
        <p:nvGrpSpPr>
          <p:cNvPr id="29" name="Group 28">
            <a:extLst>
              <a:ext uri="{FF2B5EF4-FFF2-40B4-BE49-F238E27FC236}">
                <a16:creationId xmlns:a16="http://schemas.microsoft.com/office/drawing/2014/main" id="{7B0EA537-352E-2D09-F0CC-A9C3841713E2}"/>
              </a:ext>
            </a:extLst>
          </p:cNvPr>
          <p:cNvGrpSpPr/>
          <p:nvPr/>
        </p:nvGrpSpPr>
        <p:grpSpPr>
          <a:xfrm>
            <a:off x="5086104" y="3566603"/>
            <a:ext cx="3714726" cy="1051116"/>
            <a:chOff x="5086104" y="3566603"/>
            <a:chExt cx="3714726" cy="1051116"/>
          </a:xfrm>
        </p:grpSpPr>
        <p:sp>
          <p:nvSpPr>
            <p:cNvPr id="23" name="card"/>
            <p:cNvSpPr/>
            <p:nvPr/>
          </p:nvSpPr>
          <p:spPr>
            <a:xfrm>
              <a:off x="5086104" y="3566603"/>
              <a:ext cx="3714726"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card head"/>
            <p:cNvSpPr txBox="1"/>
            <p:nvPr/>
          </p:nvSpPr>
          <p:spPr>
            <a:xfrm>
              <a:off x="5296371" y="3711132"/>
              <a:ext cx="3294191" cy="328473"/>
            </a:xfrm>
            <a:prstGeom prst="rect">
              <a:avLst/>
            </a:prstGeom>
            <a:noFill/>
          </p:spPr>
          <p:txBody>
            <a:bodyPr wrap="square" lIns="0" tIns="0" rIns="0" bIns="0" anchor="t">
              <a:spAutoFit/>
            </a:bodyPr>
            <a:lstStyle/>
            <a:p>
              <a:r>
                <a:rPr sz="1500" b="1">
                  <a:solidFill>
                    <a:schemeClr val="tx1"/>
                  </a:solidFill>
                </a:rPr>
                <a:t>The client is stuck</a:t>
              </a:r>
            </a:p>
          </p:txBody>
        </p:sp>
        <p:sp>
          <p:nvSpPr>
            <p:cNvPr id="25" name="card body"/>
            <p:cNvSpPr txBox="1"/>
            <p:nvPr/>
          </p:nvSpPr>
          <p:spPr>
            <a:xfrm>
              <a:off x="5296371" y="4092161"/>
              <a:ext cx="3294191" cy="427015"/>
            </a:xfrm>
            <a:prstGeom prst="rect">
              <a:avLst/>
            </a:prstGeom>
            <a:noFill/>
          </p:spPr>
          <p:txBody>
            <a:bodyPr wrap="square" lIns="0" tIns="0" rIns="0" bIns="0" anchor="t">
              <a:spAutoFit/>
            </a:bodyPr>
            <a:lstStyle/>
            <a:p>
              <a:r>
                <a:rPr sz="1200" b="0">
                  <a:solidFill>
                    <a:schemeClr val="tx1"/>
                  </a:solidFill>
                </a:rPr>
                <a:t>It can't do anything else with that request until the answer comes.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500"/>
                                        <p:tgtEl>
                                          <p:spTgt spid="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500"/>
                                        <p:tgtEl>
                                          <p:spTgt spid="3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2"/>
                                        </p:tgtEl>
                                        <p:attrNameLst>
                                          <p:attrName>style.visibility</p:attrName>
                                        </p:attrNameLst>
                                      </p:cBhvr>
                                      <p:to>
                                        <p:strVal val="visible"/>
                                      </p:to>
                                    </p:set>
                                    <p:animEffect transition="in" filter="fade">
                                      <p:cBhvr>
                                        <p:cTn id="25" dur="500"/>
                                        <p:tgtEl>
                                          <p:spTgt spid="3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00"/>
                                        <p:tgtEl>
                                          <p:spTgt spid="2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Four ways to get the answer</a:t>
            </a:r>
          </a:p>
        </p:txBody>
      </p:sp>
      <p:grpSp>
        <p:nvGrpSpPr>
          <p:cNvPr id="77" name="Polling">
            <a:extLst>
              <a:ext uri="{FF2B5EF4-FFF2-40B4-BE49-F238E27FC236}">
                <a16:creationId xmlns:a16="http://schemas.microsoft.com/office/drawing/2014/main" id="{E7BDC43C-E246-8B63-0647-6700856F8027}"/>
              </a:ext>
            </a:extLst>
          </p:cNvPr>
          <p:cNvGrpSpPr/>
          <p:nvPr/>
        </p:nvGrpSpPr>
        <p:grpSpPr>
          <a:xfrm>
            <a:off x="320040" y="1234440"/>
            <a:ext cx="1997541" cy="3087653"/>
            <a:chOff x="320040" y="1234440"/>
            <a:chExt cx="1997541" cy="3087653"/>
          </a:xfrm>
        </p:grpSpPr>
        <p:cxnSp>
          <p:nvCxnSpPr>
            <p:cNvPr id="8" name="lane"/>
            <p:cNvCxnSpPr/>
            <p:nvPr/>
          </p:nvCxnSpPr>
          <p:spPr>
            <a:xfrm>
              <a:off x="1818196"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cxnSp>
          <p:nvCxnSpPr>
            <p:cNvPr id="5" name="lane"/>
            <p:cNvCxnSpPr/>
            <p:nvPr/>
          </p:nvCxnSpPr>
          <p:spPr>
            <a:xfrm>
              <a:off x="819425"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3" name="text"/>
            <p:cNvSpPr txBox="1"/>
            <p:nvPr/>
          </p:nvSpPr>
          <p:spPr>
            <a:xfrm>
              <a:off x="320040" y="1234440"/>
              <a:ext cx="1997541" cy="246221"/>
            </a:xfrm>
            <a:prstGeom prst="rect">
              <a:avLst/>
            </a:prstGeom>
            <a:noFill/>
          </p:spPr>
          <p:txBody>
            <a:bodyPr wrap="square" lIns="0" tIns="0" rIns="0" bIns="0" anchor="t">
              <a:spAutoFit/>
            </a:bodyPr>
            <a:lstStyle/>
            <a:p>
              <a:pPr algn="ctr"/>
              <a:r>
                <a:rPr sz="1600" b="1" dirty="0">
                  <a:solidFill>
                    <a:schemeClr val="tx1"/>
                  </a:solidFill>
                </a:rPr>
                <a:t>Polling</a:t>
              </a:r>
            </a:p>
          </p:txBody>
        </p:sp>
        <p:sp>
          <p:nvSpPr>
            <p:cNvPr id="4" name="text"/>
            <p:cNvSpPr txBox="1"/>
            <p:nvPr/>
          </p:nvSpPr>
          <p:spPr>
            <a:xfrm>
              <a:off x="320040" y="1530066"/>
              <a:ext cx="1997541" cy="184666"/>
            </a:xfrm>
            <a:prstGeom prst="rect">
              <a:avLst/>
            </a:prstGeom>
            <a:noFill/>
          </p:spPr>
          <p:txBody>
            <a:bodyPr wrap="square" lIns="0" tIns="0" rIns="0" bIns="0" anchor="t">
              <a:spAutoFit/>
            </a:bodyPr>
            <a:lstStyle/>
            <a:p>
              <a:pPr algn="ctr"/>
              <a:r>
                <a:rPr sz="1200" b="0" dirty="0">
                  <a:solidFill>
                    <a:schemeClr val="tx1"/>
                  </a:solidFill>
                </a:rPr>
                <a:t>Client asks again and again</a:t>
              </a:r>
            </a:p>
          </p:txBody>
        </p:sp>
        <p:sp>
          <p:nvSpPr>
            <p:cNvPr id="6" name="lane head"/>
            <p:cNvSpPr/>
            <p:nvPr/>
          </p:nvSpPr>
          <p:spPr>
            <a:xfrm>
              <a:off x="425173"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lane name"/>
            <p:cNvSpPr txBox="1"/>
            <p:nvPr/>
          </p:nvSpPr>
          <p:spPr>
            <a:xfrm>
              <a:off x="425173"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sp>
          <p:nvSpPr>
            <p:cNvPr id="9" name="lane head"/>
            <p:cNvSpPr/>
            <p:nvPr/>
          </p:nvSpPr>
          <p:spPr>
            <a:xfrm>
              <a:off x="1423944"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lane name"/>
            <p:cNvSpPr txBox="1"/>
            <p:nvPr/>
          </p:nvSpPr>
          <p:spPr>
            <a:xfrm>
              <a:off x="1423944"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grpSp>
      <p:grpSp>
        <p:nvGrpSpPr>
          <p:cNvPr id="79" name="Group 78">
            <a:extLst>
              <a:ext uri="{FF2B5EF4-FFF2-40B4-BE49-F238E27FC236}">
                <a16:creationId xmlns:a16="http://schemas.microsoft.com/office/drawing/2014/main" id="{7A9E1DE9-66B4-2498-448E-3C069C282AB6}"/>
              </a:ext>
            </a:extLst>
          </p:cNvPr>
          <p:cNvGrpSpPr/>
          <p:nvPr/>
        </p:nvGrpSpPr>
        <p:grpSpPr>
          <a:xfrm>
            <a:off x="819425" y="2233000"/>
            <a:ext cx="998771" cy="282487"/>
            <a:chOff x="819425" y="2233000"/>
            <a:chExt cx="998771" cy="282487"/>
          </a:xfrm>
        </p:grpSpPr>
        <p:cxnSp>
          <p:nvCxnSpPr>
            <p:cNvPr id="11" name="message"/>
            <p:cNvCxnSpPr/>
            <p:nvPr/>
          </p:nvCxnSpPr>
          <p:spPr>
            <a:xfrm>
              <a:off x="819425" y="251548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854469" y="2233000"/>
              <a:ext cx="928681" cy="236501"/>
            </a:xfrm>
            <a:prstGeom prst="rect">
              <a:avLst/>
            </a:prstGeom>
            <a:noFill/>
          </p:spPr>
          <p:txBody>
            <a:bodyPr wrap="square" lIns="0" tIns="0" rIns="0" bIns="0" anchor="b">
              <a:spAutoFit/>
            </a:bodyPr>
            <a:lstStyle/>
            <a:p>
              <a:pPr algn="ctr"/>
              <a:r>
                <a:rPr sz="1000" b="0" dirty="0">
                  <a:solidFill>
                    <a:schemeClr val="tx1"/>
                  </a:solidFill>
                </a:rPr>
                <a:t>done?</a:t>
              </a:r>
            </a:p>
          </p:txBody>
        </p:sp>
      </p:grpSp>
      <p:grpSp>
        <p:nvGrpSpPr>
          <p:cNvPr id="80" name="Group 79">
            <a:extLst>
              <a:ext uri="{FF2B5EF4-FFF2-40B4-BE49-F238E27FC236}">
                <a16:creationId xmlns:a16="http://schemas.microsoft.com/office/drawing/2014/main" id="{464E4460-6025-C560-D95B-07B12818D500}"/>
              </a:ext>
            </a:extLst>
          </p:cNvPr>
          <p:cNvGrpSpPr/>
          <p:nvPr/>
        </p:nvGrpSpPr>
        <p:grpSpPr>
          <a:xfrm>
            <a:off x="819425" y="2535196"/>
            <a:ext cx="998771" cy="243070"/>
            <a:chOff x="819425" y="2535196"/>
            <a:chExt cx="998771" cy="243070"/>
          </a:xfrm>
        </p:grpSpPr>
        <p:cxnSp>
          <p:nvCxnSpPr>
            <p:cNvPr id="13" name="message"/>
            <p:cNvCxnSpPr/>
            <p:nvPr/>
          </p:nvCxnSpPr>
          <p:spPr>
            <a:xfrm flipH="1">
              <a:off x="819425" y="2778266"/>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854469" y="2535196"/>
              <a:ext cx="928681" cy="197084"/>
            </a:xfrm>
            <a:prstGeom prst="rect">
              <a:avLst/>
            </a:prstGeom>
            <a:noFill/>
          </p:spPr>
          <p:txBody>
            <a:bodyPr wrap="square" lIns="0" tIns="0" rIns="0" bIns="0" anchor="b">
              <a:spAutoFit/>
            </a:bodyPr>
            <a:lstStyle/>
            <a:p>
              <a:pPr algn="ctr"/>
              <a:r>
                <a:rPr sz="1000" b="0">
                  <a:solidFill>
                    <a:schemeClr val="tx1"/>
                  </a:solidFill>
                </a:rPr>
                <a:t>no</a:t>
              </a:r>
            </a:p>
          </p:txBody>
        </p:sp>
      </p:grpSp>
      <p:grpSp>
        <p:nvGrpSpPr>
          <p:cNvPr id="81" name="Group 80">
            <a:extLst>
              <a:ext uri="{FF2B5EF4-FFF2-40B4-BE49-F238E27FC236}">
                <a16:creationId xmlns:a16="http://schemas.microsoft.com/office/drawing/2014/main" id="{B1024872-18EE-1B46-4155-1049F1999532}"/>
              </a:ext>
            </a:extLst>
          </p:cNvPr>
          <p:cNvGrpSpPr/>
          <p:nvPr/>
        </p:nvGrpSpPr>
        <p:grpSpPr>
          <a:xfrm>
            <a:off x="819425" y="2857100"/>
            <a:ext cx="998771" cy="282487"/>
            <a:chOff x="819425" y="2857100"/>
            <a:chExt cx="998771" cy="282487"/>
          </a:xfrm>
        </p:grpSpPr>
        <p:cxnSp>
          <p:nvCxnSpPr>
            <p:cNvPr id="15" name="message"/>
            <p:cNvCxnSpPr/>
            <p:nvPr/>
          </p:nvCxnSpPr>
          <p:spPr>
            <a:xfrm>
              <a:off x="819425" y="313958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854469" y="2857100"/>
              <a:ext cx="928681" cy="236501"/>
            </a:xfrm>
            <a:prstGeom prst="rect">
              <a:avLst/>
            </a:prstGeom>
            <a:noFill/>
          </p:spPr>
          <p:txBody>
            <a:bodyPr wrap="square" lIns="0" tIns="0" rIns="0" bIns="0" anchor="b">
              <a:spAutoFit/>
            </a:bodyPr>
            <a:lstStyle/>
            <a:p>
              <a:pPr algn="ctr"/>
              <a:r>
                <a:rPr sz="1000" b="0" dirty="0">
                  <a:solidFill>
                    <a:schemeClr val="tx1"/>
                  </a:solidFill>
                </a:rPr>
                <a:t>done?</a:t>
              </a:r>
            </a:p>
          </p:txBody>
        </p:sp>
      </p:grpSp>
      <p:grpSp>
        <p:nvGrpSpPr>
          <p:cNvPr id="82" name="Group 81">
            <a:extLst>
              <a:ext uri="{FF2B5EF4-FFF2-40B4-BE49-F238E27FC236}">
                <a16:creationId xmlns:a16="http://schemas.microsoft.com/office/drawing/2014/main" id="{F0103C7F-39A5-E5EF-794A-3F9B996B0754}"/>
              </a:ext>
            </a:extLst>
          </p:cNvPr>
          <p:cNvGrpSpPr/>
          <p:nvPr/>
        </p:nvGrpSpPr>
        <p:grpSpPr>
          <a:xfrm>
            <a:off x="819425" y="3159296"/>
            <a:ext cx="998771" cy="243070"/>
            <a:chOff x="819425" y="3159296"/>
            <a:chExt cx="998771" cy="243070"/>
          </a:xfrm>
        </p:grpSpPr>
        <p:cxnSp>
          <p:nvCxnSpPr>
            <p:cNvPr id="17" name="message"/>
            <p:cNvCxnSpPr/>
            <p:nvPr/>
          </p:nvCxnSpPr>
          <p:spPr>
            <a:xfrm flipH="1">
              <a:off x="819425" y="3402366"/>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854469" y="3159296"/>
              <a:ext cx="928681" cy="197084"/>
            </a:xfrm>
            <a:prstGeom prst="rect">
              <a:avLst/>
            </a:prstGeom>
            <a:noFill/>
          </p:spPr>
          <p:txBody>
            <a:bodyPr wrap="square" lIns="0" tIns="0" rIns="0" bIns="0" anchor="b">
              <a:spAutoFit/>
            </a:bodyPr>
            <a:lstStyle/>
            <a:p>
              <a:pPr algn="ctr"/>
              <a:r>
                <a:rPr sz="1000" b="0">
                  <a:solidFill>
                    <a:schemeClr val="tx1"/>
                  </a:solidFill>
                </a:rPr>
                <a:t>no</a:t>
              </a:r>
            </a:p>
          </p:txBody>
        </p:sp>
      </p:grpSp>
      <p:grpSp>
        <p:nvGrpSpPr>
          <p:cNvPr id="83" name="Group 82">
            <a:extLst>
              <a:ext uri="{FF2B5EF4-FFF2-40B4-BE49-F238E27FC236}">
                <a16:creationId xmlns:a16="http://schemas.microsoft.com/office/drawing/2014/main" id="{C013B158-69C4-628D-3EC9-4319124D03CD}"/>
              </a:ext>
            </a:extLst>
          </p:cNvPr>
          <p:cNvGrpSpPr/>
          <p:nvPr/>
        </p:nvGrpSpPr>
        <p:grpSpPr>
          <a:xfrm>
            <a:off x="819425" y="3481200"/>
            <a:ext cx="998771" cy="282488"/>
            <a:chOff x="819425" y="3481200"/>
            <a:chExt cx="998771" cy="282488"/>
          </a:xfrm>
        </p:grpSpPr>
        <p:cxnSp>
          <p:nvCxnSpPr>
            <p:cNvPr id="19" name="message"/>
            <p:cNvCxnSpPr/>
            <p:nvPr/>
          </p:nvCxnSpPr>
          <p:spPr>
            <a:xfrm>
              <a:off x="819425" y="3763688"/>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854469" y="3481200"/>
              <a:ext cx="928681" cy="236501"/>
            </a:xfrm>
            <a:prstGeom prst="rect">
              <a:avLst/>
            </a:prstGeom>
            <a:noFill/>
          </p:spPr>
          <p:txBody>
            <a:bodyPr wrap="square" lIns="0" tIns="0" rIns="0" bIns="0" anchor="b">
              <a:spAutoFit/>
            </a:bodyPr>
            <a:lstStyle/>
            <a:p>
              <a:pPr algn="ctr"/>
              <a:r>
                <a:rPr sz="1000" b="0">
                  <a:solidFill>
                    <a:schemeClr val="tx1"/>
                  </a:solidFill>
                </a:rPr>
                <a:t>done?</a:t>
              </a:r>
            </a:p>
          </p:txBody>
        </p:sp>
      </p:grpSp>
      <p:grpSp>
        <p:nvGrpSpPr>
          <p:cNvPr id="84" name="Group 83">
            <a:extLst>
              <a:ext uri="{FF2B5EF4-FFF2-40B4-BE49-F238E27FC236}">
                <a16:creationId xmlns:a16="http://schemas.microsoft.com/office/drawing/2014/main" id="{B58A0DBE-F1C4-C59C-E59F-A7F9CEBC0048}"/>
              </a:ext>
            </a:extLst>
          </p:cNvPr>
          <p:cNvGrpSpPr/>
          <p:nvPr/>
        </p:nvGrpSpPr>
        <p:grpSpPr>
          <a:xfrm>
            <a:off x="819425" y="3783396"/>
            <a:ext cx="998771" cy="243071"/>
            <a:chOff x="819425" y="3783396"/>
            <a:chExt cx="998771" cy="243071"/>
          </a:xfrm>
        </p:grpSpPr>
        <p:cxnSp>
          <p:nvCxnSpPr>
            <p:cNvPr id="21" name="message"/>
            <p:cNvCxnSpPr/>
            <p:nvPr/>
          </p:nvCxnSpPr>
          <p:spPr>
            <a:xfrm flipH="1">
              <a:off x="819425" y="4026467"/>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2" name="message label"/>
            <p:cNvSpPr txBox="1"/>
            <p:nvPr/>
          </p:nvSpPr>
          <p:spPr>
            <a:xfrm>
              <a:off x="854469" y="3783396"/>
              <a:ext cx="928681" cy="197084"/>
            </a:xfrm>
            <a:prstGeom prst="rect">
              <a:avLst/>
            </a:prstGeom>
            <a:noFill/>
          </p:spPr>
          <p:txBody>
            <a:bodyPr wrap="square" lIns="0" tIns="0" rIns="0" bIns="0" anchor="b">
              <a:spAutoFit/>
            </a:bodyPr>
            <a:lstStyle/>
            <a:p>
              <a:pPr algn="ctr"/>
              <a:r>
                <a:rPr sz="1000" b="0">
                  <a:solidFill>
                    <a:schemeClr val="tx1"/>
                  </a:solidFill>
                </a:rPr>
                <a:t>yes</a:t>
              </a:r>
            </a:p>
          </p:txBody>
        </p:sp>
      </p:grpSp>
      <p:grpSp>
        <p:nvGrpSpPr>
          <p:cNvPr id="87" name="Web hooks">
            <a:extLst>
              <a:ext uri="{FF2B5EF4-FFF2-40B4-BE49-F238E27FC236}">
                <a16:creationId xmlns:a16="http://schemas.microsoft.com/office/drawing/2014/main" id="{40441895-A8EF-8A0D-21AA-45050BBF5203}"/>
              </a:ext>
            </a:extLst>
          </p:cNvPr>
          <p:cNvGrpSpPr/>
          <p:nvPr/>
        </p:nvGrpSpPr>
        <p:grpSpPr>
          <a:xfrm>
            <a:off x="2506822" y="1234440"/>
            <a:ext cx="1997541" cy="3087653"/>
            <a:chOff x="2506822" y="1234440"/>
            <a:chExt cx="1997541" cy="3087653"/>
          </a:xfrm>
        </p:grpSpPr>
        <p:sp>
          <p:nvSpPr>
            <p:cNvPr id="27" name="lane head"/>
            <p:cNvSpPr/>
            <p:nvPr/>
          </p:nvSpPr>
          <p:spPr>
            <a:xfrm>
              <a:off x="2611956"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lane head"/>
            <p:cNvSpPr/>
            <p:nvPr/>
          </p:nvSpPr>
          <p:spPr>
            <a:xfrm>
              <a:off x="3610726"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p:cNvSpPr txBox="1"/>
            <p:nvPr/>
          </p:nvSpPr>
          <p:spPr>
            <a:xfrm>
              <a:off x="2506822" y="1234440"/>
              <a:ext cx="1997541" cy="246221"/>
            </a:xfrm>
            <a:prstGeom prst="rect">
              <a:avLst/>
            </a:prstGeom>
            <a:noFill/>
          </p:spPr>
          <p:txBody>
            <a:bodyPr wrap="square" lIns="0" tIns="0" rIns="0" bIns="0" anchor="t">
              <a:spAutoFit/>
            </a:bodyPr>
            <a:lstStyle/>
            <a:p>
              <a:pPr algn="ctr"/>
              <a:r>
                <a:rPr sz="1600" b="1" dirty="0">
                  <a:solidFill>
                    <a:schemeClr val="tx1"/>
                  </a:solidFill>
                </a:rPr>
                <a:t>Web hook</a:t>
              </a:r>
            </a:p>
          </p:txBody>
        </p:sp>
        <p:sp>
          <p:nvSpPr>
            <p:cNvPr id="25" name="text"/>
            <p:cNvSpPr txBox="1"/>
            <p:nvPr/>
          </p:nvSpPr>
          <p:spPr>
            <a:xfrm>
              <a:off x="2506822" y="1530066"/>
              <a:ext cx="1997541" cy="184666"/>
            </a:xfrm>
            <a:prstGeom prst="rect">
              <a:avLst/>
            </a:prstGeom>
            <a:noFill/>
          </p:spPr>
          <p:txBody>
            <a:bodyPr wrap="square" lIns="0" tIns="0" rIns="0" bIns="0" anchor="t">
              <a:spAutoFit/>
            </a:bodyPr>
            <a:lstStyle/>
            <a:p>
              <a:pPr algn="ctr"/>
              <a:r>
                <a:rPr sz="1200" b="0" dirty="0">
                  <a:solidFill>
                    <a:schemeClr val="tx1"/>
                  </a:solidFill>
                </a:rPr>
                <a:t>Server calls you back</a:t>
              </a:r>
            </a:p>
          </p:txBody>
        </p:sp>
        <p:cxnSp>
          <p:nvCxnSpPr>
            <p:cNvPr id="26" name="lane"/>
            <p:cNvCxnSpPr/>
            <p:nvPr/>
          </p:nvCxnSpPr>
          <p:spPr>
            <a:xfrm>
              <a:off x="3006207"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28" name="lane name"/>
            <p:cNvSpPr txBox="1"/>
            <p:nvPr/>
          </p:nvSpPr>
          <p:spPr>
            <a:xfrm>
              <a:off x="2611956"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cxnSp>
          <p:nvCxnSpPr>
            <p:cNvPr id="29" name="lane"/>
            <p:cNvCxnSpPr/>
            <p:nvPr/>
          </p:nvCxnSpPr>
          <p:spPr>
            <a:xfrm>
              <a:off x="4004978"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31" name="lane name"/>
            <p:cNvSpPr txBox="1"/>
            <p:nvPr/>
          </p:nvSpPr>
          <p:spPr>
            <a:xfrm>
              <a:off x="3610726"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grpSp>
      <p:grpSp>
        <p:nvGrpSpPr>
          <p:cNvPr id="88" name="Group 87">
            <a:extLst>
              <a:ext uri="{FF2B5EF4-FFF2-40B4-BE49-F238E27FC236}">
                <a16:creationId xmlns:a16="http://schemas.microsoft.com/office/drawing/2014/main" id="{92F0C09E-61D3-DD8B-14DD-7591A4F4B589}"/>
              </a:ext>
            </a:extLst>
          </p:cNvPr>
          <p:cNvGrpSpPr/>
          <p:nvPr/>
        </p:nvGrpSpPr>
        <p:grpSpPr>
          <a:xfrm>
            <a:off x="3006207" y="2265847"/>
            <a:ext cx="998771" cy="282488"/>
            <a:chOff x="3006207" y="2265847"/>
            <a:chExt cx="998771" cy="282488"/>
          </a:xfrm>
        </p:grpSpPr>
        <p:cxnSp>
          <p:nvCxnSpPr>
            <p:cNvPr id="32" name="message"/>
            <p:cNvCxnSpPr/>
            <p:nvPr/>
          </p:nvCxnSpPr>
          <p:spPr>
            <a:xfrm>
              <a:off x="3006207" y="2548335"/>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3" name="message label"/>
            <p:cNvSpPr txBox="1"/>
            <p:nvPr/>
          </p:nvSpPr>
          <p:spPr>
            <a:xfrm>
              <a:off x="3041252" y="2265847"/>
              <a:ext cx="928681" cy="236501"/>
            </a:xfrm>
            <a:prstGeom prst="rect">
              <a:avLst/>
            </a:prstGeom>
            <a:noFill/>
          </p:spPr>
          <p:txBody>
            <a:bodyPr wrap="square" lIns="0" tIns="0" rIns="0" bIns="0" anchor="b">
              <a:spAutoFit/>
            </a:bodyPr>
            <a:lstStyle/>
            <a:p>
              <a:pPr algn="ctr"/>
              <a:r>
                <a:rPr sz="1000" b="0" dirty="0">
                  <a:solidFill>
                    <a:schemeClr val="tx1"/>
                  </a:solidFill>
                </a:rPr>
                <a:t>job + URL</a:t>
              </a:r>
            </a:p>
          </p:txBody>
        </p:sp>
      </p:grpSp>
      <p:grpSp>
        <p:nvGrpSpPr>
          <p:cNvPr id="89" name="Group 88">
            <a:extLst>
              <a:ext uri="{FF2B5EF4-FFF2-40B4-BE49-F238E27FC236}">
                <a16:creationId xmlns:a16="http://schemas.microsoft.com/office/drawing/2014/main" id="{DE043615-B685-D51A-EFA7-049C8C9A21C3}"/>
              </a:ext>
            </a:extLst>
          </p:cNvPr>
          <p:cNvGrpSpPr/>
          <p:nvPr/>
        </p:nvGrpSpPr>
        <p:grpSpPr>
          <a:xfrm>
            <a:off x="3006207" y="2633738"/>
            <a:ext cx="998771" cy="243070"/>
            <a:chOff x="3006207" y="2633738"/>
            <a:chExt cx="998771" cy="243070"/>
          </a:xfrm>
        </p:grpSpPr>
        <p:cxnSp>
          <p:nvCxnSpPr>
            <p:cNvPr id="34" name="message"/>
            <p:cNvCxnSpPr/>
            <p:nvPr/>
          </p:nvCxnSpPr>
          <p:spPr>
            <a:xfrm flipH="1">
              <a:off x="3006207" y="2876808"/>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5" name="message label"/>
            <p:cNvSpPr txBox="1"/>
            <p:nvPr/>
          </p:nvSpPr>
          <p:spPr>
            <a:xfrm>
              <a:off x="3041252" y="2633738"/>
              <a:ext cx="928681" cy="197084"/>
            </a:xfrm>
            <a:prstGeom prst="rect">
              <a:avLst/>
            </a:prstGeom>
            <a:noFill/>
          </p:spPr>
          <p:txBody>
            <a:bodyPr wrap="square" lIns="0" tIns="0" rIns="0" bIns="0" anchor="b">
              <a:spAutoFit/>
            </a:bodyPr>
            <a:lstStyle/>
            <a:p>
              <a:pPr algn="ctr"/>
              <a:r>
                <a:rPr sz="1000" b="0">
                  <a:solidFill>
                    <a:schemeClr val="tx1"/>
                  </a:solidFill>
                </a:rPr>
                <a:t>ticket</a:t>
              </a:r>
            </a:p>
          </p:txBody>
        </p:sp>
      </p:grpSp>
      <p:grpSp>
        <p:nvGrpSpPr>
          <p:cNvPr id="90" name="Group 89">
            <a:extLst>
              <a:ext uri="{FF2B5EF4-FFF2-40B4-BE49-F238E27FC236}">
                <a16:creationId xmlns:a16="http://schemas.microsoft.com/office/drawing/2014/main" id="{B7882D1C-FB0D-3ADF-8254-EEBDF2361284}"/>
              </a:ext>
            </a:extLst>
          </p:cNvPr>
          <p:cNvGrpSpPr/>
          <p:nvPr/>
        </p:nvGrpSpPr>
        <p:grpSpPr>
          <a:xfrm>
            <a:off x="3006207" y="3711132"/>
            <a:ext cx="998771" cy="282487"/>
            <a:chOff x="3006207" y="3711132"/>
            <a:chExt cx="998771" cy="282487"/>
          </a:xfrm>
        </p:grpSpPr>
        <p:cxnSp>
          <p:nvCxnSpPr>
            <p:cNvPr id="36" name="message"/>
            <p:cNvCxnSpPr/>
            <p:nvPr/>
          </p:nvCxnSpPr>
          <p:spPr>
            <a:xfrm flipH="1">
              <a:off x="3006207" y="3993619"/>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7" name="message label"/>
            <p:cNvSpPr txBox="1"/>
            <p:nvPr/>
          </p:nvSpPr>
          <p:spPr>
            <a:xfrm>
              <a:off x="3041252" y="3711132"/>
              <a:ext cx="928681" cy="236501"/>
            </a:xfrm>
            <a:prstGeom prst="rect">
              <a:avLst/>
            </a:prstGeom>
            <a:noFill/>
          </p:spPr>
          <p:txBody>
            <a:bodyPr wrap="square" lIns="0" tIns="0" rIns="0" bIns="0" anchor="b">
              <a:spAutoFit/>
            </a:bodyPr>
            <a:lstStyle/>
            <a:p>
              <a:pPr algn="ctr"/>
              <a:r>
                <a:rPr sz="1000" b="0" dirty="0">
                  <a:solidFill>
                    <a:schemeClr val="tx1"/>
                  </a:solidFill>
                </a:rPr>
                <a:t>POST result</a:t>
              </a:r>
            </a:p>
          </p:txBody>
        </p:sp>
      </p:grpSp>
      <p:sp>
        <p:nvSpPr>
          <p:cNvPr id="38" name="Ex2"/>
          <p:cNvSpPr txBox="1"/>
          <p:nvPr/>
        </p:nvSpPr>
        <p:spPr>
          <a:xfrm>
            <a:off x="2506822" y="4453483"/>
            <a:ext cx="1997541" cy="169277"/>
          </a:xfrm>
          <a:prstGeom prst="rect">
            <a:avLst/>
          </a:prstGeom>
          <a:noFill/>
        </p:spPr>
        <p:txBody>
          <a:bodyPr wrap="square" lIns="0" tIns="0" rIns="0" bIns="0" anchor="t">
            <a:spAutoFit/>
          </a:bodyPr>
          <a:lstStyle/>
          <a:p>
            <a:pPr algn="ctr"/>
            <a:r>
              <a:rPr sz="1100" b="1" dirty="0">
                <a:solidFill>
                  <a:schemeClr val="accent2"/>
                </a:solidFill>
              </a:rPr>
              <a:t>Exercise 2</a:t>
            </a:r>
          </a:p>
        </p:txBody>
      </p:sp>
      <p:grpSp>
        <p:nvGrpSpPr>
          <p:cNvPr id="91" name="Group 90">
            <a:extLst>
              <a:ext uri="{FF2B5EF4-FFF2-40B4-BE49-F238E27FC236}">
                <a16:creationId xmlns:a16="http://schemas.microsoft.com/office/drawing/2014/main" id="{B988A079-2AEF-6588-BF8E-55C9A2FCB248}"/>
              </a:ext>
            </a:extLst>
          </p:cNvPr>
          <p:cNvGrpSpPr/>
          <p:nvPr/>
        </p:nvGrpSpPr>
        <p:grpSpPr>
          <a:xfrm>
            <a:off x="4693604" y="1234440"/>
            <a:ext cx="1997541" cy="3087653"/>
            <a:chOff x="4693604" y="1234440"/>
            <a:chExt cx="1997541" cy="3087653"/>
          </a:xfrm>
        </p:grpSpPr>
        <p:sp>
          <p:nvSpPr>
            <p:cNvPr id="39" name="text"/>
            <p:cNvSpPr txBox="1"/>
            <p:nvPr/>
          </p:nvSpPr>
          <p:spPr>
            <a:xfrm>
              <a:off x="4693604" y="1234440"/>
              <a:ext cx="1997541" cy="246221"/>
            </a:xfrm>
            <a:prstGeom prst="rect">
              <a:avLst/>
            </a:prstGeom>
            <a:noFill/>
          </p:spPr>
          <p:txBody>
            <a:bodyPr wrap="square" lIns="0" tIns="0" rIns="0" bIns="0" anchor="t">
              <a:spAutoFit/>
            </a:bodyPr>
            <a:lstStyle/>
            <a:p>
              <a:pPr algn="ctr"/>
              <a:r>
                <a:rPr sz="1600" b="1" dirty="0">
                  <a:solidFill>
                    <a:schemeClr val="tx1"/>
                  </a:solidFill>
                </a:rPr>
                <a:t>Server-Sent Events</a:t>
              </a:r>
            </a:p>
          </p:txBody>
        </p:sp>
        <p:sp>
          <p:nvSpPr>
            <p:cNvPr id="40" name="text"/>
            <p:cNvSpPr txBox="1"/>
            <p:nvPr/>
          </p:nvSpPr>
          <p:spPr>
            <a:xfrm>
              <a:off x="4693604" y="1530066"/>
              <a:ext cx="1997541" cy="184666"/>
            </a:xfrm>
            <a:prstGeom prst="rect">
              <a:avLst/>
            </a:prstGeom>
            <a:noFill/>
          </p:spPr>
          <p:txBody>
            <a:bodyPr wrap="square" lIns="0" tIns="0" rIns="0" bIns="0" anchor="t">
              <a:spAutoFit/>
            </a:bodyPr>
            <a:lstStyle/>
            <a:p>
              <a:pPr algn="ctr"/>
              <a:r>
                <a:rPr sz="1200" b="0" dirty="0">
                  <a:solidFill>
                    <a:schemeClr val="tx1"/>
                  </a:solidFill>
                </a:rPr>
                <a:t>One request, many events</a:t>
              </a:r>
            </a:p>
          </p:txBody>
        </p:sp>
        <p:cxnSp>
          <p:nvCxnSpPr>
            <p:cNvPr id="41" name="lane"/>
            <p:cNvCxnSpPr/>
            <p:nvPr/>
          </p:nvCxnSpPr>
          <p:spPr>
            <a:xfrm>
              <a:off x="5192990"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2" name="lane head"/>
            <p:cNvSpPr/>
            <p:nvPr/>
          </p:nvSpPr>
          <p:spPr>
            <a:xfrm>
              <a:off x="4798738"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lane name"/>
            <p:cNvSpPr txBox="1"/>
            <p:nvPr/>
          </p:nvSpPr>
          <p:spPr>
            <a:xfrm>
              <a:off x="4798738"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cxnSp>
          <p:nvCxnSpPr>
            <p:cNvPr id="44" name="lane"/>
            <p:cNvCxnSpPr/>
            <p:nvPr/>
          </p:nvCxnSpPr>
          <p:spPr>
            <a:xfrm>
              <a:off x="6191760"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5" name="lane head"/>
            <p:cNvSpPr/>
            <p:nvPr/>
          </p:nvSpPr>
          <p:spPr>
            <a:xfrm>
              <a:off x="5797509"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lane name"/>
            <p:cNvSpPr txBox="1"/>
            <p:nvPr/>
          </p:nvSpPr>
          <p:spPr>
            <a:xfrm>
              <a:off x="5797509"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grpSp>
      <p:grpSp>
        <p:nvGrpSpPr>
          <p:cNvPr id="92" name="Group 91">
            <a:extLst>
              <a:ext uri="{FF2B5EF4-FFF2-40B4-BE49-F238E27FC236}">
                <a16:creationId xmlns:a16="http://schemas.microsoft.com/office/drawing/2014/main" id="{4CBD1F70-0974-F910-5723-0EA938FFE678}"/>
              </a:ext>
            </a:extLst>
          </p:cNvPr>
          <p:cNvGrpSpPr/>
          <p:nvPr/>
        </p:nvGrpSpPr>
        <p:grpSpPr>
          <a:xfrm>
            <a:off x="5192990" y="2265847"/>
            <a:ext cx="998770" cy="282488"/>
            <a:chOff x="5192990" y="2265847"/>
            <a:chExt cx="998770" cy="282488"/>
          </a:xfrm>
        </p:grpSpPr>
        <p:cxnSp>
          <p:nvCxnSpPr>
            <p:cNvPr id="47" name="message"/>
            <p:cNvCxnSpPr/>
            <p:nvPr/>
          </p:nvCxnSpPr>
          <p:spPr>
            <a:xfrm>
              <a:off x="5192990" y="2548335"/>
              <a:ext cx="99877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48" name="message label"/>
            <p:cNvSpPr txBox="1"/>
            <p:nvPr/>
          </p:nvSpPr>
          <p:spPr>
            <a:xfrm>
              <a:off x="5228034" y="2265847"/>
              <a:ext cx="928681" cy="236501"/>
            </a:xfrm>
            <a:prstGeom prst="rect">
              <a:avLst/>
            </a:prstGeom>
            <a:noFill/>
          </p:spPr>
          <p:txBody>
            <a:bodyPr wrap="square" lIns="0" tIns="0" rIns="0" bIns="0" anchor="b">
              <a:spAutoFit/>
            </a:bodyPr>
            <a:lstStyle/>
            <a:p>
              <a:pPr algn="ctr"/>
              <a:r>
                <a:rPr sz="1000" b="0" dirty="0">
                  <a:solidFill>
                    <a:schemeClr val="tx1"/>
                  </a:solidFill>
                </a:rPr>
                <a:t>GET /Ticker</a:t>
              </a:r>
            </a:p>
          </p:txBody>
        </p:sp>
      </p:grpSp>
      <p:grpSp>
        <p:nvGrpSpPr>
          <p:cNvPr id="93" name="Group 92">
            <a:extLst>
              <a:ext uri="{FF2B5EF4-FFF2-40B4-BE49-F238E27FC236}">
                <a16:creationId xmlns:a16="http://schemas.microsoft.com/office/drawing/2014/main" id="{1B353440-77F6-C0A2-B8F7-CAF0D3E10A93}"/>
              </a:ext>
            </a:extLst>
          </p:cNvPr>
          <p:cNvGrpSpPr/>
          <p:nvPr/>
        </p:nvGrpSpPr>
        <p:grpSpPr>
          <a:xfrm>
            <a:off x="5192990" y="2699433"/>
            <a:ext cx="998770" cy="243070"/>
            <a:chOff x="5192990" y="2699433"/>
            <a:chExt cx="998770" cy="243070"/>
          </a:xfrm>
        </p:grpSpPr>
        <p:cxnSp>
          <p:nvCxnSpPr>
            <p:cNvPr id="49" name="message"/>
            <p:cNvCxnSpPr/>
            <p:nvPr/>
          </p:nvCxnSpPr>
          <p:spPr>
            <a:xfrm flipH="1">
              <a:off x="5192990" y="2942503"/>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50" name="message label"/>
            <p:cNvSpPr txBox="1"/>
            <p:nvPr/>
          </p:nvSpPr>
          <p:spPr>
            <a:xfrm>
              <a:off x="5228034" y="2699433"/>
              <a:ext cx="928681" cy="197084"/>
            </a:xfrm>
            <a:prstGeom prst="rect">
              <a:avLst/>
            </a:prstGeom>
            <a:noFill/>
          </p:spPr>
          <p:txBody>
            <a:bodyPr wrap="square" lIns="0" tIns="0" rIns="0" bIns="0" anchor="b">
              <a:spAutoFit/>
            </a:bodyPr>
            <a:lstStyle/>
            <a:p>
              <a:pPr algn="ctr"/>
              <a:r>
                <a:rPr sz="1000" b="0" dirty="0">
                  <a:solidFill>
                    <a:schemeClr val="tx1"/>
                  </a:solidFill>
                </a:rPr>
                <a:t>event</a:t>
              </a:r>
            </a:p>
          </p:txBody>
        </p:sp>
      </p:grpSp>
      <p:cxnSp>
        <p:nvCxnSpPr>
          <p:cNvPr id="51" name="message"/>
          <p:cNvCxnSpPr/>
          <p:nvPr/>
        </p:nvCxnSpPr>
        <p:spPr>
          <a:xfrm flipH="1">
            <a:off x="5192990" y="3270977"/>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2" name="message"/>
          <p:cNvCxnSpPr/>
          <p:nvPr/>
        </p:nvCxnSpPr>
        <p:spPr>
          <a:xfrm flipH="1">
            <a:off x="5192990" y="3599451"/>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3" name="message"/>
          <p:cNvCxnSpPr/>
          <p:nvPr/>
        </p:nvCxnSpPr>
        <p:spPr>
          <a:xfrm flipH="1">
            <a:off x="5192990" y="3927925"/>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54" name="Ex3"/>
          <p:cNvSpPr txBox="1"/>
          <p:nvPr/>
        </p:nvSpPr>
        <p:spPr>
          <a:xfrm>
            <a:off x="4693604" y="4453483"/>
            <a:ext cx="1997541" cy="169277"/>
          </a:xfrm>
          <a:prstGeom prst="rect">
            <a:avLst/>
          </a:prstGeom>
          <a:noFill/>
        </p:spPr>
        <p:txBody>
          <a:bodyPr wrap="square" lIns="0" tIns="0" rIns="0" bIns="0" anchor="t">
            <a:spAutoFit/>
          </a:bodyPr>
          <a:lstStyle/>
          <a:p>
            <a:pPr algn="ctr"/>
            <a:r>
              <a:rPr sz="1100" b="1" dirty="0">
                <a:solidFill>
                  <a:schemeClr val="accent2"/>
                </a:solidFill>
              </a:rPr>
              <a:t>Exercise 3</a:t>
            </a:r>
          </a:p>
        </p:txBody>
      </p:sp>
      <p:grpSp>
        <p:nvGrpSpPr>
          <p:cNvPr id="94" name="Group 93">
            <a:extLst>
              <a:ext uri="{FF2B5EF4-FFF2-40B4-BE49-F238E27FC236}">
                <a16:creationId xmlns:a16="http://schemas.microsoft.com/office/drawing/2014/main" id="{CAD53B3E-E852-AB63-71DC-CC821F3AC37C}"/>
              </a:ext>
            </a:extLst>
          </p:cNvPr>
          <p:cNvGrpSpPr/>
          <p:nvPr/>
        </p:nvGrpSpPr>
        <p:grpSpPr>
          <a:xfrm>
            <a:off x="6880387" y="1234440"/>
            <a:ext cx="1997541" cy="3087653"/>
            <a:chOff x="6880387" y="1234440"/>
            <a:chExt cx="1997541" cy="3087653"/>
          </a:xfrm>
        </p:grpSpPr>
        <p:sp>
          <p:nvSpPr>
            <p:cNvPr id="55" name="text"/>
            <p:cNvSpPr txBox="1"/>
            <p:nvPr/>
          </p:nvSpPr>
          <p:spPr>
            <a:xfrm>
              <a:off x="6880387" y="1234440"/>
              <a:ext cx="1997541" cy="246221"/>
            </a:xfrm>
            <a:prstGeom prst="rect">
              <a:avLst/>
            </a:prstGeom>
            <a:noFill/>
          </p:spPr>
          <p:txBody>
            <a:bodyPr wrap="square" lIns="0" tIns="0" rIns="0" bIns="0" anchor="t">
              <a:spAutoFit/>
            </a:bodyPr>
            <a:lstStyle/>
            <a:p>
              <a:pPr algn="ctr"/>
              <a:r>
                <a:rPr sz="1600" b="1" dirty="0" err="1">
                  <a:solidFill>
                    <a:schemeClr val="tx1"/>
                  </a:solidFill>
                </a:rPr>
                <a:t>WebSockets</a:t>
              </a:r>
              <a:endParaRPr sz="1600" b="1" dirty="0">
                <a:solidFill>
                  <a:schemeClr val="tx1"/>
                </a:solidFill>
              </a:endParaRPr>
            </a:p>
          </p:txBody>
        </p:sp>
        <p:sp>
          <p:nvSpPr>
            <p:cNvPr id="56" name="text"/>
            <p:cNvSpPr txBox="1"/>
            <p:nvPr/>
          </p:nvSpPr>
          <p:spPr>
            <a:xfrm>
              <a:off x="6880387" y="1530066"/>
              <a:ext cx="1997541" cy="184666"/>
            </a:xfrm>
            <a:prstGeom prst="rect">
              <a:avLst/>
            </a:prstGeom>
            <a:noFill/>
          </p:spPr>
          <p:txBody>
            <a:bodyPr wrap="square" lIns="0" tIns="0" rIns="0" bIns="0" anchor="t">
              <a:spAutoFit/>
            </a:bodyPr>
            <a:lstStyle/>
            <a:p>
              <a:pPr algn="ctr"/>
              <a:r>
                <a:rPr sz="1200" b="0" dirty="0">
                  <a:solidFill>
                    <a:schemeClr val="tx1"/>
                  </a:solidFill>
                </a:rPr>
                <a:t>Both sides, any time</a:t>
              </a:r>
            </a:p>
          </p:txBody>
        </p:sp>
        <p:cxnSp>
          <p:nvCxnSpPr>
            <p:cNvPr id="57" name="lane"/>
            <p:cNvCxnSpPr/>
            <p:nvPr/>
          </p:nvCxnSpPr>
          <p:spPr>
            <a:xfrm>
              <a:off x="7379772"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58" name="lane head"/>
            <p:cNvSpPr/>
            <p:nvPr/>
          </p:nvSpPr>
          <p:spPr>
            <a:xfrm>
              <a:off x="6985520"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lane name"/>
            <p:cNvSpPr txBox="1"/>
            <p:nvPr/>
          </p:nvSpPr>
          <p:spPr>
            <a:xfrm>
              <a:off x="6985520" y="1891387"/>
              <a:ext cx="788503" cy="361321"/>
            </a:xfrm>
            <a:prstGeom prst="rect">
              <a:avLst/>
            </a:prstGeom>
            <a:noFill/>
          </p:spPr>
          <p:txBody>
            <a:bodyPr wrap="square" lIns="0" tIns="0" rIns="0" bIns="0" anchor="ctr">
              <a:spAutoFit/>
            </a:bodyPr>
            <a:lstStyle/>
            <a:p>
              <a:pPr algn="ctr"/>
              <a:r>
                <a:rPr sz="1100" b="1">
                  <a:solidFill>
                    <a:schemeClr val="tx1"/>
                  </a:solidFill>
                </a:rPr>
                <a:t>C</a:t>
              </a:r>
            </a:p>
          </p:txBody>
        </p:sp>
        <p:cxnSp>
          <p:nvCxnSpPr>
            <p:cNvPr id="60" name="lane"/>
            <p:cNvCxnSpPr/>
            <p:nvPr/>
          </p:nvCxnSpPr>
          <p:spPr>
            <a:xfrm>
              <a:off x="8378543" y="2252708"/>
              <a:ext cx="0" cy="2069385"/>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61" name="lane head"/>
            <p:cNvSpPr/>
            <p:nvPr/>
          </p:nvSpPr>
          <p:spPr>
            <a:xfrm>
              <a:off x="7984291" y="1891387"/>
              <a:ext cx="788503"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lane name"/>
            <p:cNvSpPr txBox="1"/>
            <p:nvPr/>
          </p:nvSpPr>
          <p:spPr>
            <a:xfrm>
              <a:off x="7984291" y="1891387"/>
              <a:ext cx="788503" cy="361321"/>
            </a:xfrm>
            <a:prstGeom prst="rect">
              <a:avLst/>
            </a:prstGeom>
            <a:noFill/>
          </p:spPr>
          <p:txBody>
            <a:bodyPr wrap="square" lIns="0" tIns="0" rIns="0" bIns="0" anchor="ctr">
              <a:spAutoFit/>
            </a:bodyPr>
            <a:lstStyle/>
            <a:p>
              <a:pPr algn="ctr"/>
              <a:r>
                <a:rPr sz="1100" b="1">
                  <a:solidFill>
                    <a:schemeClr val="tx1"/>
                  </a:solidFill>
                </a:rPr>
                <a:t>S</a:t>
              </a:r>
            </a:p>
          </p:txBody>
        </p:sp>
      </p:grpSp>
      <p:grpSp>
        <p:nvGrpSpPr>
          <p:cNvPr id="95" name="Group 94">
            <a:extLst>
              <a:ext uri="{FF2B5EF4-FFF2-40B4-BE49-F238E27FC236}">
                <a16:creationId xmlns:a16="http://schemas.microsoft.com/office/drawing/2014/main" id="{6E760090-3F09-A25F-C136-1DF01F4ABBB4}"/>
              </a:ext>
            </a:extLst>
          </p:cNvPr>
          <p:cNvGrpSpPr/>
          <p:nvPr/>
        </p:nvGrpSpPr>
        <p:grpSpPr>
          <a:xfrm>
            <a:off x="7379772" y="2265847"/>
            <a:ext cx="998771" cy="282488"/>
            <a:chOff x="7379772" y="2265847"/>
            <a:chExt cx="998771" cy="282488"/>
          </a:xfrm>
        </p:grpSpPr>
        <p:cxnSp>
          <p:nvCxnSpPr>
            <p:cNvPr id="63" name="message"/>
            <p:cNvCxnSpPr/>
            <p:nvPr/>
          </p:nvCxnSpPr>
          <p:spPr>
            <a:xfrm>
              <a:off x="7379772" y="2548335"/>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64" name="message label"/>
            <p:cNvSpPr txBox="1"/>
            <p:nvPr/>
          </p:nvSpPr>
          <p:spPr>
            <a:xfrm>
              <a:off x="7414817" y="2265847"/>
              <a:ext cx="928681" cy="236501"/>
            </a:xfrm>
            <a:prstGeom prst="rect">
              <a:avLst/>
            </a:prstGeom>
            <a:noFill/>
          </p:spPr>
          <p:txBody>
            <a:bodyPr wrap="square" lIns="0" tIns="0" rIns="0" bIns="0" anchor="b">
              <a:spAutoFit/>
            </a:bodyPr>
            <a:lstStyle/>
            <a:p>
              <a:pPr algn="ctr"/>
              <a:r>
                <a:rPr sz="1000" b="0" dirty="0">
                  <a:solidFill>
                    <a:schemeClr val="tx1"/>
                  </a:solidFill>
                </a:rPr>
                <a:t>upgrade</a:t>
              </a:r>
            </a:p>
          </p:txBody>
        </p:sp>
      </p:grpSp>
      <p:cxnSp>
        <p:nvCxnSpPr>
          <p:cNvPr id="65" name="message"/>
          <p:cNvCxnSpPr/>
          <p:nvPr/>
        </p:nvCxnSpPr>
        <p:spPr>
          <a:xfrm flipH="1">
            <a:off x="7379772" y="2942503"/>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66" name="message"/>
          <p:cNvCxnSpPr/>
          <p:nvPr/>
        </p:nvCxnSpPr>
        <p:spPr>
          <a:xfrm>
            <a:off x="7379772" y="3270977"/>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message"/>
          <p:cNvCxnSpPr/>
          <p:nvPr/>
        </p:nvCxnSpPr>
        <p:spPr>
          <a:xfrm flipH="1">
            <a:off x="7379772" y="3599451"/>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68" name="message"/>
          <p:cNvCxnSpPr/>
          <p:nvPr/>
        </p:nvCxnSpPr>
        <p:spPr>
          <a:xfrm flipH="1">
            <a:off x="7379772" y="3927925"/>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69" name="Ex4"/>
          <p:cNvSpPr txBox="1"/>
          <p:nvPr/>
        </p:nvSpPr>
        <p:spPr>
          <a:xfrm>
            <a:off x="6880387" y="4453483"/>
            <a:ext cx="1997541" cy="169277"/>
          </a:xfrm>
          <a:prstGeom prst="rect">
            <a:avLst/>
          </a:prstGeom>
          <a:noFill/>
        </p:spPr>
        <p:txBody>
          <a:bodyPr wrap="square" lIns="0" tIns="0" rIns="0" bIns="0" anchor="t">
            <a:spAutoFit/>
          </a:bodyPr>
          <a:lstStyle/>
          <a:p>
            <a:pPr algn="ctr"/>
            <a:r>
              <a:rPr sz="1100" b="1" dirty="0">
                <a:solidFill>
                  <a:schemeClr val="accent2"/>
                </a:solidFill>
              </a:rPr>
              <a:t>Exercise 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7"/>
                                        </p:tgtEl>
                                        <p:attrNameLst>
                                          <p:attrName>style.visibility</p:attrName>
                                        </p:attrNameLst>
                                      </p:cBhvr>
                                      <p:to>
                                        <p:strVal val="visible"/>
                                      </p:to>
                                    </p:set>
                                    <p:animEffect transition="in" filter="fade">
                                      <p:cBhvr>
                                        <p:cTn id="7" dur="500"/>
                                        <p:tgtEl>
                                          <p:spTgt spid="7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9"/>
                                        </p:tgtEl>
                                        <p:attrNameLst>
                                          <p:attrName>style.visibility</p:attrName>
                                        </p:attrNameLst>
                                      </p:cBhvr>
                                      <p:to>
                                        <p:strVal val="visible"/>
                                      </p:to>
                                    </p:set>
                                    <p:animEffect transition="in" filter="fade">
                                      <p:cBhvr>
                                        <p:cTn id="12" dur="500"/>
                                        <p:tgtEl>
                                          <p:spTgt spid="7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0"/>
                                        </p:tgtEl>
                                        <p:attrNameLst>
                                          <p:attrName>style.visibility</p:attrName>
                                        </p:attrNameLst>
                                      </p:cBhvr>
                                      <p:to>
                                        <p:strVal val="visible"/>
                                      </p:to>
                                    </p:set>
                                    <p:animEffect transition="in" filter="fade">
                                      <p:cBhvr>
                                        <p:cTn id="17" dur="500"/>
                                        <p:tgtEl>
                                          <p:spTgt spid="8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1"/>
                                        </p:tgtEl>
                                        <p:attrNameLst>
                                          <p:attrName>style.visibility</p:attrName>
                                        </p:attrNameLst>
                                      </p:cBhvr>
                                      <p:to>
                                        <p:strVal val="visible"/>
                                      </p:to>
                                    </p:set>
                                    <p:animEffect transition="in" filter="fade">
                                      <p:cBhvr>
                                        <p:cTn id="22" dur="500"/>
                                        <p:tgtEl>
                                          <p:spTgt spid="8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2"/>
                                        </p:tgtEl>
                                        <p:attrNameLst>
                                          <p:attrName>style.visibility</p:attrName>
                                        </p:attrNameLst>
                                      </p:cBhvr>
                                      <p:to>
                                        <p:strVal val="visible"/>
                                      </p:to>
                                    </p:set>
                                    <p:animEffect transition="in" filter="fade">
                                      <p:cBhvr>
                                        <p:cTn id="27" dur="500"/>
                                        <p:tgtEl>
                                          <p:spTgt spid="8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3"/>
                                        </p:tgtEl>
                                        <p:attrNameLst>
                                          <p:attrName>style.visibility</p:attrName>
                                        </p:attrNameLst>
                                      </p:cBhvr>
                                      <p:to>
                                        <p:strVal val="visible"/>
                                      </p:to>
                                    </p:set>
                                    <p:animEffect transition="in" filter="fade">
                                      <p:cBhvr>
                                        <p:cTn id="32" dur="500"/>
                                        <p:tgtEl>
                                          <p:spTgt spid="8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84"/>
                                        </p:tgtEl>
                                        <p:attrNameLst>
                                          <p:attrName>style.visibility</p:attrName>
                                        </p:attrNameLst>
                                      </p:cBhvr>
                                      <p:to>
                                        <p:strVal val="visible"/>
                                      </p:to>
                                    </p:set>
                                    <p:animEffect transition="in" filter="fade">
                                      <p:cBhvr>
                                        <p:cTn id="37" dur="500"/>
                                        <p:tgtEl>
                                          <p:spTgt spid="8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87"/>
                                        </p:tgtEl>
                                        <p:attrNameLst>
                                          <p:attrName>style.visibility</p:attrName>
                                        </p:attrNameLst>
                                      </p:cBhvr>
                                      <p:to>
                                        <p:strVal val="visible"/>
                                      </p:to>
                                    </p:set>
                                    <p:animEffect transition="in" filter="fade">
                                      <p:cBhvr>
                                        <p:cTn id="42" dur="500"/>
                                        <p:tgtEl>
                                          <p:spTgt spid="8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8"/>
                                        </p:tgtEl>
                                        <p:attrNameLst>
                                          <p:attrName>style.visibility</p:attrName>
                                        </p:attrNameLst>
                                      </p:cBhvr>
                                      <p:to>
                                        <p:strVal val="visible"/>
                                      </p:to>
                                    </p:set>
                                    <p:animEffect transition="in" filter="fade">
                                      <p:cBhvr>
                                        <p:cTn id="47" dur="500"/>
                                        <p:tgtEl>
                                          <p:spTgt spid="8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9"/>
                                        </p:tgtEl>
                                        <p:attrNameLst>
                                          <p:attrName>style.visibility</p:attrName>
                                        </p:attrNameLst>
                                      </p:cBhvr>
                                      <p:to>
                                        <p:strVal val="visible"/>
                                      </p:to>
                                    </p:set>
                                    <p:animEffect transition="in" filter="fade">
                                      <p:cBhvr>
                                        <p:cTn id="52" dur="500"/>
                                        <p:tgtEl>
                                          <p:spTgt spid="89"/>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90"/>
                                        </p:tgtEl>
                                        <p:attrNameLst>
                                          <p:attrName>style.visibility</p:attrName>
                                        </p:attrNameLst>
                                      </p:cBhvr>
                                      <p:to>
                                        <p:strVal val="visible"/>
                                      </p:to>
                                    </p:set>
                                    <p:animEffect transition="in" filter="fade">
                                      <p:cBhvr>
                                        <p:cTn id="57" dur="500"/>
                                        <p:tgtEl>
                                          <p:spTgt spid="9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38"/>
                                        </p:tgtEl>
                                        <p:attrNameLst>
                                          <p:attrName>style.visibility</p:attrName>
                                        </p:attrNameLst>
                                      </p:cBhvr>
                                      <p:to>
                                        <p:strVal val="visible"/>
                                      </p:to>
                                    </p:set>
                                    <p:animEffect transition="in" filter="fade">
                                      <p:cBhvr>
                                        <p:cTn id="62" dur="500"/>
                                        <p:tgtEl>
                                          <p:spTgt spid="3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91"/>
                                        </p:tgtEl>
                                        <p:attrNameLst>
                                          <p:attrName>style.visibility</p:attrName>
                                        </p:attrNameLst>
                                      </p:cBhvr>
                                      <p:to>
                                        <p:strVal val="visible"/>
                                      </p:to>
                                    </p:set>
                                    <p:animEffect transition="in" filter="fade">
                                      <p:cBhvr>
                                        <p:cTn id="67" dur="500"/>
                                        <p:tgtEl>
                                          <p:spTgt spid="9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92"/>
                                        </p:tgtEl>
                                        <p:attrNameLst>
                                          <p:attrName>style.visibility</p:attrName>
                                        </p:attrNameLst>
                                      </p:cBhvr>
                                      <p:to>
                                        <p:strVal val="visible"/>
                                      </p:to>
                                    </p:set>
                                    <p:animEffect transition="in" filter="fade">
                                      <p:cBhvr>
                                        <p:cTn id="72" dur="500"/>
                                        <p:tgtEl>
                                          <p:spTgt spid="92"/>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93"/>
                                        </p:tgtEl>
                                        <p:attrNameLst>
                                          <p:attrName>style.visibility</p:attrName>
                                        </p:attrNameLst>
                                      </p:cBhvr>
                                      <p:to>
                                        <p:strVal val="visible"/>
                                      </p:to>
                                    </p:set>
                                    <p:animEffect transition="in" filter="fade">
                                      <p:cBhvr>
                                        <p:cTn id="77" dur="500"/>
                                        <p:tgtEl>
                                          <p:spTgt spid="9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1"/>
                                        </p:tgtEl>
                                        <p:attrNameLst>
                                          <p:attrName>style.visibility</p:attrName>
                                        </p:attrNameLst>
                                      </p:cBhvr>
                                      <p:to>
                                        <p:strVal val="visible"/>
                                      </p:to>
                                    </p:set>
                                    <p:animEffect transition="in" filter="fade">
                                      <p:cBhvr>
                                        <p:cTn id="82" dur="500"/>
                                        <p:tgtEl>
                                          <p:spTgt spid="51"/>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500"/>
                                        <p:tgtEl>
                                          <p:spTgt spid="52"/>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500"/>
                                        <p:tgtEl>
                                          <p:spTgt spid="53"/>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54">
                                            <p:txEl>
                                              <p:pRg st="0" end="0"/>
                                            </p:txEl>
                                          </p:spTgt>
                                        </p:tgtEl>
                                        <p:attrNameLst>
                                          <p:attrName>style.visibility</p:attrName>
                                        </p:attrNameLst>
                                      </p:cBhvr>
                                      <p:to>
                                        <p:strVal val="visible"/>
                                      </p:to>
                                    </p:set>
                                    <p:animEffect transition="in" filter="fade">
                                      <p:cBhvr>
                                        <p:cTn id="97" dur="500"/>
                                        <p:tgtEl>
                                          <p:spTgt spid="54">
                                            <p:txEl>
                                              <p:pRg st="0" end="0"/>
                                            </p:txEl>
                                          </p:spTgt>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94"/>
                                        </p:tgtEl>
                                        <p:attrNameLst>
                                          <p:attrName>style.visibility</p:attrName>
                                        </p:attrNameLst>
                                      </p:cBhvr>
                                      <p:to>
                                        <p:strVal val="visible"/>
                                      </p:to>
                                    </p:set>
                                    <p:animEffect transition="in" filter="fade">
                                      <p:cBhvr>
                                        <p:cTn id="102" dur="500"/>
                                        <p:tgtEl>
                                          <p:spTgt spid="94"/>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95"/>
                                        </p:tgtEl>
                                        <p:attrNameLst>
                                          <p:attrName>style.visibility</p:attrName>
                                        </p:attrNameLst>
                                      </p:cBhvr>
                                      <p:to>
                                        <p:strVal val="visible"/>
                                      </p:to>
                                    </p:set>
                                    <p:animEffect transition="in" filter="fade">
                                      <p:cBhvr>
                                        <p:cTn id="107" dur="500"/>
                                        <p:tgtEl>
                                          <p:spTgt spid="95"/>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65"/>
                                        </p:tgtEl>
                                        <p:attrNameLst>
                                          <p:attrName>style.visibility</p:attrName>
                                        </p:attrNameLst>
                                      </p:cBhvr>
                                      <p:to>
                                        <p:strVal val="visible"/>
                                      </p:to>
                                    </p:set>
                                    <p:animEffect transition="in" filter="fade">
                                      <p:cBhvr>
                                        <p:cTn id="112" dur="500"/>
                                        <p:tgtEl>
                                          <p:spTgt spid="65"/>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nodeType="clickEffect">
                                  <p:stCondLst>
                                    <p:cond delay="0"/>
                                  </p:stCondLst>
                                  <p:childTnLst>
                                    <p:set>
                                      <p:cBhvr>
                                        <p:cTn id="116" dur="1" fill="hold">
                                          <p:stCondLst>
                                            <p:cond delay="0"/>
                                          </p:stCondLst>
                                        </p:cTn>
                                        <p:tgtEl>
                                          <p:spTgt spid="66"/>
                                        </p:tgtEl>
                                        <p:attrNameLst>
                                          <p:attrName>style.visibility</p:attrName>
                                        </p:attrNameLst>
                                      </p:cBhvr>
                                      <p:to>
                                        <p:strVal val="visible"/>
                                      </p:to>
                                    </p:set>
                                    <p:animEffect transition="in" filter="fade">
                                      <p:cBhvr>
                                        <p:cTn id="117" dur="500"/>
                                        <p:tgtEl>
                                          <p:spTgt spid="66"/>
                                        </p:tgtEl>
                                      </p:cBhvr>
                                    </p:animEffect>
                                  </p:childTnLst>
                                </p:cTn>
                              </p:par>
                            </p:childTnLst>
                          </p:cTn>
                        </p:par>
                      </p:childTnLst>
                    </p:cTn>
                  </p:par>
                  <p:par>
                    <p:cTn id="118" fill="hold">
                      <p:stCondLst>
                        <p:cond delay="indefinite"/>
                      </p:stCondLst>
                      <p:childTnLst>
                        <p:par>
                          <p:cTn id="119" fill="hold">
                            <p:stCondLst>
                              <p:cond delay="0"/>
                            </p:stCondLst>
                            <p:childTnLst>
                              <p:par>
                                <p:cTn id="120" presetID="10" presetClass="entr" presetSubtype="0" fill="hold" nodeType="clickEffect">
                                  <p:stCondLst>
                                    <p:cond delay="0"/>
                                  </p:stCondLst>
                                  <p:childTnLst>
                                    <p:set>
                                      <p:cBhvr>
                                        <p:cTn id="121" dur="1" fill="hold">
                                          <p:stCondLst>
                                            <p:cond delay="0"/>
                                          </p:stCondLst>
                                        </p:cTn>
                                        <p:tgtEl>
                                          <p:spTgt spid="67"/>
                                        </p:tgtEl>
                                        <p:attrNameLst>
                                          <p:attrName>style.visibility</p:attrName>
                                        </p:attrNameLst>
                                      </p:cBhvr>
                                      <p:to>
                                        <p:strVal val="visible"/>
                                      </p:to>
                                    </p:set>
                                    <p:animEffect transition="in" filter="fade">
                                      <p:cBhvr>
                                        <p:cTn id="122" dur="500"/>
                                        <p:tgtEl>
                                          <p:spTgt spid="67"/>
                                        </p:tgtEl>
                                      </p:cBhvr>
                                    </p:animEffect>
                                  </p:childTnLst>
                                </p:cTn>
                              </p:par>
                            </p:childTnLst>
                          </p:cTn>
                        </p:par>
                      </p:childTnLst>
                    </p:cTn>
                  </p:par>
                  <p:par>
                    <p:cTn id="123" fill="hold">
                      <p:stCondLst>
                        <p:cond delay="indefinite"/>
                      </p:stCondLst>
                      <p:childTnLst>
                        <p:par>
                          <p:cTn id="124" fill="hold">
                            <p:stCondLst>
                              <p:cond delay="0"/>
                            </p:stCondLst>
                            <p:childTnLst>
                              <p:par>
                                <p:cTn id="125" presetID="10" presetClass="entr" presetSubtype="0" fill="hold" nodeType="clickEffect">
                                  <p:stCondLst>
                                    <p:cond delay="0"/>
                                  </p:stCondLst>
                                  <p:childTnLst>
                                    <p:set>
                                      <p:cBhvr>
                                        <p:cTn id="126" dur="1" fill="hold">
                                          <p:stCondLst>
                                            <p:cond delay="0"/>
                                          </p:stCondLst>
                                        </p:cTn>
                                        <p:tgtEl>
                                          <p:spTgt spid="68"/>
                                        </p:tgtEl>
                                        <p:attrNameLst>
                                          <p:attrName>style.visibility</p:attrName>
                                        </p:attrNameLst>
                                      </p:cBhvr>
                                      <p:to>
                                        <p:strVal val="visible"/>
                                      </p:to>
                                    </p:set>
                                    <p:animEffect transition="in" filter="fade">
                                      <p:cBhvr>
                                        <p:cTn id="127" dur="500"/>
                                        <p:tgtEl>
                                          <p:spTgt spid="68"/>
                                        </p:tgtEl>
                                      </p:cBhvr>
                                    </p:animEffect>
                                  </p:childTnLst>
                                </p:cTn>
                              </p:par>
                            </p:childTnLst>
                          </p:cTn>
                        </p:par>
                      </p:childTnLst>
                    </p:cTn>
                  </p:par>
                  <p:par>
                    <p:cTn id="128" fill="hold">
                      <p:stCondLst>
                        <p:cond delay="indefinite"/>
                      </p:stCondLst>
                      <p:childTnLst>
                        <p:par>
                          <p:cTn id="129" fill="hold">
                            <p:stCondLst>
                              <p:cond delay="0"/>
                            </p:stCondLst>
                            <p:childTnLst>
                              <p:par>
                                <p:cTn id="130" presetID="10" presetClass="entr" presetSubtype="0" fill="hold" grpId="0" nodeType="clickEffect">
                                  <p:stCondLst>
                                    <p:cond delay="0"/>
                                  </p:stCondLst>
                                  <p:childTnLst>
                                    <p:set>
                                      <p:cBhvr>
                                        <p:cTn id="131" dur="1" fill="hold">
                                          <p:stCondLst>
                                            <p:cond delay="0"/>
                                          </p:stCondLst>
                                        </p:cTn>
                                        <p:tgtEl>
                                          <p:spTgt spid="69"/>
                                        </p:tgtEl>
                                        <p:attrNameLst>
                                          <p:attrName>style.visibility</p:attrName>
                                        </p:attrNameLst>
                                      </p:cBhvr>
                                      <p:to>
                                        <p:strVal val="visible"/>
                                      </p:to>
                                    </p:set>
                                    <p:animEffect transition="in" filter="fade">
                                      <p:cBhvr>
                                        <p:cTn id="132"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6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Three tools, one APL session</a:t>
            </a:r>
          </a:p>
        </p:txBody>
      </p:sp>
      <p:grpSp>
        <p:nvGrpSpPr>
          <p:cNvPr id="20" name="HttpCommand">
            <a:extLst>
              <a:ext uri="{FF2B5EF4-FFF2-40B4-BE49-F238E27FC236}">
                <a16:creationId xmlns:a16="http://schemas.microsoft.com/office/drawing/2014/main" id="{769B8F1F-90E8-7FE3-7CDE-31CF0CC2857E}"/>
              </a:ext>
            </a:extLst>
          </p:cNvPr>
          <p:cNvGrpSpPr/>
          <p:nvPr/>
        </p:nvGrpSpPr>
        <p:grpSpPr>
          <a:xfrm>
            <a:off x="320040" y="1267287"/>
            <a:ext cx="2698433" cy="2365011"/>
            <a:chOff x="320040" y="1267287"/>
            <a:chExt cx="2698433" cy="2365011"/>
          </a:xfrm>
        </p:grpSpPr>
        <p:sp>
          <p:nvSpPr>
            <p:cNvPr id="3" name="card"/>
            <p:cNvSpPr/>
            <p:nvPr/>
          </p:nvSpPr>
          <p:spPr>
            <a:xfrm>
              <a:off x="320040"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ard head"/>
            <p:cNvSpPr txBox="1"/>
            <p:nvPr/>
          </p:nvSpPr>
          <p:spPr>
            <a:xfrm>
              <a:off x="530307" y="1411815"/>
              <a:ext cx="2277898" cy="328473"/>
            </a:xfrm>
            <a:prstGeom prst="rect">
              <a:avLst/>
            </a:prstGeom>
            <a:noFill/>
          </p:spPr>
          <p:txBody>
            <a:bodyPr wrap="square" lIns="0" tIns="0" rIns="0" bIns="0" anchor="t">
              <a:spAutoFit/>
            </a:bodyPr>
            <a:lstStyle/>
            <a:p>
              <a:r>
                <a:rPr sz="1800" b="1">
                  <a:solidFill>
                    <a:schemeClr val="tx1"/>
                  </a:solidFill>
                </a:rPr>
                <a:t>HttpCommand</a:t>
              </a:r>
            </a:p>
          </p:txBody>
        </p:sp>
        <p:sp>
          <p:nvSpPr>
            <p:cNvPr id="5" name="card body"/>
            <p:cNvSpPr txBox="1"/>
            <p:nvPr/>
          </p:nvSpPr>
          <p:spPr>
            <a:xfrm>
              <a:off x="530307" y="1792845"/>
              <a:ext cx="2277898" cy="1740911"/>
            </a:xfrm>
            <a:prstGeom prst="rect">
              <a:avLst/>
            </a:prstGeom>
            <a:noFill/>
          </p:spPr>
          <p:txBody>
            <a:bodyPr wrap="square" lIns="0" tIns="0" rIns="0" bIns="0" anchor="t">
              <a:spAutoFit/>
            </a:bodyPr>
            <a:lstStyle/>
            <a:p>
              <a:r>
                <a:rPr sz="1400" b="0">
                  <a:solidFill>
                    <a:schemeClr val="tx1"/>
                  </a:solidFill>
                </a:rPr>
                <a:t>An HTTP client: call web services from APL.</a:t>
              </a:r>
            </a:p>
          </p:txBody>
        </p:sp>
        <p:sp>
          <p:nvSpPr>
            <p:cNvPr id="6" name="code panel"/>
            <p:cNvSpPr/>
            <p:nvPr/>
          </p:nvSpPr>
          <p:spPr>
            <a:xfrm>
              <a:off x="404147"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code"/>
            <p:cNvSpPr txBox="1"/>
            <p:nvPr/>
          </p:nvSpPr>
          <p:spPr>
            <a:xfrm>
              <a:off x="488254" y="2660016"/>
              <a:ext cx="2362005" cy="827753"/>
            </a:xfrm>
            <a:prstGeom prst="rect">
              <a:avLst/>
            </a:prstGeom>
            <a:noFill/>
          </p:spPr>
          <p:txBody>
            <a:bodyPr wrap="square" lIns="0" tIns="0" rIns="0" bIns="0" anchor="t">
              <a:spAutoFit/>
            </a:bodyPr>
            <a:lstStyle/>
            <a:p>
              <a:r>
                <a:rPr sz="1000" b="0">
                  <a:solidFill>
                    <a:schemeClr val="tx1"/>
                  </a:solidFill>
                  <a:latin typeface="APL385 Unicode"/>
                </a:rPr>
                <a:t>r←HttpCommand.Get url</a:t>
              </a:r>
            </a:p>
            <a:p>
              <a:r>
                <a:rPr sz="1000" b="0">
                  <a:solidFill>
                    <a:schemeClr val="tx1"/>
                  </a:solidFill>
                  <a:latin typeface="APL385 Unicode"/>
                </a:rPr>
                <a:t>r.IsOK</a:t>
              </a:r>
            </a:p>
            <a:p>
              <a:r>
                <a:rPr sz="1000" b="0">
                  <a:solidFill>
                    <a:schemeClr val="tx1"/>
                  </a:solidFill>
                  <a:latin typeface="APL385 Unicode"/>
                </a:rPr>
                <a:t>r.(rc HttpStatus Data)</a:t>
              </a:r>
            </a:p>
          </p:txBody>
        </p:sp>
      </p:grpSp>
      <p:grpSp>
        <p:nvGrpSpPr>
          <p:cNvPr id="21" name="Jarvis">
            <a:extLst>
              <a:ext uri="{FF2B5EF4-FFF2-40B4-BE49-F238E27FC236}">
                <a16:creationId xmlns:a16="http://schemas.microsoft.com/office/drawing/2014/main" id="{88ADFEB9-CBDC-27DA-1CB0-60875E42EED7}"/>
              </a:ext>
            </a:extLst>
          </p:cNvPr>
          <p:cNvGrpSpPr/>
          <p:nvPr/>
        </p:nvGrpSpPr>
        <p:grpSpPr>
          <a:xfrm>
            <a:off x="3207714" y="1267287"/>
            <a:ext cx="2698433" cy="2365011"/>
            <a:chOff x="3207714" y="1267287"/>
            <a:chExt cx="2698433" cy="2365011"/>
          </a:xfrm>
        </p:grpSpPr>
        <p:sp>
          <p:nvSpPr>
            <p:cNvPr id="8" name="card"/>
            <p:cNvSpPr/>
            <p:nvPr/>
          </p:nvSpPr>
          <p:spPr>
            <a:xfrm>
              <a:off x="3207714"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ard head"/>
            <p:cNvSpPr txBox="1"/>
            <p:nvPr/>
          </p:nvSpPr>
          <p:spPr>
            <a:xfrm>
              <a:off x="3417981" y="1411815"/>
              <a:ext cx="2277898" cy="328473"/>
            </a:xfrm>
            <a:prstGeom prst="rect">
              <a:avLst/>
            </a:prstGeom>
            <a:noFill/>
          </p:spPr>
          <p:txBody>
            <a:bodyPr wrap="square" lIns="0" tIns="0" rIns="0" bIns="0" anchor="t">
              <a:spAutoFit/>
            </a:bodyPr>
            <a:lstStyle/>
            <a:p>
              <a:r>
                <a:rPr sz="1800" b="1">
                  <a:solidFill>
                    <a:schemeClr val="tx1"/>
                  </a:solidFill>
                </a:rPr>
                <a:t>Jarvis</a:t>
              </a:r>
            </a:p>
          </p:txBody>
        </p:sp>
        <p:sp>
          <p:nvSpPr>
            <p:cNvPr id="10" name="card body"/>
            <p:cNvSpPr txBox="1"/>
            <p:nvPr/>
          </p:nvSpPr>
          <p:spPr>
            <a:xfrm>
              <a:off x="3417981" y="1792845"/>
              <a:ext cx="2277898" cy="1740911"/>
            </a:xfrm>
            <a:prstGeom prst="rect">
              <a:avLst/>
            </a:prstGeom>
            <a:noFill/>
          </p:spPr>
          <p:txBody>
            <a:bodyPr wrap="square" lIns="0" tIns="0" rIns="0" bIns="0" anchor="t">
              <a:spAutoFit/>
            </a:bodyPr>
            <a:lstStyle/>
            <a:p>
              <a:r>
                <a:rPr sz="1400" b="0" dirty="0">
                  <a:solidFill>
                    <a:schemeClr val="tx1"/>
                  </a:solidFill>
                </a:rPr>
                <a:t>A web service framework: your APL functions become endpoints.</a:t>
              </a:r>
            </a:p>
          </p:txBody>
        </p:sp>
        <p:sp>
          <p:nvSpPr>
            <p:cNvPr id="11" name="code panel"/>
            <p:cNvSpPr/>
            <p:nvPr/>
          </p:nvSpPr>
          <p:spPr>
            <a:xfrm>
              <a:off x="3291821"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code"/>
            <p:cNvSpPr txBox="1"/>
            <p:nvPr/>
          </p:nvSpPr>
          <p:spPr>
            <a:xfrm>
              <a:off x="3375928" y="2660016"/>
              <a:ext cx="2362005" cy="827753"/>
            </a:xfrm>
            <a:prstGeom prst="rect">
              <a:avLst/>
            </a:prstGeom>
            <a:noFill/>
          </p:spPr>
          <p:txBody>
            <a:bodyPr wrap="square" lIns="0" tIns="0" rIns="0" bIns="0" anchor="t">
              <a:spAutoFit/>
            </a:bodyPr>
            <a:lstStyle/>
            <a:p>
              <a:r>
                <a:rPr sz="1000" b="0">
                  <a:solidFill>
                    <a:schemeClr val="tx1"/>
                  </a:solidFill>
                  <a:latin typeface="APL385 Unicode"/>
                </a:rPr>
                <a:t>s←Jarvis.New ''</a:t>
              </a:r>
            </a:p>
            <a:p>
              <a:r>
                <a:rPr sz="1000" b="0">
                  <a:solidFill>
                    <a:schemeClr val="tx1"/>
                  </a:solidFill>
                  <a:latin typeface="APL385 Unicode"/>
                </a:rPr>
                <a:t>s.CodeLocation←#.MyApp</a:t>
              </a:r>
            </a:p>
            <a:p>
              <a:r>
                <a:rPr sz="1000" b="0">
                  <a:solidFill>
                    <a:schemeClr val="tx1"/>
                  </a:solidFill>
                  <a:latin typeface="APL385 Unicode"/>
                </a:rPr>
                <a:t>s.Start</a:t>
              </a:r>
            </a:p>
          </p:txBody>
        </p:sp>
      </p:grpSp>
      <p:grpSp>
        <p:nvGrpSpPr>
          <p:cNvPr id="22" name="WebSocketClient">
            <a:extLst>
              <a:ext uri="{FF2B5EF4-FFF2-40B4-BE49-F238E27FC236}">
                <a16:creationId xmlns:a16="http://schemas.microsoft.com/office/drawing/2014/main" id="{74E00672-B673-B138-01C6-BFB4CE3317D0}"/>
              </a:ext>
            </a:extLst>
          </p:cNvPr>
          <p:cNvGrpSpPr/>
          <p:nvPr/>
        </p:nvGrpSpPr>
        <p:grpSpPr>
          <a:xfrm>
            <a:off x="6095388" y="1267287"/>
            <a:ext cx="2698433" cy="2365011"/>
            <a:chOff x="6095388" y="1267287"/>
            <a:chExt cx="2698433" cy="2365011"/>
          </a:xfrm>
        </p:grpSpPr>
        <p:sp>
          <p:nvSpPr>
            <p:cNvPr id="13" name="card"/>
            <p:cNvSpPr/>
            <p:nvPr/>
          </p:nvSpPr>
          <p:spPr>
            <a:xfrm>
              <a:off x="6095388" y="1267287"/>
              <a:ext cx="2698433" cy="236501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head"/>
            <p:cNvSpPr txBox="1"/>
            <p:nvPr/>
          </p:nvSpPr>
          <p:spPr>
            <a:xfrm>
              <a:off x="6305655" y="1411815"/>
              <a:ext cx="2277898" cy="328473"/>
            </a:xfrm>
            <a:prstGeom prst="rect">
              <a:avLst/>
            </a:prstGeom>
            <a:noFill/>
          </p:spPr>
          <p:txBody>
            <a:bodyPr wrap="square" lIns="0" tIns="0" rIns="0" bIns="0" anchor="t">
              <a:spAutoFit/>
            </a:bodyPr>
            <a:lstStyle/>
            <a:p>
              <a:r>
                <a:rPr sz="1800" b="1">
                  <a:solidFill>
                    <a:schemeClr val="tx1"/>
                  </a:solidFill>
                </a:rPr>
                <a:t>WebSocketClient</a:t>
              </a:r>
            </a:p>
          </p:txBody>
        </p:sp>
        <p:sp>
          <p:nvSpPr>
            <p:cNvPr id="15" name="card body"/>
            <p:cNvSpPr txBox="1"/>
            <p:nvPr/>
          </p:nvSpPr>
          <p:spPr>
            <a:xfrm>
              <a:off x="6305655" y="1792845"/>
              <a:ext cx="2277898" cy="1740911"/>
            </a:xfrm>
            <a:prstGeom prst="rect">
              <a:avLst/>
            </a:prstGeom>
            <a:noFill/>
          </p:spPr>
          <p:txBody>
            <a:bodyPr wrap="square" lIns="0" tIns="0" rIns="0" bIns="0" anchor="t">
              <a:spAutoFit/>
            </a:bodyPr>
            <a:lstStyle/>
            <a:p>
              <a:r>
                <a:rPr sz="1400" b="0">
                  <a:solidFill>
                    <a:schemeClr val="tx1"/>
                  </a:solidFill>
                </a:rPr>
                <a:t>Two-way messages from APL over a WebSocket.</a:t>
              </a:r>
            </a:p>
          </p:txBody>
        </p:sp>
        <p:sp>
          <p:nvSpPr>
            <p:cNvPr id="16" name="code panel"/>
            <p:cNvSpPr/>
            <p:nvPr/>
          </p:nvSpPr>
          <p:spPr>
            <a:xfrm>
              <a:off x="6179495" y="2581182"/>
              <a:ext cx="2530219" cy="9854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ode"/>
            <p:cNvSpPr txBox="1"/>
            <p:nvPr/>
          </p:nvSpPr>
          <p:spPr>
            <a:xfrm>
              <a:off x="6263602" y="2660016"/>
              <a:ext cx="2362005" cy="827753"/>
            </a:xfrm>
            <a:prstGeom prst="rect">
              <a:avLst/>
            </a:prstGeom>
            <a:noFill/>
          </p:spPr>
          <p:txBody>
            <a:bodyPr wrap="square" lIns="0" tIns="0" rIns="0" bIns="0" anchor="t">
              <a:spAutoFit/>
            </a:bodyPr>
            <a:lstStyle/>
            <a:p>
              <a:r>
                <a:rPr sz="1000" b="0">
                  <a:solidFill>
                    <a:schemeClr val="tx1"/>
                  </a:solidFill>
                  <a:latin typeface="APL385 Unicode"/>
                </a:rPr>
                <a:t>c←WebSocketClient.New s</a:t>
              </a:r>
            </a:p>
            <a:p>
              <a:r>
                <a:rPr sz="1000" b="0">
                  <a:solidFill>
                    <a:schemeClr val="tx1"/>
                  </a:solidFill>
                  <a:latin typeface="APL385 Unicode"/>
                </a:rPr>
                <a:t>c.Connect</a:t>
              </a:r>
            </a:p>
            <a:p>
              <a:r>
                <a:rPr sz="1000" b="0">
                  <a:solidFill>
                    <a:schemeClr val="tx1"/>
                  </a:solidFill>
                  <a:latin typeface="APL385 Unicode"/>
                </a:rPr>
                <a:t>m←'{"type":"msg","text":"Hi"}'</a:t>
              </a:r>
            </a:p>
            <a:p>
              <a:r>
                <a:rPr sz="1000" b="0">
                  <a:solidFill>
                    <a:schemeClr val="tx1"/>
                  </a:solidFill>
                  <a:latin typeface="APL385 Unicode"/>
                </a:rPr>
                <a:t>c.Send m</a:t>
              </a:r>
            </a:p>
          </p:txBody>
        </p:sp>
      </p:grpSp>
      <p:grpSp>
        <p:nvGrpSpPr>
          <p:cNvPr id="23" name="Conga">
            <a:extLst>
              <a:ext uri="{FF2B5EF4-FFF2-40B4-BE49-F238E27FC236}">
                <a16:creationId xmlns:a16="http://schemas.microsoft.com/office/drawing/2014/main" id="{11130A9F-C5B8-630B-F927-78EA44CF4AA6}"/>
              </a:ext>
            </a:extLst>
          </p:cNvPr>
          <p:cNvGrpSpPr/>
          <p:nvPr/>
        </p:nvGrpSpPr>
        <p:grpSpPr>
          <a:xfrm>
            <a:off x="320040" y="3829382"/>
            <a:ext cx="8503920" cy="558405"/>
            <a:chOff x="320040" y="3829382"/>
            <a:chExt cx="8503920" cy="558405"/>
          </a:xfrm>
        </p:grpSpPr>
        <p:sp>
          <p:nvSpPr>
            <p:cNvPr id="18" name="conga strip"/>
            <p:cNvSpPr/>
            <p:nvPr/>
          </p:nvSpPr>
          <p:spPr>
            <a:xfrm>
              <a:off x="320040" y="3829382"/>
              <a:ext cx="8503920" cy="558405"/>
            </a:xfrm>
            <a:prstGeom prst="roundRect">
              <a:avLst>
                <a:gd name="adj" fmla="val 8000"/>
              </a:avLst>
            </a:prstGeom>
            <a:solidFill>
              <a:schemeClr val="accent2">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
            <p:cNvSpPr txBox="1"/>
            <p:nvPr/>
          </p:nvSpPr>
          <p:spPr>
            <a:xfrm>
              <a:off x="530307" y="3893141"/>
              <a:ext cx="8083384" cy="430887"/>
            </a:xfrm>
            <a:prstGeom prst="rect">
              <a:avLst/>
            </a:prstGeom>
            <a:noFill/>
          </p:spPr>
          <p:txBody>
            <a:bodyPr wrap="square" lIns="0" tIns="0" rIns="0" bIns="0" anchor="ctr">
              <a:spAutoFit/>
            </a:bodyPr>
            <a:lstStyle/>
            <a:p>
              <a:pPr algn="ctr"/>
              <a:r>
                <a:rPr sz="1400" b="0" dirty="0">
                  <a:solidFill>
                    <a:schemeClr val="tx1"/>
                  </a:solidFill>
                </a:rPr>
                <a:t>All three use Conga, Dyalog's TCP/IP library.</a:t>
              </a:r>
              <a:br>
                <a:rPr lang="en-US" sz="1400" b="0" dirty="0">
                  <a:solidFill>
                    <a:schemeClr val="tx1"/>
                  </a:solidFill>
                </a:rPr>
              </a:br>
              <a:r>
                <a:rPr sz="1400" b="0" dirty="0">
                  <a:solidFill>
                    <a:schemeClr val="tx1"/>
                  </a:solidFill>
                </a:rPr>
                <a:t>Setup copies Conga into # first, so every tool finds it with no extra configuration.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10" presetClass="exit" presetSubtype="0" fill="hold" nodeType="withEffect">
                                  <p:stCondLst>
                                    <p:cond delay="0"/>
                                  </p:stCondLst>
                                  <p:childTnLst>
                                    <p:animEffect transition="out" filter="fade">
                                      <p:cBhvr>
                                        <p:cTn id="14" dur="500"/>
                                        <p:tgtEl>
                                          <p:spTgt spid="20"/>
                                        </p:tgtEl>
                                      </p:cBhvr>
                                    </p:animEffect>
                                    <p:set>
                                      <p:cBhvr>
                                        <p:cTn id="15" dur="1" fill="hold">
                                          <p:stCondLst>
                                            <p:cond delay="499"/>
                                          </p:stCondLst>
                                        </p:cTn>
                                        <p:tgtEl>
                                          <p:spTgt spid="20"/>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500"/>
                                        <p:tgtEl>
                                          <p:spTgt spid="22"/>
                                        </p:tgtEl>
                                      </p:cBhvr>
                                    </p:animEffect>
                                  </p:childTnLst>
                                </p:cTn>
                              </p:par>
                              <p:par>
                                <p:cTn id="21" presetID="10" presetClass="exit" presetSubtype="0" fill="hold" nodeType="withEffect">
                                  <p:stCondLst>
                                    <p:cond delay="0"/>
                                  </p:stCondLst>
                                  <p:childTnLst>
                                    <p:animEffect transition="out" filter="fade">
                                      <p:cBhvr>
                                        <p:cTn id="22" dur="500"/>
                                        <p:tgtEl>
                                          <p:spTgt spid="21"/>
                                        </p:tgtEl>
                                      </p:cBhvr>
                                    </p:animEffect>
                                    <p:set>
                                      <p:cBhvr>
                                        <p:cTn id="23" dur="1" fill="hold">
                                          <p:stCondLst>
                                            <p:cond delay="499"/>
                                          </p:stCondLst>
                                        </p:cTn>
                                        <p:tgtEl>
                                          <p:spTgt spid="21"/>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500"/>
                                        <p:tgtEl>
                                          <p:spTgt spid="21"/>
                                        </p:tgtEl>
                                      </p:cBhvr>
                                    </p:animEffect>
                                  </p:childTnLst>
                                </p:cTn>
                              </p:par>
                              <p:par>
                                <p:cTn id="29" presetID="10"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How each exercise works</a:t>
            </a:r>
          </a:p>
        </p:txBody>
      </p:sp>
      <p:grpSp>
        <p:nvGrpSpPr>
          <p:cNvPr id="21" name="Group 20">
            <a:extLst>
              <a:ext uri="{FF2B5EF4-FFF2-40B4-BE49-F238E27FC236}">
                <a16:creationId xmlns:a16="http://schemas.microsoft.com/office/drawing/2014/main" id="{3EC8D2F1-E74E-6308-2D88-12B0518164B2}"/>
              </a:ext>
            </a:extLst>
          </p:cNvPr>
          <p:cNvGrpSpPr/>
          <p:nvPr/>
        </p:nvGrpSpPr>
        <p:grpSpPr>
          <a:xfrm>
            <a:off x="320040" y="1267287"/>
            <a:ext cx="4415618" cy="2365011"/>
            <a:chOff x="320040" y="1267287"/>
            <a:chExt cx="4415618" cy="2365011"/>
          </a:xfrm>
        </p:grpSpPr>
        <p:sp>
          <p:nvSpPr>
            <p:cNvPr id="3" name="code panel"/>
            <p:cNvSpPr/>
            <p:nvPr/>
          </p:nvSpPr>
          <p:spPr>
            <a:xfrm>
              <a:off x="320040" y="1267287"/>
              <a:ext cx="4415618" cy="236501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135261" cy="1538883"/>
            </a:xfrm>
            <a:prstGeom prst="rect">
              <a:avLst/>
            </a:prstGeom>
            <a:noFill/>
          </p:spPr>
          <p:txBody>
            <a:bodyPr wrap="square" lIns="0" tIns="0" rIns="0" bIns="0" anchor="t">
              <a:spAutoFit/>
            </a:bodyPr>
            <a:lstStyle/>
            <a:p>
              <a:r>
                <a:rPr sz="1000" b="0" dirty="0">
                  <a:solidFill>
                    <a:schemeClr val="tx1"/>
                  </a:solidFill>
                  <a:latin typeface="APL385 Unicode"/>
                </a:rPr>
                <a:t>2 ⎕FIX 'file://&lt;repo&gt;/Exercises/</a:t>
              </a:r>
              <a:r>
                <a:rPr sz="1000" b="0" dirty="0" err="1">
                  <a:solidFill>
                    <a:schemeClr val="tx1"/>
                  </a:solidFill>
                  <a:latin typeface="APL385 Unicode"/>
                </a:rPr>
                <a:t>Setup.aplf</a:t>
              </a:r>
              <a:r>
                <a:rPr sz="1000" b="0" dirty="0">
                  <a:solidFill>
                    <a:schemeClr val="tx1"/>
                  </a:solidFill>
                  <a:latin typeface="APL385 Unicode"/>
                </a:rPr>
                <a:t>'</a:t>
              </a:r>
            </a:p>
            <a:p>
              <a:r>
                <a:rPr sz="1000" b="0" dirty="0">
                  <a:solidFill>
                    <a:schemeClr val="tx1"/>
                  </a:solidFill>
                  <a:latin typeface="APL385 Unicode"/>
                </a:rPr>
                <a:t>Setup ''</a:t>
              </a:r>
            </a:p>
            <a:p>
              <a:endParaRPr sz="1000" b="0" dirty="0">
                <a:solidFill>
                  <a:schemeClr val="tx1"/>
                </a:solidFill>
                <a:latin typeface="APL385 Unicode"/>
              </a:endParaRPr>
            </a:p>
            <a:p>
              <a:r>
                <a:rPr sz="1000" b="0" dirty="0">
                  <a:solidFill>
                    <a:schemeClr val="tx1"/>
                  </a:solidFill>
                  <a:latin typeface="APL385 Unicode"/>
                </a:rPr>
                <a:t>Load 1</a:t>
              </a:r>
              <a:endParaRPr lang="en-US" sz="1000" b="0" dirty="0">
                <a:solidFill>
                  <a:schemeClr val="tx1"/>
                </a:solidFill>
                <a:latin typeface="APL385 Unicode"/>
              </a:endParaRPr>
            </a:p>
            <a:p>
              <a:endParaRPr sz="1000" b="0" dirty="0">
                <a:solidFill>
                  <a:schemeClr val="tx1"/>
                </a:solidFill>
                <a:latin typeface="APL385 Unicode"/>
              </a:endParaRPr>
            </a:p>
            <a:p>
              <a:r>
                <a:rPr sz="1000" b="0" dirty="0">
                  <a:solidFill>
                    <a:schemeClr val="tx1"/>
                  </a:solidFill>
                  <a:latin typeface="APL385 Unicode"/>
                </a:rPr>
                <a:t>server←Run1 8080</a:t>
              </a:r>
              <a:endParaRPr lang="en-US" sz="1000" b="0" dirty="0">
                <a:solidFill>
                  <a:schemeClr val="tx1"/>
                </a:solidFill>
                <a:latin typeface="APL385 Unicode"/>
              </a:endParaRPr>
            </a:p>
            <a:p>
              <a:endParaRPr sz="1000" b="0" dirty="0">
                <a:solidFill>
                  <a:schemeClr val="tx1"/>
                </a:solidFill>
                <a:latin typeface="APL385 Unicode"/>
              </a:endParaRPr>
            </a:p>
            <a:p>
              <a:r>
                <a:rPr sz="1000" b="0" dirty="0">
                  <a:solidFill>
                    <a:schemeClr val="tx1"/>
                  </a:solidFill>
                  <a:latin typeface="APL385 Unicode"/>
                </a:rPr>
                <a:t>)ED #.Ex1.Hello</a:t>
              </a:r>
            </a:p>
            <a:p>
              <a:endParaRPr sz="1000" b="0" dirty="0">
                <a:solidFill>
                  <a:schemeClr val="tx1"/>
                </a:solidFill>
                <a:latin typeface="APL385 Unicode"/>
              </a:endParaRPr>
            </a:p>
            <a:p>
              <a:r>
                <a:rPr sz="1000" b="0" dirty="0" err="1">
                  <a:solidFill>
                    <a:schemeClr val="tx1"/>
                  </a:solidFill>
                  <a:latin typeface="APL385 Unicode"/>
                </a:rPr>
                <a:t>server←'Solution</a:t>
              </a:r>
              <a:r>
                <a:rPr sz="1000" b="0" dirty="0">
                  <a:solidFill>
                    <a:schemeClr val="tx1"/>
                  </a:solidFill>
                  <a:latin typeface="APL385 Unicode"/>
                </a:rPr>
                <a:t>' Run1 8080</a:t>
              </a:r>
            </a:p>
          </p:txBody>
        </p:sp>
      </p:grpSp>
      <p:grpSp>
        <p:nvGrpSpPr>
          <p:cNvPr id="16" name="Group 15">
            <a:extLst>
              <a:ext uri="{FF2B5EF4-FFF2-40B4-BE49-F238E27FC236}">
                <a16:creationId xmlns:a16="http://schemas.microsoft.com/office/drawing/2014/main" id="{0F8F2D37-4B3F-E85C-5DE4-4106C36A340D}"/>
              </a:ext>
            </a:extLst>
          </p:cNvPr>
          <p:cNvGrpSpPr/>
          <p:nvPr/>
        </p:nvGrpSpPr>
        <p:grpSpPr>
          <a:xfrm>
            <a:off x="4945925" y="1267287"/>
            <a:ext cx="3854904" cy="473002"/>
            <a:chOff x="4945925" y="1267287"/>
            <a:chExt cx="3854904" cy="473002"/>
          </a:xfrm>
        </p:grpSpPr>
        <p:sp>
          <p:nvSpPr>
            <p:cNvPr id="5" name="step head"/>
            <p:cNvSpPr txBox="1"/>
            <p:nvPr/>
          </p:nvSpPr>
          <p:spPr>
            <a:xfrm>
              <a:off x="4945925" y="1267287"/>
              <a:ext cx="3854904" cy="236501"/>
            </a:xfrm>
            <a:prstGeom prst="rect">
              <a:avLst/>
            </a:prstGeom>
            <a:noFill/>
          </p:spPr>
          <p:txBody>
            <a:bodyPr wrap="square" lIns="0" tIns="0" rIns="0" bIns="0" anchor="t">
              <a:spAutoFit/>
            </a:bodyPr>
            <a:lstStyle/>
            <a:p>
              <a:r>
                <a:rPr sz="1300" b="0">
                  <a:solidFill>
                    <a:schemeClr val="accent2"/>
                  </a:solidFill>
                  <a:latin typeface="APL385 Unicode"/>
                </a:rPr>
                <a:t>Setup</a:t>
              </a:r>
            </a:p>
          </p:txBody>
        </p:sp>
        <p:sp>
          <p:nvSpPr>
            <p:cNvPr id="6" name="text"/>
            <p:cNvSpPr txBox="1"/>
            <p:nvPr/>
          </p:nvSpPr>
          <p:spPr>
            <a:xfrm>
              <a:off x="4945925" y="1503788"/>
              <a:ext cx="3854904" cy="236501"/>
            </a:xfrm>
            <a:prstGeom prst="rect">
              <a:avLst/>
            </a:prstGeom>
            <a:noFill/>
          </p:spPr>
          <p:txBody>
            <a:bodyPr wrap="square" lIns="0" tIns="0" rIns="0" bIns="0" anchor="t">
              <a:spAutoFit/>
            </a:bodyPr>
            <a:lstStyle/>
            <a:p>
              <a:r>
                <a:rPr sz="1100" b="0" dirty="0">
                  <a:solidFill>
                    <a:schemeClr val="tx1"/>
                  </a:solidFill>
                </a:rPr>
                <a:t>Loads the tools and checks them. Once per session.</a:t>
              </a:r>
            </a:p>
          </p:txBody>
        </p:sp>
      </p:grpSp>
      <p:grpSp>
        <p:nvGrpSpPr>
          <p:cNvPr id="17" name="Group 16">
            <a:extLst>
              <a:ext uri="{FF2B5EF4-FFF2-40B4-BE49-F238E27FC236}">
                <a16:creationId xmlns:a16="http://schemas.microsoft.com/office/drawing/2014/main" id="{DE8C2796-6F8C-31B2-5B9A-69BC00608284}"/>
              </a:ext>
            </a:extLst>
          </p:cNvPr>
          <p:cNvGrpSpPr/>
          <p:nvPr/>
        </p:nvGrpSpPr>
        <p:grpSpPr>
          <a:xfrm>
            <a:off x="4945925" y="1759998"/>
            <a:ext cx="3854904" cy="473002"/>
            <a:chOff x="4945925" y="1759998"/>
            <a:chExt cx="3854904" cy="473002"/>
          </a:xfrm>
        </p:grpSpPr>
        <p:sp>
          <p:nvSpPr>
            <p:cNvPr id="7" name="step head"/>
            <p:cNvSpPr txBox="1"/>
            <p:nvPr/>
          </p:nvSpPr>
          <p:spPr>
            <a:xfrm>
              <a:off x="4945925" y="1759998"/>
              <a:ext cx="3854904" cy="236501"/>
            </a:xfrm>
            <a:prstGeom prst="rect">
              <a:avLst/>
            </a:prstGeom>
            <a:noFill/>
          </p:spPr>
          <p:txBody>
            <a:bodyPr wrap="square" lIns="0" tIns="0" rIns="0" bIns="0" anchor="t">
              <a:spAutoFit/>
            </a:bodyPr>
            <a:lstStyle/>
            <a:p>
              <a:r>
                <a:rPr sz="1300" b="0">
                  <a:solidFill>
                    <a:schemeClr val="accent2"/>
                  </a:solidFill>
                  <a:latin typeface="APL385 Unicode"/>
                </a:rPr>
                <a:t>Load 1</a:t>
              </a:r>
            </a:p>
          </p:txBody>
        </p:sp>
        <p:sp>
          <p:nvSpPr>
            <p:cNvPr id="8" name="text"/>
            <p:cNvSpPr txBox="1"/>
            <p:nvPr/>
          </p:nvSpPr>
          <p:spPr>
            <a:xfrm>
              <a:off x="4945925" y="1996499"/>
              <a:ext cx="3854904" cy="236501"/>
            </a:xfrm>
            <a:prstGeom prst="rect">
              <a:avLst/>
            </a:prstGeom>
            <a:noFill/>
          </p:spPr>
          <p:txBody>
            <a:bodyPr wrap="square" lIns="0" tIns="0" rIns="0" bIns="0" anchor="t">
              <a:spAutoFit/>
            </a:bodyPr>
            <a:lstStyle/>
            <a:p>
              <a:r>
                <a:rPr sz="1100" b="0" dirty="0">
                  <a:solidFill>
                    <a:schemeClr val="tx1"/>
                  </a:solidFill>
                </a:rPr>
                <a:t>Loads what Exercise 1 needs, including Run1.</a:t>
              </a:r>
            </a:p>
          </p:txBody>
        </p:sp>
      </p:grpSp>
      <p:grpSp>
        <p:nvGrpSpPr>
          <p:cNvPr id="18" name="Group 17">
            <a:extLst>
              <a:ext uri="{FF2B5EF4-FFF2-40B4-BE49-F238E27FC236}">
                <a16:creationId xmlns:a16="http://schemas.microsoft.com/office/drawing/2014/main" id="{624A0841-6725-216C-1DD0-D08361A70CB0}"/>
              </a:ext>
            </a:extLst>
          </p:cNvPr>
          <p:cNvGrpSpPr/>
          <p:nvPr/>
        </p:nvGrpSpPr>
        <p:grpSpPr>
          <a:xfrm>
            <a:off x="4945925" y="2252708"/>
            <a:ext cx="3854904" cy="473002"/>
            <a:chOff x="4945925" y="2252708"/>
            <a:chExt cx="3854904" cy="473002"/>
          </a:xfrm>
        </p:grpSpPr>
        <p:sp>
          <p:nvSpPr>
            <p:cNvPr id="9" name="step head"/>
            <p:cNvSpPr txBox="1"/>
            <p:nvPr/>
          </p:nvSpPr>
          <p:spPr>
            <a:xfrm>
              <a:off x="4945925" y="2252708"/>
              <a:ext cx="3854904" cy="236501"/>
            </a:xfrm>
            <a:prstGeom prst="rect">
              <a:avLst/>
            </a:prstGeom>
            <a:noFill/>
          </p:spPr>
          <p:txBody>
            <a:bodyPr wrap="square" lIns="0" tIns="0" rIns="0" bIns="0" anchor="t">
              <a:spAutoFit/>
            </a:bodyPr>
            <a:lstStyle/>
            <a:p>
              <a:r>
                <a:rPr sz="1300" b="0" dirty="0">
                  <a:solidFill>
                    <a:schemeClr val="accent2"/>
                  </a:solidFill>
                  <a:latin typeface="APL385 Unicode"/>
                </a:rPr>
                <a:t>Run1</a:t>
              </a:r>
            </a:p>
          </p:txBody>
        </p:sp>
        <p:sp>
          <p:nvSpPr>
            <p:cNvPr id="10" name="text"/>
            <p:cNvSpPr txBox="1"/>
            <p:nvPr/>
          </p:nvSpPr>
          <p:spPr>
            <a:xfrm>
              <a:off x="4945925" y="2489209"/>
              <a:ext cx="3854904" cy="236501"/>
            </a:xfrm>
            <a:prstGeom prst="rect">
              <a:avLst/>
            </a:prstGeom>
            <a:noFill/>
          </p:spPr>
          <p:txBody>
            <a:bodyPr wrap="square" lIns="0" tIns="0" rIns="0" bIns="0" anchor="t">
              <a:spAutoFit/>
            </a:bodyPr>
            <a:lstStyle/>
            <a:p>
              <a:r>
                <a:rPr sz="1100" b="0" dirty="0">
                  <a:solidFill>
                    <a:schemeClr val="tx1"/>
                  </a:solidFill>
                </a:rPr>
                <a:t>Starts its servers on localhost</a:t>
              </a:r>
              <a:r>
                <a:rPr lang="en-US" sz="1100" b="0" dirty="0">
                  <a:solidFill>
                    <a:schemeClr val="tx1"/>
                  </a:solidFill>
                </a:rPr>
                <a:t>, from Start/.</a:t>
              </a:r>
              <a:endParaRPr sz="1100" b="0" dirty="0">
                <a:solidFill>
                  <a:schemeClr val="tx1"/>
                </a:solidFill>
              </a:endParaRPr>
            </a:p>
          </p:txBody>
        </p:sp>
      </p:grpSp>
      <p:grpSp>
        <p:nvGrpSpPr>
          <p:cNvPr id="19" name="Group 18">
            <a:extLst>
              <a:ext uri="{FF2B5EF4-FFF2-40B4-BE49-F238E27FC236}">
                <a16:creationId xmlns:a16="http://schemas.microsoft.com/office/drawing/2014/main" id="{B7BA6D26-2B40-5155-22B7-9D4E323B6336}"/>
              </a:ext>
            </a:extLst>
          </p:cNvPr>
          <p:cNvGrpSpPr/>
          <p:nvPr/>
        </p:nvGrpSpPr>
        <p:grpSpPr>
          <a:xfrm>
            <a:off x="4945925" y="2745419"/>
            <a:ext cx="3854904" cy="473002"/>
            <a:chOff x="4945925" y="2745419"/>
            <a:chExt cx="3854904" cy="473002"/>
          </a:xfrm>
        </p:grpSpPr>
        <p:sp>
          <p:nvSpPr>
            <p:cNvPr id="11" name="step head"/>
            <p:cNvSpPr txBox="1"/>
            <p:nvPr/>
          </p:nvSpPr>
          <p:spPr>
            <a:xfrm>
              <a:off x="4945925" y="2745419"/>
              <a:ext cx="3854904" cy="236501"/>
            </a:xfrm>
            <a:prstGeom prst="rect">
              <a:avLst/>
            </a:prstGeom>
            <a:noFill/>
          </p:spPr>
          <p:txBody>
            <a:bodyPr wrap="square" lIns="0" tIns="0" rIns="0" bIns="0" anchor="t">
              <a:spAutoFit/>
            </a:bodyPr>
            <a:lstStyle/>
            <a:p>
              <a:r>
                <a:rPr sz="1300" b="0">
                  <a:solidFill>
                    <a:schemeClr val="accent2"/>
                  </a:solidFill>
                  <a:latin typeface="APL385 Unicode"/>
                </a:rPr>
                <a:t>)ED</a:t>
              </a:r>
            </a:p>
          </p:txBody>
        </p:sp>
        <p:sp>
          <p:nvSpPr>
            <p:cNvPr id="12" name="text"/>
            <p:cNvSpPr txBox="1"/>
            <p:nvPr/>
          </p:nvSpPr>
          <p:spPr>
            <a:xfrm>
              <a:off x="4945925" y="2981920"/>
              <a:ext cx="3854904" cy="236501"/>
            </a:xfrm>
            <a:prstGeom prst="rect">
              <a:avLst/>
            </a:prstGeom>
            <a:noFill/>
          </p:spPr>
          <p:txBody>
            <a:bodyPr wrap="square" lIns="0" tIns="0" rIns="0" bIns="0" anchor="t">
              <a:spAutoFit/>
            </a:bodyPr>
            <a:lstStyle/>
            <a:p>
              <a:r>
                <a:rPr sz="1100" b="0" dirty="0">
                  <a:solidFill>
                    <a:schemeClr val="tx1"/>
                  </a:solidFill>
                </a:rPr>
                <a:t>Edit a function: the server uses it at once.</a:t>
              </a:r>
            </a:p>
          </p:txBody>
        </p:sp>
      </p:grpSp>
      <p:grpSp>
        <p:nvGrpSpPr>
          <p:cNvPr id="20" name="Group 19">
            <a:extLst>
              <a:ext uri="{FF2B5EF4-FFF2-40B4-BE49-F238E27FC236}">
                <a16:creationId xmlns:a16="http://schemas.microsoft.com/office/drawing/2014/main" id="{6226C2E2-8952-8D48-996E-F35D8547E1EC}"/>
              </a:ext>
            </a:extLst>
          </p:cNvPr>
          <p:cNvGrpSpPr/>
          <p:nvPr/>
        </p:nvGrpSpPr>
        <p:grpSpPr>
          <a:xfrm>
            <a:off x="4945925" y="3238130"/>
            <a:ext cx="3854904" cy="473002"/>
            <a:chOff x="4945925" y="3238130"/>
            <a:chExt cx="3854904" cy="473002"/>
          </a:xfrm>
        </p:grpSpPr>
        <p:sp>
          <p:nvSpPr>
            <p:cNvPr id="13" name="step head"/>
            <p:cNvSpPr txBox="1"/>
            <p:nvPr/>
          </p:nvSpPr>
          <p:spPr>
            <a:xfrm>
              <a:off x="4945925" y="3238130"/>
              <a:ext cx="3854904" cy="236501"/>
            </a:xfrm>
            <a:prstGeom prst="rect">
              <a:avLst/>
            </a:prstGeom>
            <a:noFill/>
          </p:spPr>
          <p:txBody>
            <a:bodyPr wrap="square" lIns="0" tIns="0" rIns="0" bIns="0" anchor="t">
              <a:spAutoFit/>
            </a:bodyPr>
            <a:lstStyle/>
            <a:p>
              <a:r>
                <a:rPr sz="1300" b="0" dirty="0">
                  <a:solidFill>
                    <a:schemeClr val="accent2"/>
                  </a:solidFill>
                  <a:latin typeface="APL385 Unicode"/>
                </a:rPr>
                <a:t>'Solution' Run1</a:t>
              </a:r>
            </a:p>
          </p:txBody>
        </p:sp>
        <p:sp>
          <p:nvSpPr>
            <p:cNvPr id="14" name="text"/>
            <p:cNvSpPr txBox="1"/>
            <p:nvPr/>
          </p:nvSpPr>
          <p:spPr>
            <a:xfrm>
              <a:off x="4945925" y="3474631"/>
              <a:ext cx="3854904" cy="236501"/>
            </a:xfrm>
            <a:prstGeom prst="rect">
              <a:avLst/>
            </a:prstGeom>
            <a:noFill/>
          </p:spPr>
          <p:txBody>
            <a:bodyPr wrap="square" lIns="0" tIns="0" rIns="0" bIns="0" anchor="t">
              <a:spAutoFit/>
            </a:bodyPr>
            <a:lstStyle/>
            <a:p>
              <a:r>
                <a:rPr sz="1100" b="0" dirty="0">
                  <a:solidFill>
                    <a:schemeClr val="tx1"/>
                  </a:solidFill>
                </a:rPr>
                <a:t>Catch up: loads the finished version.</a:t>
              </a:r>
            </a:p>
          </p:txBody>
        </p:sp>
      </p:grpSp>
      <p:sp>
        <p:nvSpPr>
          <p:cNvPr id="15" name="text"/>
          <p:cNvSpPr txBox="1"/>
          <p:nvPr/>
        </p:nvSpPr>
        <p:spPr>
          <a:xfrm>
            <a:off x="320040" y="3895077"/>
            <a:ext cx="8503920" cy="646331"/>
          </a:xfrm>
          <a:prstGeom prst="rect">
            <a:avLst/>
          </a:prstGeom>
          <a:noFill/>
        </p:spPr>
        <p:txBody>
          <a:bodyPr wrap="square" lIns="0" tIns="0" rIns="0" bIns="0" anchor="t">
            <a:spAutoFit/>
          </a:bodyPr>
          <a:lstStyle/>
          <a:p>
            <a:pPr algn="ctr"/>
            <a:r>
              <a:rPr sz="1400" b="0" dirty="0">
                <a:solidFill>
                  <a:schemeClr val="tx1"/>
                </a:solidFill>
              </a:rPr>
              <a:t>Every line in the READMEs can be pasted into your session. </a:t>
            </a:r>
            <a:endParaRPr lang="en-US" sz="1400" b="0" dirty="0">
              <a:solidFill>
                <a:schemeClr val="tx1"/>
              </a:solidFill>
            </a:endParaRPr>
          </a:p>
          <a:p>
            <a:pPr algn="ctr"/>
            <a:r>
              <a:rPr lang="en-US" sz="1400" b="0" dirty="0">
                <a:solidFill>
                  <a:schemeClr val="tx1"/>
                </a:solidFill>
              </a:rPr>
              <a:t>Any edits you make </a:t>
            </a:r>
            <a:r>
              <a:rPr lang="en-US" sz="1400" dirty="0"/>
              <a:t>and save will be saved on disk as well as in the workspace.</a:t>
            </a:r>
          </a:p>
          <a:p>
            <a:pPr algn="ctr"/>
            <a:r>
              <a:rPr sz="1400" b="0" dirty="0">
                <a:solidFill>
                  <a:schemeClr val="tx1"/>
                </a:solidFill>
              </a:rPr>
              <a:t>Each Run function stops any server it started earlier, so running it again is always safe.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5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Dyalog 19 and Dyalog 20</a:t>
            </a:r>
          </a:p>
        </p:txBody>
      </p:sp>
      <p:sp>
        <p:nvSpPr>
          <p:cNvPr id="3" name="text"/>
          <p:cNvSpPr txBox="1"/>
          <p:nvPr/>
        </p:nvSpPr>
        <p:spPr>
          <a:xfrm>
            <a:off x="320040" y="1201592"/>
            <a:ext cx="8503920" cy="430887"/>
          </a:xfrm>
          <a:prstGeom prst="rect">
            <a:avLst/>
          </a:prstGeom>
          <a:noFill/>
        </p:spPr>
        <p:txBody>
          <a:bodyPr wrap="square" lIns="0" tIns="0" rIns="0" bIns="0" anchor="t">
            <a:spAutoFit/>
          </a:bodyPr>
          <a:lstStyle/>
          <a:p>
            <a:r>
              <a:rPr sz="1400" b="0" dirty="0">
                <a:solidFill>
                  <a:schemeClr val="tx1"/>
                </a:solidFill>
              </a:rPr>
              <a:t>All the supplied code runs on Dyalog 19.0 and later. Where Dyalog 20 is neater, the READMEs show both. </a:t>
            </a:r>
            <a:br>
              <a:rPr lang="en-US" sz="1400" b="0" dirty="0">
                <a:solidFill>
                  <a:schemeClr val="tx1"/>
                </a:solidFill>
              </a:rPr>
            </a:br>
            <a:r>
              <a:rPr sz="1400" b="0" dirty="0">
                <a:solidFill>
                  <a:schemeClr val="tx1"/>
                </a:solidFill>
              </a:rPr>
              <a:t>For example, creating an HttpCommand instance from a namespace of settings:</a:t>
            </a:r>
          </a:p>
        </p:txBody>
      </p:sp>
      <p:grpSp>
        <p:nvGrpSpPr>
          <p:cNvPr id="11" name="Group 10">
            <a:extLst>
              <a:ext uri="{FF2B5EF4-FFF2-40B4-BE49-F238E27FC236}">
                <a16:creationId xmlns:a16="http://schemas.microsoft.com/office/drawing/2014/main" id="{4B3685B8-E1B2-E483-9AF2-E9D37D6BABB4}"/>
              </a:ext>
            </a:extLst>
          </p:cNvPr>
          <p:cNvGrpSpPr/>
          <p:nvPr/>
        </p:nvGrpSpPr>
        <p:grpSpPr>
          <a:xfrm>
            <a:off x="320040" y="1825692"/>
            <a:ext cx="8503920" cy="1149658"/>
            <a:chOff x="320040" y="1825692"/>
            <a:chExt cx="8503920" cy="1149658"/>
          </a:xfrm>
        </p:grpSpPr>
        <p:sp>
          <p:nvSpPr>
            <p:cNvPr id="4" name="text"/>
            <p:cNvSpPr txBox="1"/>
            <p:nvPr/>
          </p:nvSpPr>
          <p:spPr>
            <a:xfrm>
              <a:off x="320040" y="1825692"/>
              <a:ext cx="2803567" cy="262779"/>
            </a:xfrm>
            <a:prstGeom prst="rect">
              <a:avLst/>
            </a:prstGeom>
            <a:noFill/>
          </p:spPr>
          <p:txBody>
            <a:bodyPr wrap="square" lIns="0" tIns="0" rIns="0" bIns="0" anchor="t">
              <a:spAutoFit/>
            </a:bodyPr>
            <a:lstStyle/>
            <a:p>
              <a:r>
                <a:rPr sz="1300" b="1">
                  <a:solidFill>
                    <a:schemeClr val="accent2"/>
                  </a:solidFill>
                </a:rPr>
                <a:t>Dyalog 19</a:t>
              </a:r>
            </a:p>
          </p:txBody>
        </p:sp>
        <p:sp>
          <p:nvSpPr>
            <p:cNvPr id="5" name="code panel"/>
            <p:cNvSpPr/>
            <p:nvPr/>
          </p:nvSpPr>
          <p:spPr>
            <a:xfrm>
              <a:off x="320040" y="2121319"/>
              <a:ext cx="8503920" cy="85403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de"/>
            <p:cNvSpPr txBox="1"/>
            <p:nvPr/>
          </p:nvSpPr>
          <p:spPr>
            <a:xfrm>
              <a:off x="460218" y="2200152"/>
              <a:ext cx="8223563" cy="696364"/>
            </a:xfrm>
            <a:prstGeom prst="rect">
              <a:avLst/>
            </a:prstGeom>
            <a:noFill/>
          </p:spPr>
          <p:txBody>
            <a:bodyPr wrap="square" lIns="0" tIns="0" rIns="0" bIns="0" anchor="t">
              <a:spAutoFit/>
            </a:bodyPr>
            <a:lstStyle/>
            <a:p>
              <a:r>
                <a:rPr sz="1000" b="0">
                  <a:solidFill>
                    <a:schemeClr val="tx1"/>
                  </a:solidFill>
                  <a:latin typeface="APL385 Unicode"/>
                </a:rPr>
                <a:t>s←⎕NS''</a:t>
              </a:r>
            </a:p>
            <a:p>
              <a:r>
                <a:rPr sz="1000" b="0">
                  <a:solidFill>
                    <a:schemeClr val="tx1"/>
                  </a:solidFill>
                  <a:latin typeface="APL385 Unicode"/>
                </a:rPr>
                <a:t>s.(Command BaseURL TranslateData)←'get' 'https://official-joke-api.appspot.com' 1</a:t>
              </a:r>
            </a:p>
            <a:p>
              <a:r>
                <a:rPr sz="1000" b="0">
                  <a:solidFill>
                    <a:schemeClr val="tx1"/>
                  </a:solidFill>
                  <a:latin typeface="APL385 Unicode"/>
                </a:rPr>
                <a:t>h←HttpCommand.New s</a:t>
              </a:r>
            </a:p>
          </p:txBody>
        </p:sp>
      </p:grpSp>
      <p:grpSp>
        <p:nvGrpSpPr>
          <p:cNvPr id="12" name="Group 11">
            <a:extLst>
              <a:ext uri="{FF2B5EF4-FFF2-40B4-BE49-F238E27FC236}">
                <a16:creationId xmlns:a16="http://schemas.microsoft.com/office/drawing/2014/main" id="{5DD22AF7-9385-063F-0A03-6D7A9D12F5B7}"/>
              </a:ext>
            </a:extLst>
          </p:cNvPr>
          <p:cNvGrpSpPr/>
          <p:nvPr/>
        </p:nvGrpSpPr>
        <p:grpSpPr>
          <a:xfrm>
            <a:off x="320040" y="3106740"/>
            <a:ext cx="8503920" cy="985420"/>
            <a:chOff x="320040" y="3106740"/>
            <a:chExt cx="8503920" cy="985420"/>
          </a:xfrm>
        </p:grpSpPr>
        <p:sp>
          <p:nvSpPr>
            <p:cNvPr id="7" name="text"/>
            <p:cNvSpPr txBox="1"/>
            <p:nvPr/>
          </p:nvSpPr>
          <p:spPr>
            <a:xfrm>
              <a:off x="320040" y="3106740"/>
              <a:ext cx="5607134" cy="262779"/>
            </a:xfrm>
            <a:prstGeom prst="rect">
              <a:avLst/>
            </a:prstGeom>
            <a:noFill/>
          </p:spPr>
          <p:txBody>
            <a:bodyPr wrap="square" lIns="0" tIns="0" rIns="0" bIns="0" anchor="t">
              <a:spAutoFit/>
            </a:bodyPr>
            <a:lstStyle/>
            <a:p>
              <a:r>
                <a:rPr sz="1300" b="1">
                  <a:solidFill>
                    <a:schemeClr val="accent1"/>
                  </a:solidFill>
                </a:rPr>
                <a:t>Dyalog 20 alternative, with array notation</a:t>
              </a:r>
            </a:p>
          </p:txBody>
        </p:sp>
        <p:sp>
          <p:nvSpPr>
            <p:cNvPr id="8" name="code panel"/>
            <p:cNvSpPr/>
            <p:nvPr/>
          </p:nvSpPr>
          <p:spPr>
            <a:xfrm>
              <a:off x="320040" y="3402366"/>
              <a:ext cx="8503920" cy="689794"/>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60218" y="3481200"/>
              <a:ext cx="8223563" cy="532127"/>
            </a:xfrm>
            <a:prstGeom prst="rect">
              <a:avLst/>
            </a:prstGeom>
            <a:noFill/>
          </p:spPr>
          <p:txBody>
            <a:bodyPr wrap="square" lIns="0" tIns="0" rIns="0" bIns="0" anchor="t">
              <a:spAutoFit/>
            </a:bodyPr>
            <a:lstStyle/>
            <a:p>
              <a:r>
                <a:rPr sz="1000" b="0">
                  <a:solidFill>
                    <a:schemeClr val="tx1"/>
                  </a:solidFill>
                  <a:latin typeface="APL385 Unicode"/>
                </a:rPr>
                <a:t>h←HttpCommand.New (Command: 'get' ⋄ BaseURL: 'https://official-joke-api.appspot.com' ⋄ TranslateData: 1)</a:t>
              </a:r>
            </a:p>
          </p:txBody>
        </p:sp>
      </p:grpSp>
      <p:sp>
        <p:nvSpPr>
          <p:cNvPr id="10" name="text"/>
          <p:cNvSpPr txBox="1"/>
          <p:nvPr/>
        </p:nvSpPr>
        <p:spPr>
          <a:xfrm>
            <a:off x="320040" y="4256398"/>
            <a:ext cx="8503920" cy="394168"/>
          </a:xfrm>
          <a:prstGeom prst="rect">
            <a:avLst/>
          </a:prstGeom>
          <a:noFill/>
        </p:spPr>
        <p:txBody>
          <a:bodyPr wrap="square" lIns="0" tIns="0" rIns="0" bIns="0" anchor="t">
            <a:spAutoFit/>
          </a:bodyPr>
          <a:lstStyle/>
          <a:p>
            <a:r>
              <a:rPr sz="1300" b="0" dirty="0">
                <a:solidFill>
                  <a:schemeClr val="tx1"/>
                </a:solidFill>
              </a:rPr>
              <a:t>The other Dyalog 20 alternatives you'll see: </a:t>
            </a:r>
            <a:r>
              <a:rPr sz="1300" b="0" dirty="0">
                <a:solidFill>
                  <a:schemeClr val="tx1"/>
                </a:solidFill>
                <a:latin typeface="APL385 Unicode"/>
              </a:rPr>
              <a:t>⎕</a:t>
            </a:r>
            <a:r>
              <a:rPr sz="1300" b="0" dirty="0">
                <a:solidFill>
                  <a:schemeClr val="tx1"/>
                </a:solidFill>
              </a:rPr>
              <a:t>VGET with a default (an optional field), and </a:t>
            </a:r>
            <a:r>
              <a:rPr sz="1300" b="0" dirty="0">
                <a:solidFill>
                  <a:schemeClr val="tx1"/>
                </a:solidFill>
                <a:latin typeface="APL385 Unicode"/>
              </a:rPr>
              <a:t>⎕</a:t>
            </a:r>
            <a:r>
              <a:rPr sz="1300" b="0" dirty="0">
                <a:solidFill>
                  <a:schemeClr val="tx1"/>
                </a:solidFill>
              </a:rPr>
              <a:t>VSET (filling in a namespace).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1: Introducing the tools</a:t>
            </a:r>
          </a:p>
        </p:txBody>
      </p:sp>
      <p:grpSp>
        <p:nvGrpSpPr>
          <p:cNvPr id="11" name="Group 10">
            <a:extLst>
              <a:ext uri="{FF2B5EF4-FFF2-40B4-BE49-F238E27FC236}">
                <a16:creationId xmlns:a16="http://schemas.microsoft.com/office/drawing/2014/main" id="{697E383F-8CCC-169A-9643-9D580E5B1033}"/>
              </a:ext>
            </a:extLst>
          </p:cNvPr>
          <p:cNvGrpSpPr/>
          <p:nvPr/>
        </p:nvGrpSpPr>
        <p:grpSpPr>
          <a:xfrm>
            <a:off x="320040" y="1234440"/>
            <a:ext cx="3931920" cy="1600200"/>
            <a:chOff x="320040" y="1234440"/>
            <a:chExt cx="3931920" cy="1600200"/>
          </a:xfrm>
        </p:grpSpPr>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a:solidFill>
                    <a:schemeClr val="tx1"/>
                  </a:solidFill>
                </a:rPr>
                <a:t>Call a public web service with HttpCommand, then write a Jarvis service and call it from your browser and from APL.</a:t>
              </a:r>
            </a:p>
          </p:txBody>
        </p:sp>
      </p:grpSp>
      <p:grpSp>
        <p:nvGrpSpPr>
          <p:cNvPr id="12" name="Group 11">
            <a:extLst>
              <a:ext uri="{FF2B5EF4-FFF2-40B4-BE49-F238E27FC236}">
                <a16:creationId xmlns:a16="http://schemas.microsoft.com/office/drawing/2014/main" id="{96161E2D-25F5-99B9-A5FB-FE59ED6CC894}"/>
              </a:ext>
            </a:extLst>
          </p:cNvPr>
          <p:cNvGrpSpPr/>
          <p:nvPr/>
        </p:nvGrpSpPr>
        <p:grpSpPr>
          <a:xfrm>
            <a:off x="4572000" y="1234440"/>
            <a:ext cx="4251960" cy="1294666"/>
            <a:chOff x="4572000" y="1234440"/>
            <a:chExt cx="4251960" cy="1294666"/>
          </a:xfrm>
        </p:grpSpPr>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a:solidFill>
                    <a:schemeClr val="accent2"/>
                  </a:solidFill>
                </a:rPr>
                <a:t>Core steps</a:t>
              </a:r>
            </a:p>
          </p:txBody>
        </p:sp>
        <p:sp>
          <p:nvSpPr>
            <p:cNvPr id="6" name="steps"/>
            <p:cNvSpPr txBox="1"/>
            <p:nvPr/>
          </p:nvSpPr>
          <p:spPr>
            <a:xfrm>
              <a:off x="4572000" y="1554480"/>
              <a:ext cx="4251960" cy="974626"/>
            </a:xfrm>
            <a:prstGeom prst="rect">
              <a:avLst/>
            </a:prstGeom>
            <a:noFill/>
          </p:spPr>
          <p:txBody>
            <a:bodyPr wrap="square" lIns="0" tIns="0" rIns="0" bIns="0" anchor="t">
              <a:spAutoFit/>
            </a:bodyPr>
            <a:lstStyle/>
            <a:p>
              <a:pPr>
                <a:spcAft>
                  <a:spcPts val="200"/>
                </a:spcAft>
              </a:pPr>
              <a:r>
                <a:rPr sz="1200" b="0" dirty="0">
                  <a:solidFill>
                    <a:schemeClr val="tx1"/>
                  </a:solidFill>
                </a:rPr>
                <a:t>Part A (A1 to A4): HttpCommand and the Joke API: </a:t>
              </a:r>
              <a:r>
                <a:rPr sz="1200" b="0" dirty="0" err="1">
                  <a:solidFill>
                    <a:schemeClr val="tx1"/>
                  </a:solidFill>
                </a:rPr>
                <a:t>rc</a:t>
              </a:r>
              <a:r>
                <a:rPr sz="1200" b="0" dirty="0">
                  <a:solidFill>
                    <a:schemeClr val="tx1"/>
                  </a:solidFill>
                </a:rPr>
                <a:t> versus </a:t>
              </a:r>
              <a:r>
                <a:rPr sz="1200" b="0" dirty="0" err="1">
                  <a:solidFill>
                    <a:schemeClr val="tx1"/>
                  </a:solidFill>
                </a:rPr>
                <a:t>HttpStatus</a:t>
              </a:r>
              <a:r>
                <a:rPr sz="1200" b="0" dirty="0">
                  <a:solidFill>
                    <a:schemeClr val="tx1"/>
                  </a:solidFill>
                </a:rPr>
                <a:t>, </a:t>
              </a:r>
              <a:r>
                <a:rPr sz="1200" b="0" dirty="0" err="1">
                  <a:solidFill>
                    <a:schemeClr val="tx1"/>
                  </a:solidFill>
                </a:rPr>
                <a:t>BaseURL</a:t>
              </a:r>
              <a:r>
                <a:rPr sz="1200" b="0" dirty="0">
                  <a:solidFill>
                    <a:schemeClr val="tx1"/>
                  </a:solidFill>
                </a:rPr>
                <a:t>, a namespace of settings</a:t>
              </a:r>
              <a:endParaRPr lang="en-US" sz="1200" b="0" dirty="0">
                <a:solidFill>
                  <a:schemeClr val="tx1"/>
                </a:solidFill>
              </a:endParaRPr>
            </a:p>
            <a:p>
              <a:pPr>
                <a:spcAft>
                  <a:spcPts val="200"/>
                </a:spcAft>
              </a:pPr>
              <a:endParaRPr sz="1200" b="0" dirty="0">
                <a:solidFill>
                  <a:schemeClr val="tx1"/>
                </a:solidFill>
              </a:endParaRPr>
            </a:p>
            <a:p>
              <a:pPr>
                <a:spcAft>
                  <a:spcPts val="200"/>
                </a:spcAft>
              </a:pPr>
              <a:r>
                <a:rPr sz="1200" b="0" dirty="0">
                  <a:solidFill>
                    <a:schemeClr val="tx1"/>
                  </a:solidFill>
                </a:rPr>
                <a:t>Part B (B1 to B6): a Jarvis service with Hello and Sum, called with a JSON body and with a query string</a:t>
              </a:r>
            </a:p>
          </p:txBody>
        </p:sp>
      </p:grpSp>
      <p:grpSp>
        <p:nvGrpSpPr>
          <p:cNvPr id="13" name="Group 12">
            <a:extLst>
              <a:ext uri="{FF2B5EF4-FFF2-40B4-BE49-F238E27FC236}">
                <a16:creationId xmlns:a16="http://schemas.microsoft.com/office/drawing/2014/main" id="{353B5141-852D-CB14-0DEE-DCFAEF5C9083}"/>
              </a:ext>
            </a:extLst>
          </p:cNvPr>
          <p:cNvGrpSpPr/>
          <p:nvPr/>
        </p:nvGrpSpPr>
        <p:grpSpPr>
          <a:xfrm>
            <a:off x="320040" y="3291840"/>
            <a:ext cx="8503920" cy="1016770"/>
            <a:chOff x="320040" y="3291840"/>
            <a:chExt cx="8503920" cy="1016770"/>
          </a:xfrm>
        </p:grpSpPr>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Load 1</a:t>
              </a:r>
            </a:p>
          </p:txBody>
        </p:sp>
        <p:sp>
          <p:nvSpPr>
            <p:cNvPr id="10" name="readme"/>
            <p:cNvSpPr txBox="1"/>
            <p:nvPr/>
          </p:nvSpPr>
          <p:spPr>
            <a:xfrm>
              <a:off x="320040" y="4123944"/>
              <a:ext cx="8503920" cy="184666"/>
            </a:xfrm>
            <a:prstGeom prst="rect">
              <a:avLst/>
            </a:prstGeom>
            <a:noFill/>
          </p:spPr>
          <p:txBody>
            <a:bodyPr wrap="square" lIns="0" tIns="0" rIns="0" bIns="0" anchor="t">
              <a:spAutoFit/>
            </a:bodyPr>
            <a:lstStyle/>
            <a:p>
              <a:r>
                <a:rPr sz="1200" b="0" dirty="0">
                  <a:solidFill>
                    <a:schemeClr val="tx2"/>
                  </a:solidFill>
                </a:rPr>
                <a:t>Exercises/Ex1-Tools/README.</a:t>
              </a:r>
              <a:r>
                <a:rPr lang="en-US" sz="1200" b="0" dirty="0">
                  <a:solidFill>
                    <a:schemeClr val="tx2"/>
                  </a:solidFill>
                </a:rPr>
                <a:t>html</a:t>
              </a:r>
              <a:r>
                <a:rPr sz="1200" b="0" dirty="0">
                  <a:solidFill>
                    <a:schemeClr val="tx2"/>
                  </a:solidFill>
                </a:rPr>
                <a:t>    No network? The README has an offline route.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Web hooks</a:t>
            </a:r>
          </a:p>
        </p:txBody>
      </p:sp>
      <p:sp>
        <p:nvSpPr>
          <p:cNvPr id="3" name="Text Placeholder 2"/>
          <p:cNvSpPr>
            <a:spLocks noGrp="1"/>
          </p:cNvSpPr>
          <p:nvPr>
            <p:ph type="body" sz="quarter" idx="10"/>
          </p:nvPr>
        </p:nvSpPr>
        <p:spPr/>
        <p:txBody>
          <a:bodyPr/>
          <a:lstStyle/>
          <a:p>
            <a:r>
              <a:rPr sz="1800" b="0">
                <a:solidFill>
                  <a:schemeClr val="tx1"/>
                </a:solidFill>
              </a:rPr>
              <a:t>Don't wait for the answer: get a ticket, and be called back</a:t>
            </a:r>
          </a:p>
          <a:p>
            <a:r>
              <a:rPr sz="1400" b="0">
                <a:solidFill>
                  <a:schemeClr val="accent1"/>
                </a:solidFill>
              </a:rPr>
              <a:t>10 minutes, then Exercise 2 after the break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The ticket pattern</a:t>
            </a:r>
          </a:p>
        </p:txBody>
      </p:sp>
      <p:grpSp>
        <p:nvGrpSpPr>
          <p:cNvPr id="20" name="Group 19">
            <a:extLst>
              <a:ext uri="{FF2B5EF4-FFF2-40B4-BE49-F238E27FC236}">
                <a16:creationId xmlns:a16="http://schemas.microsoft.com/office/drawing/2014/main" id="{4347E920-D009-C6F1-0016-2C2FA7F3F469}"/>
              </a:ext>
            </a:extLst>
          </p:cNvPr>
          <p:cNvGrpSpPr/>
          <p:nvPr/>
        </p:nvGrpSpPr>
        <p:grpSpPr>
          <a:xfrm>
            <a:off x="826200" y="1234440"/>
            <a:ext cx="4656958" cy="3251890"/>
            <a:chOff x="826200" y="1234440"/>
            <a:chExt cx="4656958" cy="3251890"/>
          </a:xfrm>
        </p:grpSpPr>
        <p:cxnSp>
          <p:nvCxnSpPr>
            <p:cNvPr id="3" name="lane"/>
            <p:cNvCxnSpPr/>
            <p:nvPr/>
          </p:nvCxnSpPr>
          <p:spPr>
            <a:xfrm>
              <a:off x="173736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82620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826200" y="1234440"/>
              <a:ext cx="1822318" cy="361321"/>
            </a:xfrm>
            <a:prstGeom prst="rect">
              <a:avLst/>
            </a:prstGeom>
            <a:noFill/>
          </p:spPr>
          <p:txBody>
            <a:bodyPr wrap="square" lIns="0" tIns="0" rIns="0" bIns="0" anchor="ctr">
              <a:spAutoFit/>
            </a:bodyPr>
            <a:lstStyle/>
            <a:p>
              <a:pPr algn="ctr"/>
              <a:r>
                <a:rPr sz="1200" b="1">
                  <a:solidFill>
                    <a:schemeClr val="tx1"/>
                  </a:solidFill>
                </a:rPr>
                <a:t>Client</a:t>
              </a:r>
            </a:p>
          </p:txBody>
        </p:sp>
        <p:cxnSp>
          <p:nvCxnSpPr>
            <p:cNvPr id="6" name="lane"/>
            <p:cNvCxnSpPr/>
            <p:nvPr/>
          </p:nvCxnSpPr>
          <p:spPr>
            <a:xfrm>
              <a:off x="457200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66084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3660840" y="1234440"/>
              <a:ext cx="1822318" cy="361321"/>
            </a:xfrm>
            <a:prstGeom prst="rect">
              <a:avLst/>
            </a:prstGeom>
            <a:noFill/>
          </p:spPr>
          <p:txBody>
            <a:bodyPr wrap="square" lIns="0" tIns="0" rIns="0" bIns="0" anchor="ctr">
              <a:spAutoFit/>
            </a:bodyPr>
            <a:lstStyle/>
            <a:p>
              <a:pPr algn="ctr"/>
              <a:r>
                <a:rPr sz="1200" b="1">
                  <a:solidFill>
                    <a:schemeClr val="tx1"/>
                  </a:solidFill>
                </a:rPr>
                <a:t>Ticket server :8081</a:t>
              </a:r>
            </a:p>
          </p:txBody>
        </p:sp>
      </p:grpSp>
      <p:grpSp>
        <p:nvGrpSpPr>
          <p:cNvPr id="21" name="Group 20">
            <a:extLst>
              <a:ext uri="{FF2B5EF4-FFF2-40B4-BE49-F238E27FC236}">
                <a16:creationId xmlns:a16="http://schemas.microsoft.com/office/drawing/2014/main" id="{3D58E8BE-A246-A836-184F-24A5D07D8B54}"/>
              </a:ext>
            </a:extLst>
          </p:cNvPr>
          <p:cNvGrpSpPr/>
          <p:nvPr/>
        </p:nvGrpSpPr>
        <p:grpSpPr>
          <a:xfrm>
            <a:off x="6495480" y="1234440"/>
            <a:ext cx="1822318" cy="3251890"/>
            <a:chOff x="6495480" y="1234440"/>
            <a:chExt cx="1822318" cy="3251890"/>
          </a:xfrm>
        </p:grpSpPr>
        <p:cxnSp>
          <p:nvCxnSpPr>
            <p:cNvPr id="9" name="lane"/>
            <p:cNvCxnSpPr/>
            <p:nvPr/>
          </p:nvCxnSpPr>
          <p:spPr>
            <a:xfrm>
              <a:off x="7406640"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10" name="lane head"/>
            <p:cNvSpPr/>
            <p:nvPr/>
          </p:nvSpPr>
          <p:spPr>
            <a:xfrm>
              <a:off x="6495480"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lane name"/>
            <p:cNvSpPr txBox="1"/>
            <p:nvPr/>
          </p:nvSpPr>
          <p:spPr>
            <a:xfrm>
              <a:off x="6495480" y="1234440"/>
              <a:ext cx="1822318" cy="361321"/>
            </a:xfrm>
            <a:prstGeom prst="rect">
              <a:avLst/>
            </a:prstGeom>
            <a:noFill/>
          </p:spPr>
          <p:txBody>
            <a:bodyPr wrap="square" lIns="0" tIns="0" rIns="0" bIns="0" anchor="ctr">
              <a:spAutoFit/>
            </a:bodyPr>
            <a:lstStyle/>
            <a:p>
              <a:pPr algn="ctr"/>
              <a:r>
                <a:rPr sz="1200" b="1">
                  <a:solidFill>
                    <a:schemeClr val="tx1"/>
                  </a:solidFill>
                </a:rPr>
                <a:t>Callback server :8082</a:t>
              </a:r>
            </a:p>
          </p:txBody>
        </p:sp>
      </p:grpSp>
      <p:grpSp>
        <p:nvGrpSpPr>
          <p:cNvPr id="22" name="Group 21">
            <a:extLst>
              <a:ext uri="{FF2B5EF4-FFF2-40B4-BE49-F238E27FC236}">
                <a16:creationId xmlns:a16="http://schemas.microsoft.com/office/drawing/2014/main" id="{4C5FE1F2-7F71-CD01-3BAB-57CC10C81DB4}"/>
              </a:ext>
            </a:extLst>
          </p:cNvPr>
          <p:cNvGrpSpPr/>
          <p:nvPr/>
        </p:nvGrpSpPr>
        <p:grpSpPr>
          <a:xfrm>
            <a:off x="1737360" y="1681164"/>
            <a:ext cx="2834640" cy="604392"/>
            <a:chOff x="1737360" y="1681164"/>
            <a:chExt cx="2834640" cy="604392"/>
          </a:xfrm>
        </p:grpSpPr>
        <p:cxnSp>
          <p:nvCxnSpPr>
            <p:cNvPr id="12" name="message"/>
            <p:cNvCxnSpPr/>
            <p:nvPr/>
          </p:nvCxnSpPr>
          <p:spPr>
            <a:xfrm>
              <a:off x="1737360" y="2285556"/>
              <a:ext cx="283464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3" name="message label"/>
            <p:cNvSpPr txBox="1"/>
            <p:nvPr/>
          </p:nvSpPr>
          <p:spPr>
            <a:xfrm>
              <a:off x="1772404" y="1681164"/>
              <a:ext cx="2764550" cy="558405"/>
            </a:xfrm>
            <a:prstGeom prst="rect">
              <a:avLst/>
            </a:prstGeom>
            <a:noFill/>
          </p:spPr>
          <p:txBody>
            <a:bodyPr wrap="square" lIns="0" tIns="0" rIns="0" bIns="0" anchor="b">
              <a:spAutoFit/>
            </a:bodyPr>
            <a:lstStyle/>
            <a:p>
              <a:pPr algn="ctr"/>
              <a:r>
                <a:rPr sz="1000" b="0" dirty="0">
                  <a:solidFill>
                    <a:schemeClr val="tx1"/>
                  </a:solidFill>
                  <a:latin typeface="APL385 Unicode"/>
                </a:rPr>
                <a:t>POST /Submit</a:t>
              </a:r>
            </a:p>
            <a:p>
              <a:pPr algn="ctr"/>
              <a:r>
                <a:rPr sz="1000" b="0" dirty="0">
                  <a:solidFill>
                    <a:schemeClr val="tx1"/>
                  </a:solidFill>
                  <a:latin typeface="APL385 Unicode"/>
                </a:rPr>
                <a:t>{"n":360,"callback":</a:t>
              </a:r>
            </a:p>
            <a:p>
              <a:pPr algn="ctr"/>
              <a:r>
                <a:rPr sz="1000" b="0" dirty="0">
                  <a:solidFill>
                    <a:schemeClr val="tx1"/>
                  </a:solidFill>
                  <a:latin typeface="APL385 Unicode"/>
                </a:rPr>
                <a:t>"http://localhost:8082/Result"}</a:t>
              </a:r>
            </a:p>
          </p:txBody>
        </p:sp>
      </p:grpSp>
      <p:grpSp>
        <p:nvGrpSpPr>
          <p:cNvPr id="23" name="Group 22">
            <a:extLst>
              <a:ext uri="{FF2B5EF4-FFF2-40B4-BE49-F238E27FC236}">
                <a16:creationId xmlns:a16="http://schemas.microsoft.com/office/drawing/2014/main" id="{A82370FC-1310-78DD-E605-0381341D5B7D}"/>
              </a:ext>
            </a:extLst>
          </p:cNvPr>
          <p:cNvGrpSpPr/>
          <p:nvPr/>
        </p:nvGrpSpPr>
        <p:grpSpPr>
          <a:xfrm>
            <a:off x="1737360" y="2462931"/>
            <a:ext cx="2834640" cy="282488"/>
            <a:chOff x="1737360" y="2462931"/>
            <a:chExt cx="2834640" cy="282488"/>
          </a:xfrm>
        </p:grpSpPr>
        <p:cxnSp>
          <p:nvCxnSpPr>
            <p:cNvPr id="14" name="message"/>
            <p:cNvCxnSpPr/>
            <p:nvPr/>
          </p:nvCxnSpPr>
          <p:spPr>
            <a:xfrm flipH="1">
              <a:off x="1737360" y="2745419"/>
              <a:ext cx="283464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5" name="message label"/>
            <p:cNvSpPr txBox="1"/>
            <p:nvPr/>
          </p:nvSpPr>
          <p:spPr>
            <a:xfrm>
              <a:off x="1772404" y="2462931"/>
              <a:ext cx="2764550" cy="236501"/>
            </a:xfrm>
            <a:prstGeom prst="rect">
              <a:avLst/>
            </a:prstGeom>
            <a:noFill/>
          </p:spPr>
          <p:txBody>
            <a:bodyPr wrap="square" lIns="0" tIns="0" rIns="0" bIns="0" anchor="b">
              <a:spAutoFit/>
            </a:bodyPr>
            <a:lstStyle/>
            <a:p>
              <a:pPr algn="ctr"/>
              <a:r>
                <a:rPr sz="1000" b="0" dirty="0">
                  <a:solidFill>
                    <a:schemeClr val="tx1"/>
                  </a:solidFill>
                  <a:latin typeface="APL385 Unicode"/>
                </a:rPr>
                <a:t>{"ticket":17}  at once</a:t>
              </a:r>
            </a:p>
          </p:txBody>
        </p:sp>
      </p:grpSp>
      <p:grpSp>
        <p:nvGrpSpPr>
          <p:cNvPr id="24" name="Group 23">
            <a:extLst>
              <a:ext uri="{FF2B5EF4-FFF2-40B4-BE49-F238E27FC236}">
                <a16:creationId xmlns:a16="http://schemas.microsoft.com/office/drawing/2014/main" id="{A91983CB-7594-4439-2750-03B4C4F11ED0}"/>
              </a:ext>
            </a:extLst>
          </p:cNvPr>
          <p:cNvGrpSpPr/>
          <p:nvPr/>
        </p:nvGrpSpPr>
        <p:grpSpPr>
          <a:xfrm>
            <a:off x="3520662" y="2975351"/>
            <a:ext cx="2102675" cy="591252"/>
            <a:chOff x="3520662" y="2975351"/>
            <a:chExt cx="2102675" cy="591252"/>
          </a:xfrm>
        </p:grpSpPr>
        <p:sp>
          <p:nvSpPr>
            <p:cNvPr id="16" name="lane note"/>
            <p:cNvSpPr/>
            <p:nvPr/>
          </p:nvSpPr>
          <p:spPr>
            <a:xfrm>
              <a:off x="3520662" y="2975351"/>
              <a:ext cx="2102675" cy="591252"/>
            </a:xfrm>
            <a:prstGeom prst="roundRect">
              <a:avLst>
                <a:gd name="adj" fmla="val 8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lane note text"/>
            <p:cNvSpPr txBox="1"/>
            <p:nvPr/>
          </p:nvSpPr>
          <p:spPr>
            <a:xfrm>
              <a:off x="3576733" y="2975351"/>
              <a:ext cx="1990532" cy="591252"/>
            </a:xfrm>
            <a:prstGeom prst="rect">
              <a:avLst/>
            </a:prstGeom>
            <a:noFill/>
          </p:spPr>
          <p:txBody>
            <a:bodyPr wrap="square" lIns="0" tIns="0" rIns="0" bIns="0" anchor="ctr">
              <a:spAutoFit/>
            </a:bodyPr>
            <a:lstStyle/>
            <a:p>
              <a:pPr algn="ctr"/>
              <a:r>
                <a:rPr sz="1000" b="0" dirty="0">
                  <a:solidFill>
                    <a:schemeClr val="tx1"/>
                  </a:solidFill>
                </a:rPr>
                <a:t>Work runs in its own thread:</a:t>
              </a:r>
            </a:p>
            <a:p>
              <a:pPr algn="ctr"/>
              <a:r>
                <a:rPr sz="1000" b="0" dirty="0">
                  <a:solidFill>
                    <a:schemeClr val="tx1"/>
                  </a:solidFill>
                </a:rPr>
                <a:t>Factors 360</a:t>
              </a:r>
            </a:p>
          </p:txBody>
        </p:sp>
      </p:grpSp>
      <p:grpSp>
        <p:nvGrpSpPr>
          <p:cNvPr id="25" name="Group 24">
            <a:extLst>
              <a:ext uri="{FF2B5EF4-FFF2-40B4-BE49-F238E27FC236}">
                <a16:creationId xmlns:a16="http://schemas.microsoft.com/office/drawing/2014/main" id="{D03F8E7E-D875-7C04-C94F-EE71F1081285}"/>
              </a:ext>
            </a:extLst>
          </p:cNvPr>
          <p:cNvGrpSpPr/>
          <p:nvPr/>
        </p:nvGrpSpPr>
        <p:grpSpPr>
          <a:xfrm>
            <a:off x="4572000" y="3717701"/>
            <a:ext cx="2834640" cy="604392"/>
            <a:chOff x="4572000" y="3717701"/>
            <a:chExt cx="2834640" cy="604392"/>
          </a:xfrm>
        </p:grpSpPr>
        <p:cxnSp>
          <p:nvCxnSpPr>
            <p:cNvPr id="18" name="message"/>
            <p:cNvCxnSpPr/>
            <p:nvPr/>
          </p:nvCxnSpPr>
          <p:spPr>
            <a:xfrm>
              <a:off x="4572000" y="4322093"/>
              <a:ext cx="283464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9" name="message label"/>
            <p:cNvSpPr txBox="1"/>
            <p:nvPr/>
          </p:nvSpPr>
          <p:spPr>
            <a:xfrm>
              <a:off x="4607044" y="3717701"/>
              <a:ext cx="2764550" cy="558405"/>
            </a:xfrm>
            <a:prstGeom prst="rect">
              <a:avLst/>
            </a:prstGeom>
            <a:noFill/>
          </p:spPr>
          <p:txBody>
            <a:bodyPr wrap="square" lIns="0" tIns="0" rIns="0" bIns="0" anchor="b">
              <a:spAutoFit/>
            </a:bodyPr>
            <a:lstStyle/>
            <a:p>
              <a:pPr algn="ctr"/>
              <a:r>
                <a:rPr sz="1000" b="0" dirty="0">
                  <a:solidFill>
                    <a:schemeClr val="tx1"/>
                  </a:solidFill>
                  <a:latin typeface="APL385 Unicode"/>
                </a:rPr>
                <a:t>POST /Result</a:t>
              </a:r>
            </a:p>
            <a:p>
              <a:pPr algn="ctr"/>
              <a:r>
                <a:rPr sz="1000" b="0" dirty="0">
                  <a:solidFill>
                    <a:schemeClr val="tx1"/>
                  </a:solidFill>
                  <a:latin typeface="APL385 Unicode"/>
                </a:rPr>
                <a:t>{"ticket":17,"n":360,</a:t>
              </a:r>
            </a:p>
            <a:p>
              <a:pPr algn="ctr"/>
              <a:r>
                <a:rPr sz="1000" b="0" dirty="0">
                  <a:solidFill>
                    <a:schemeClr val="tx1"/>
                  </a:solidFill>
                  <a:latin typeface="APL385 Unicode"/>
                </a:rPr>
                <a:t>"factors":[2,2,2,3,3,5]}</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Answer now, work later</a:t>
            </a:r>
          </a:p>
        </p:txBody>
      </p:sp>
      <p:sp>
        <p:nvSpPr>
          <p:cNvPr id="3" name="code panel"/>
          <p:cNvSpPr/>
          <p:nvPr/>
        </p:nvSpPr>
        <p:spPr>
          <a:xfrm>
            <a:off x="320040" y="1267287"/>
            <a:ext cx="4836153" cy="2167926"/>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555796" cy="600164"/>
          </a:xfrm>
          <a:prstGeom prst="rect">
            <a:avLst/>
          </a:prstGeom>
          <a:noFill/>
        </p:spPr>
        <p:txBody>
          <a:bodyPr wrap="square" lIns="0" tIns="0" rIns="0" bIns="0" anchor="t">
            <a:spAutoFit/>
          </a:bodyPr>
          <a:lstStyle/>
          <a:p>
            <a:r>
              <a:rPr sz="1300" b="0" dirty="0">
                <a:solidFill>
                  <a:schemeClr val="tx1"/>
                </a:solidFill>
                <a:latin typeface="APL385 Unicode"/>
              </a:rPr>
              <a:t> :Hold 'Ex2Ticket'</a:t>
            </a:r>
          </a:p>
          <a:p>
            <a:r>
              <a:rPr sz="1300" b="0" dirty="0">
                <a:solidFill>
                  <a:schemeClr val="tx1"/>
                </a:solidFill>
                <a:latin typeface="APL385 Unicode"/>
              </a:rPr>
              <a:t>     ticket←LastTicket←LastTicket+1</a:t>
            </a:r>
          </a:p>
          <a:p>
            <a:r>
              <a:rPr sz="1300" b="0" dirty="0">
                <a:solidFill>
                  <a:schemeClr val="tx1"/>
                </a:solidFill>
                <a:latin typeface="APL385 Unicode"/>
              </a:rPr>
              <a:t> :</a:t>
            </a:r>
            <a:r>
              <a:rPr sz="1300" b="0" dirty="0" err="1">
                <a:solidFill>
                  <a:schemeClr val="tx1"/>
                </a:solidFill>
                <a:latin typeface="APL385 Unicode"/>
              </a:rPr>
              <a:t>EndHold</a:t>
            </a:r>
            <a:endParaRPr lang="en-US" sz="1300" b="0" dirty="0">
              <a:solidFill>
                <a:schemeClr val="tx1"/>
              </a:solidFill>
              <a:latin typeface="APL385 Unicode"/>
            </a:endParaRPr>
          </a:p>
        </p:txBody>
      </p:sp>
      <p:sp>
        <p:nvSpPr>
          <p:cNvPr id="5" name="text"/>
          <p:cNvSpPr txBox="1"/>
          <p:nvPr/>
        </p:nvSpPr>
        <p:spPr>
          <a:xfrm>
            <a:off x="320040" y="3566603"/>
            <a:ext cx="4836153" cy="328473"/>
          </a:xfrm>
          <a:prstGeom prst="rect">
            <a:avLst/>
          </a:prstGeom>
          <a:noFill/>
        </p:spPr>
        <p:txBody>
          <a:bodyPr wrap="square" lIns="0" tIns="0" rIns="0" bIns="0" anchor="t">
            <a:spAutoFit/>
          </a:bodyPr>
          <a:lstStyle/>
          <a:p>
            <a:r>
              <a:rPr sz="1100" b="0" dirty="0">
                <a:solidFill>
                  <a:schemeClr val="tx2"/>
                </a:solidFill>
              </a:rPr>
              <a:t>From Submit, the ticket server's endpoint</a:t>
            </a:r>
          </a:p>
        </p:txBody>
      </p:sp>
      <p:grpSp>
        <p:nvGrpSpPr>
          <p:cNvPr id="15" name="Group 14">
            <a:extLst>
              <a:ext uri="{FF2B5EF4-FFF2-40B4-BE49-F238E27FC236}">
                <a16:creationId xmlns:a16="http://schemas.microsoft.com/office/drawing/2014/main" id="{CEEE4775-1B41-BD50-C6F0-77947A252FBB}"/>
              </a:ext>
            </a:extLst>
          </p:cNvPr>
          <p:cNvGrpSpPr/>
          <p:nvPr/>
        </p:nvGrpSpPr>
        <p:grpSpPr>
          <a:xfrm>
            <a:off x="5366460" y="2414775"/>
            <a:ext cx="3434369" cy="1051116"/>
            <a:chOff x="5366460" y="1267287"/>
            <a:chExt cx="3434369" cy="1051116"/>
          </a:xfrm>
        </p:grpSpPr>
        <p:sp>
          <p:nvSpPr>
            <p:cNvPr id="6" name="card"/>
            <p:cNvSpPr/>
            <p:nvPr/>
          </p:nvSpPr>
          <p:spPr>
            <a:xfrm>
              <a:off x="5366460" y="1267287"/>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card head"/>
            <p:cNvSpPr txBox="1"/>
            <p:nvPr/>
          </p:nvSpPr>
          <p:spPr>
            <a:xfrm>
              <a:off x="5576728" y="1411815"/>
              <a:ext cx="3013834" cy="328473"/>
            </a:xfrm>
            <a:prstGeom prst="rect">
              <a:avLst/>
            </a:prstGeom>
            <a:noFill/>
          </p:spPr>
          <p:txBody>
            <a:bodyPr wrap="square" lIns="0" tIns="0" rIns="0" bIns="0" anchor="t">
              <a:spAutoFit/>
            </a:bodyPr>
            <a:lstStyle/>
            <a:p>
              <a:r>
                <a:rPr sz="1500" b="1">
                  <a:solidFill>
                    <a:schemeClr val="tx1"/>
                  </a:solidFill>
                </a:rPr>
                <a:t>Reply at once</a:t>
              </a:r>
            </a:p>
          </p:txBody>
        </p:sp>
        <p:sp>
          <p:nvSpPr>
            <p:cNvPr id="8" name="card body"/>
            <p:cNvSpPr txBox="1"/>
            <p:nvPr/>
          </p:nvSpPr>
          <p:spPr>
            <a:xfrm>
              <a:off x="5576728" y="1792845"/>
              <a:ext cx="3013834" cy="427015"/>
            </a:xfrm>
            <a:prstGeom prst="rect">
              <a:avLst/>
            </a:prstGeom>
            <a:noFill/>
          </p:spPr>
          <p:txBody>
            <a:bodyPr wrap="square" lIns="0" tIns="0" rIns="0" bIns="0" anchor="t">
              <a:spAutoFit/>
            </a:bodyPr>
            <a:lstStyle/>
            <a:p>
              <a:r>
                <a:rPr sz="1100" b="0">
                  <a:solidFill>
                    <a:schemeClr val="tx1"/>
                  </a:solidFill>
                </a:rPr>
                <a:t>&amp; runs Work in a new thread, so Submit returns the ticket straight away.</a:t>
              </a:r>
            </a:p>
          </p:txBody>
        </p:sp>
      </p:grpSp>
      <p:grpSp>
        <p:nvGrpSpPr>
          <p:cNvPr id="16" name="Group 15">
            <a:extLst>
              <a:ext uri="{FF2B5EF4-FFF2-40B4-BE49-F238E27FC236}">
                <a16:creationId xmlns:a16="http://schemas.microsoft.com/office/drawing/2014/main" id="{F75CA92A-0CA2-745D-A310-1F3AF079A2F0}"/>
              </a:ext>
            </a:extLst>
          </p:cNvPr>
          <p:cNvGrpSpPr/>
          <p:nvPr/>
        </p:nvGrpSpPr>
        <p:grpSpPr>
          <a:xfrm>
            <a:off x="5366460" y="1278425"/>
            <a:ext cx="3434369" cy="1051116"/>
            <a:chOff x="5366460" y="2416945"/>
            <a:chExt cx="3434369" cy="1051116"/>
          </a:xfrm>
        </p:grpSpPr>
        <p:sp>
          <p:nvSpPr>
            <p:cNvPr id="9" name="card"/>
            <p:cNvSpPr/>
            <p:nvPr/>
          </p:nvSpPr>
          <p:spPr>
            <a:xfrm>
              <a:off x="5366460" y="2416945"/>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card head"/>
            <p:cNvSpPr txBox="1"/>
            <p:nvPr/>
          </p:nvSpPr>
          <p:spPr>
            <a:xfrm>
              <a:off x="5576728" y="2561474"/>
              <a:ext cx="3013834" cy="328473"/>
            </a:xfrm>
            <a:prstGeom prst="rect">
              <a:avLst/>
            </a:prstGeom>
            <a:noFill/>
          </p:spPr>
          <p:txBody>
            <a:bodyPr wrap="square" lIns="0" tIns="0" rIns="0" bIns="0" anchor="t">
              <a:spAutoFit/>
            </a:bodyPr>
            <a:lstStyle/>
            <a:p>
              <a:r>
                <a:rPr sz="1500" b="1">
                  <a:solidFill>
                    <a:schemeClr val="tx1"/>
                  </a:solidFill>
                </a:rPr>
                <a:t>One ticket each</a:t>
              </a:r>
            </a:p>
          </p:txBody>
        </p:sp>
        <p:sp>
          <p:nvSpPr>
            <p:cNvPr id="11" name="card body"/>
            <p:cNvSpPr txBox="1"/>
            <p:nvPr/>
          </p:nvSpPr>
          <p:spPr>
            <a:xfrm>
              <a:off x="5576728" y="2942503"/>
              <a:ext cx="3013834" cy="169277"/>
            </a:xfrm>
            <a:prstGeom prst="rect">
              <a:avLst/>
            </a:prstGeom>
            <a:noFill/>
          </p:spPr>
          <p:txBody>
            <a:bodyPr wrap="square" lIns="0" tIns="0" rIns="0" bIns="0" anchor="t">
              <a:spAutoFit/>
            </a:bodyPr>
            <a:lstStyle/>
            <a:p>
              <a:r>
                <a:rPr sz="1100" b="0" dirty="0">
                  <a:solidFill>
                    <a:schemeClr val="tx1"/>
                  </a:solidFill>
                </a:rPr>
                <a:t>:Hold </a:t>
              </a:r>
              <a:r>
                <a:rPr lang="en-US" sz="1100" b="0" dirty="0">
                  <a:solidFill>
                    <a:schemeClr val="tx1"/>
                  </a:solidFill>
                </a:rPr>
                <a:t>is unnecessary here, but good practice</a:t>
              </a:r>
              <a:endParaRPr sz="1100" b="0" dirty="0">
                <a:solidFill>
                  <a:schemeClr val="tx1"/>
                </a:solidFill>
              </a:endParaRPr>
            </a:p>
          </p:txBody>
        </p:sp>
      </p:grpSp>
      <p:grpSp>
        <p:nvGrpSpPr>
          <p:cNvPr id="17" name="Group 16">
            <a:extLst>
              <a:ext uri="{FF2B5EF4-FFF2-40B4-BE49-F238E27FC236}">
                <a16:creationId xmlns:a16="http://schemas.microsoft.com/office/drawing/2014/main" id="{32D889E1-2205-BE96-CFB5-E2239117DE38}"/>
              </a:ext>
            </a:extLst>
          </p:cNvPr>
          <p:cNvGrpSpPr/>
          <p:nvPr/>
        </p:nvGrpSpPr>
        <p:grpSpPr>
          <a:xfrm>
            <a:off x="5366460" y="3566603"/>
            <a:ext cx="3434369" cy="1051116"/>
            <a:chOff x="5366460" y="3566603"/>
            <a:chExt cx="3434369" cy="1051116"/>
          </a:xfrm>
        </p:grpSpPr>
        <p:sp>
          <p:nvSpPr>
            <p:cNvPr id="12" name="card"/>
            <p:cNvSpPr/>
            <p:nvPr/>
          </p:nvSpPr>
          <p:spPr>
            <a:xfrm>
              <a:off x="5366460" y="3566603"/>
              <a:ext cx="3434369"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card head"/>
            <p:cNvSpPr txBox="1"/>
            <p:nvPr/>
          </p:nvSpPr>
          <p:spPr>
            <a:xfrm>
              <a:off x="5576728" y="3711132"/>
              <a:ext cx="3013834" cy="328473"/>
            </a:xfrm>
            <a:prstGeom prst="rect">
              <a:avLst/>
            </a:prstGeom>
            <a:noFill/>
          </p:spPr>
          <p:txBody>
            <a:bodyPr wrap="square" lIns="0" tIns="0" rIns="0" bIns="0" anchor="t">
              <a:spAutoFit/>
            </a:bodyPr>
            <a:lstStyle/>
            <a:p>
              <a:r>
                <a:rPr sz="1500" b="1">
                  <a:solidFill>
                    <a:schemeClr val="tx1"/>
                  </a:solidFill>
                </a:rPr>
                <a:t>Check first</a:t>
              </a:r>
            </a:p>
          </p:txBody>
        </p:sp>
        <p:sp>
          <p:nvSpPr>
            <p:cNvPr id="14" name="card body"/>
            <p:cNvSpPr txBox="1"/>
            <p:nvPr/>
          </p:nvSpPr>
          <p:spPr>
            <a:xfrm>
              <a:off x="5576728" y="4092161"/>
              <a:ext cx="3013834" cy="427015"/>
            </a:xfrm>
            <a:prstGeom prst="rect">
              <a:avLst/>
            </a:prstGeom>
            <a:noFill/>
          </p:spPr>
          <p:txBody>
            <a:bodyPr wrap="square" lIns="0" tIns="0" rIns="0" bIns="0" anchor="t">
              <a:spAutoFit/>
            </a:bodyPr>
            <a:lstStyle/>
            <a:p>
              <a:r>
                <a:rPr sz="1100" b="0">
                  <a:solidFill>
                    <a:schemeClr val="tx1"/>
                  </a:solidFill>
                </a:rPr>
                <a:t>Check the job before giving a ticket: after that, a bad job can only fail out of sight.</a:t>
              </a:r>
            </a:p>
          </p:txBody>
        </p:sp>
      </p:grpSp>
      <p:sp>
        <p:nvSpPr>
          <p:cNvPr id="19" name="code">
            <a:extLst>
              <a:ext uri="{FF2B5EF4-FFF2-40B4-BE49-F238E27FC236}">
                <a16:creationId xmlns:a16="http://schemas.microsoft.com/office/drawing/2014/main" id="{8967A4DC-AE87-868E-C6F3-BC0003DE6EBB}"/>
              </a:ext>
            </a:extLst>
          </p:cNvPr>
          <p:cNvSpPr txBox="1"/>
          <p:nvPr/>
        </p:nvSpPr>
        <p:spPr>
          <a:xfrm>
            <a:off x="558828" y="2143979"/>
            <a:ext cx="4555796" cy="200055"/>
          </a:xfrm>
          <a:prstGeom prst="rect">
            <a:avLst/>
          </a:prstGeom>
          <a:noFill/>
        </p:spPr>
        <p:txBody>
          <a:bodyPr wrap="square" lIns="0" tIns="0" rIns="0" bIns="0" anchor="t">
            <a:spAutoFit/>
          </a:bodyPr>
          <a:lstStyle/>
          <a:p>
            <a:r>
              <a:rPr sz="1300" b="0" dirty="0">
                <a:solidFill>
                  <a:schemeClr val="tx1"/>
                </a:solidFill>
                <a:latin typeface="APL385 Unicode"/>
              </a:rPr>
              <a:t> </a:t>
            </a:r>
            <a:r>
              <a:rPr sz="1300" b="0" dirty="0" err="1">
                <a:solidFill>
                  <a:schemeClr val="tx1"/>
                </a:solidFill>
                <a:latin typeface="APL385 Unicode"/>
              </a:rPr>
              <a:t>Work&amp;ticket</a:t>
            </a:r>
            <a:r>
              <a:rPr sz="1300" b="0" dirty="0">
                <a:solidFill>
                  <a:schemeClr val="tx1"/>
                </a:solidFill>
                <a:latin typeface="APL385 Unicode"/>
              </a:rPr>
              <a:t> job   ⍝ &amp; starts a new thread</a:t>
            </a:r>
          </a:p>
        </p:txBody>
      </p:sp>
      <p:sp>
        <p:nvSpPr>
          <p:cNvPr id="21" name="code">
            <a:extLst>
              <a:ext uri="{FF2B5EF4-FFF2-40B4-BE49-F238E27FC236}">
                <a16:creationId xmlns:a16="http://schemas.microsoft.com/office/drawing/2014/main" id="{F91B7920-49E8-D6E4-996F-F76DC2C4510F}"/>
              </a:ext>
            </a:extLst>
          </p:cNvPr>
          <p:cNvSpPr txBox="1"/>
          <p:nvPr/>
        </p:nvSpPr>
        <p:spPr>
          <a:xfrm>
            <a:off x="558830" y="2601179"/>
            <a:ext cx="4555796" cy="400110"/>
          </a:xfrm>
          <a:prstGeom prst="rect">
            <a:avLst/>
          </a:prstGeom>
          <a:noFill/>
        </p:spPr>
        <p:txBody>
          <a:bodyPr wrap="square" lIns="0" tIns="0" rIns="0" bIns="0" anchor="t">
            <a:spAutoFit/>
          </a:bodyPr>
          <a:lstStyle/>
          <a:p>
            <a:r>
              <a:rPr sz="1300" b="0" dirty="0">
                <a:solidFill>
                  <a:schemeClr val="tx1"/>
                </a:solidFill>
                <a:latin typeface="APL385 Unicode"/>
              </a:rPr>
              <a:t> r←⎕NS''</a:t>
            </a:r>
          </a:p>
          <a:p>
            <a:r>
              <a:rPr sz="1300" b="0" dirty="0">
                <a:solidFill>
                  <a:schemeClr val="tx1"/>
                </a:solidFill>
                <a:latin typeface="APL385 Unicode"/>
              </a:rPr>
              <a:t> </a:t>
            </a:r>
            <a:r>
              <a:rPr sz="1300" b="0" dirty="0" err="1">
                <a:solidFill>
                  <a:schemeClr val="tx1"/>
                </a:solidFill>
                <a:latin typeface="APL385 Unicode"/>
              </a:rPr>
              <a:t>r.ticket←ticket</a:t>
            </a:r>
            <a:endParaRPr sz="1300" b="0" dirty="0">
              <a:solidFill>
                <a:schemeClr val="tx1"/>
              </a:solidFill>
              <a:latin typeface="APL385 Unicod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500"/>
                                        <p:tgtEl>
                                          <p:spTgt spid="1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19" grpId="0"/>
      <p:bldP spid="2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When the call back fails</a:t>
            </a:r>
          </a:p>
        </p:txBody>
      </p:sp>
      <p:grpSp>
        <p:nvGrpSpPr>
          <p:cNvPr id="11" name="Group 10">
            <a:extLst>
              <a:ext uri="{FF2B5EF4-FFF2-40B4-BE49-F238E27FC236}">
                <a16:creationId xmlns:a16="http://schemas.microsoft.com/office/drawing/2014/main" id="{26DA55A1-B76D-D2CB-9C49-28A99561F77C}"/>
              </a:ext>
            </a:extLst>
          </p:cNvPr>
          <p:cNvGrpSpPr/>
          <p:nvPr/>
        </p:nvGrpSpPr>
        <p:grpSpPr>
          <a:xfrm>
            <a:off x="320040" y="1267287"/>
            <a:ext cx="8503920" cy="1313895"/>
            <a:chOff x="320040" y="1267287"/>
            <a:chExt cx="8503920" cy="1313895"/>
          </a:xfrm>
        </p:grpSpPr>
        <p:sp>
          <p:nvSpPr>
            <p:cNvPr id="3" name="code panel"/>
            <p:cNvSpPr/>
            <p:nvPr/>
          </p:nvSpPr>
          <p:spPr>
            <a:xfrm>
              <a:off x="320040" y="1267287"/>
              <a:ext cx="8503920" cy="1313895"/>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8223563" cy="1156227"/>
            </a:xfrm>
            <a:prstGeom prst="rect">
              <a:avLst/>
            </a:prstGeom>
            <a:noFill/>
          </p:spPr>
          <p:txBody>
            <a:bodyPr wrap="square" lIns="0" tIns="0" rIns="0" bIns="0" anchor="t">
              <a:spAutoFit/>
            </a:bodyPr>
            <a:lstStyle/>
            <a:p>
              <a:r>
                <a:rPr sz="1200" b="0" dirty="0">
                  <a:solidFill>
                    <a:schemeClr val="tx1"/>
                  </a:solidFill>
                  <a:latin typeface="APL385 Unicode"/>
                </a:rPr>
                <a:t> r←#.</a:t>
              </a:r>
              <a:r>
                <a:rPr sz="1200" b="0" dirty="0" err="1">
                  <a:solidFill>
                    <a:schemeClr val="tx1"/>
                  </a:solidFill>
                  <a:latin typeface="APL385 Unicode"/>
                </a:rPr>
                <a:t>HttpCommand.GetJSON</a:t>
              </a:r>
              <a:r>
                <a:rPr sz="1200" b="0" dirty="0">
                  <a:solidFill>
                    <a:schemeClr val="tx1"/>
                  </a:solidFill>
                  <a:latin typeface="APL385 Unicode"/>
                </a:rPr>
                <a:t> 'post' </a:t>
              </a:r>
              <a:r>
                <a:rPr sz="1200" b="0" dirty="0" err="1">
                  <a:solidFill>
                    <a:schemeClr val="tx1"/>
                  </a:solidFill>
                  <a:latin typeface="APL385 Unicode"/>
                </a:rPr>
                <a:t>job.callback</a:t>
              </a:r>
              <a:r>
                <a:rPr sz="1200" b="0" dirty="0">
                  <a:solidFill>
                    <a:schemeClr val="tx1"/>
                  </a:solidFill>
                  <a:latin typeface="APL385 Unicode"/>
                </a:rPr>
                <a:t> payload</a:t>
              </a:r>
            </a:p>
            <a:p>
              <a:r>
                <a:rPr sz="1200" b="0" dirty="0">
                  <a:solidFill>
                    <a:schemeClr val="tx1"/>
                  </a:solidFill>
                  <a:latin typeface="APL385 Unicode"/>
                </a:rPr>
                <a:t> :If r.rc≠0                ⍝ the request failed: e.g. the callback server isn't running</a:t>
              </a:r>
            </a:p>
            <a:p>
              <a:r>
                <a:rPr sz="1200" b="0" dirty="0">
                  <a:solidFill>
                    <a:schemeClr val="tx1"/>
                  </a:solidFill>
                  <a:latin typeface="APL385 Unicode"/>
                </a:rPr>
                <a:t> :</a:t>
              </a:r>
              <a:r>
                <a:rPr sz="1200" b="0" dirty="0" err="1">
                  <a:solidFill>
                    <a:schemeClr val="tx1"/>
                  </a:solidFill>
                  <a:latin typeface="APL385 Unicode"/>
                </a:rPr>
                <a:t>ElseIf</a:t>
              </a:r>
              <a:r>
                <a:rPr sz="1200" b="0" dirty="0">
                  <a:solidFill>
                    <a:schemeClr val="tx1"/>
                  </a:solidFill>
                  <a:latin typeface="APL385 Unicode"/>
                </a:rPr>
                <a:t> r.HttpStatus≠200  ⍝ the callback server said no</a:t>
              </a:r>
            </a:p>
            <a:p>
              <a:r>
                <a:rPr sz="1200" b="0" dirty="0">
                  <a:solidFill>
                    <a:schemeClr val="tx1"/>
                  </a:solidFill>
                  <a:latin typeface="APL385 Unicode"/>
                </a:rPr>
                <a:t> :</a:t>
              </a:r>
              <a:r>
                <a:rPr sz="1200" b="0" dirty="0" err="1">
                  <a:solidFill>
                    <a:schemeClr val="tx1"/>
                  </a:solidFill>
                  <a:latin typeface="APL385 Unicode"/>
                </a:rPr>
                <a:t>EndIf</a:t>
              </a:r>
              <a:endParaRPr sz="1200" b="0" dirty="0">
                <a:solidFill>
                  <a:schemeClr val="tx1"/>
                </a:solidFill>
                <a:latin typeface="APL385 Unicode"/>
              </a:endParaRPr>
            </a:p>
          </p:txBody>
        </p:sp>
      </p:grpSp>
      <p:grpSp>
        <p:nvGrpSpPr>
          <p:cNvPr id="12" name="Group 11">
            <a:extLst>
              <a:ext uri="{FF2B5EF4-FFF2-40B4-BE49-F238E27FC236}">
                <a16:creationId xmlns:a16="http://schemas.microsoft.com/office/drawing/2014/main" id="{1DEEAF93-5072-9EE4-1A91-6474FC31759A}"/>
              </a:ext>
            </a:extLst>
          </p:cNvPr>
          <p:cNvGrpSpPr/>
          <p:nvPr/>
        </p:nvGrpSpPr>
        <p:grpSpPr>
          <a:xfrm>
            <a:off x="320040" y="2811114"/>
            <a:ext cx="4135261" cy="1642368"/>
            <a:chOff x="320040" y="2811114"/>
            <a:chExt cx="4135261" cy="1642368"/>
          </a:xfrm>
        </p:grpSpPr>
        <p:sp>
          <p:nvSpPr>
            <p:cNvPr id="5" name="card"/>
            <p:cNvSpPr/>
            <p:nvPr/>
          </p:nvSpPr>
          <p:spPr>
            <a:xfrm>
              <a:off x="320040" y="2811114"/>
              <a:ext cx="4135261" cy="1642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ard head"/>
            <p:cNvSpPr txBox="1"/>
            <p:nvPr/>
          </p:nvSpPr>
          <p:spPr>
            <a:xfrm>
              <a:off x="530307" y="2955642"/>
              <a:ext cx="3714726" cy="328473"/>
            </a:xfrm>
            <a:prstGeom prst="rect">
              <a:avLst/>
            </a:prstGeom>
            <a:noFill/>
          </p:spPr>
          <p:txBody>
            <a:bodyPr wrap="square" lIns="0" tIns="0" rIns="0" bIns="0" anchor="t">
              <a:spAutoFit/>
            </a:bodyPr>
            <a:lstStyle/>
            <a:p>
              <a:r>
                <a:rPr sz="1600" b="1">
                  <a:solidFill>
                    <a:schemeClr val="tx1"/>
                  </a:solidFill>
                </a:rPr>
                <a:t>Check both</a:t>
              </a:r>
            </a:p>
          </p:txBody>
        </p:sp>
        <p:sp>
          <p:nvSpPr>
            <p:cNvPr id="7" name="card body"/>
            <p:cNvSpPr txBox="1"/>
            <p:nvPr/>
          </p:nvSpPr>
          <p:spPr>
            <a:xfrm>
              <a:off x="530307" y="3336672"/>
              <a:ext cx="3714726" cy="400110"/>
            </a:xfrm>
            <a:prstGeom prst="rect">
              <a:avLst/>
            </a:prstGeom>
            <a:noFill/>
          </p:spPr>
          <p:txBody>
            <a:bodyPr wrap="square" lIns="0" tIns="0" rIns="0" bIns="0" anchor="t">
              <a:spAutoFit/>
            </a:bodyPr>
            <a:lstStyle/>
            <a:p>
              <a:r>
                <a:rPr sz="1100" b="0" dirty="0">
                  <a:solidFill>
                    <a:schemeClr val="tx1"/>
                  </a:solidFill>
                  <a:latin typeface="APL385 Unicode" panose="020B0709000202000203" pitchFamily="49" charset="0"/>
                </a:rPr>
                <a:t>rc≠0</a:t>
              </a:r>
              <a:r>
                <a:rPr sz="1300" b="0" dirty="0">
                  <a:solidFill>
                    <a:schemeClr val="tx1"/>
                  </a:solidFill>
                </a:rPr>
                <a:t>: the request itself failed (nobody answered).</a:t>
              </a:r>
            </a:p>
            <a:p>
              <a:r>
                <a:rPr sz="1100" b="0" dirty="0">
                  <a:solidFill>
                    <a:schemeClr val="tx1"/>
                  </a:solidFill>
                  <a:latin typeface="APL385 Unicode" panose="020B0709000202000203" pitchFamily="49" charset="0"/>
                </a:rPr>
                <a:t>HttpStatus≠200</a:t>
              </a:r>
              <a:r>
                <a:rPr sz="1300" b="0" dirty="0">
                  <a:solidFill>
                    <a:schemeClr val="tx1"/>
                  </a:solidFill>
                </a:rPr>
                <a:t>: the server answered, and said no.</a:t>
              </a:r>
            </a:p>
          </p:txBody>
        </p:sp>
      </p:grpSp>
      <p:grpSp>
        <p:nvGrpSpPr>
          <p:cNvPr id="13" name="Group 12">
            <a:extLst>
              <a:ext uri="{FF2B5EF4-FFF2-40B4-BE49-F238E27FC236}">
                <a16:creationId xmlns:a16="http://schemas.microsoft.com/office/drawing/2014/main" id="{BC681CFF-AB72-CD80-DD7F-6C9C297A44A2}"/>
              </a:ext>
            </a:extLst>
          </p:cNvPr>
          <p:cNvGrpSpPr/>
          <p:nvPr/>
        </p:nvGrpSpPr>
        <p:grpSpPr>
          <a:xfrm>
            <a:off x="4665569" y="2811114"/>
            <a:ext cx="4135261" cy="1642368"/>
            <a:chOff x="4665569" y="2811114"/>
            <a:chExt cx="4135261" cy="1642368"/>
          </a:xfrm>
        </p:grpSpPr>
        <p:sp>
          <p:nvSpPr>
            <p:cNvPr id="8" name="card"/>
            <p:cNvSpPr/>
            <p:nvPr/>
          </p:nvSpPr>
          <p:spPr>
            <a:xfrm>
              <a:off x="4665569" y="2811114"/>
              <a:ext cx="4135261" cy="1642368"/>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ard head"/>
            <p:cNvSpPr txBox="1"/>
            <p:nvPr/>
          </p:nvSpPr>
          <p:spPr>
            <a:xfrm>
              <a:off x="4875836" y="2955642"/>
              <a:ext cx="3714726" cy="328473"/>
            </a:xfrm>
            <a:prstGeom prst="rect">
              <a:avLst/>
            </a:prstGeom>
            <a:noFill/>
          </p:spPr>
          <p:txBody>
            <a:bodyPr wrap="square" lIns="0" tIns="0" rIns="0" bIns="0" anchor="t">
              <a:spAutoFit/>
            </a:bodyPr>
            <a:lstStyle/>
            <a:p>
              <a:r>
                <a:rPr sz="1600" b="1">
                  <a:solidFill>
                    <a:schemeClr val="tx1"/>
                  </a:solidFill>
                </a:rPr>
                <a:t>Trap inside the thread</a:t>
              </a:r>
            </a:p>
          </p:txBody>
        </p:sp>
        <p:sp>
          <p:nvSpPr>
            <p:cNvPr id="10" name="card body"/>
            <p:cNvSpPr txBox="1"/>
            <p:nvPr/>
          </p:nvSpPr>
          <p:spPr>
            <a:xfrm>
              <a:off x="4875836" y="3336672"/>
              <a:ext cx="3714726" cy="1018268"/>
            </a:xfrm>
            <a:prstGeom prst="rect">
              <a:avLst/>
            </a:prstGeom>
            <a:noFill/>
          </p:spPr>
          <p:txBody>
            <a:bodyPr wrap="square" lIns="0" tIns="0" rIns="0" bIns="0" anchor="t">
              <a:spAutoFit/>
            </a:bodyPr>
            <a:lstStyle/>
            <a:p>
              <a:r>
                <a:rPr sz="1300" b="0">
                  <a:solidFill>
                    <a:schemeClr val="tx1"/>
                  </a:solidFill>
                </a:rPr>
                <a:t>Jarvis traps errors in endpoints, but nothing traps errors in a thread you start with &amp;. Put Work's body in :Trap 0, so one bad job can't stop the server.</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120EF-13DE-5B69-B16F-51BF51AB08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DEBFF3-7B6D-3461-DFE0-E3A0DDEFA742}"/>
              </a:ext>
            </a:extLst>
          </p:cNvPr>
          <p:cNvSpPr>
            <a:spLocks noGrp="1"/>
          </p:cNvSpPr>
          <p:nvPr>
            <p:ph type="title"/>
          </p:nvPr>
        </p:nvSpPr>
        <p:spPr/>
        <p:txBody>
          <a:bodyPr/>
          <a:lstStyle/>
          <a:p>
            <a:r>
              <a:rPr sz="2800"/>
              <a:t>Web hook or polling?</a:t>
            </a:r>
          </a:p>
        </p:txBody>
      </p:sp>
      <p:sp>
        <p:nvSpPr>
          <p:cNvPr id="7" name="AutoShape 3">
            <a:extLst>
              <a:ext uri="{FF2B5EF4-FFF2-40B4-BE49-F238E27FC236}">
                <a16:creationId xmlns:a16="http://schemas.microsoft.com/office/drawing/2014/main" id="{9D6746E1-D567-FB95-33C8-54B74DBED2D4}"/>
              </a:ext>
            </a:extLst>
          </p:cNvPr>
          <p:cNvSpPr>
            <a:spLocks noChangeAspect="1" noChangeArrowheads="1" noTextEdit="1"/>
          </p:cNvSpPr>
          <p:nvPr/>
        </p:nvSpPr>
        <p:spPr bwMode="auto">
          <a:xfrm>
            <a:off x="319088" y="1262063"/>
            <a:ext cx="8537575"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Rectangle 5">
            <a:extLst>
              <a:ext uri="{FF2B5EF4-FFF2-40B4-BE49-F238E27FC236}">
                <a16:creationId xmlns:a16="http://schemas.microsoft.com/office/drawing/2014/main" id="{ACD96B44-0DC3-1748-F350-91C13E73D14A}"/>
              </a:ext>
            </a:extLst>
          </p:cNvPr>
          <p:cNvSpPr>
            <a:spLocks noChangeArrowheads="1"/>
          </p:cNvSpPr>
          <p:nvPr/>
        </p:nvSpPr>
        <p:spPr bwMode="auto">
          <a:xfrm>
            <a:off x="327026" y="1270001"/>
            <a:ext cx="1822450"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Rectangle 6">
            <a:extLst>
              <a:ext uri="{FF2B5EF4-FFF2-40B4-BE49-F238E27FC236}">
                <a16:creationId xmlns:a16="http://schemas.microsoft.com/office/drawing/2014/main" id="{CD7B6AC2-1F38-BA81-575E-3AECABC82990}"/>
              </a:ext>
            </a:extLst>
          </p:cNvPr>
          <p:cNvSpPr>
            <a:spLocks noChangeArrowheads="1"/>
          </p:cNvSpPr>
          <p:nvPr/>
        </p:nvSpPr>
        <p:spPr bwMode="auto">
          <a:xfrm>
            <a:off x="2149476" y="1270001"/>
            <a:ext cx="3330575"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Rectangle 7">
            <a:extLst>
              <a:ext uri="{FF2B5EF4-FFF2-40B4-BE49-F238E27FC236}">
                <a16:creationId xmlns:a16="http://schemas.microsoft.com/office/drawing/2014/main" id="{DBC5FE6B-A4A4-6F61-B1F6-74B93648D839}"/>
              </a:ext>
            </a:extLst>
          </p:cNvPr>
          <p:cNvSpPr>
            <a:spLocks noChangeArrowheads="1"/>
          </p:cNvSpPr>
          <p:nvPr/>
        </p:nvSpPr>
        <p:spPr bwMode="auto">
          <a:xfrm>
            <a:off x="5480051" y="1270001"/>
            <a:ext cx="3351213" cy="406400"/>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Line 23">
            <a:extLst>
              <a:ext uri="{FF2B5EF4-FFF2-40B4-BE49-F238E27FC236}">
                <a16:creationId xmlns:a16="http://schemas.microsoft.com/office/drawing/2014/main" id="{930B6652-C00C-E43D-5D40-9870D90D49D6}"/>
              </a:ext>
            </a:extLst>
          </p:cNvPr>
          <p:cNvSpPr>
            <a:spLocks noChangeShapeType="1"/>
          </p:cNvSpPr>
          <p:nvPr/>
        </p:nvSpPr>
        <p:spPr bwMode="auto">
          <a:xfrm>
            <a:off x="214947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4">
            <a:extLst>
              <a:ext uri="{FF2B5EF4-FFF2-40B4-BE49-F238E27FC236}">
                <a16:creationId xmlns:a16="http://schemas.microsoft.com/office/drawing/2014/main" id="{3A7CE48A-BBA6-0EE3-BDCF-139C8A952253}"/>
              </a:ext>
            </a:extLst>
          </p:cNvPr>
          <p:cNvSpPr>
            <a:spLocks noChangeShapeType="1"/>
          </p:cNvSpPr>
          <p:nvPr/>
        </p:nvSpPr>
        <p:spPr bwMode="auto">
          <a:xfrm>
            <a:off x="5480051"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Line 30">
            <a:extLst>
              <a:ext uri="{FF2B5EF4-FFF2-40B4-BE49-F238E27FC236}">
                <a16:creationId xmlns:a16="http://schemas.microsoft.com/office/drawing/2014/main" id="{8BA6008E-250A-3AE6-02C7-E5DD46F80EE3}"/>
              </a:ext>
            </a:extLst>
          </p:cNvPr>
          <p:cNvSpPr>
            <a:spLocks noChangeShapeType="1"/>
          </p:cNvSpPr>
          <p:nvPr/>
        </p:nvSpPr>
        <p:spPr bwMode="auto">
          <a:xfrm>
            <a:off x="32702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Line 31">
            <a:extLst>
              <a:ext uri="{FF2B5EF4-FFF2-40B4-BE49-F238E27FC236}">
                <a16:creationId xmlns:a16="http://schemas.microsoft.com/office/drawing/2014/main" id="{F49DC3A6-610C-0DD1-22A6-A73D158543AC}"/>
              </a:ext>
            </a:extLst>
          </p:cNvPr>
          <p:cNvSpPr>
            <a:spLocks noChangeShapeType="1"/>
          </p:cNvSpPr>
          <p:nvPr/>
        </p:nvSpPr>
        <p:spPr bwMode="auto">
          <a:xfrm>
            <a:off x="8831263"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2">
            <a:extLst>
              <a:ext uri="{FF2B5EF4-FFF2-40B4-BE49-F238E27FC236}">
                <a16:creationId xmlns:a16="http://schemas.microsoft.com/office/drawing/2014/main" id="{8A65A493-DDD5-C746-942E-7601D0754FA2}"/>
              </a:ext>
            </a:extLst>
          </p:cNvPr>
          <p:cNvSpPr>
            <a:spLocks noChangeShapeType="1"/>
          </p:cNvSpPr>
          <p:nvPr/>
        </p:nvSpPr>
        <p:spPr bwMode="auto">
          <a:xfrm>
            <a:off x="320676" y="1270001"/>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Rectangle 34">
            <a:extLst>
              <a:ext uri="{FF2B5EF4-FFF2-40B4-BE49-F238E27FC236}">
                <a16:creationId xmlns:a16="http://schemas.microsoft.com/office/drawing/2014/main" id="{04649378-93C4-F5A8-8867-BF8DFC877B69}"/>
              </a:ext>
            </a:extLst>
          </p:cNvPr>
          <p:cNvSpPr>
            <a:spLocks noChangeArrowheads="1"/>
          </p:cNvSpPr>
          <p:nvPr/>
        </p:nvSpPr>
        <p:spPr bwMode="auto">
          <a:xfrm>
            <a:off x="5553076" y="1360488"/>
            <a:ext cx="8270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Web hook</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8" name="Rectangle 35">
            <a:extLst>
              <a:ext uri="{FF2B5EF4-FFF2-40B4-BE49-F238E27FC236}">
                <a16:creationId xmlns:a16="http://schemas.microsoft.com/office/drawing/2014/main" id="{25A97A0F-3FA6-AD7B-24B9-1C0FBB40CD63}"/>
              </a:ext>
            </a:extLst>
          </p:cNvPr>
          <p:cNvSpPr>
            <a:spLocks noChangeArrowheads="1"/>
          </p:cNvSpPr>
          <p:nvPr/>
        </p:nvSpPr>
        <p:spPr bwMode="auto">
          <a:xfrm>
            <a:off x="2224088" y="1360488"/>
            <a:ext cx="6111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Polling</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nvGrpSpPr>
          <p:cNvPr id="58" name="Group 57">
            <a:extLst>
              <a:ext uri="{FF2B5EF4-FFF2-40B4-BE49-F238E27FC236}">
                <a16:creationId xmlns:a16="http://schemas.microsoft.com/office/drawing/2014/main" id="{35F43557-4FCA-3258-D413-CCDCAAF76AB3}"/>
              </a:ext>
            </a:extLst>
          </p:cNvPr>
          <p:cNvGrpSpPr/>
          <p:nvPr/>
        </p:nvGrpSpPr>
        <p:grpSpPr>
          <a:xfrm>
            <a:off x="320676" y="1674813"/>
            <a:ext cx="8516938" cy="398463"/>
            <a:chOff x="320676" y="1674813"/>
            <a:chExt cx="8516938" cy="398463"/>
          </a:xfrm>
        </p:grpSpPr>
        <p:sp>
          <p:nvSpPr>
            <p:cNvPr id="11" name="Rectangle 8">
              <a:extLst>
                <a:ext uri="{FF2B5EF4-FFF2-40B4-BE49-F238E27FC236}">
                  <a16:creationId xmlns:a16="http://schemas.microsoft.com/office/drawing/2014/main" id="{0D8D2E8F-C2AE-34A2-37F1-B77DA0ADBBB4}"/>
                </a:ext>
              </a:extLst>
            </p:cNvPr>
            <p:cNvSpPr>
              <a:spLocks noChangeArrowheads="1"/>
            </p:cNvSpPr>
            <p:nvPr/>
          </p:nvSpPr>
          <p:spPr bwMode="auto">
            <a:xfrm>
              <a:off x="327026" y="1674813"/>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Rectangle 9">
              <a:extLst>
                <a:ext uri="{FF2B5EF4-FFF2-40B4-BE49-F238E27FC236}">
                  <a16:creationId xmlns:a16="http://schemas.microsoft.com/office/drawing/2014/main" id="{84BB625E-9737-7E9C-43E5-5B64814D2E14}"/>
                </a:ext>
              </a:extLst>
            </p:cNvPr>
            <p:cNvSpPr>
              <a:spLocks noChangeArrowheads="1"/>
            </p:cNvSpPr>
            <p:nvPr/>
          </p:nvSpPr>
          <p:spPr bwMode="auto">
            <a:xfrm>
              <a:off x="2149476" y="1674813"/>
              <a:ext cx="3330575"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Rectangle 10">
              <a:extLst>
                <a:ext uri="{FF2B5EF4-FFF2-40B4-BE49-F238E27FC236}">
                  <a16:creationId xmlns:a16="http://schemas.microsoft.com/office/drawing/2014/main" id="{8924F9D9-862F-2942-F4CE-4BC809E0F047}"/>
                </a:ext>
              </a:extLst>
            </p:cNvPr>
            <p:cNvSpPr>
              <a:spLocks noChangeArrowheads="1"/>
            </p:cNvSpPr>
            <p:nvPr/>
          </p:nvSpPr>
          <p:spPr bwMode="auto">
            <a:xfrm>
              <a:off x="5480051" y="1676401"/>
              <a:ext cx="3351213"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Line 25">
              <a:extLst>
                <a:ext uri="{FF2B5EF4-FFF2-40B4-BE49-F238E27FC236}">
                  <a16:creationId xmlns:a16="http://schemas.microsoft.com/office/drawing/2014/main" id="{68C440AF-427F-71F6-A355-C9BBE051D68C}"/>
                </a:ext>
              </a:extLst>
            </p:cNvPr>
            <p:cNvSpPr>
              <a:spLocks noChangeShapeType="1"/>
            </p:cNvSpPr>
            <p:nvPr/>
          </p:nvSpPr>
          <p:spPr bwMode="auto">
            <a:xfrm>
              <a:off x="320676" y="1676401"/>
              <a:ext cx="8516938" cy="0"/>
            </a:xfrm>
            <a:prstGeom prst="line">
              <a:avLst/>
            </a:prstGeom>
            <a:noFill/>
            <a:ln w="381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6">
              <a:extLst>
                <a:ext uri="{FF2B5EF4-FFF2-40B4-BE49-F238E27FC236}">
                  <a16:creationId xmlns:a16="http://schemas.microsoft.com/office/drawing/2014/main" id="{13FE58DA-1A5C-58F9-EF0A-A46A9611D86C}"/>
                </a:ext>
              </a:extLst>
            </p:cNvPr>
            <p:cNvSpPr>
              <a:spLocks noChangeShapeType="1"/>
            </p:cNvSpPr>
            <p:nvPr/>
          </p:nvSpPr>
          <p:spPr bwMode="auto">
            <a:xfrm>
              <a:off x="320676" y="200501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Rectangle 36">
              <a:extLst>
                <a:ext uri="{FF2B5EF4-FFF2-40B4-BE49-F238E27FC236}">
                  <a16:creationId xmlns:a16="http://schemas.microsoft.com/office/drawing/2014/main" id="{7ADA74DE-36CF-493A-A844-3646F7F1B61B}"/>
                </a:ext>
              </a:extLst>
            </p:cNvPr>
            <p:cNvSpPr>
              <a:spLocks noChangeArrowheads="1"/>
            </p:cNvSpPr>
            <p:nvPr/>
          </p:nvSpPr>
          <p:spPr bwMode="auto">
            <a:xfrm>
              <a:off x="5553076" y="1730376"/>
              <a:ext cx="30257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server, once, when the result is ready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0" name="Rectangle 37">
              <a:extLst>
                <a:ext uri="{FF2B5EF4-FFF2-40B4-BE49-F238E27FC236}">
                  <a16:creationId xmlns:a16="http://schemas.microsoft.com/office/drawing/2014/main" id="{1BCA3B4B-F902-1F87-D4AE-17D44A9C9A29}"/>
                </a:ext>
              </a:extLst>
            </p:cNvPr>
            <p:cNvSpPr>
              <a:spLocks noChangeArrowheads="1"/>
            </p:cNvSpPr>
            <p:nvPr/>
          </p:nvSpPr>
          <p:spPr bwMode="auto">
            <a:xfrm>
              <a:off x="2224088" y="1730376"/>
              <a:ext cx="8810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client,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1" name="Rectangle 38">
              <a:extLst>
                <a:ext uri="{FF2B5EF4-FFF2-40B4-BE49-F238E27FC236}">
                  <a16:creationId xmlns:a16="http://schemas.microsoft.com/office/drawing/2014/main" id="{80DB7C2B-4420-216D-3CE2-416732E78B4D}"/>
                </a:ext>
              </a:extLst>
            </p:cNvPr>
            <p:cNvSpPr>
              <a:spLocks noChangeArrowheads="1"/>
            </p:cNvSpPr>
            <p:nvPr/>
          </p:nvSpPr>
          <p:spPr bwMode="auto">
            <a:xfrm>
              <a:off x="3017838" y="1730376"/>
              <a:ext cx="12049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again and again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2" name="Rectangle 39">
              <a:extLst>
                <a:ext uri="{FF2B5EF4-FFF2-40B4-BE49-F238E27FC236}">
                  <a16:creationId xmlns:a16="http://schemas.microsoft.com/office/drawing/2014/main" id="{6C32ABEA-3115-CFCC-A236-C79B3950F818}"/>
                </a:ext>
              </a:extLst>
            </p:cNvPr>
            <p:cNvSpPr>
              <a:spLocks noChangeArrowheads="1"/>
            </p:cNvSpPr>
            <p:nvPr/>
          </p:nvSpPr>
          <p:spPr bwMode="auto">
            <a:xfrm>
              <a:off x="401638" y="1730376"/>
              <a:ext cx="9001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Who starts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59" name="Group 58">
            <a:extLst>
              <a:ext uri="{FF2B5EF4-FFF2-40B4-BE49-F238E27FC236}">
                <a16:creationId xmlns:a16="http://schemas.microsoft.com/office/drawing/2014/main" id="{4BFBA5CB-2215-446B-04F1-BAB5B3E4102F}"/>
              </a:ext>
            </a:extLst>
          </p:cNvPr>
          <p:cNvGrpSpPr/>
          <p:nvPr/>
        </p:nvGrpSpPr>
        <p:grpSpPr>
          <a:xfrm>
            <a:off x="320676" y="2005013"/>
            <a:ext cx="8516938" cy="398463"/>
            <a:chOff x="320676" y="2005013"/>
            <a:chExt cx="8516938" cy="398463"/>
          </a:xfrm>
        </p:grpSpPr>
        <p:sp>
          <p:nvSpPr>
            <p:cNvPr id="14" name="Rectangle 11">
              <a:extLst>
                <a:ext uri="{FF2B5EF4-FFF2-40B4-BE49-F238E27FC236}">
                  <a16:creationId xmlns:a16="http://schemas.microsoft.com/office/drawing/2014/main" id="{36684069-197E-5757-FB17-6C33DC92C50C}"/>
                </a:ext>
              </a:extLst>
            </p:cNvPr>
            <p:cNvSpPr>
              <a:spLocks noChangeArrowheads="1"/>
            </p:cNvSpPr>
            <p:nvPr/>
          </p:nvSpPr>
          <p:spPr bwMode="auto">
            <a:xfrm>
              <a:off x="327026" y="2005013"/>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Rectangle 12">
              <a:extLst>
                <a:ext uri="{FF2B5EF4-FFF2-40B4-BE49-F238E27FC236}">
                  <a16:creationId xmlns:a16="http://schemas.microsoft.com/office/drawing/2014/main" id="{D9EA63F8-BE03-A3A5-9D43-05344BCAC030}"/>
                </a:ext>
              </a:extLst>
            </p:cNvPr>
            <p:cNvSpPr>
              <a:spLocks noChangeArrowheads="1"/>
            </p:cNvSpPr>
            <p:nvPr/>
          </p:nvSpPr>
          <p:spPr bwMode="auto">
            <a:xfrm>
              <a:off x="2149476" y="2005013"/>
              <a:ext cx="3330575"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Rectangle 13">
              <a:extLst>
                <a:ext uri="{FF2B5EF4-FFF2-40B4-BE49-F238E27FC236}">
                  <a16:creationId xmlns:a16="http://schemas.microsoft.com/office/drawing/2014/main" id="{F05FDC30-EDDC-300A-801A-C3BF41EDAC19}"/>
                </a:ext>
              </a:extLst>
            </p:cNvPr>
            <p:cNvSpPr>
              <a:spLocks noChangeArrowheads="1"/>
            </p:cNvSpPr>
            <p:nvPr/>
          </p:nvSpPr>
          <p:spPr bwMode="auto">
            <a:xfrm>
              <a:off x="5480051" y="2005013"/>
              <a:ext cx="3351213"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Line 27">
              <a:extLst>
                <a:ext uri="{FF2B5EF4-FFF2-40B4-BE49-F238E27FC236}">
                  <a16:creationId xmlns:a16="http://schemas.microsoft.com/office/drawing/2014/main" id="{6D5F608A-FDC5-E93B-1F58-D57A5D933B8B}"/>
                </a:ext>
              </a:extLst>
            </p:cNvPr>
            <p:cNvSpPr>
              <a:spLocks noChangeShapeType="1"/>
            </p:cNvSpPr>
            <p:nvPr/>
          </p:nvSpPr>
          <p:spPr bwMode="auto">
            <a:xfrm>
              <a:off x="320676" y="233521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Rectangle 40">
              <a:extLst>
                <a:ext uri="{FF2B5EF4-FFF2-40B4-BE49-F238E27FC236}">
                  <a16:creationId xmlns:a16="http://schemas.microsoft.com/office/drawing/2014/main" id="{04F0AC0A-74A2-C45E-D27C-77E3A92A2DA9}"/>
                </a:ext>
              </a:extLst>
            </p:cNvPr>
            <p:cNvSpPr>
              <a:spLocks noChangeArrowheads="1"/>
            </p:cNvSpPr>
            <p:nvPr/>
          </p:nvSpPr>
          <p:spPr bwMode="auto">
            <a:xfrm>
              <a:off x="5553076" y="2060576"/>
              <a:ext cx="4683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None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4" name="Rectangle 41">
              <a:extLst>
                <a:ext uri="{FF2B5EF4-FFF2-40B4-BE49-F238E27FC236}">
                  <a16:creationId xmlns:a16="http://schemas.microsoft.com/office/drawing/2014/main" id="{B88D002F-4CEA-3EBB-4905-B5A7142FAE62}"/>
                </a:ext>
              </a:extLst>
            </p:cNvPr>
            <p:cNvSpPr>
              <a:spLocks noChangeArrowheads="1"/>
            </p:cNvSpPr>
            <p:nvPr/>
          </p:nvSpPr>
          <p:spPr bwMode="auto">
            <a:xfrm>
              <a:off x="2224088" y="2060576"/>
              <a:ext cx="10429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Most of them</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5" name="Rectangle 42">
              <a:extLst>
                <a:ext uri="{FF2B5EF4-FFF2-40B4-BE49-F238E27FC236}">
                  <a16:creationId xmlns:a16="http://schemas.microsoft.com/office/drawing/2014/main" id="{7D88DFD1-889F-3D50-6452-0E6561B9119F}"/>
                </a:ext>
              </a:extLst>
            </p:cNvPr>
            <p:cNvSpPr>
              <a:spLocks noChangeArrowheads="1"/>
            </p:cNvSpPr>
            <p:nvPr/>
          </p:nvSpPr>
          <p:spPr bwMode="auto">
            <a:xfrm>
              <a:off x="401638" y="2060576"/>
              <a:ext cx="13287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Wasted requests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0" name="Group 59">
            <a:extLst>
              <a:ext uri="{FF2B5EF4-FFF2-40B4-BE49-F238E27FC236}">
                <a16:creationId xmlns:a16="http://schemas.microsoft.com/office/drawing/2014/main" id="{5B9F56A5-131B-CED3-7FC3-689BE225126D}"/>
              </a:ext>
            </a:extLst>
          </p:cNvPr>
          <p:cNvGrpSpPr/>
          <p:nvPr/>
        </p:nvGrpSpPr>
        <p:grpSpPr>
          <a:xfrm>
            <a:off x="320676" y="2335213"/>
            <a:ext cx="8516938" cy="395288"/>
            <a:chOff x="320676" y="2335213"/>
            <a:chExt cx="8516938" cy="395288"/>
          </a:xfrm>
        </p:grpSpPr>
        <p:sp>
          <p:nvSpPr>
            <p:cNvPr id="17" name="Rectangle 14">
              <a:extLst>
                <a:ext uri="{FF2B5EF4-FFF2-40B4-BE49-F238E27FC236}">
                  <a16:creationId xmlns:a16="http://schemas.microsoft.com/office/drawing/2014/main" id="{0FCA6511-8E92-1B58-B5D2-B97EED32D5DB}"/>
                </a:ext>
              </a:extLst>
            </p:cNvPr>
            <p:cNvSpPr>
              <a:spLocks noChangeArrowheads="1"/>
            </p:cNvSpPr>
            <p:nvPr/>
          </p:nvSpPr>
          <p:spPr bwMode="auto">
            <a:xfrm>
              <a:off x="327026" y="2335213"/>
              <a:ext cx="1822450"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Rectangle 15">
              <a:extLst>
                <a:ext uri="{FF2B5EF4-FFF2-40B4-BE49-F238E27FC236}">
                  <a16:creationId xmlns:a16="http://schemas.microsoft.com/office/drawing/2014/main" id="{15357322-287E-CE7E-0E38-1B1884F3A676}"/>
                </a:ext>
              </a:extLst>
            </p:cNvPr>
            <p:cNvSpPr>
              <a:spLocks noChangeArrowheads="1"/>
            </p:cNvSpPr>
            <p:nvPr/>
          </p:nvSpPr>
          <p:spPr bwMode="auto">
            <a:xfrm>
              <a:off x="2149476" y="2335213"/>
              <a:ext cx="333057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Rectangle 16">
              <a:extLst>
                <a:ext uri="{FF2B5EF4-FFF2-40B4-BE49-F238E27FC236}">
                  <a16:creationId xmlns:a16="http://schemas.microsoft.com/office/drawing/2014/main" id="{648F57A0-1356-8E33-FB66-58D1295CBB52}"/>
                </a:ext>
              </a:extLst>
            </p:cNvPr>
            <p:cNvSpPr>
              <a:spLocks noChangeArrowheads="1"/>
            </p:cNvSpPr>
            <p:nvPr/>
          </p:nvSpPr>
          <p:spPr bwMode="auto">
            <a:xfrm>
              <a:off x="5480051" y="2335213"/>
              <a:ext cx="3351213"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Line 28">
              <a:extLst>
                <a:ext uri="{FF2B5EF4-FFF2-40B4-BE49-F238E27FC236}">
                  <a16:creationId xmlns:a16="http://schemas.microsoft.com/office/drawing/2014/main" id="{1DD86294-6D60-7875-030A-D3064013AFA8}"/>
                </a:ext>
              </a:extLst>
            </p:cNvPr>
            <p:cNvSpPr>
              <a:spLocks noChangeShapeType="1"/>
            </p:cNvSpPr>
            <p:nvPr/>
          </p:nvSpPr>
          <p:spPr bwMode="auto">
            <a:xfrm>
              <a:off x="320676" y="26638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Rectangle 43">
              <a:extLst>
                <a:ext uri="{FF2B5EF4-FFF2-40B4-BE49-F238E27FC236}">
                  <a16:creationId xmlns:a16="http://schemas.microsoft.com/office/drawing/2014/main" id="{326A8B4C-9F10-258A-BD51-1985DC21C392}"/>
                </a:ext>
              </a:extLst>
            </p:cNvPr>
            <p:cNvSpPr>
              <a:spLocks noChangeArrowheads="1"/>
            </p:cNvSpPr>
            <p:nvPr/>
          </p:nvSpPr>
          <p:spPr bwMode="auto">
            <a:xfrm>
              <a:off x="5553076" y="2387601"/>
              <a:ext cx="2254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7" name="Rectangle 44">
              <a:extLst>
                <a:ext uri="{FF2B5EF4-FFF2-40B4-BE49-F238E27FC236}">
                  <a16:creationId xmlns:a16="http://schemas.microsoft.com/office/drawing/2014/main" id="{1A8C1CF1-13D7-6F4A-AB2C-CBE0E8A6265F}"/>
                </a:ext>
              </a:extLst>
            </p:cNvPr>
            <p:cNvSpPr>
              <a:spLocks noChangeArrowheads="1"/>
            </p:cNvSpPr>
            <p:nvPr/>
          </p:nvSpPr>
          <p:spPr bwMode="auto">
            <a:xfrm>
              <a:off x="5692776" y="2387601"/>
              <a:ext cx="7143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callback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8" name="Rectangle 45">
              <a:extLst>
                <a:ext uri="{FF2B5EF4-FFF2-40B4-BE49-F238E27FC236}">
                  <a16:creationId xmlns:a16="http://schemas.microsoft.com/office/drawing/2014/main" id="{DB27A40D-78BF-392A-272E-0E362E788B47}"/>
                </a:ext>
              </a:extLst>
            </p:cNvPr>
            <p:cNvSpPr>
              <a:spLocks noChangeArrowheads="1"/>
            </p:cNvSpPr>
            <p:nvPr/>
          </p:nvSpPr>
          <p:spPr bwMode="auto">
            <a:xfrm>
              <a:off x="6319838" y="2387601"/>
              <a:ext cx="18621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URL the server can reach</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9" name="Rectangle 46">
              <a:extLst>
                <a:ext uri="{FF2B5EF4-FFF2-40B4-BE49-F238E27FC236}">
                  <a16:creationId xmlns:a16="http://schemas.microsoft.com/office/drawing/2014/main" id="{79CAF465-3225-1FAF-C2AE-B4E6D39B12F0}"/>
                </a:ext>
              </a:extLst>
            </p:cNvPr>
            <p:cNvSpPr>
              <a:spLocks noChangeArrowheads="1"/>
            </p:cNvSpPr>
            <p:nvPr/>
          </p:nvSpPr>
          <p:spPr bwMode="auto">
            <a:xfrm>
              <a:off x="2224088" y="2387601"/>
              <a:ext cx="11969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Nothing special</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0" name="Rectangle 47">
              <a:extLst>
                <a:ext uri="{FF2B5EF4-FFF2-40B4-BE49-F238E27FC236}">
                  <a16:creationId xmlns:a16="http://schemas.microsoft.com/office/drawing/2014/main" id="{B4FCB9B9-FB4D-2D37-4143-4971B54C91A1}"/>
                </a:ext>
              </a:extLst>
            </p:cNvPr>
            <p:cNvSpPr>
              <a:spLocks noChangeArrowheads="1"/>
            </p:cNvSpPr>
            <p:nvPr/>
          </p:nvSpPr>
          <p:spPr bwMode="auto">
            <a:xfrm>
              <a:off x="401638" y="2387601"/>
              <a:ext cx="13065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The client needs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1" name="Group 60">
            <a:extLst>
              <a:ext uri="{FF2B5EF4-FFF2-40B4-BE49-F238E27FC236}">
                <a16:creationId xmlns:a16="http://schemas.microsoft.com/office/drawing/2014/main" id="{5DBBF759-197C-1CEA-63C8-2116965D0A68}"/>
              </a:ext>
            </a:extLst>
          </p:cNvPr>
          <p:cNvGrpSpPr/>
          <p:nvPr/>
        </p:nvGrpSpPr>
        <p:grpSpPr>
          <a:xfrm>
            <a:off x="320676" y="2663826"/>
            <a:ext cx="8516938" cy="398462"/>
            <a:chOff x="320676" y="2663826"/>
            <a:chExt cx="8516938" cy="398462"/>
          </a:xfrm>
        </p:grpSpPr>
        <p:sp>
          <p:nvSpPr>
            <p:cNvPr id="20" name="Rectangle 17">
              <a:extLst>
                <a:ext uri="{FF2B5EF4-FFF2-40B4-BE49-F238E27FC236}">
                  <a16:creationId xmlns:a16="http://schemas.microsoft.com/office/drawing/2014/main" id="{CCB9E775-A6DF-EFDA-EBE5-F27E497EB5FF}"/>
                </a:ext>
              </a:extLst>
            </p:cNvPr>
            <p:cNvSpPr>
              <a:spLocks noChangeArrowheads="1"/>
            </p:cNvSpPr>
            <p:nvPr/>
          </p:nvSpPr>
          <p:spPr bwMode="auto">
            <a:xfrm>
              <a:off x="327026" y="2663826"/>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Rectangle 18">
              <a:extLst>
                <a:ext uri="{FF2B5EF4-FFF2-40B4-BE49-F238E27FC236}">
                  <a16:creationId xmlns:a16="http://schemas.microsoft.com/office/drawing/2014/main" id="{875282C9-C8F0-D813-984D-C641A2B92C9F}"/>
                </a:ext>
              </a:extLst>
            </p:cNvPr>
            <p:cNvSpPr>
              <a:spLocks noChangeArrowheads="1"/>
            </p:cNvSpPr>
            <p:nvPr/>
          </p:nvSpPr>
          <p:spPr bwMode="auto">
            <a:xfrm>
              <a:off x="2149476" y="2663826"/>
              <a:ext cx="3330575"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Rectangle 19">
              <a:extLst>
                <a:ext uri="{FF2B5EF4-FFF2-40B4-BE49-F238E27FC236}">
                  <a16:creationId xmlns:a16="http://schemas.microsoft.com/office/drawing/2014/main" id="{29E88AF6-53FA-C540-A4DD-6BAEABF20B23}"/>
                </a:ext>
              </a:extLst>
            </p:cNvPr>
            <p:cNvSpPr>
              <a:spLocks noChangeArrowheads="1"/>
            </p:cNvSpPr>
            <p:nvPr/>
          </p:nvSpPr>
          <p:spPr bwMode="auto">
            <a:xfrm>
              <a:off x="5480051" y="2663826"/>
              <a:ext cx="3351213"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Line 29">
              <a:extLst>
                <a:ext uri="{FF2B5EF4-FFF2-40B4-BE49-F238E27FC236}">
                  <a16:creationId xmlns:a16="http://schemas.microsoft.com/office/drawing/2014/main" id="{97FA1EFC-99F6-16C9-C740-9F38C5407766}"/>
                </a:ext>
              </a:extLst>
            </p:cNvPr>
            <p:cNvSpPr>
              <a:spLocks noChangeShapeType="1"/>
            </p:cNvSpPr>
            <p:nvPr/>
          </p:nvSpPr>
          <p:spPr bwMode="auto">
            <a:xfrm>
              <a:off x="320676" y="29940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Rectangle 48">
              <a:extLst>
                <a:ext uri="{FF2B5EF4-FFF2-40B4-BE49-F238E27FC236}">
                  <a16:creationId xmlns:a16="http://schemas.microsoft.com/office/drawing/2014/main" id="{09E60B94-13A6-1984-8878-6A197CF40138}"/>
                </a:ext>
              </a:extLst>
            </p:cNvPr>
            <p:cNvSpPr>
              <a:spLocks noChangeArrowheads="1"/>
            </p:cNvSpPr>
            <p:nvPr/>
          </p:nvSpPr>
          <p:spPr bwMode="auto">
            <a:xfrm>
              <a:off x="5553076" y="2719388"/>
              <a:ext cx="30035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result is lost unless the server retries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2" name="Rectangle 49">
              <a:extLst>
                <a:ext uri="{FF2B5EF4-FFF2-40B4-BE49-F238E27FC236}">
                  <a16:creationId xmlns:a16="http://schemas.microsoft.com/office/drawing/2014/main" id="{F4407833-FFD4-108D-AC08-AE3472B8379A}"/>
                </a:ext>
              </a:extLst>
            </p:cNvPr>
            <p:cNvSpPr>
              <a:spLocks noChangeArrowheads="1"/>
            </p:cNvSpPr>
            <p:nvPr/>
          </p:nvSpPr>
          <p:spPr bwMode="auto">
            <a:xfrm>
              <a:off x="2224088" y="2719388"/>
              <a:ext cx="960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Not an issue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3" name="Rectangle 50">
              <a:extLst>
                <a:ext uri="{FF2B5EF4-FFF2-40B4-BE49-F238E27FC236}">
                  <a16:creationId xmlns:a16="http://schemas.microsoft.com/office/drawing/2014/main" id="{464F7A85-A8A1-1D0A-730F-C387FAF2E169}"/>
                </a:ext>
              </a:extLst>
            </p:cNvPr>
            <p:cNvSpPr>
              <a:spLocks noChangeArrowheads="1"/>
            </p:cNvSpPr>
            <p:nvPr/>
          </p:nvSpPr>
          <p:spPr bwMode="auto">
            <a:xfrm>
              <a:off x="401638" y="2719388"/>
              <a:ext cx="17367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If the callback is down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2" name="Group 61">
            <a:extLst>
              <a:ext uri="{FF2B5EF4-FFF2-40B4-BE49-F238E27FC236}">
                <a16:creationId xmlns:a16="http://schemas.microsoft.com/office/drawing/2014/main" id="{4D77CB43-16D6-4C97-31BF-3626996EDEDA}"/>
              </a:ext>
            </a:extLst>
          </p:cNvPr>
          <p:cNvGrpSpPr/>
          <p:nvPr/>
        </p:nvGrpSpPr>
        <p:grpSpPr>
          <a:xfrm>
            <a:off x="320676" y="2994026"/>
            <a:ext cx="8516938" cy="398462"/>
            <a:chOff x="320676" y="2994026"/>
            <a:chExt cx="8516938" cy="398462"/>
          </a:xfrm>
        </p:grpSpPr>
        <p:sp>
          <p:nvSpPr>
            <p:cNvPr id="23" name="Rectangle 20">
              <a:extLst>
                <a:ext uri="{FF2B5EF4-FFF2-40B4-BE49-F238E27FC236}">
                  <a16:creationId xmlns:a16="http://schemas.microsoft.com/office/drawing/2014/main" id="{386FA242-CBA3-42E1-F7B6-5F77120A5EBE}"/>
                </a:ext>
              </a:extLst>
            </p:cNvPr>
            <p:cNvSpPr>
              <a:spLocks noChangeArrowheads="1"/>
            </p:cNvSpPr>
            <p:nvPr/>
          </p:nvSpPr>
          <p:spPr bwMode="auto">
            <a:xfrm>
              <a:off x="327026" y="2994026"/>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Rectangle 21">
              <a:extLst>
                <a:ext uri="{FF2B5EF4-FFF2-40B4-BE49-F238E27FC236}">
                  <a16:creationId xmlns:a16="http://schemas.microsoft.com/office/drawing/2014/main" id="{21788F78-84B9-7657-FEFB-AC0CD3B602D5}"/>
                </a:ext>
              </a:extLst>
            </p:cNvPr>
            <p:cNvSpPr>
              <a:spLocks noChangeArrowheads="1"/>
            </p:cNvSpPr>
            <p:nvPr/>
          </p:nvSpPr>
          <p:spPr bwMode="auto">
            <a:xfrm>
              <a:off x="2149476" y="2994026"/>
              <a:ext cx="3330575"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Rectangle 22">
              <a:extLst>
                <a:ext uri="{FF2B5EF4-FFF2-40B4-BE49-F238E27FC236}">
                  <a16:creationId xmlns:a16="http://schemas.microsoft.com/office/drawing/2014/main" id="{C183EA98-CFCD-129B-6E70-D0E7BDFEA30E}"/>
                </a:ext>
              </a:extLst>
            </p:cNvPr>
            <p:cNvSpPr>
              <a:spLocks noChangeArrowheads="1"/>
            </p:cNvSpPr>
            <p:nvPr/>
          </p:nvSpPr>
          <p:spPr bwMode="auto">
            <a:xfrm>
              <a:off x="5480051" y="2994026"/>
              <a:ext cx="3351213"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Line 33">
              <a:extLst>
                <a:ext uri="{FF2B5EF4-FFF2-40B4-BE49-F238E27FC236}">
                  <a16:creationId xmlns:a16="http://schemas.microsoft.com/office/drawing/2014/main" id="{35DB1E02-6BBF-9CE7-61D2-82D372B81E14}"/>
                </a:ext>
              </a:extLst>
            </p:cNvPr>
            <p:cNvSpPr>
              <a:spLocks noChangeShapeType="1"/>
            </p:cNvSpPr>
            <p:nvPr/>
          </p:nvSpPr>
          <p:spPr bwMode="auto">
            <a:xfrm>
              <a:off x="320676" y="33242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4" name="Rectangle 51">
              <a:extLst>
                <a:ext uri="{FF2B5EF4-FFF2-40B4-BE49-F238E27FC236}">
                  <a16:creationId xmlns:a16="http://schemas.microsoft.com/office/drawing/2014/main" id="{83ACF5DA-9F71-01B3-FF91-A3FB6A0A8FA6}"/>
                </a:ext>
              </a:extLst>
            </p:cNvPr>
            <p:cNvSpPr>
              <a:spLocks noChangeArrowheads="1"/>
            </p:cNvSpPr>
            <p:nvPr/>
          </p:nvSpPr>
          <p:spPr bwMode="auto">
            <a:xfrm>
              <a:off x="5553076" y="3049588"/>
              <a:ext cx="24939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With a Status endpoint for polling</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5" name="Rectangle 52">
              <a:extLst>
                <a:ext uri="{FF2B5EF4-FFF2-40B4-BE49-F238E27FC236}">
                  <a16:creationId xmlns:a16="http://schemas.microsoft.com/office/drawing/2014/main" id="{98B2CAEE-C811-32AB-11E6-B4985F306D68}"/>
                </a:ext>
              </a:extLst>
            </p:cNvPr>
            <p:cNvSpPr>
              <a:spLocks noChangeArrowheads="1"/>
            </p:cNvSpPr>
            <p:nvPr/>
          </p:nvSpPr>
          <p:spPr bwMode="auto">
            <a:xfrm>
              <a:off x="2224088" y="3049588"/>
              <a:ext cx="9810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As a fallback</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6" name="Rectangle 53">
              <a:extLst>
                <a:ext uri="{FF2B5EF4-FFF2-40B4-BE49-F238E27FC236}">
                  <a16:creationId xmlns:a16="http://schemas.microsoft.com/office/drawing/2014/main" id="{83BCAB06-9A00-6188-E614-DDC8804A11BA}"/>
                </a:ext>
              </a:extLst>
            </p:cNvPr>
            <p:cNvSpPr>
              <a:spLocks noChangeArrowheads="1"/>
            </p:cNvSpPr>
            <p:nvPr/>
          </p:nvSpPr>
          <p:spPr bwMode="auto">
            <a:xfrm>
              <a:off x="401638" y="3049588"/>
              <a:ext cx="5905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Can be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7" name="Rectangle 54">
              <a:extLst>
                <a:ext uri="{FF2B5EF4-FFF2-40B4-BE49-F238E27FC236}">
                  <a16:creationId xmlns:a16="http://schemas.microsoft.com/office/drawing/2014/main" id="{0E2A65FD-CD70-5903-4248-8212E2DAD35C}"/>
                </a:ext>
              </a:extLst>
            </p:cNvPr>
            <p:cNvSpPr>
              <a:spLocks noChangeArrowheads="1"/>
            </p:cNvSpPr>
            <p:nvPr/>
          </p:nvSpPr>
          <p:spPr bwMode="auto">
            <a:xfrm>
              <a:off x="941388" y="3049588"/>
              <a:ext cx="11382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used together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spTree>
    <p:extLst>
      <p:ext uri="{BB962C8B-B14F-4D97-AF65-F5344CB8AC3E}">
        <p14:creationId xmlns:p14="http://schemas.microsoft.com/office/powerpoint/2010/main" val="4063702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500"/>
                                        <p:tgtEl>
                                          <p:spTgt spid="5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500"/>
                                        <p:tgtEl>
                                          <p:spTgt spid="5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fade">
                                      <p:cBhvr>
                                        <p:cTn id="17" dur="500"/>
                                        <p:tgtEl>
                                          <p:spTgt spid="6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1"/>
                                        </p:tgtEl>
                                        <p:attrNameLst>
                                          <p:attrName>style.visibility</p:attrName>
                                        </p:attrNameLst>
                                      </p:cBhvr>
                                      <p:to>
                                        <p:strVal val="visible"/>
                                      </p:to>
                                    </p:set>
                                    <p:animEffect transition="in" filter="fade">
                                      <p:cBhvr>
                                        <p:cTn id="22" dur="500"/>
                                        <p:tgtEl>
                                          <p:spTgt spid="6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2"/>
                                        </p:tgtEl>
                                        <p:attrNameLst>
                                          <p:attrName>style.visibility</p:attrName>
                                        </p:attrNameLst>
                                      </p:cBhvr>
                                      <p:to>
                                        <p:strVal val="visible"/>
                                      </p:to>
                                    </p:set>
                                    <p:animEffect transition="in" filter="fade">
                                      <p:cBhvr>
                                        <p:cTn id="27"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2: Web hook</a:t>
            </a:r>
          </a:p>
        </p:txBody>
      </p:sp>
      <p:grpSp>
        <p:nvGrpSpPr>
          <p:cNvPr id="11" name="Group 10">
            <a:extLst>
              <a:ext uri="{FF2B5EF4-FFF2-40B4-BE49-F238E27FC236}">
                <a16:creationId xmlns:a16="http://schemas.microsoft.com/office/drawing/2014/main" id="{2B3BD08E-7976-269F-4177-85DE0278D5F2}"/>
              </a:ext>
            </a:extLst>
          </p:cNvPr>
          <p:cNvGrpSpPr/>
          <p:nvPr/>
        </p:nvGrpSpPr>
        <p:grpSpPr>
          <a:xfrm>
            <a:off x="320040" y="1234440"/>
            <a:ext cx="3931920" cy="1600200"/>
            <a:chOff x="320040" y="1234440"/>
            <a:chExt cx="3931920" cy="1600200"/>
          </a:xfrm>
        </p:grpSpPr>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dirty="0">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dirty="0">
                  <a:solidFill>
                    <a:schemeClr val="tx1"/>
                  </a:solidFill>
                </a:rPr>
                <a:t>Give out tickets at once, do the work in a separate thread, and deliver each result by calling the client back.</a:t>
              </a:r>
            </a:p>
          </p:txBody>
        </p:sp>
      </p:grpSp>
      <p:grpSp>
        <p:nvGrpSpPr>
          <p:cNvPr id="12" name="Group 11">
            <a:extLst>
              <a:ext uri="{FF2B5EF4-FFF2-40B4-BE49-F238E27FC236}">
                <a16:creationId xmlns:a16="http://schemas.microsoft.com/office/drawing/2014/main" id="{DFCF1801-6306-4A1D-9C08-7E4238FE92A9}"/>
              </a:ext>
            </a:extLst>
          </p:cNvPr>
          <p:cNvGrpSpPr/>
          <p:nvPr/>
        </p:nvGrpSpPr>
        <p:grpSpPr>
          <a:xfrm>
            <a:off x="4572000" y="1234440"/>
            <a:ext cx="4251960" cy="1920240"/>
            <a:chOff x="4572000" y="1234440"/>
            <a:chExt cx="4251960" cy="1920240"/>
          </a:xfrm>
        </p:grpSpPr>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dirty="0">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lIns="0" tIns="0" rIns="0" bIns="0" anchor="t">
              <a:spAutoFit/>
            </a:bodyPr>
            <a:lstStyle/>
            <a:p>
              <a:pPr>
                <a:spcAft>
                  <a:spcPts val="200"/>
                </a:spcAft>
              </a:pPr>
              <a:r>
                <a:rPr sz="1200" b="0">
                  <a:solidFill>
                    <a:schemeClr val="tx1"/>
                  </a:solidFill>
                </a:rPr>
                <a:t>C1  Start both servers</a:t>
              </a:r>
            </a:p>
            <a:p>
              <a:pPr>
                <a:spcAft>
                  <a:spcPts val="200"/>
                </a:spcAft>
              </a:pPr>
              <a:r>
                <a:rPr sz="1200" b="0">
                  <a:solidFill>
                    <a:schemeClr val="tx1"/>
                  </a:solidFill>
                </a:rPr>
                <a:t>C2  Result: receive and keep a result</a:t>
              </a:r>
            </a:p>
            <a:p>
              <a:pPr>
                <a:spcAft>
                  <a:spcPts val="200"/>
                </a:spcAft>
              </a:pPr>
              <a:r>
                <a:rPr sz="1200" b="0">
                  <a:solidFill>
                    <a:schemeClr val="tx1"/>
                  </a:solidFill>
                </a:rPr>
                <a:t>C3  Submit: check the job, give a ticket, start Work</a:t>
              </a:r>
            </a:p>
            <a:p>
              <a:pPr>
                <a:spcAft>
                  <a:spcPts val="200"/>
                </a:spcAft>
              </a:pPr>
              <a:r>
                <a:rPr sz="1200" b="0">
                  <a:solidFill>
                    <a:schemeClr val="tx1"/>
                  </a:solidFill>
                </a:rPr>
                <a:t>C4  Work: factor, then call back (inside :Trap)</a:t>
              </a:r>
            </a:p>
            <a:p>
              <a:pPr>
                <a:spcAft>
                  <a:spcPts val="200"/>
                </a:spcAft>
              </a:pPr>
              <a:r>
                <a:rPr sz="1200" b="0">
                  <a:solidFill>
                    <a:schemeClr val="tx1"/>
                  </a:solidFill>
                </a:rPr>
                <a:t>C5  Client 5: tickets at once, results out of order</a:t>
              </a:r>
            </a:p>
            <a:p>
              <a:pPr>
                <a:spcAft>
                  <a:spcPts val="200"/>
                </a:spcAft>
              </a:pPr>
              <a:r>
                <a:rPr sz="1200" b="0">
                  <a:solidFill>
                    <a:schemeClr val="tx1"/>
                  </a:solidFill>
                </a:rPr>
                <a:t>C6  Stop</a:t>
              </a:r>
            </a:p>
          </p:txBody>
        </p:sp>
      </p:grpSp>
      <p:grpSp>
        <p:nvGrpSpPr>
          <p:cNvPr id="13" name="Group 12">
            <a:extLst>
              <a:ext uri="{FF2B5EF4-FFF2-40B4-BE49-F238E27FC236}">
                <a16:creationId xmlns:a16="http://schemas.microsoft.com/office/drawing/2014/main" id="{336DEF56-37BA-524E-BA9D-EE4CCBEC10E2}"/>
              </a:ext>
            </a:extLst>
          </p:cNvPr>
          <p:cNvGrpSpPr/>
          <p:nvPr/>
        </p:nvGrpSpPr>
        <p:grpSpPr>
          <a:xfrm>
            <a:off x="320040" y="3291840"/>
            <a:ext cx="8503920" cy="1016770"/>
            <a:chOff x="320040" y="3291840"/>
            <a:chExt cx="8503920" cy="1016770"/>
          </a:xfrm>
        </p:grpSpPr>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dirty="0">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Load 2</a:t>
              </a:r>
            </a:p>
          </p:txBody>
        </p:sp>
        <p:sp>
          <p:nvSpPr>
            <p:cNvPr id="10" name="readme"/>
            <p:cNvSpPr txBox="1"/>
            <p:nvPr/>
          </p:nvSpPr>
          <p:spPr>
            <a:xfrm>
              <a:off x="320040" y="4123944"/>
              <a:ext cx="8503920" cy="184666"/>
            </a:xfrm>
            <a:prstGeom prst="rect">
              <a:avLst/>
            </a:prstGeom>
            <a:noFill/>
          </p:spPr>
          <p:txBody>
            <a:bodyPr wrap="square" lIns="0" tIns="0" rIns="0" bIns="0" anchor="t">
              <a:spAutoFit/>
            </a:bodyPr>
            <a:lstStyle/>
            <a:p>
              <a:r>
                <a:rPr sz="1200" b="0" dirty="0">
                  <a:solidFill>
                    <a:schemeClr val="tx2"/>
                  </a:solidFill>
                </a:rPr>
                <a:t>Exercises/Ex2-WebHook/README.</a:t>
              </a:r>
              <a:r>
                <a:rPr lang="en-US" sz="1200" b="0" dirty="0">
                  <a:solidFill>
                    <a:schemeClr val="tx2"/>
                  </a:solidFill>
                </a:rPr>
                <a:t>html</a:t>
              </a:r>
              <a:endParaRPr sz="1200" b="0" dirty="0">
                <a:solidFill>
                  <a:schemeClr val="tx2"/>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Server-Sent Events</a:t>
            </a:r>
          </a:p>
        </p:txBody>
      </p:sp>
      <p:sp>
        <p:nvSpPr>
          <p:cNvPr id="3" name="Text Placeholder 2"/>
          <p:cNvSpPr>
            <a:spLocks noGrp="1"/>
          </p:cNvSpPr>
          <p:nvPr>
            <p:ph type="body" sz="quarter" idx="10"/>
          </p:nvPr>
        </p:nvSpPr>
        <p:spPr/>
        <p:txBody>
          <a:bodyPr/>
          <a:lstStyle/>
          <a:p>
            <a:r>
              <a:rPr sz="1800" b="0">
                <a:solidFill>
                  <a:schemeClr val="tx1"/>
                </a:solidFill>
              </a:rPr>
              <a:t>One request, then the server keeps talking</a:t>
            </a:r>
          </a:p>
          <a:p>
            <a:r>
              <a:rPr sz="1400" b="0">
                <a:solidFill>
                  <a:schemeClr val="accent1"/>
                </a:solidFill>
              </a:rPr>
              <a:t>10 minutes, then Exercise 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One request, many events</a:t>
            </a:r>
          </a:p>
        </p:txBody>
      </p:sp>
      <p:grpSp>
        <p:nvGrpSpPr>
          <p:cNvPr id="30" name="Group 29">
            <a:extLst>
              <a:ext uri="{FF2B5EF4-FFF2-40B4-BE49-F238E27FC236}">
                <a16:creationId xmlns:a16="http://schemas.microsoft.com/office/drawing/2014/main" id="{045C92D3-98AB-8572-C3ED-6E3E3FD15924}"/>
              </a:ext>
            </a:extLst>
          </p:cNvPr>
          <p:cNvGrpSpPr/>
          <p:nvPr/>
        </p:nvGrpSpPr>
        <p:grpSpPr>
          <a:xfrm>
            <a:off x="688008" y="1234440"/>
            <a:ext cx="4380573" cy="3251890"/>
            <a:chOff x="688008" y="1234440"/>
            <a:chExt cx="4380573" cy="3251890"/>
          </a:xfrm>
        </p:grpSpPr>
        <p:cxnSp>
          <p:nvCxnSpPr>
            <p:cNvPr id="3" name="lane"/>
            <p:cNvCxnSpPr/>
            <p:nvPr/>
          </p:nvCxnSpPr>
          <p:spPr>
            <a:xfrm>
              <a:off x="1599167"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688008"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688008" y="1234440"/>
              <a:ext cx="1822318" cy="361321"/>
            </a:xfrm>
            <a:prstGeom prst="rect">
              <a:avLst/>
            </a:prstGeom>
            <a:noFill/>
          </p:spPr>
          <p:txBody>
            <a:bodyPr wrap="square" lIns="0" tIns="0" rIns="0" bIns="0" anchor="ctr">
              <a:spAutoFit/>
            </a:bodyPr>
            <a:lstStyle/>
            <a:p>
              <a:pPr algn="ctr"/>
              <a:r>
                <a:rPr sz="1200" b="1">
                  <a:solidFill>
                    <a:schemeClr val="tx1"/>
                  </a:solidFill>
                </a:rPr>
                <a:t>Browser</a:t>
              </a:r>
            </a:p>
          </p:txBody>
        </p:sp>
        <p:cxnSp>
          <p:nvCxnSpPr>
            <p:cNvPr id="6" name="lane"/>
            <p:cNvCxnSpPr/>
            <p:nvPr/>
          </p:nvCxnSpPr>
          <p:spPr>
            <a:xfrm>
              <a:off x="4157422"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246263"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3246263" y="1234440"/>
              <a:ext cx="1822318" cy="361321"/>
            </a:xfrm>
            <a:prstGeom prst="rect">
              <a:avLst/>
            </a:prstGeom>
            <a:noFill/>
          </p:spPr>
          <p:txBody>
            <a:bodyPr wrap="square" lIns="0" tIns="0" rIns="0" bIns="0" anchor="ctr">
              <a:spAutoFit/>
            </a:bodyPr>
            <a:lstStyle/>
            <a:p>
              <a:pPr algn="ctr"/>
              <a:r>
                <a:rPr sz="1200" b="1">
                  <a:solidFill>
                    <a:schemeClr val="tx1"/>
                  </a:solidFill>
                </a:rPr>
                <a:t>Jarvis :8083</a:t>
              </a:r>
            </a:p>
          </p:txBody>
        </p:sp>
      </p:grpSp>
      <p:grpSp>
        <p:nvGrpSpPr>
          <p:cNvPr id="31" name="Group 30">
            <a:extLst>
              <a:ext uri="{FF2B5EF4-FFF2-40B4-BE49-F238E27FC236}">
                <a16:creationId xmlns:a16="http://schemas.microsoft.com/office/drawing/2014/main" id="{3C7A401D-7D23-18ED-BEB5-94211195F223}"/>
              </a:ext>
            </a:extLst>
          </p:cNvPr>
          <p:cNvGrpSpPr/>
          <p:nvPr/>
        </p:nvGrpSpPr>
        <p:grpSpPr>
          <a:xfrm>
            <a:off x="1599167" y="1674594"/>
            <a:ext cx="2558255" cy="282488"/>
            <a:chOff x="1599167" y="1674594"/>
            <a:chExt cx="2558255" cy="282488"/>
          </a:xfrm>
        </p:grpSpPr>
        <p:cxnSp>
          <p:nvCxnSpPr>
            <p:cNvPr id="9" name="message"/>
            <p:cNvCxnSpPr/>
            <p:nvPr/>
          </p:nvCxnSpPr>
          <p:spPr>
            <a:xfrm>
              <a:off x="1599167" y="1957082"/>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634212" y="1674594"/>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GET /Ticker</a:t>
              </a:r>
            </a:p>
          </p:txBody>
        </p:sp>
      </p:grpSp>
      <p:grpSp>
        <p:nvGrpSpPr>
          <p:cNvPr id="32" name="Group 31">
            <a:extLst>
              <a:ext uri="{FF2B5EF4-FFF2-40B4-BE49-F238E27FC236}">
                <a16:creationId xmlns:a16="http://schemas.microsoft.com/office/drawing/2014/main" id="{9DFF1EF2-BDCF-3E2B-88C2-A35947E8B3AC}"/>
              </a:ext>
            </a:extLst>
          </p:cNvPr>
          <p:cNvGrpSpPr/>
          <p:nvPr/>
        </p:nvGrpSpPr>
        <p:grpSpPr>
          <a:xfrm>
            <a:off x="1599167" y="2127888"/>
            <a:ext cx="2558255" cy="256210"/>
            <a:chOff x="1599167" y="2127888"/>
            <a:chExt cx="2558255" cy="256210"/>
          </a:xfrm>
        </p:grpSpPr>
        <p:cxnSp>
          <p:nvCxnSpPr>
            <p:cNvPr id="11" name="message"/>
            <p:cNvCxnSpPr/>
            <p:nvPr/>
          </p:nvCxnSpPr>
          <p:spPr>
            <a:xfrm flipH="1">
              <a:off x="1599167" y="2384098"/>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1634212" y="2127888"/>
              <a:ext cx="2488165" cy="210223"/>
            </a:xfrm>
            <a:prstGeom prst="rect">
              <a:avLst/>
            </a:prstGeom>
            <a:noFill/>
          </p:spPr>
          <p:txBody>
            <a:bodyPr wrap="square" lIns="0" tIns="0" rIns="0" bIns="0" anchor="b">
              <a:spAutoFit/>
            </a:bodyPr>
            <a:lstStyle/>
            <a:p>
              <a:pPr algn="ctr"/>
              <a:r>
                <a:rPr sz="1000" b="0" dirty="0">
                  <a:solidFill>
                    <a:schemeClr val="tx1"/>
                  </a:solidFill>
                  <a:latin typeface="APL385 Unicode"/>
                </a:rPr>
                <a:t>event: welcome</a:t>
              </a:r>
            </a:p>
          </p:txBody>
        </p:sp>
      </p:grpSp>
      <p:grpSp>
        <p:nvGrpSpPr>
          <p:cNvPr id="33" name="Group 32">
            <a:extLst>
              <a:ext uri="{FF2B5EF4-FFF2-40B4-BE49-F238E27FC236}">
                <a16:creationId xmlns:a16="http://schemas.microsoft.com/office/drawing/2014/main" id="{84E0CE42-4B66-1ED7-5C5E-26E8658903B0}"/>
              </a:ext>
            </a:extLst>
          </p:cNvPr>
          <p:cNvGrpSpPr/>
          <p:nvPr/>
        </p:nvGrpSpPr>
        <p:grpSpPr>
          <a:xfrm>
            <a:off x="1599167" y="2535196"/>
            <a:ext cx="2558255" cy="256209"/>
            <a:chOff x="1599167" y="2535196"/>
            <a:chExt cx="2558255" cy="256209"/>
          </a:xfrm>
        </p:grpSpPr>
        <p:cxnSp>
          <p:nvCxnSpPr>
            <p:cNvPr id="13" name="message"/>
            <p:cNvCxnSpPr/>
            <p:nvPr/>
          </p:nvCxnSpPr>
          <p:spPr>
            <a:xfrm flipH="1">
              <a:off x="1599167" y="2791405"/>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1634212" y="2535196"/>
              <a:ext cx="2488165" cy="210223"/>
            </a:xfrm>
            <a:prstGeom prst="rect">
              <a:avLst/>
            </a:prstGeom>
            <a:noFill/>
          </p:spPr>
          <p:txBody>
            <a:bodyPr wrap="square" lIns="0" tIns="0" rIns="0" bIns="0" anchor="b">
              <a:spAutoFit/>
            </a:bodyPr>
            <a:lstStyle/>
            <a:p>
              <a:pPr algn="ctr"/>
              <a:r>
                <a:rPr sz="1000" b="0" dirty="0">
                  <a:solidFill>
                    <a:schemeClr val="tx1"/>
                  </a:solidFill>
                  <a:latin typeface="APL385 Unicode"/>
                </a:rPr>
                <a:t>event: price</a:t>
              </a:r>
            </a:p>
          </p:txBody>
        </p:sp>
      </p:grpSp>
      <p:grpSp>
        <p:nvGrpSpPr>
          <p:cNvPr id="34" name="Group 33">
            <a:extLst>
              <a:ext uri="{FF2B5EF4-FFF2-40B4-BE49-F238E27FC236}">
                <a16:creationId xmlns:a16="http://schemas.microsoft.com/office/drawing/2014/main" id="{6CBBEBC7-2D89-3170-73C8-9321F21179D0}"/>
              </a:ext>
            </a:extLst>
          </p:cNvPr>
          <p:cNvGrpSpPr/>
          <p:nvPr/>
        </p:nvGrpSpPr>
        <p:grpSpPr>
          <a:xfrm>
            <a:off x="1599167" y="2942503"/>
            <a:ext cx="2558255" cy="256210"/>
            <a:chOff x="1599167" y="2942503"/>
            <a:chExt cx="2558255" cy="256210"/>
          </a:xfrm>
        </p:grpSpPr>
        <p:cxnSp>
          <p:nvCxnSpPr>
            <p:cNvPr id="15" name="message"/>
            <p:cNvCxnSpPr/>
            <p:nvPr/>
          </p:nvCxnSpPr>
          <p:spPr>
            <a:xfrm flipH="1">
              <a:off x="1599167" y="3198713"/>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634212" y="2942503"/>
              <a:ext cx="2488165" cy="210223"/>
            </a:xfrm>
            <a:prstGeom prst="rect">
              <a:avLst/>
            </a:prstGeom>
            <a:noFill/>
          </p:spPr>
          <p:txBody>
            <a:bodyPr wrap="square" lIns="0" tIns="0" rIns="0" bIns="0" anchor="b">
              <a:spAutoFit/>
            </a:bodyPr>
            <a:lstStyle/>
            <a:p>
              <a:pPr algn="ctr"/>
              <a:r>
                <a:rPr sz="1000" b="0" dirty="0">
                  <a:solidFill>
                    <a:schemeClr val="tx1"/>
                  </a:solidFill>
                  <a:latin typeface="APL385 Unicode"/>
                </a:rPr>
                <a:t>event: price</a:t>
              </a:r>
            </a:p>
          </p:txBody>
        </p:sp>
      </p:grpSp>
      <p:grpSp>
        <p:nvGrpSpPr>
          <p:cNvPr id="35" name="Group 34">
            <a:extLst>
              <a:ext uri="{FF2B5EF4-FFF2-40B4-BE49-F238E27FC236}">
                <a16:creationId xmlns:a16="http://schemas.microsoft.com/office/drawing/2014/main" id="{4EFC3837-C42D-16B0-228D-6C4BD3A73F63}"/>
              </a:ext>
            </a:extLst>
          </p:cNvPr>
          <p:cNvGrpSpPr/>
          <p:nvPr/>
        </p:nvGrpSpPr>
        <p:grpSpPr>
          <a:xfrm>
            <a:off x="1599167" y="3349811"/>
            <a:ext cx="2558255" cy="256209"/>
            <a:chOff x="1599167" y="3349811"/>
            <a:chExt cx="2558255" cy="256209"/>
          </a:xfrm>
        </p:grpSpPr>
        <p:cxnSp>
          <p:nvCxnSpPr>
            <p:cNvPr id="17" name="message"/>
            <p:cNvCxnSpPr/>
            <p:nvPr/>
          </p:nvCxnSpPr>
          <p:spPr>
            <a:xfrm flipH="1">
              <a:off x="1599167" y="360602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1634212" y="3349811"/>
              <a:ext cx="2488165" cy="210223"/>
            </a:xfrm>
            <a:prstGeom prst="rect">
              <a:avLst/>
            </a:prstGeom>
            <a:noFill/>
          </p:spPr>
          <p:txBody>
            <a:bodyPr wrap="square" lIns="0" tIns="0" rIns="0" bIns="0" anchor="b">
              <a:spAutoFit/>
            </a:bodyPr>
            <a:lstStyle/>
            <a:p>
              <a:pPr algn="ctr"/>
              <a:r>
                <a:rPr sz="1000" b="0">
                  <a:solidFill>
                    <a:schemeClr val="tx1"/>
                  </a:solidFill>
                  <a:latin typeface="APL385 Unicode"/>
                </a:rPr>
                <a:t>event: price</a:t>
              </a:r>
            </a:p>
          </p:txBody>
        </p:sp>
      </p:grpSp>
      <p:grpSp>
        <p:nvGrpSpPr>
          <p:cNvPr id="36" name="Group 35">
            <a:extLst>
              <a:ext uri="{FF2B5EF4-FFF2-40B4-BE49-F238E27FC236}">
                <a16:creationId xmlns:a16="http://schemas.microsoft.com/office/drawing/2014/main" id="{B7A57C21-44D5-26D3-EF6B-B91717603A14}"/>
              </a:ext>
            </a:extLst>
          </p:cNvPr>
          <p:cNvGrpSpPr/>
          <p:nvPr/>
        </p:nvGrpSpPr>
        <p:grpSpPr>
          <a:xfrm>
            <a:off x="1599167" y="3757118"/>
            <a:ext cx="2558255" cy="256210"/>
            <a:chOff x="1599167" y="3757118"/>
            <a:chExt cx="2558255" cy="256210"/>
          </a:xfrm>
        </p:grpSpPr>
        <p:cxnSp>
          <p:nvCxnSpPr>
            <p:cNvPr id="19" name="message"/>
            <p:cNvCxnSpPr/>
            <p:nvPr/>
          </p:nvCxnSpPr>
          <p:spPr>
            <a:xfrm flipH="1">
              <a:off x="1599167" y="4013328"/>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1634212" y="3757118"/>
              <a:ext cx="2488165" cy="210223"/>
            </a:xfrm>
            <a:prstGeom prst="rect">
              <a:avLst/>
            </a:prstGeom>
            <a:noFill/>
          </p:spPr>
          <p:txBody>
            <a:bodyPr wrap="square" lIns="0" tIns="0" rIns="0" bIns="0" anchor="b">
              <a:spAutoFit/>
            </a:bodyPr>
            <a:lstStyle/>
            <a:p>
              <a:pPr algn="ctr"/>
              <a:r>
                <a:rPr sz="1000" b="0" dirty="0">
                  <a:solidFill>
                    <a:schemeClr val="tx1"/>
                  </a:solidFill>
                  <a:latin typeface="APL385 Unicode"/>
                </a:rPr>
                <a:t>event: news</a:t>
              </a:r>
            </a:p>
          </p:txBody>
        </p:sp>
      </p:grpSp>
      <p:grpSp>
        <p:nvGrpSpPr>
          <p:cNvPr id="37" name="Group 36">
            <a:extLst>
              <a:ext uri="{FF2B5EF4-FFF2-40B4-BE49-F238E27FC236}">
                <a16:creationId xmlns:a16="http://schemas.microsoft.com/office/drawing/2014/main" id="{FB35524A-B5DA-FC14-29D4-F76171F3BC75}"/>
              </a:ext>
            </a:extLst>
          </p:cNvPr>
          <p:cNvGrpSpPr/>
          <p:nvPr/>
        </p:nvGrpSpPr>
        <p:grpSpPr>
          <a:xfrm>
            <a:off x="5716906" y="1234440"/>
            <a:ext cx="3083923" cy="1051116"/>
            <a:chOff x="5716906" y="1234440"/>
            <a:chExt cx="3083923" cy="1051116"/>
          </a:xfrm>
        </p:grpSpPr>
        <p:sp>
          <p:nvSpPr>
            <p:cNvPr id="21" name="card"/>
            <p:cNvSpPr/>
            <p:nvPr/>
          </p:nvSpPr>
          <p:spPr>
            <a:xfrm>
              <a:off x="5716906" y="1234440"/>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ard head"/>
            <p:cNvSpPr txBox="1"/>
            <p:nvPr/>
          </p:nvSpPr>
          <p:spPr>
            <a:xfrm>
              <a:off x="5927174" y="1378968"/>
              <a:ext cx="2663388" cy="328473"/>
            </a:xfrm>
            <a:prstGeom prst="rect">
              <a:avLst/>
            </a:prstGeom>
            <a:noFill/>
          </p:spPr>
          <p:txBody>
            <a:bodyPr wrap="square" lIns="0" tIns="0" rIns="0" bIns="0" anchor="t">
              <a:spAutoFit/>
            </a:bodyPr>
            <a:lstStyle/>
            <a:p>
              <a:r>
                <a:rPr sz="1500" b="1">
                  <a:solidFill>
                    <a:schemeClr val="tx1"/>
                  </a:solidFill>
                </a:rPr>
                <a:t>One way</a:t>
              </a:r>
            </a:p>
          </p:txBody>
        </p:sp>
        <p:sp>
          <p:nvSpPr>
            <p:cNvPr id="23" name="card body"/>
            <p:cNvSpPr txBox="1"/>
            <p:nvPr/>
          </p:nvSpPr>
          <p:spPr>
            <a:xfrm>
              <a:off x="5927174" y="1759998"/>
              <a:ext cx="2663388" cy="427015"/>
            </a:xfrm>
            <a:prstGeom prst="rect">
              <a:avLst/>
            </a:prstGeom>
            <a:noFill/>
          </p:spPr>
          <p:txBody>
            <a:bodyPr wrap="square" lIns="0" tIns="0" rIns="0" bIns="0" anchor="t">
              <a:spAutoFit/>
            </a:bodyPr>
            <a:lstStyle/>
            <a:p>
              <a:r>
                <a:rPr sz="1200" b="0">
                  <a:solidFill>
                    <a:schemeClr val="tx1"/>
                  </a:solidFill>
                </a:rPr>
                <a:t>Only the server sends. The browser asked once.</a:t>
              </a:r>
            </a:p>
          </p:txBody>
        </p:sp>
      </p:grpSp>
      <p:grpSp>
        <p:nvGrpSpPr>
          <p:cNvPr id="38" name="Group 37">
            <a:extLst>
              <a:ext uri="{FF2B5EF4-FFF2-40B4-BE49-F238E27FC236}">
                <a16:creationId xmlns:a16="http://schemas.microsoft.com/office/drawing/2014/main" id="{32B6B4A2-27A5-5D1D-AC28-0172BF4A909E}"/>
              </a:ext>
            </a:extLst>
          </p:cNvPr>
          <p:cNvGrpSpPr/>
          <p:nvPr/>
        </p:nvGrpSpPr>
        <p:grpSpPr>
          <a:xfrm>
            <a:off x="5716906" y="2384098"/>
            <a:ext cx="3083923" cy="1051116"/>
            <a:chOff x="5716906" y="2384098"/>
            <a:chExt cx="3083923" cy="1051116"/>
          </a:xfrm>
        </p:grpSpPr>
        <p:sp>
          <p:nvSpPr>
            <p:cNvPr id="24" name="card"/>
            <p:cNvSpPr/>
            <p:nvPr/>
          </p:nvSpPr>
          <p:spPr>
            <a:xfrm>
              <a:off x="5716906" y="2384098"/>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card head"/>
            <p:cNvSpPr txBox="1"/>
            <p:nvPr/>
          </p:nvSpPr>
          <p:spPr>
            <a:xfrm>
              <a:off x="5927174" y="2528626"/>
              <a:ext cx="2663388" cy="328473"/>
            </a:xfrm>
            <a:prstGeom prst="rect">
              <a:avLst/>
            </a:prstGeom>
            <a:noFill/>
          </p:spPr>
          <p:txBody>
            <a:bodyPr wrap="square" lIns="0" tIns="0" rIns="0" bIns="0" anchor="t">
              <a:spAutoFit/>
            </a:bodyPr>
            <a:lstStyle/>
            <a:p>
              <a:r>
                <a:rPr sz="1500" b="1">
                  <a:solidFill>
                    <a:schemeClr val="tx1"/>
                  </a:solidFill>
                </a:rPr>
                <a:t>Plain HTTP</a:t>
              </a:r>
            </a:p>
          </p:txBody>
        </p:sp>
        <p:sp>
          <p:nvSpPr>
            <p:cNvPr id="26" name="card body"/>
            <p:cNvSpPr txBox="1"/>
            <p:nvPr/>
          </p:nvSpPr>
          <p:spPr>
            <a:xfrm>
              <a:off x="5927174" y="2909656"/>
              <a:ext cx="2663388" cy="427015"/>
            </a:xfrm>
            <a:prstGeom prst="rect">
              <a:avLst/>
            </a:prstGeom>
            <a:noFill/>
          </p:spPr>
          <p:txBody>
            <a:bodyPr wrap="square" lIns="0" tIns="0" rIns="0" bIns="0" anchor="t">
              <a:spAutoFit/>
            </a:bodyPr>
            <a:lstStyle/>
            <a:p>
              <a:r>
                <a:rPr sz="1200" b="0">
                  <a:solidFill>
                    <a:schemeClr val="tx1"/>
                  </a:solidFill>
                </a:rPr>
                <a:t>A normal GET whose response never ends.</a:t>
              </a:r>
            </a:p>
          </p:txBody>
        </p:sp>
      </p:grpSp>
      <p:grpSp>
        <p:nvGrpSpPr>
          <p:cNvPr id="39" name="Group 38">
            <a:extLst>
              <a:ext uri="{FF2B5EF4-FFF2-40B4-BE49-F238E27FC236}">
                <a16:creationId xmlns:a16="http://schemas.microsoft.com/office/drawing/2014/main" id="{F4B7D80D-9EFC-2441-CEA8-9CC0900CB1A0}"/>
              </a:ext>
            </a:extLst>
          </p:cNvPr>
          <p:cNvGrpSpPr/>
          <p:nvPr/>
        </p:nvGrpSpPr>
        <p:grpSpPr>
          <a:xfrm>
            <a:off x="5716906" y="3533756"/>
            <a:ext cx="3083923" cy="1051116"/>
            <a:chOff x="5716906" y="3533756"/>
            <a:chExt cx="3083923" cy="1051116"/>
          </a:xfrm>
        </p:grpSpPr>
        <p:sp>
          <p:nvSpPr>
            <p:cNvPr id="27" name="card"/>
            <p:cNvSpPr/>
            <p:nvPr/>
          </p:nvSpPr>
          <p:spPr>
            <a:xfrm>
              <a:off x="5716906" y="3533756"/>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card head"/>
            <p:cNvSpPr txBox="1"/>
            <p:nvPr/>
          </p:nvSpPr>
          <p:spPr>
            <a:xfrm>
              <a:off x="5927174" y="3678284"/>
              <a:ext cx="2663388" cy="328473"/>
            </a:xfrm>
            <a:prstGeom prst="rect">
              <a:avLst/>
            </a:prstGeom>
            <a:noFill/>
          </p:spPr>
          <p:txBody>
            <a:bodyPr wrap="square" lIns="0" tIns="0" rIns="0" bIns="0" anchor="t">
              <a:spAutoFit/>
            </a:bodyPr>
            <a:lstStyle/>
            <a:p>
              <a:r>
                <a:rPr sz="1500" b="1">
                  <a:solidFill>
                    <a:schemeClr val="tx1"/>
                  </a:solidFill>
                </a:rPr>
                <a:t>Reconnects</a:t>
              </a:r>
            </a:p>
          </p:txBody>
        </p:sp>
        <p:sp>
          <p:nvSpPr>
            <p:cNvPr id="29" name="card body"/>
            <p:cNvSpPr txBox="1"/>
            <p:nvPr/>
          </p:nvSpPr>
          <p:spPr>
            <a:xfrm>
              <a:off x="5927174" y="4059314"/>
              <a:ext cx="2663388" cy="427015"/>
            </a:xfrm>
            <a:prstGeom prst="rect">
              <a:avLst/>
            </a:prstGeom>
            <a:noFill/>
          </p:spPr>
          <p:txBody>
            <a:bodyPr wrap="square" lIns="0" tIns="0" rIns="0" bIns="0" anchor="t">
              <a:spAutoFit/>
            </a:bodyPr>
            <a:lstStyle/>
            <a:p>
              <a:r>
                <a:rPr sz="1200" b="0">
                  <a:solidFill>
                    <a:schemeClr val="tx1"/>
                  </a:solidFill>
                </a:rPr>
                <a:t>If the line drops, the browser reconnects by itself.</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5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5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5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5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5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500"/>
                                        <p:tgtEl>
                                          <p:spTgt spid="3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9"/>
                                        </p:tgtEl>
                                        <p:attrNameLst>
                                          <p:attrName>style.visibility</p:attrName>
                                        </p:attrNameLst>
                                      </p:cBhvr>
                                      <p:to>
                                        <p:strVal val="visible"/>
                                      </p:to>
                                    </p:set>
                                    <p:animEffect transition="in" filter="fade">
                                      <p:cBhvr>
                                        <p:cTn id="5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An event on the wire</a:t>
            </a:r>
          </a:p>
        </p:txBody>
      </p:sp>
      <p:grpSp>
        <p:nvGrpSpPr>
          <p:cNvPr id="16" name="Group 15">
            <a:extLst>
              <a:ext uri="{FF2B5EF4-FFF2-40B4-BE49-F238E27FC236}">
                <a16:creationId xmlns:a16="http://schemas.microsoft.com/office/drawing/2014/main" id="{FA618EA9-C686-2A28-2502-DC115E2B7C11}"/>
              </a:ext>
            </a:extLst>
          </p:cNvPr>
          <p:cNvGrpSpPr/>
          <p:nvPr/>
        </p:nvGrpSpPr>
        <p:grpSpPr>
          <a:xfrm>
            <a:off x="320040" y="1267287"/>
            <a:ext cx="5116510" cy="1708063"/>
            <a:chOff x="320040" y="1267287"/>
            <a:chExt cx="5116510" cy="1708063"/>
          </a:xfrm>
        </p:grpSpPr>
        <p:sp>
          <p:nvSpPr>
            <p:cNvPr id="3" name="code panel"/>
            <p:cNvSpPr/>
            <p:nvPr/>
          </p:nvSpPr>
          <p:spPr>
            <a:xfrm>
              <a:off x="320040" y="1267287"/>
              <a:ext cx="5116510" cy="170806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836153" cy="1550396"/>
            </a:xfrm>
            <a:prstGeom prst="rect">
              <a:avLst/>
            </a:prstGeom>
            <a:noFill/>
          </p:spPr>
          <p:txBody>
            <a:bodyPr wrap="square" lIns="0" tIns="0" rIns="0" bIns="0" anchor="t">
              <a:spAutoFit/>
            </a:bodyPr>
            <a:lstStyle/>
            <a:p>
              <a:r>
                <a:rPr sz="1200" b="0" dirty="0">
                  <a:solidFill>
                    <a:schemeClr val="tx1"/>
                  </a:solidFill>
                  <a:latin typeface="APL385 Unicode"/>
                </a:rPr>
                <a:t>event: price</a:t>
              </a:r>
            </a:p>
            <a:p>
              <a:r>
                <a:rPr sz="1200" b="0" dirty="0">
                  <a:solidFill>
                    <a:schemeClr val="tx1"/>
                  </a:solidFill>
                  <a:latin typeface="APL385 Unicode"/>
                </a:rPr>
                <a:t>data: {"change":0.1,"price":85.6,"symbol":"IOTA"}</a:t>
              </a:r>
            </a:p>
            <a:p>
              <a:endParaRPr sz="1200" b="0" dirty="0">
                <a:solidFill>
                  <a:schemeClr val="tx1"/>
                </a:solidFill>
                <a:latin typeface="APL385 Unicode"/>
              </a:endParaRPr>
            </a:p>
            <a:p>
              <a:r>
                <a:rPr sz="1200" b="0" dirty="0">
                  <a:solidFill>
                    <a:schemeClr val="tx1"/>
                  </a:solidFill>
                  <a:latin typeface="APL385 Unicode"/>
                </a:rPr>
                <a:t>:</a:t>
              </a:r>
            </a:p>
          </p:txBody>
        </p:sp>
      </p:grpSp>
      <p:grpSp>
        <p:nvGrpSpPr>
          <p:cNvPr id="17" name="Group 16">
            <a:extLst>
              <a:ext uri="{FF2B5EF4-FFF2-40B4-BE49-F238E27FC236}">
                <a16:creationId xmlns:a16="http://schemas.microsoft.com/office/drawing/2014/main" id="{05C4114F-9ED8-4BF9-8487-F769D6617390}"/>
              </a:ext>
            </a:extLst>
          </p:cNvPr>
          <p:cNvGrpSpPr/>
          <p:nvPr/>
        </p:nvGrpSpPr>
        <p:grpSpPr>
          <a:xfrm>
            <a:off x="5646817" y="1267287"/>
            <a:ext cx="3154012" cy="459863"/>
            <a:chOff x="5646817" y="1267287"/>
            <a:chExt cx="3154012" cy="459863"/>
          </a:xfrm>
        </p:grpSpPr>
        <p:sp>
          <p:nvSpPr>
            <p:cNvPr id="5" name="part"/>
            <p:cNvSpPr txBox="1"/>
            <p:nvPr/>
          </p:nvSpPr>
          <p:spPr>
            <a:xfrm>
              <a:off x="5646817" y="1267287"/>
              <a:ext cx="1296649" cy="394168"/>
            </a:xfrm>
            <a:prstGeom prst="rect">
              <a:avLst/>
            </a:prstGeom>
            <a:noFill/>
          </p:spPr>
          <p:txBody>
            <a:bodyPr wrap="square" lIns="0" tIns="0" rIns="0" bIns="0" anchor="t">
              <a:spAutoFit/>
            </a:bodyPr>
            <a:lstStyle/>
            <a:p>
              <a:r>
                <a:rPr sz="1300" b="0">
                  <a:solidFill>
                    <a:schemeClr val="accent2"/>
                  </a:solidFill>
                  <a:latin typeface="APL385 Unicode"/>
                </a:rPr>
                <a:t>event:</a:t>
              </a:r>
            </a:p>
          </p:txBody>
        </p:sp>
        <p:sp>
          <p:nvSpPr>
            <p:cNvPr id="6" name="text"/>
            <p:cNvSpPr txBox="1"/>
            <p:nvPr/>
          </p:nvSpPr>
          <p:spPr>
            <a:xfrm>
              <a:off x="6978511" y="1267287"/>
              <a:ext cx="1822318" cy="459863"/>
            </a:xfrm>
            <a:prstGeom prst="rect">
              <a:avLst/>
            </a:prstGeom>
            <a:noFill/>
          </p:spPr>
          <p:txBody>
            <a:bodyPr wrap="square" lIns="0" tIns="0" rIns="0" bIns="0" anchor="t">
              <a:spAutoFit/>
            </a:bodyPr>
            <a:lstStyle/>
            <a:p>
              <a:r>
                <a:rPr sz="1200" b="0">
                  <a:solidFill>
                    <a:schemeClr val="tx1"/>
                  </a:solidFill>
                </a:rPr>
                <a:t>the event's type</a:t>
              </a:r>
            </a:p>
          </p:txBody>
        </p:sp>
      </p:grpSp>
      <p:grpSp>
        <p:nvGrpSpPr>
          <p:cNvPr id="18" name="Group 17">
            <a:extLst>
              <a:ext uri="{FF2B5EF4-FFF2-40B4-BE49-F238E27FC236}">
                <a16:creationId xmlns:a16="http://schemas.microsoft.com/office/drawing/2014/main" id="{38C8942B-7A45-014B-C10C-87B68C83C3CD}"/>
              </a:ext>
            </a:extLst>
          </p:cNvPr>
          <p:cNvGrpSpPr/>
          <p:nvPr/>
        </p:nvGrpSpPr>
        <p:grpSpPr>
          <a:xfrm>
            <a:off x="5646817" y="1759998"/>
            <a:ext cx="3154012" cy="459863"/>
            <a:chOff x="5646817" y="1759998"/>
            <a:chExt cx="3154012" cy="459863"/>
          </a:xfrm>
        </p:grpSpPr>
        <p:sp>
          <p:nvSpPr>
            <p:cNvPr id="7" name="part"/>
            <p:cNvSpPr txBox="1"/>
            <p:nvPr/>
          </p:nvSpPr>
          <p:spPr>
            <a:xfrm>
              <a:off x="5646817" y="1759998"/>
              <a:ext cx="1296649" cy="394168"/>
            </a:xfrm>
            <a:prstGeom prst="rect">
              <a:avLst/>
            </a:prstGeom>
            <a:noFill/>
          </p:spPr>
          <p:txBody>
            <a:bodyPr wrap="square" lIns="0" tIns="0" rIns="0" bIns="0" anchor="t">
              <a:spAutoFit/>
            </a:bodyPr>
            <a:lstStyle/>
            <a:p>
              <a:r>
                <a:rPr sz="1300" b="0" dirty="0">
                  <a:solidFill>
                    <a:schemeClr val="accent2"/>
                  </a:solidFill>
                  <a:latin typeface="APL385 Unicode"/>
                </a:rPr>
                <a:t>data:</a:t>
              </a:r>
            </a:p>
          </p:txBody>
        </p:sp>
        <p:sp>
          <p:nvSpPr>
            <p:cNvPr id="8" name="text"/>
            <p:cNvSpPr txBox="1"/>
            <p:nvPr/>
          </p:nvSpPr>
          <p:spPr>
            <a:xfrm>
              <a:off x="6978511" y="1759998"/>
              <a:ext cx="1822318" cy="459863"/>
            </a:xfrm>
            <a:prstGeom prst="rect">
              <a:avLst/>
            </a:prstGeom>
            <a:noFill/>
          </p:spPr>
          <p:txBody>
            <a:bodyPr wrap="square" lIns="0" tIns="0" rIns="0" bIns="0" anchor="t">
              <a:spAutoFit/>
            </a:bodyPr>
            <a:lstStyle/>
            <a:p>
              <a:r>
                <a:rPr sz="1200" b="0">
                  <a:solidFill>
                    <a:schemeClr val="tx1"/>
                  </a:solidFill>
                </a:rPr>
                <a:t>its content; here, JSON</a:t>
              </a:r>
            </a:p>
          </p:txBody>
        </p:sp>
      </p:grpSp>
      <p:grpSp>
        <p:nvGrpSpPr>
          <p:cNvPr id="19" name="Group 18">
            <a:extLst>
              <a:ext uri="{FF2B5EF4-FFF2-40B4-BE49-F238E27FC236}">
                <a16:creationId xmlns:a16="http://schemas.microsoft.com/office/drawing/2014/main" id="{29B821F4-27D7-7E61-1C2F-2B3798D04E61}"/>
              </a:ext>
            </a:extLst>
          </p:cNvPr>
          <p:cNvGrpSpPr/>
          <p:nvPr/>
        </p:nvGrpSpPr>
        <p:grpSpPr>
          <a:xfrm>
            <a:off x="5646817" y="2252708"/>
            <a:ext cx="3154012" cy="459863"/>
            <a:chOff x="5646817" y="2252708"/>
            <a:chExt cx="3154012" cy="459863"/>
          </a:xfrm>
        </p:grpSpPr>
        <p:sp>
          <p:nvSpPr>
            <p:cNvPr id="9" name="part"/>
            <p:cNvSpPr txBox="1"/>
            <p:nvPr/>
          </p:nvSpPr>
          <p:spPr>
            <a:xfrm>
              <a:off x="5646817" y="2252708"/>
              <a:ext cx="1296649" cy="394168"/>
            </a:xfrm>
            <a:prstGeom prst="rect">
              <a:avLst/>
            </a:prstGeom>
            <a:noFill/>
          </p:spPr>
          <p:txBody>
            <a:bodyPr wrap="square" lIns="0" tIns="0" rIns="0" bIns="0" anchor="t">
              <a:spAutoFit/>
            </a:bodyPr>
            <a:lstStyle/>
            <a:p>
              <a:r>
                <a:rPr sz="1300" b="0" dirty="0">
                  <a:solidFill>
                    <a:schemeClr val="accent2"/>
                  </a:solidFill>
                  <a:latin typeface="APL385 Unicode"/>
                </a:rPr>
                <a:t>blank line</a:t>
              </a:r>
            </a:p>
          </p:txBody>
        </p:sp>
        <p:sp>
          <p:nvSpPr>
            <p:cNvPr id="10" name="text"/>
            <p:cNvSpPr txBox="1"/>
            <p:nvPr/>
          </p:nvSpPr>
          <p:spPr>
            <a:xfrm>
              <a:off x="6978511" y="2252708"/>
              <a:ext cx="1822318" cy="459863"/>
            </a:xfrm>
            <a:prstGeom prst="rect">
              <a:avLst/>
            </a:prstGeom>
            <a:noFill/>
          </p:spPr>
          <p:txBody>
            <a:bodyPr wrap="square" lIns="0" tIns="0" rIns="0" bIns="0" anchor="t">
              <a:spAutoFit/>
            </a:bodyPr>
            <a:lstStyle/>
            <a:p>
              <a:r>
                <a:rPr sz="1200" b="0">
                  <a:solidFill>
                    <a:schemeClr val="tx1"/>
                  </a:solidFill>
                </a:rPr>
                <a:t>ends the event</a:t>
              </a:r>
            </a:p>
          </p:txBody>
        </p:sp>
      </p:grpSp>
      <p:grpSp>
        <p:nvGrpSpPr>
          <p:cNvPr id="20" name="Group 19">
            <a:extLst>
              <a:ext uri="{FF2B5EF4-FFF2-40B4-BE49-F238E27FC236}">
                <a16:creationId xmlns:a16="http://schemas.microsoft.com/office/drawing/2014/main" id="{6C625431-DFF6-5443-37BD-DA925EC2A373}"/>
              </a:ext>
            </a:extLst>
          </p:cNvPr>
          <p:cNvGrpSpPr/>
          <p:nvPr/>
        </p:nvGrpSpPr>
        <p:grpSpPr>
          <a:xfrm>
            <a:off x="5646817" y="2745419"/>
            <a:ext cx="3154012" cy="459863"/>
            <a:chOff x="5646817" y="2745419"/>
            <a:chExt cx="3154012" cy="459863"/>
          </a:xfrm>
        </p:grpSpPr>
        <p:sp>
          <p:nvSpPr>
            <p:cNvPr id="11" name="part"/>
            <p:cNvSpPr txBox="1"/>
            <p:nvPr/>
          </p:nvSpPr>
          <p:spPr>
            <a:xfrm>
              <a:off x="5646817" y="2745419"/>
              <a:ext cx="1296649" cy="394168"/>
            </a:xfrm>
            <a:prstGeom prst="rect">
              <a:avLst/>
            </a:prstGeom>
            <a:noFill/>
          </p:spPr>
          <p:txBody>
            <a:bodyPr wrap="square" lIns="0" tIns="0" rIns="0" bIns="0" anchor="t">
              <a:spAutoFit/>
            </a:bodyPr>
            <a:lstStyle/>
            <a:p>
              <a:r>
                <a:rPr sz="1300" b="0" dirty="0">
                  <a:solidFill>
                    <a:schemeClr val="accent2"/>
                  </a:solidFill>
                  <a:latin typeface="APL385 Unicode"/>
                </a:rPr>
                <a:t>:</a:t>
              </a:r>
            </a:p>
          </p:txBody>
        </p:sp>
        <p:sp>
          <p:nvSpPr>
            <p:cNvPr id="12" name="text"/>
            <p:cNvSpPr txBox="1"/>
            <p:nvPr/>
          </p:nvSpPr>
          <p:spPr>
            <a:xfrm>
              <a:off x="6978511" y="2745419"/>
              <a:ext cx="1822318" cy="459863"/>
            </a:xfrm>
            <a:prstGeom prst="rect">
              <a:avLst/>
            </a:prstGeom>
            <a:noFill/>
          </p:spPr>
          <p:txBody>
            <a:bodyPr wrap="square" lIns="0" tIns="0" rIns="0" bIns="0" anchor="t">
              <a:spAutoFit/>
            </a:bodyPr>
            <a:lstStyle/>
            <a:p>
              <a:r>
                <a:rPr sz="1200" b="0">
                  <a:solidFill>
                    <a:schemeClr val="tx1"/>
                  </a:solidFill>
                </a:rPr>
                <a:t>a comment: Jarvis sends one every 30 seconds to keep the line alive</a:t>
              </a:r>
            </a:p>
          </p:txBody>
        </p:sp>
      </p:grpSp>
      <p:grpSp>
        <p:nvGrpSpPr>
          <p:cNvPr id="21" name="Group 20">
            <a:extLst>
              <a:ext uri="{FF2B5EF4-FFF2-40B4-BE49-F238E27FC236}">
                <a16:creationId xmlns:a16="http://schemas.microsoft.com/office/drawing/2014/main" id="{8BAD85CB-7606-B6E6-C670-B8CDC01DD2A4}"/>
              </a:ext>
            </a:extLst>
          </p:cNvPr>
          <p:cNvGrpSpPr/>
          <p:nvPr/>
        </p:nvGrpSpPr>
        <p:grpSpPr>
          <a:xfrm>
            <a:off x="320040" y="3314904"/>
            <a:ext cx="8503920" cy="1137827"/>
            <a:chOff x="320040" y="3402366"/>
            <a:chExt cx="8503920" cy="1137827"/>
          </a:xfrm>
        </p:grpSpPr>
        <p:sp>
          <p:nvSpPr>
            <p:cNvPr id="13" name="text"/>
            <p:cNvSpPr txBox="1"/>
            <p:nvPr/>
          </p:nvSpPr>
          <p:spPr>
            <a:xfrm>
              <a:off x="320040" y="3402366"/>
              <a:ext cx="4205350" cy="262779"/>
            </a:xfrm>
            <a:prstGeom prst="rect">
              <a:avLst/>
            </a:prstGeom>
            <a:noFill/>
          </p:spPr>
          <p:txBody>
            <a:bodyPr wrap="square" lIns="0" tIns="0" rIns="0" bIns="0" anchor="t">
              <a:spAutoFit/>
            </a:bodyPr>
            <a:lstStyle/>
            <a:p>
              <a:r>
                <a:rPr sz="1300" b="1">
                  <a:solidFill>
                    <a:schemeClr val="accent1"/>
                  </a:solidFill>
                </a:rPr>
                <a:t>Making one in APL</a:t>
              </a:r>
            </a:p>
          </p:txBody>
        </p:sp>
        <p:sp>
          <p:nvSpPr>
            <p:cNvPr id="14" name="code panel"/>
            <p:cNvSpPr/>
            <p:nvPr/>
          </p:nvSpPr>
          <p:spPr>
            <a:xfrm>
              <a:off x="320040" y="3697993"/>
              <a:ext cx="8503920" cy="8422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code"/>
            <p:cNvSpPr txBox="1"/>
            <p:nvPr/>
          </p:nvSpPr>
          <p:spPr>
            <a:xfrm>
              <a:off x="460218" y="3776827"/>
              <a:ext cx="8223563" cy="600164"/>
            </a:xfrm>
            <a:prstGeom prst="rect">
              <a:avLst/>
            </a:prstGeom>
            <a:noFill/>
          </p:spPr>
          <p:txBody>
            <a:bodyPr wrap="square" lIns="0" tIns="0" rIns="0" bIns="0" anchor="t">
              <a:spAutoFit/>
            </a:bodyPr>
            <a:lstStyle/>
            <a:p>
              <a:r>
                <a:rPr sz="1300" b="0" dirty="0">
                  <a:solidFill>
                    <a:schemeClr val="tx1"/>
                  </a:solidFill>
                  <a:latin typeface="APL385 Unicode"/>
                </a:rPr>
                <a:t>d←⎕NS'' ⋄ d.(symbol price change)←'IOTA' 85.6 0.1</a:t>
              </a:r>
            </a:p>
            <a:p>
              <a:r>
                <a:rPr sz="1300" b="0" dirty="0">
                  <a:solidFill>
                    <a:schemeClr val="tx1"/>
                  </a:solidFill>
                  <a:latin typeface="APL385 Unicode"/>
                </a:rPr>
                <a:t>'price' </a:t>
              </a:r>
              <a:r>
                <a:rPr sz="1300" b="0" dirty="0" err="1">
                  <a:solidFill>
                    <a:schemeClr val="tx1"/>
                  </a:solidFill>
                  <a:latin typeface="APL385 Unicode"/>
                </a:rPr>
                <a:t>Jarvis.FormatSSE</a:t>
              </a:r>
              <a:r>
                <a:rPr sz="1300" b="0" dirty="0">
                  <a:solidFill>
                    <a:schemeClr val="tx1"/>
                  </a:solidFill>
                  <a:latin typeface="APL385 Unicode"/>
                </a:rPr>
                <a:t> d</a:t>
              </a:r>
              <a:endParaRPr lang="en-US" sz="1300" b="0" dirty="0">
                <a:solidFill>
                  <a:schemeClr val="tx1"/>
                </a:solidFill>
                <a:latin typeface="APL385 Unicode"/>
              </a:endParaRPr>
            </a:p>
            <a:p>
              <a:r>
                <a:rPr lang="en-US" sz="1300" dirty="0">
                  <a:latin typeface="APL385 Unicode"/>
                </a:rPr>
                <a:t>⍝ v20 - 'price' </a:t>
              </a:r>
              <a:r>
                <a:rPr lang="en-US" sz="1300" dirty="0" err="1">
                  <a:latin typeface="APL385 Unicode"/>
                </a:rPr>
                <a:t>Jarvis.FormatSSE</a:t>
              </a:r>
              <a:r>
                <a:rPr lang="en-US" sz="1300" dirty="0">
                  <a:latin typeface="APL385 Unicode"/>
                </a:rPr>
                <a:t> (</a:t>
              </a:r>
              <a:r>
                <a:rPr lang="en-US" sz="1300" dirty="0" err="1">
                  <a:latin typeface="APL385 Unicode"/>
                </a:rPr>
                <a:t>symbol:'IOTA</a:t>
              </a:r>
              <a:r>
                <a:rPr lang="en-US" sz="1300" dirty="0">
                  <a:latin typeface="APL385 Unicode"/>
                </a:rPr>
                <a:t>' ⋄ price:85.6 ⋄ change:0.1)</a:t>
              </a:r>
              <a:endParaRPr sz="1300" b="0" dirty="0">
                <a:solidFill>
                  <a:schemeClr val="tx1"/>
                </a:solidFill>
                <a:latin typeface="APL385 Unicode"/>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In the browser: EventSource</a:t>
            </a:r>
          </a:p>
        </p:txBody>
      </p:sp>
      <p:grpSp>
        <p:nvGrpSpPr>
          <p:cNvPr id="7" name="Group 6">
            <a:extLst>
              <a:ext uri="{FF2B5EF4-FFF2-40B4-BE49-F238E27FC236}">
                <a16:creationId xmlns:a16="http://schemas.microsoft.com/office/drawing/2014/main" id="{3C015AE5-E350-73B9-400B-CE8B77E85846}"/>
              </a:ext>
            </a:extLst>
          </p:cNvPr>
          <p:cNvGrpSpPr/>
          <p:nvPr/>
        </p:nvGrpSpPr>
        <p:grpSpPr>
          <a:xfrm>
            <a:off x="320040" y="1267287"/>
            <a:ext cx="5186599" cy="2430705"/>
            <a:chOff x="320040" y="1267287"/>
            <a:chExt cx="5186599" cy="2430705"/>
          </a:xfrm>
        </p:grpSpPr>
        <p:sp>
          <p:nvSpPr>
            <p:cNvPr id="3" name="code panel"/>
            <p:cNvSpPr/>
            <p:nvPr/>
          </p:nvSpPr>
          <p:spPr>
            <a:xfrm>
              <a:off x="320040" y="1267287"/>
              <a:ext cx="5186599" cy="197084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46121"/>
              <a:ext cx="4906242" cy="1813175"/>
            </a:xfrm>
            <a:prstGeom prst="rect">
              <a:avLst/>
            </a:prstGeom>
            <a:noFill/>
          </p:spPr>
          <p:txBody>
            <a:bodyPr wrap="square" lIns="0" tIns="0" rIns="0" bIns="0" anchor="t">
              <a:spAutoFit/>
            </a:bodyPr>
            <a:lstStyle/>
            <a:p>
              <a:r>
                <a:rPr sz="1200" b="0">
                  <a:solidFill>
                    <a:schemeClr val="tx1"/>
                  </a:solidFill>
                  <a:latin typeface="APL385 Unicode"/>
                </a:rPr>
                <a:t>const source = new EventSource("/Ticker");</a:t>
              </a:r>
            </a:p>
            <a:p>
              <a:r>
                <a:rPr sz="1200" b="0">
                  <a:solidFill>
                    <a:schemeClr val="tx1"/>
                  </a:solidFill>
                  <a:latin typeface="APL385 Unicode"/>
                </a:rPr>
                <a:t>source.addEventListener("price", function (e) {</a:t>
              </a:r>
            </a:p>
            <a:p>
              <a:r>
                <a:rPr sz="1200" b="0">
                  <a:solidFill>
                    <a:schemeClr val="tx1"/>
                  </a:solidFill>
                  <a:latin typeface="APL385 Unicode"/>
                </a:rPr>
                <a:t>  const data = JSON.parse(e.data);</a:t>
              </a:r>
            </a:p>
            <a:p>
              <a:r>
                <a:rPr sz="1200" b="0">
                  <a:solidFill>
                    <a:schemeClr val="tx1"/>
                  </a:solidFill>
                  <a:latin typeface="APL385 Unicode"/>
                </a:rPr>
                <a:t>  updatePrice(data.symbol, data.price, data.change);</a:t>
              </a:r>
            </a:p>
            <a:p>
              <a:r>
                <a:rPr sz="1200" b="0">
                  <a:solidFill>
                    <a:schemeClr val="tx1"/>
                  </a:solidFill>
                  <a:latin typeface="APL385 Unicode"/>
                </a:rPr>
                <a:t>});</a:t>
              </a:r>
            </a:p>
          </p:txBody>
        </p:sp>
        <p:sp>
          <p:nvSpPr>
            <p:cNvPr id="5" name="text"/>
            <p:cNvSpPr txBox="1"/>
            <p:nvPr/>
          </p:nvSpPr>
          <p:spPr>
            <a:xfrm>
              <a:off x="320040" y="3369519"/>
              <a:ext cx="5186599" cy="328473"/>
            </a:xfrm>
            <a:prstGeom prst="rect">
              <a:avLst/>
            </a:prstGeom>
            <a:noFill/>
          </p:spPr>
          <p:txBody>
            <a:bodyPr wrap="square" lIns="0" tIns="0" rIns="0" bIns="0" anchor="t">
              <a:spAutoFit/>
            </a:bodyPr>
            <a:lstStyle/>
            <a:p>
              <a:r>
                <a:rPr sz="1100" b="0">
                  <a:solidFill>
                    <a:schemeClr val="tx2"/>
                  </a:solidFill>
                </a:rPr>
                <a:t>From html/index.html, which is supplied</a:t>
              </a:r>
            </a:p>
          </p:txBody>
        </p:sp>
      </p:grpSp>
      <p:sp>
        <p:nvSpPr>
          <p:cNvPr id="6" name="points"/>
          <p:cNvSpPr txBox="1"/>
          <p:nvPr/>
        </p:nvSpPr>
        <p:spPr>
          <a:xfrm>
            <a:off x="5786995" y="1267287"/>
            <a:ext cx="3013834" cy="2956264"/>
          </a:xfrm>
          <a:prstGeom prst="rect">
            <a:avLst/>
          </a:prstGeom>
          <a:noFill/>
        </p:spPr>
        <p:txBody>
          <a:bodyPr wrap="square" lIns="0" tIns="0" rIns="0" bIns="0" anchor="t">
            <a:spAutoFit/>
          </a:bodyPr>
          <a:lstStyle/>
          <a:p>
            <a:pPr marL="182880" indent="-182880">
              <a:spcAft>
                <a:spcPts val="600"/>
              </a:spcAft>
              <a:buChar char="•"/>
            </a:pPr>
            <a:r>
              <a:rPr sz="1400" b="0" dirty="0">
                <a:solidFill>
                  <a:schemeClr val="tx1"/>
                </a:solidFill>
              </a:rPr>
              <a:t>One listener per event type</a:t>
            </a:r>
          </a:p>
          <a:p>
            <a:pPr marL="182880" indent="-182880">
              <a:spcAft>
                <a:spcPts val="600"/>
              </a:spcAft>
              <a:buChar char="•"/>
            </a:pPr>
            <a:r>
              <a:rPr sz="1400" b="0" dirty="0">
                <a:solidFill>
                  <a:schemeClr val="tx1"/>
                </a:solidFill>
              </a:rPr>
              <a:t>Reconnects by itself, and calls Ticker again</a:t>
            </a:r>
          </a:p>
          <a:p>
            <a:pPr marL="182880" indent="-182880">
              <a:spcAft>
                <a:spcPts val="600"/>
              </a:spcAft>
              <a:buChar char="•"/>
            </a:pPr>
            <a:r>
              <a:rPr sz="1400" b="0" dirty="0">
                <a:solidFill>
                  <a:schemeClr val="tx1"/>
                </a:solidFill>
              </a:rPr>
              <a:t>You don't need to change the page: only one marked EDIT HERE section, for a stretch goal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F3C92-AE4F-01F1-C4A2-112F34DEC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BB80F-21A0-8563-3453-A91CEBA53252}"/>
              </a:ext>
            </a:extLst>
          </p:cNvPr>
          <p:cNvSpPr>
            <a:spLocks noGrp="1"/>
          </p:cNvSpPr>
          <p:nvPr>
            <p:ph type="title"/>
          </p:nvPr>
        </p:nvSpPr>
        <p:spPr/>
        <p:txBody>
          <a:bodyPr/>
          <a:lstStyle/>
          <a:p>
            <a:r>
              <a:rPr sz="2800"/>
              <a:t>Server-Sent Events in Jarvis</a:t>
            </a:r>
          </a:p>
        </p:txBody>
      </p:sp>
      <p:grpSp>
        <p:nvGrpSpPr>
          <p:cNvPr id="49" name="Group 48">
            <a:extLst>
              <a:ext uri="{FF2B5EF4-FFF2-40B4-BE49-F238E27FC236}">
                <a16:creationId xmlns:a16="http://schemas.microsoft.com/office/drawing/2014/main" id="{0AA0FF10-6638-0262-C6E6-8CCEB3C25FB7}"/>
              </a:ext>
            </a:extLst>
          </p:cNvPr>
          <p:cNvGrpSpPr/>
          <p:nvPr/>
        </p:nvGrpSpPr>
        <p:grpSpPr>
          <a:xfrm>
            <a:off x="320040" y="3205282"/>
            <a:ext cx="8503920" cy="656947"/>
            <a:chOff x="320040" y="3205282"/>
            <a:chExt cx="8503920" cy="656947"/>
          </a:xfrm>
        </p:grpSpPr>
        <p:sp>
          <p:nvSpPr>
            <p:cNvPr id="4" name="code panel">
              <a:extLst>
                <a:ext uri="{FF2B5EF4-FFF2-40B4-BE49-F238E27FC236}">
                  <a16:creationId xmlns:a16="http://schemas.microsoft.com/office/drawing/2014/main" id="{715C9709-F40B-9B25-EA4F-E4A308CFCCEF}"/>
                </a:ext>
              </a:extLst>
            </p:cNvPr>
            <p:cNvSpPr/>
            <p:nvPr/>
          </p:nvSpPr>
          <p:spPr>
            <a:xfrm>
              <a:off x="320040" y="3205282"/>
              <a:ext cx="8503920" cy="656947"/>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code">
              <a:extLst>
                <a:ext uri="{FF2B5EF4-FFF2-40B4-BE49-F238E27FC236}">
                  <a16:creationId xmlns:a16="http://schemas.microsoft.com/office/drawing/2014/main" id="{5788AC76-526B-7B14-EFBC-44E49B84B79F}"/>
                </a:ext>
              </a:extLst>
            </p:cNvPr>
            <p:cNvSpPr txBox="1"/>
            <p:nvPr/>
          </p:nvSpPr>
          <p:spPr>
            <a:xfrm>
              <a:off x="460218" y="3284116"/>
              <a:ext cx="8223563" cy="499280"/>
            </a:xfrm>
            <a:prstGeom prst="rect">
              <a:avLst/>
            </a:prstGeom>
            <a:noFill/>
          </p:spPr>
          <p:txBody>
            <a:bodyPr wrap="square" lIns="0" tIns="0" rIns="0" bIns="0" anchor="t">
              <a:spAutoFit/>
            </a:bodyPr>
            <a:lstStyle/>
            <a:p>
              <a:r>
                <a:rPr sz="1300" b="0">
                  <a:solidFill>
                    <a:schemeClr val="tx1"/>
                  </a:solidFill>
                  <a:latin typeface="APL385 Unicode"/>
                </a:rPr>
                <a:t>clients←server.SSEConnections 'Ticker'</a:t>
              </a:r>
            </a:p>
            <a:p>
              <a:r>
                <a:rPr sz="1300" b="0">
                  <a:solidFill>
                    <a:schemeClr val="tx1"/>
                  </a:solidFill>
                  <a:latin typeface="APL385 Unicode"/>
                </a:rPr>
                <a:t>clients server.SendSSE 'price' server.FormatSSE data</a:t>
              </a:r>
            </a:p>
          </p:txBody>
        </p:sp>
      </p:grpSp>
      <p:sp>
        <p:nvSpPr>
          <p:cNvPr id="6" name="text">
            <a:extLst>
              <a:ext uri="{FF2B5EF4-FFF2-40B4-BE49-F238E27FC236}">
                <a16:creationId xmlns:a16="http://schemas.microsoft.com/office/drawing/2014/main" id="{BF999355-DC29-2EC3-8A3C-4BB9548E1529}"/>
              </a:ext>
            </a:extLst>
          </p:cNvPr>
          <p:cNvSpPr txBox="1"/>
          <p:nvPr/>
        </p:nvSpPr>
        <p:spPr>
          <a:xfrm>
            <a:off x="320040" y="4026467"/>
            <a:ext cx="8503920" cy="200055"/>
          </a:xfrm>
          <a:prstGeom prst="rect">
            <a:avLst/>
          </a:prstGeom>
          <a:noFill/>
        </p:spPr>
        <p:txBody>
          <a:bodyPr wrap="square" lIns="0" tIns="0" rIns="0" bIns="0" anchor="t">
            <a:spAutoFit/>
          </a:bodyPr>
          <a:lstStyle/>
          <a:p>
            <a:r>
              <a:rPr sz="1300" b="0" dirty="0">
                <a:solidFill>
                  <a:schemeClr val="tx1"/>
                </a:solidFill>
              </a:rPr>
              <a:t>In Exercise 3, Broadcast loops in its own thread and sends prices every second.</a:t>
            </a:r>
          </a:p>
        </p:txBody>
      </p:sp>
      <p:sp>
        <p:nvSpPr>
          <p:cNvPr id="10" name="AutoShape 3">
            <a:extLst>
              <a:ext uri="{FF2B5EF4-FFF2-40B4-BE49-F238E27FC236}">
                <a16:creationId xmlns:a16="http://schemas.microsoft.com/office/drawing/2014/main" id="{0AAEE734-070A-4A92-3F9C-5A888E39766A}"/>
              </a:ext>
            </a:extLst>
          </p:cNvPr>
          <p:cNvSpPr>
            <a:spLocks noChangeAspect="1" noChangeArrowheads="1" noTextEdit="1"/>
          </p:cNvSpPr>
          <p:nvPr/>
        </p:nvSpPr>
        <p:spPr bwMode="auto">
          <a:xfrm>
            <a:off x="320675" y="1281113"/>
            <a:ext cx="8537575" cy="167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5">
            <a:extLst>
              <a:ext uri="{FF2B5EF4-FFF2-40B4-BE49-F238E27FC236}">
                <a16:creationId xmlns:a16="http://schemas.microsoft.com/office/drawing/2014/main" id="{D4C75E96-821E-8118-9CD3-DD1C20570843}"/>
              </a:ext>
            </a:extLst>
          </p:cNvPr>
          <p:cNvSpPr>
            <a:spLocks noChangeArrowheads="1"/>
          </p:cNvSpPr>
          <p:nvPr/>
        </p:nvSpPr>
        <p:spPr bwMode="auto">
          <a:xfrm>
            <a:off x="328613" y="1289051"/>
            <a:ext cx="2944813" cy="3286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Rectangle 6">
            <a:extLst>
              <a:ext uri="{FF2B5EF4-FFF2-40B4-BE49-F238E27FC236}">
                <a16:creationId xmlns:a16="http://schemas.microsoft.com/office/drawing/2014/main" id="{3531F008-6615-375F-2064-84A139700D34}"/>
              </a:ext>
            </a:extLst>
          </p:cNvPr>
          <p:cNvSpPr>
            <a:spLocks noChangeArrowheads="1"/>
          </p:cNvSpPr>
          <p:nvPr/>
        </p:nvSpPr>
        <p:spPr bwMode="auto">
          <a:xfrm>
            <a:off x="3273425" y="1289051"/>
            <a:ext cx="5559425" cy="3286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Line 15">
            <a:extLst>
              <a:ext uri="{FF2B5EF4-FFF2-40B4-BE49-F238E27FC236}">
                <a16:creationId xmlns:a16="http://schemas.microsoft.com/office/drawing/2014/main" id="{B9703FD1-1830-D78C-BC46-4FACF482B961}"/>
              </a:ext>
            </a:extLst>
          </p:cNvPr>
          <p:cNvSpPr>
            <a:spLocks noChangeShapeType="1"/>
          </p:cNvSpPr>
          <p:nvPr/>
        </p:nvSpPr>
        <p:spPr bwMode="auto">
          <a:xfrm>
            <a:off x="3273425" y="1282701"/>
            <a:ext cx="0" cy="16557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0">
            <a:extLst>
              <a:ext uri="{FF2B5EF4-FFF2-40B4-BE49-F238E27FC236}">
                <a16:creationId xmlns:a16="http://schemas.microsoft.com/office/drawing/2014/main" id="{039DEACC-BE87-3971-B748-63F869102BD8}"/>
              </a:ext>
            </a:extLst>
          </p:cNvPr>
          <p:cNvSpPr>
            <a:spLocks noChangeShapeType="1"/>
          </p:cNvSpPr>
          <p:nvPr/>
        </p:nvSpPr>
        <p:spPr bwMode="auto">
          <a:xfrm>
            <a:off x="328613" y="1282701"/>
            <a:ext cx="0" cy="16557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1">
            <a:extLst>
              <a:ext uri="{FF2B5EF4-FFF2-40B4-BE49-F238E27FC236}">
                <a16:creationId xmlns:a16="http://schemas.microsoft.com/office/drawing/2014/main" id="{814661C1-2F78-F6F0-BD76-79F4AAFD3EBA}"/>
              </a:ext>
            </a:extLst>
          </p:cNvPr>
          <p:cNvSpPr>
            <a:spLocks noChangeShapeType="1"/>
          </p:cNvSpPr>
          <p:nvPr/>
        </p:nvSpPr>
        <p:spPr bwMode="auto">
          <a:xfrm>
            <a:off x="8832850" y="1282701"/>
            <a:ext cx="0" cy="16557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2">
            <a:extLst>
              <a:ext uri="{FF2B5EF4-FFF2-40B4-BE49-F238E27FC236}">
                <a16:creationId xmlns:a16="http://schemas.microsoft.com/office/drawing/2014/main" id="{B48FB422-B2F1-74CD-1382-7427E9A9BEC2}"/>
              </a:ext>
            </a:extLst>
          </p:cNvPr>
          <p:cNvSpPr>
            <a:spLocks noChangeShapeType="1"/>
          </p:cNvSpPr>
          <p:nvPr/>
        </p:nvSpPr>
        <p:spPr bwMode="auto">
          <a:xfrm>
            <a:off x="322263" y="1289051"/>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Rectangle 24">
            <a:extLst>
              <a:ext uri="{FF2B5EF4-FFF2-40B4-BE49-F238E27FC236}">
                <a16:creationId xmlns:a16="http://schemas.microsoft.com/office/drawing/2014/main" id="{2CEB72B9-4C19-2DC1-4E58-C7D8E511708C}"/>
              </a:ext>
            </a:extLst>
          </p:cNvPr>
          <p:cNvSpPr>
            <a:spLocks noChangeArrowheads="1"/>
          </p:cNvSpPr>
          <p:nvPr/>
        </p:nvSpPr>
        <p:spPr bwMode="auto">
          <a:xfrm>
            <a:off x="3346450" y="1349376"/>
            <a:ext cx="94932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FFFFFF"/>
                </a:solidFill>
                <a:effectLst/>
                <a:latin typeface="Sarabun" panose="00000500000000000000" pitchFamily="2" charset="-34"/>
              </a:rPr>
              <a:t>What it does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1" name="Rectangle 25">
            <a:extLst>
              <a:ext uri="{FF2B5EF4-FFF2-40B4-BE49-F238E27FC236}">
                <a16:creationId xmlns:a16="http://schemas.microsoft.com/office/drawing/2014/main" id="{B392A07F-E84E-B2B6-F708-41B52A307039}"/>
              </a:ext>
            </a:extLst>
          </p:cNvPr>
          <p:cNvSpPr>
            <a:spLocks noChangeArrowheads="1"/>
          </p:cNvSpPr>
          <p:nvPr/>
        </p:nvSpPr>
        <p:spPr bwMode="auto">
          <a:xfrm>
            <a:off x="403225" y="1349376"/>
            <a:ext cx="490538"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FFFFFF"/>
                </a:solidFill>
                <a:effectLst/>
                <a:latin typeface="Sarabun" panose="00000500000000000000" pitchFamily="2" charset="-34"/>
              </a:rPr>
              <a:t>Jarvis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nvGrpSpPr>
          <p:cNvPr id="44" name="Group 43">
            <a:extLst>
              <a:ext uri="{FF2B5EF4-FFF2-40B4-BE49-F238E27FC236}">
                <a16:creationId xmlns:a16="http://schemas.microsoft.com/office/drawing/2014/main" id="{E788F7FC-CF74-A4E3-16D7-D717A94C22DF}"/>
              </a:ext>
            </a:extLst>
          </p:cNvPr>
          <p:cNvGrpSpPr/>
          <p:nvPr/>
        </p:nvGrpSpPr>
        <p:grpSpPr>
          <a:xfrm>
            <a:off x="322263" y="1617663"/>
            <a:ext cx="8516938" cy="377825"/>
            <a:chOff x="322263" y="1617663"/>
            <a:chExt cx="8516938" cy="377825"/>
          </a:xfrm>
        </p:grpSpPr>
        <p:sp>
          <p:nvSpPr>
            <p:cNvPr id="13" name="Rectangle 7">
              <a:extLst>
                <a:ext uri="{FF2B5EF4-FFF2-40B4-BE49-F238E27FC236}">
                  <a16:creationId xmlns:a16="http://schemas.microsoft.com/office/drawing/2014/main" id="{0227DE63-34EE-2B26-2F2D-A20C1849C445}"/>
                </a:ext>
              </a:extLst>
            </p:cNvPr>
            <p:cNvSpPr>
              <a:spLocks noChangeArrowheads="1"/>
            </p:cNvSpPr>
            <p:nvPr/>
          </p:nvSpPr>
          <p:spPr bwMode="auto">
            <a:xfrm>
              <a:off x="328613" y="1617663"/>
              <a:ext cx="2944813"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Rectangle 8">
              <a:extLst>
                <a:ext uri="{FF2B5EF4-FFF2-40B4-BE49-F238E27FC236}">
                  <a16:creationId xmlns:a16="http://schemas.microsoft.com/office/drawing/2014/main" id="{E1F9FC04-0299-8A60-00DD-88C5D6D6C31D}"/>
                </a:ext>
              </a:extLst>
            </p:cNvPr>
            <p:cNvSpPr>
              <a:spLocks noChangeArrowheads="1"/>
            </p:cNvSpPr>
            <p:nvPr/>
          </p:nvSpPr>
          <p:spPr bwMode="auto">
            <a:xfrm>
              <a:off x="3273425" y="1617663"/>
              <a:ext cx="555942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Line 16">
              <a:extLst>
                <a:ext uri="{FF2B5EF4-FFF2-40B4-BE49-F238E27FC236}">
                  <a16:creationId xmlns:a16="http://schemas.microsoft.com/office/drawing/2014/main" id="{D3A694AD-7DC5-659F-13EC-4A7C70BF34E9}"/>
                </a:ext>
              </a:extLst>
            </p:cNvPr>
            <p:cNvSpPr>
              <a:spLocks noChangeShapeType="1"/>
            </p:cNvSpPr>
            <p:nvPr/>
          </p:nvSpPr>
          <p:spPr bwMode="auto">
            <a:xfrm>
              <a:off x="322263" y="1617663"/>
              <a:ext cx="8516938" cy="0"/>
            </a:xfrm>
            <a:prstGeom prst="line">
              <a:avLst/>
            </a:prstGeom>
            <a:noFill/>
            <a:ln w="381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7">
              <a:extLst>
                <a:ext uri="{FF2B5EF4-FFF2-40B4-BE49-F238E27FC236}">
                  <a16:creationId xmlns:a16="http://schemas.microsoft.com/office/drawing/2014/main" id="{2AAB7CD6-BC6C-FE86-4A18-B9775370E9F1}"/>
                </a:ext>
              </a:extLst>
            </p:cNvPr>
            <p:cNvSpPr>
              <a:spLocks noChangeShapeType="1"/>
            </p:cNvSpPr>
            <p:nvPr/>
          </p:nvSpPr>
          <p:spPr bwMode="auto">
            <a:xfrm>
              <a:off x="322263" y="194627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Rectangle 26">
              <a:extLst>
                <a:ext uri="{FF2B5EF4-FFF2-40B4-BE49-F238E27FC236}">
                  <a16:creationId xmlns:a16="http://schemas.microsoft.com/office/drawing/2014/main" id="{FF836A3E-CB23-BA88-5366-CAA92318FB35}"/>
                </a:ext>
              </a:extLst>
            </p:cNvPr>
            <p:cNvSpPr>
              <a:spLocks noChangeArrowheads="1"/>
            </p:cNvSpPr>
            <p:nvPr/>
          </p:nvSpPr>
          <p:spPr bwMode="auto">
            <a:xfrm>
              <a:off x="3346450" y="1677988"/>
              <a:ext cx="5348288"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GET /Ticker opens a stream; Jarvis calls your Ticker once when a client connects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3" name="Rectangle 27">
              <a:extLst>
                <a:ext uri="{FF2B5EF4-FFF2-40B4-BE49-F238E27FC236}">
                  <a16:creationId xmlns:a16="http://schemas.microsoft.com/office/drawing/2014/main" id="{B7E52C9A-2376-6412-A852-FC4FECE0BC1D}"/>
                </a:ext>
              </a:extLst>
            </p:cNvPr>
            <p:cNvSpPr>
              <a:spLocks noChangeArrowheads="1"/>
            </p:cNvSpPr>
            <p:nvPr/>
          </p:nvSpPr>
          <p:spPr bwMode="auto">
            <a:xfrm>
              <a:off x="403225" y="1673226"/>
              <a:ext cx="1115690"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err="1">
                  <a:ln>
                    <a:noFill/>
                  </a:ln>
                  <a:solidFill>
                    <a:srgbClr val="232222"/>
                  </a:solidFill>
                  <a:effectLst/>
                  <a:latin typeface="APL385 Unicode" panose="020B0709000202000203" pitchFamily="49" charset="0"/>
                </a:rPr>
                <a:t>SSEEndpoints</a:t>
              </a:r>
              <a:endParaRPr kumimoji="0" lang="en-US" altLang="en-US" sz="1800" b="0" i="0" u="none" strike="noStrike" cap="none" normalizeH="0" baseline="0" dirty="0">
                <a:ln>
                  <a:noFill/>
                </a:ln>
                <a:solidFill>
                  <a:schemeClr val="tx1"/>
                </a:solidFill>
                <a:effectLst/>
                <a:latin typeface="APL385 Unicode" panose="020B0709000202000203" pitchFamily="49" charset="0"/>
              </a:endParaRPr>
            </a:p>
          </p:txBody>
        </p:sp>
        <p:sp>
          <p:nvSpPr>
            <p:cNvPr id="34" name="Rectangle 28">
              <a:extLst>
                <a:ext uri="{FF2B5EF4-FFF2-40B4-BE49-F238E27FC236}">
                  <a16:creationId xmlns:a16="http://schemas.microsoft.com/office/drawing/2014/main" id="{D4930ABD-83FD-B1F1-3767-F5C0A630B549}"/>
                </a:ext>
              </a:extLst>
            </p:cNvPr>
            <p:cNvSpPr>
              <a:spLocks noChangeArrowheads="1"/>
            </p:cNvSpPr>
            <p:nvPr/>
          </p:nvSpPr>
          <p:spPr bwMode="auto">
            <a:xfrm>
              <a:off x="1522718" y="1679549"/>
              <a:ext cx="92974"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200" b="1" dirty="0">
                  <a:solidFill>
                    <a:srgbClr val="232222"/>
                  </a:solidFill>
                  <a:latin typeface="APL385 Unicode" panose="020B0709000202000203" pitchFamily="49" charset="0"/>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5" name="Rectangle 29">
              <a:extLst>
                <a:ext uri="{FF2B5EF4-FFF2-40B4-BE49-F238E27FC236}">
                  <a16:creationId xmlns:a16="http://schemas.microsoft.com/office/drawing/2014/main" id="{B46E7017-14B4-CD3B-3D2F-AD313BA0A80B}"/>
                </a:ext>
              </a:extLst>
            </p:cNvPr>
            <p:cNvSpPr>
              <a:spLocks noChangeArrowheads="1"/>
            </p:cNvSpPr>
            <p:nvPr/>
          </p:nvSpPr>
          <p:spPr bwMode="auto">
            <a:xfrm>
              <a:off x="1606841" y="1673226"/>
              <a:ext cx="68287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232222"/>
                  </a:solidFill>
                  <a:effectLst/>
                  <a:latin typeface="APL385 Unicode" panose="020B0709000202000203" pitchFamily="49" charset="0"/>
                </a:rPr>
                <a:t>'Ticker</a:t>
              </a:r>
              <a:r>
                <a:rPr kumimoji="0" lang="en-US" altLang="en-US" sz="1200" b="1" i="0" u="none" strike="noStrike" cap="none" normalizeH="0" baseline="0" dirty="0">
                  <a:ln>
                    <a:noFill/>
                  </a:ln>
                  <a:solidFill>
                    <a:srgbClr val="232222"/>
                  </a:solidFill>
                  <a:effectLst/>
                  <a:latin typeface="Sarabun" panose="00000500000000000000" pitchFamily="2" charset="-34"/>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grpSp>
        <p:nvGrpSpPr>
          <p:cNvPr id="46" name="Group 45">
            <a:extLst>
              <a:ext uri="{FF2B5EF4-FFF2-40B4-BE49-F238E27FC236}">
                <a16:creationId xmlns:a16="http://schemas.microsoft.com/office/drawing/2014/main" id="{610497D0-9793-E133-6038-4210A0EF36B5}"/>
              </a:ext>
            </a:extLst>
          </p:cNvPr>
          <p:cNvGrpSpPr/>
          <p:nvPr/>
        </p:nvGrpSpPr>
        <p:grpSpPr>
          <a:xfrm>
            <a:off x="322263" y="1946276"/>
            <a:ext cx="8516938" cy="377825"/>
            <a:chOff x="322263" y="1946276"/>
            <a:chExt cx="8516938" cy="377825"/>
          </a:xfrm>
        </p:grpSpPr>
        <p:sp>
          <p:nvSpPr>
            <p:cNvPr id="15" name="Rectangle 9">
              <a:extLst>
                <a:ext uri="{FF2B5EF4-FFF2-40B4-BE49-F238E27FC236}">
                  <a16:creationId xmlns:a16="http://schemas.microsoft.com/office/drawing/2014/main" id="{3AC1C6CD-4A5D-3482-9258-B2EC34D777E5}"/>
                </a:ext>
              </a:extLst>
            </p:cNvPr>
            <p:cNvSpPr>
              <a:spLocks noChangeArrowheads="1"/>
            </p:cNvSpPr>
            <p:nvPr/>
          </p:nvSpPr>
          <p:spPr bwMode="auto">
            <a:xfrm>
              <a:off x="328613" y="1946276"/>
              <a:ext cx="2944813"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Rectangle 10">
              <a:extLst>
                <a:ext uri="{FF2B5EF4-FFF2-40B4-BE49-F238E27FC236}">
                  <a16:creationId xmlns:a16="http://schemas.microsoft.com/office/drawing/2014/main" id="{F126C418-7FDF-C5AC-85F9-AA7E91479A2F}"/>
                </a:ext>
              </a:extLst>
            </p:cNvPr>
            <p:cNvSpPr>
              <a:spLocks noChangeArrowheads="1"/>
            </p:cNvSpPr>
            <p:nvPr/>
          </p:nvSpPr>
          <p:spPr bwMode="auto">
            <a:xfrm>
              <a:off x="3273425" y="1946276"/>
              <a:ext cx="5559425"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Line 18">
              <a:extLst>
                <a:ext uri="{FF2B5EF4-FFF2-40B4-BE49-F238E27FC236}">
                  <a16:creationId xmlns:a16="http://schemas.microsoft.com/office/drawing/2014/main" id="{4449A592-1EE8-AE1B-A7D9-27B0EC125E8F}"/>
                </a:ext>
              </a:extLst>
            </p:cNvPr>
            <p:cNvSpPr>
              <a:spLocks noChangeShapeType="1"/>
            </p:cNvSpPr>
            <p:nvPr/>
          </p:nvSpPr>
          <p:spPr bwMode="auto">
            <a:xfrm>
              <a:off x="322263" y="2274888"/>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Rectangle 30">
              <a:extLst>
                <a:ext uri="{FF2B5EF4-FFF2-40B4-BE49-F238E27FC236}">
                  <a16:creationId xmlns:a16="http://schemas.microsoft.com/office/drawing/2014/main" id="{27B5C997-2766-C27F-EB2C-B8B62E81BAFA}"/>
                </a:ext>
              </a:extLst>
            </p:cNvPr>
            <p:cNvSpPr>
              <a:spLocks noChangeArrowheads="1"/>
            </p:cNvSpPr>
            <p:nvPr/>
          </p:nvSpPr>
          <p:spPr bwMode="auto">
            <a:xfrm>
              <a:off x="3346450" y="2006601"/>
              <a:ext cx="21971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The clients connected right now</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7" name="Rectangle 31">
              <a:extLst>
                <a:ext uri="{FF2B5EF4-FFF2-40B4-BE49-F238E27FC236}">
                  <a16:creationId xmlns:a16="http://schemas.microsoft.com/office/drawing/2014/main" id="{3F4C7445-BD1C-4CE7-F7E0-4567EDE2F294}"/>
                </a:ext>
              </a:extLst>
            </p:cNvPr>
            <p:cNvSpPr>
              <a:spLocks noChangeArrowheads="1"/>
            </p:cNvSpPr>
            <p:nvPr/>
          </p:nvSpPr>
          <p:spPr bwMode="auto">
            <a:xfrm>
              <a:off x="403225" y="2006601"/>
              <a:ext cx="278922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err="1">
                  <a:ln>
                    <a:noFill/>
                  </a:ln>
                  <a:solidFill>
                    <a:srgbClr val="232222"/>
                  </a:solidFill>
                  <a:effectLst/>
                  <a:latin typeface="APL385 Unicode" panose="020B0709000202000203" pitchFamily="49" charset="0"/>
                </a:rPr>
                <a:t>server.SSEConnections</a:t>
              </a:r>
              <a:r>
                <a:rPr kumimoji="0" lang="en-US" altLang="en-US" sz="1200" b="1" i="0" u="none" strike="noStrike" cap="none" normalizeH="0" baseline="0" dirty="0">
                  <a:ln>
                    <a:noFill/>
                  </a:ln>
                  <a:solidFill>
                    <a:srgbClr val="232222"/>
                  </a:solidFill>
                  <a:effectLst/>
                  <a:latin typeface="APL385 Unicode" panose="020B0709000202000203" pitchFamily="49" charset="0"/>
                </a:rPr>
                <a:t> 'Ticker'</a:t>
              </a:r>
              <a:endParaRPr kumimoji="0" lang="en-US" altLang="en-US" sz="1800" b="0" i="0" u="none" strike="noStrike" cap="none" normalizeH="0" baseline="0" dirty="0">
                <a:ln>
                  <a:noFill/>
                </a:ln>
                <a:solidFill>
                  <a:schemeClr val="tx1"/>
                </a:solidFill>
                <a:effectLst/>
                <a:latin typeface="APL385 Unicode" panose="020B0709000202000203" pitchFamily="49" charset="0"/>
              </a:endParaRPr>
            </a:p>
          </p:txBody>
        </p:sp>
      </p:grpSp>
      <p:grpSp>
        <p:nvGrpSpPr>
          <p:cNvPr id="47" name="Group 46">
            <a:extLst>
              <a:ext uri="{FF2B5EF4-FFF2-40B4-BE49-F238E27FC236}">
                <a16:creationId xmlns:a16="http://schemas.microsoft.com/office/drawing/2014/main" id="{2FF1E438-9D8A-3E97-8344-528EFC5FD909}"/>
              </a:ext>
            </a:extLst>
          </p:cNvPr>
          <p:cNvGrpSpPr/>
          <p:nvPr/>
        </p:nvGrpSpPr>
        <p:grpSpPr>
          <a:xfrm>
            <a:off x="322263" y="2274888"/>
            <a:ext cx="8516938" cy="377825"/>
            <a:chOff x="322263" y="2274888"/>
            <a:chExt cx="8516938" cy="377825"/>
          </a:xfrm>
        </p:grpSpPr>
        <p:sp>
          <p:nvSpPr>
            <p:cNvPr id="17" name="Rectangle 11">
              <a:extLst>
                <a:ext uri="{FF2B5EF4-FFF2-40B4-BE49-F238E27FC236}">
                  <a16:creationId xmlns:a16="http://schemas.microsoft.com/office/drawing/2014/main" id="{E2CC4ABD-1A93-74E4-AFD8-0464AF6A34B5}"/>
                </a:ext>
              </a:extLst>
            </p:cNvPr>
            <p:cNvSpPr>
              <a:spLocks noChangeArrowheads="1"/>
            </p:cNvSpPr>
            <p:nvPr/>
          </p:nvSpPr>
          <p:spPr bwMode="auto">
            <a:xfrm>
              <a:off x="328613" y="2274888"/>
              <a:ext cx="2944813"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Rectangle 12">
              <a:extLst>
                <a:ext uri="{FF2B5EF4-FFF2-40B4-BE49-F238E27FC236}">
                  <a16:creationId xmlns:a16="http://schemas.microsoft.com/office/drawing/2014/main" id="{4A8FF849-AD07-779E-A0DD-181881C9D627}"/>
                </a:ext>
              </a:extLst>
            </p:cNvPr>
            <p:cNvSpPr>
              <a:spLocks noChangeArrowheads="1"/>
            </p:cNvSpPr>
            <p:nvPr/>
          </p:nvSpPr>
          <p:spPr bwMode="auto">
            <a:xfrm>
              <a:off x="3273425" y="2274888"/>
              <a:ext cx="555942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Line 19">
              <a:extLst>
                <a:ext uri="{FF2B5EF4-FFF2-40B4-BE49-F238E27FC236}">
                  <a16:creationId xmlns:a16="http://schemas.microsoft.com/office/drawing/2014/main" id="{4091BD99-4EA2-03E0-A2E1-0FE2FD00488F}"/>
                </a:ext>
              </a:extLst>
            </p:cNvPr>
            <p:cNvSpPr>
              <a:spLocks noChangeShapeType="1"/>
            </p:cNvSpPr>
            <p:nvPr/>
          </p:nvSpPr>
          <p:spPr bwMode="auto">
            <a:xfrm>
              <a:off x="322263" y="2603501"/>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8" name="Rectangle 32">
              <a:extLst>
                <a:ext uri="{FF2B5EF4-FFF2-40B4-BE49-F238E27FC236}">
                  <a16:creationId xmlns:a16="http://schemas.microsoft.com/office/drawing/2014/main" id="{4B5E6891-CB9E-BD72-A746-1679E047FA1F}"/>
                </a:ext>
              </a:extLst>
            </p:cNvPr>
            <p:cNvSpPr>
              <a:spLocks noChangeArrowheads="1"/>
            </p:cNvSpPr>
            <p:nvPr/>
          </p:nvSpPr>
          <p:spPr bwMode="auto">
            <a:xfrm>
              <a:off x="3346450" y="2335213"/>
              <a:ext cx="318452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Formats an event; a namespace becomes JSON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39" name="Rectangle 33">
              <a:extLst>
                <a:ext uri="{FF2B5EF4-FFF2-40B4-BE49-F238E27FC236}">
                  <a16:creationId xmlns:a16="http://schemas.microsoft.com/office/drawing/2014/main" id="{EDBE7CA3-3966-4A10-C2D2-91807F055E7C}"/>
                </a:ext>
              </a:extLst>
            </p:cNvPr>
            <p:cNvSpPr>
              <a:spLocks noChangeArrowheads="1"/>
            </p:cNvSpPr>
            <p:nvPr/>
          </p:nvSpPr>
          <p:spPr bwMode="auto">
            <a:xfrm>
              <a:off x="403225" y="2335213"/>
              <a:ext cx="269625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232222"/>
                  </a:solidFill>
                  <a:effectLst/>
                  <a:latin typeface="APL385 Unicode" panose="020B0709000202000203" pitchFamily="49" charset="0"/>
                </a:rPr>
                <a:t>'price' </a:t>
              </a:r>
              <a:r>
                <a:rPr kumimoji="0" lang="en-US" altLang="en-US" sz="1200" b="1" i="0" u="none" strike="noStrike" cap="none" normalizeH="0" baseline="0" dirty="0" err="1">
                  <a:ln>
                    <a:noFill/>
                  </a:ln>
                  <a:solidFill>
                    <a:srgbClr val="232222"/>
                  </a:solidFill>
                  <a:effectLst/>
                  <a:latin typeface="APL385 Unicode" panose="020B0709000202000203" pitchFamily="49" charset="0"/>
                </a:rPr>
                <a:t>server.FormatSSE</a:t>
              </a:r>
              <a:r>
                <a:rPr kumimoji="0" lang="en-US" altLang="en-US" sz="1200" b="1" i="0" u="none" strike="noStrike" cap="none" normalizeH="0" baseline="0" dirty="0">
                  <a:ln>
                    <a:noFill/>
                  </a:ln>
                  <a:solidFill>
                    <a:srgbClr val="232222"/>
                  </a:solidFill>
                  <a:effectLst/>
                  <a:latin typeface="APL385 Unicode" panose="020B0709000202000203" pitchFamily="49" charset="0"/>
                </a:rPr>
                <a:t> data</a:t>
              </a:r>
              <a:endParaRPr kumimoji="0" lang="en-US" altLang="en-US" sz="1800" b="0" i="0" u="none" strike="noStrike" cap="none" normalizeH="0" baseline="0" dirty="0">
                <a:ln>
                  <a:noFill/>
                </a:ln>
                <a:solidFill>
                  <a:schemeClr val="tx1"/>
                </a:solidFill>
                <a:effectLst/>
                <a:latin typeface="APL385 Unicode" panose="020B0709000202000203" pitchFamily="49" charset="0"/>
              </a:endParaRPr>
            </a:p>
          </p:txBody>
        </p:sp>
      </p:grpSp>
      <p:grpSp>
        <p:nvGrpSpPr>
          <p:cNvPr id="48" name="Group 47">
            <a:extLst>
              <a:ext uri="{FF2B5EF4-FFF2-40B4-BE49-F238E27FC236}">
                <a16:creationId xmlns:a16="http://schemas.microsoft.com/office/drawing/2014/main" id="{95F10FA3-0D1A-1155-DFF0-64A34DB96096}"/>
              </a:ext>
            </a:extLst>
          </p:cNvPr>
          <p:cNvGrpSpPr/>
          <p:nvPr/>
        </p:nvGrpSpPr>
        <p:grpSpPr>
          <a:xfrm>
            <a:off x="322263" y="2603501"/>
            <a:ext cx="8516938" cy="377825"/>
            <a:chOff x="322263" y="2603501"/>
            <a:chExt cx="8516938" cy="377825"/>
          </a:xfrm>
        </p:grpSpPr>
        <p:sp>
          <p:nvSpPr>
            <p:cNvPr id="19" name="Rectangle 13">
              <a:extLst>
                <a:ext uri="{FF2B5EF4-FFF2-40B4-BE49-F238E27FC236}">
                  <a16:creationId xmlns:a16="http://schemas.microsoft.com/office/drawing/2014/main" id="{8C46A44D-0EF1-E19A-63B3-D331FDA6CCFF}"/>
                </a:ext>
              </a:extLst>
            </p:cNvPr>
            <p:cNvSpPr>
              <a:spLocks noChangeArrowheads="1"/>
            </p:cNvSpPr>
            <p:nvPr/>
          </p:nvSpPr>
          <p:spPr bwMode="auto">
            <a:xfrm>
              <a:off x="328613" y="2603501"/>
              <a:ext cx="2944813"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Rectangle 14">
              <a:extLst>
                <a:ext uri="{FF2B5EF4-FFF2-40B4-BE49-F238E27FC236}">
                  <a16:creationId xmlns:a16="http://schemas.microsoft.com/office/drawing/2014/main" id="{8973A1E3-EF89-8933-3076-E8535C019357}"/>
                </a:ext>
              </a:extLst>
            </p:cNvPr>
            <p:cNvSpPr>
              <a:spLocks noChangeArrowheads="1"/>
            </p:cNvSpPr>
            <p:nvPr/>
          </p:nvSpPr>
          <p:spPr bwMode="auto">
            <a:xfrm>
              <a:off x="3273425" y="2603501"/>
              <a:ext cx="5559425"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9" name="Line 23">
              <a:extLst>
                <a:ext uri="{FF2B5EF4-FFF2-40B4-BE49-F238E27FC236}">
                  <a16:creationId xmlns:a16="http://schemas.microsoft.com/office/drawing/2014/main" id="{EEB650FA-81B3-21A6-5CFE-46A92B646E3E}"/>
                </a:ext>
              </a:extLst>
            </p:cNvPr>
            <p:cNvSpPr>
              <a:spLocks noChangeShapeType="1"/>
            </p:cNvSpPr>
            <p:nvPr/>
          </p:nvSpPr>
          <p:spPr bwMode="auto">
            <a:xfrm>
              <a:off x="322263" y="293211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Rectangle 34">
              <a:extLst>
                <a:ext uri="{FF2B5EF4-FFF2-40B4-BE49-F238E27FC236}">
                  <a16:creationId xmlns:a16="http://schemas.microsoft.com/office/drawing/2014/main" id="{39EEC588-162E-3950-1D6C-959E900C669E}"/>
                </a:ext>
              </a:extLst>
            </p:cNvPr>
            <p:cNvSpPr>
              <a:spLocks noChangeArrowheads="1"/>
            </p:cNvSpPr>
            <p:nvPr/>
          </p:nvSpPr>
          <p:spPr bwMode="auto">
            <a:xfrm>
              <a:off x="3346450" y="2663826"/>
              <a:ext cx="256222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Sends an event to one client, or many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1" name="Rectangle 35">
              <a:extLst>
                <a:ext uri="{FF2B5EF4-FFF2-40B4-BE49-F238E27FC236}">
                  <a16:creationId xmlns:a16="http://schemas.microsoft.com/office/drawing/2014/main" id="{3B79A0B7-BCF6-A3F7-33CD-B3CB57538079}"/>
                </a:ext>
              </a:extLst>
            </p:cNvPr>
            <p:cNvSpPr>
              <a:spLocks noChangeArrowheads="1"/>
            </p:cNvSpPr>
            <p:nvPr/>
          </p:nvSpPr>
          <p:spPr bwMode="auto">
            <a:xfrm>
              <a:off x="403225" y="2663826"/>
              <a:ext cx="65081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a:ln>
                    <a:noFill/>
                  </a:ln>
                  <a:solidFill>
                    <a:srgbClr val="232222"/>
                  </a:solidFill>
                  <a:effectLst/>
                  <a:latin typeface="APL385 Unicode" panose="020B0709000202000203" pitchFamily="49" charset="0"/>
                </a:rPr>
                <a:t>clients</a:t>
              </a:r>
              <a:endParaRPr kumimoji="0" lang="en-US" altLang="en-US" sz="1800" b="0" i="0" u="none" strike="noStrike" cap="none" normalizeH="0" baseline="0" dirty="0">
                <a:ln>
                  <a:noFill/>
                </a:ln>
                <a:solidFill>
                  <a:schemeClr val="tx1"/>
                </a:solidFill>
                <a:effectLst/>
                <a:latin typeface="APL385 Unicode" panose="020B0709000202000203" pitchFamily="49" charset="0"/>
              </a:endParaRPr>
            </a:p>
          </p:txBody>
        </p:sp>
        <p:sp>
          <p:nvSpPr>
            <p:cNvPr id="42" name="Rectangle 36">
              <a:extLst>
                <a:ext uri="{FF2B5EF4-FFF2-40B4-BE49-F238E27FC236}">
                  <a16:creationId xmlns:a16="http://schemas.microsoft.com/office/drawing/2014/main" id="{EBF40506-B14D-F497-612D-8062AFB2E134}"/>
                </a:ext>
              </a:extLst>
            </p:cNvPr>
            <p:cNvSpPr>
              <a:spLocks noChangeArrowheads="1"/>
            </p:cNvSpPr>
            <p:nvPr/>
          </p:nvSpPr>
          <p:spPr bwMode="auto">
            <a:xfrm>
              <a:off x="1145018" y="2663826"/>
              <a:ext cx="185948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err="1">
                  <a:ln>
                    <a:noFill/>
                  </a:ln>
                  <a:solidFill>
                    <a:srgbClr val="232222"/>
                  </a:solidFill>
                  <a:effectLst/>
                  <a:latin typeface="APL385 Unicode" panose="020B0709000202000203" pitchFamily="49" charset="0"/>
                </a:rPr>
                <a:t>server.SendSSE</a:t>
              </a:r>
              <a:r>
                <a:rPr kumimoji="0" lang="en-US" altLang="en-US" sz="1200" b="1" i="0" u="none" strike="noStrike" cap="none" normalizeH="0" baseline="0" dirty="0">
                  <a:ln>
                    <a:noFill/>
                  </a:ln>
                  <a:solidFill>
                    <a:srgbClr val="232222"/>
                  </a:solidFill>
                  <a:effectLst/>
                  <a:latin typeface="APL385 Unicode" panose="020B0709000202000203" pitchFamily="49" charset="0"/>
                </a:rPr>
                <a:t> event</a:t>
              </a:r>
              <a:endParaRPr kumimoji="0" lang="en-US" altLang="en-US" sz="1800" b="0" i="0" u="none" strike="noStrike" cap="none" normalizeH="0" baseline="0" dirty="0">
                <a:ln>
                  <a:noFill/>
                </a:ln>
                <a:solidFill>
                  <a:schemeClr val="tx1"/>
                </a:solidFill>
                <a:effectLst/>
                <a:latin typeface="APL385 Unicode" panose="020B0709000202000203" pitchFamily="49" charset="0"/>
              </a:endParaRPr>
            </a:p>
          </p:txBody>
        </p:sp>
      </p:grpSp>
    </p:spTree>
    <p:extLst>
      <p:ext uri="{BB962C8B-B14F-4D97-AF65-F5344CB8AC3E}">
        <p14:creationId xmlns:p14="http://schemas.microsoft.com/office/powerpoint/2010/main" val="70467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6"/>
                                        </p:tgtEl>
                                        <p:attrNameLst>
                                          <p:attrName>style.visibility</p:attrName>
                                        </p:attrNameLst>
                                      </p:cBhvr>
                                      <p:to>
                                        <p:strVal val="visible"/>
                                      </p:to>
                                    </p:set>
                                    <p:animEffect transition="in" filter="fade">
                                      <p:cBhvr>
                                        <p:cTn id="12" dur="500"/>
                                        <p:tgtEl>
                                          <p:spTgt spid="4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5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5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fade">
                                      <p:cBhvr>
                                        <p:cTn id="27" dur="5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3: Server-Sent Events</a:t>
            </a:r>
          </a:p>
        </p:txBody>
      </p:sp>
      <p:grpSp>
        <p:nvGrpSpPr>
          <p:cNvPr id="11" name="Group 10">
            <a:extLst>
              <a:ext uri="{FF2B5EF4-FFF2-40B4-BE49-F238E27FC236}">
                <a16:creationId xmlns:a16="http://schemas.microsoft.com/office/drawing/2014/main" id="{A4D5C6DF-35AC-9943-115E-2BFEEE3F74D0}"/>
              </a:ext>
            </a:extLst>
          </p:cNvPr>
          <p:cNvGrpSpPr/>
          <p:nvPr/>
        </p:nvGrpSpPr>
        <p:grpSpPr>
          <a:xfrm>
            <a:off x="320040" y="1234440"/>
            <a:ext cx="3931920" cy="1600200"/>
            <a:chOff x="320040" y="1234440"/>
            <a:chExt cx="3931920" cy="1600200"/>
          </a:xfrm>
        </p:grpSpPr>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a:solidFill>
                    <a:schemeClr val="tx1"/>
                  </a:solidFill>
                </a:rPr>
                <a:t>Push live prices and news from APL to a web page, to every browser that's connected.</a:t>
              </a:r>
            </a:p>
          </p:txBody>
        </p:sp>
      </p:grpSp>
      <p:grpSp>
        <p:nvGrpSpPr>
          <p:cNvPr id="12" name="Group 11">
            <a:extLst>
              <a:ext uri="{FF2B5EF4-FFF2-40B4-BE49-F238E27FC236}">
                <a16:creationId xmlns:a16="http://schemas.microsoft.com/office/drawing/2014/main" id="{5298B597-378B-7264-E132-6AA241236630}"/>
              </a:ext>
            </a:extLst>
          </p:cNvPr>
          <p:cNvGrpSpPr/>
          <p:nvPr/>
        </p:nvGrpSpPr>
        <p:grpSpPr>
          <a:xfrm>
            <a:off x="4572000" y="1234440"/>
            <a:ext cx="4251960" cy="1345962"/>
            <a:chOff x="4572000" y="1234440"/>
            <a:chExt cx="4251960" cy="1345962"/>
          </a:xfrm>
        </p:grpSpPr>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a:solidFill>
                    <a:schemeClr val="accent2"/>
                  </a:solidFill>
                </a:rPr>
                <a:t>Core steps</a:t>
              </a:r>
            </a:p>
          </p:txBody>
        </p:sp>
        <p:sp>
          <p:nvSpPr>
            <p:cNvPr id="6" name="steps"/>
            <p:cNvSpPr txBox="1"/>
            <p:nvPr/>
          </p:nvSpPr>
          <p:spPr>
            <a:xfrm>
              <a:off x="4572000" y="1554480"/>
              <a:ext cx="4251960" cy="1025922"/>
            </a:xfrm>
            <a:prstGeom prst="rect">
              <a:avLst/>
            </a:prstGeom>
            <a:noFill/>
          </p:spPr>
          <p:txBody>
            <a:bodyPr wrap="square" lIns="0" tIns="0" rIns="0" bIns="0" anchor="t">
              <a:spAutoFit/>
            </a:bodyPr>
            <a:lstStyle/>
            <a:p>
              <a:pPr>
                <a:spcAft>
                  <a:spcPts val="200"/>
                </a:spcAft>
              </a:pPr>
              <a:r>
                <a:rPr sz="1200" b="0" dirty="0">
                  <a:solidFill>
                    <a:schemeClr val="tx1"/>
                  </a:solidFill>
                </a:rPr>
                <a:t>S1  Start the service, open the page</a:t>
              </a:r>
            </a:p>
            <a:p>
              <a:pPr>
                <a:spcAft>
                  <a:spcPts val="200"/>
                </a:spcAft>
              </a:pPr>
              <a:r>
                <a:rPr sz="1200" b="0" dirty="0">
                  <a:solidFill>
                    <a:schemeClr val="tx1"/>
                  </a:solidFill>
                </a:rPr>
                <a:t>S2  Ticker: welcome each new client</a:t>
              </a:r>
            </a:p>
            <a:p>
              <a:pPr>
                <a:spcAft>
                  <a:spcPts val="200"/>
                </a:spcAft>
              </a:pPr>
              <a:r>
                <a:rPr sz="1200" b="0" dirty="0">
                  <a:solidFill>
                    <a:schemeClr val="tx1"/>
                  </a:solidFill>
                </a:rPr>
                <a:t>S3  Broadcast: send to everyone</a:t>
              </a:r>
            </a:p>
            <a:p>
              <a:pPr>
                <a:spcAft>
                  <a:spcPts val="200"/>
                </a:spcAft>
              </a:pPr>
              <a:r>
                <a:rPr sz="1200" b="0" dirty="0">
                  <a:solidFill>
                    <a:schemeClr val="tx1"/>
                  </a:solidFill>
                </a:rPr>
                <a:t>S4  Two tabs; </a:t>
              </a:r>
              <a:r>
                <a:rPr sz="1200" b="0" dirty="0" err="1">
                  <a:solidFill>
                    <a:schemeClr val="tx1"/>
                  </a:solidFill>
                </a:rPr>
                <a:t>server.Stop</a:t>
              </a:r>
              <a:r>
                <a:rPr sz="1200" b="0" dirty="0">
                  <a:solidFill>
                    <a:schemeClr val="tx1"/>
                  </a:solidFill>
                </a:rPr>
                <a:t> and </a:t>
              </a:r>
              <a:r>
                <a:rPr sz="1200" b="0" dirty="0" err="1">
                  <a:solidFill>
                    <a:schemeClr val="tx1"/>
                  </a:solidFill>
                </a:rPr>
                <a:t>server.Start</a:t>
              </a:r>
              <a:endParaRPr sz="1200" b="0" dirty="0">
                <a:solidFill>
                  <a:schemeClr val="tx1"/>
                </a:solidFill>
              </a:endParaRPr>
            </a:p>
            <a:p>
              <a:pPr>
                <a:spcAft>
                  <a:spcPts val="200"/>
                </a:spcAft>
              </a:pPr>
              <a:r>
                <a:rPr sz="1200" b="0" dirty="0">
                  <a:solidFill>
                    <a:schemeClr val="tx1"/>
                  </a:solidFill>
                </a:rPr>
                <a:t>S5  Stop</a:t>
              </a:r>
            </a:p>
          </p:txBody>
        </p:sp>
      </p:grpSp>
      <p:grpSp>
        <p:nvGrpSpPr>
          <p:cNvPr id="13" name="Group 12">
            <a:extLst>
              <a:ext uri="{FF2B5EF4-FFF2-40B4-BE49-F238E27FC236}">
                <a16:creationId xmlns:a16="http://schemas.microsoft.com/office/drawing/2014/main" id="{D9A69713-E11B-8659-D506-E0FEBB459680}"/>
              </a:ext>
            </a:extLst>
          </p:cNvPr>
          <p:cNvGrpSpPr/>
          <p:nvPr/>
        </p:nvGrpSpPr>
        <p:grpSpPr>
          <a:xfrm>
            <a:off x="320040" y="3291840"/>
            <a:ext cx="8503920" cy="1016770"/>
            <a:chOff x="320040" y="3291840"/>
            <a:chExt cx="8503920" cy="1016770"/>
          </a:xfrm>
        </p:grpSpPr>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Load 3</a:t>
              </a:r>
            </a:p>
          </p:txBody>
        </p:sp>
        <p:sp>
          <p:nvSpPr>
            <p:cNvPr id="10" name="readme"/>
            <p:cNvSpPr txBox="1"/>
            <p:nvPr/>
          </p:nvSpPr>
          <p:spPr>
            <a:xfrm>
              <a:off x="320040" y="4123944"/>
              <a:ext cx="8503920" cy="184666"/>
            </a:xfrm>
            <a:prstGeom prst="rect">
              <a:avLst/>
            </a:prstGeom>
            <a:noFill/>
          </p:spPr>
          <p:txBody>
            <a:bodyPr wrap="square" lIns="0" tIns="0" rIns="0" bIns="0" anchor="t">
              <a:spAutoFit/>
            </a:bodyPr>
            <a:lstStyle/>
            <a:p>
              <a:r>
                <a:rPr sz="1200" b="0" dirty="0">
                  <a:solidFill>
                    <a:schemeClr val="tx2"/>
                  </a:solidFill>
                </a:rPr>
                <a:t>Exercises/Ex3-SSE/README.</a:t>
              </a:r>
              <a:r>
                <a:rPr lang="en-US" sz="1200" dirty="0">
                  <a:solidFill>
                    <a:schemeClr val="tx2"/>
                  </a:solidFill>
                </a:rPr>
                <a:t>html</a:t>
              </a:r>
              <a:endParaRPr sz="1200" b="0" dirty="0">
                <a:solidFill>
                  <a:schemeClr val="tx2"/>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WebSockets</a:t>
            </a:r>
          </a:p>
        </p:txBody>
      </p:sp>
      <p:sp>
        <p:nvSpPr>
          <p:cNvPr id="3" name="Text Placeholder 2"/>
          <p:cNvSpPr>
            <a:spLocks noGrp="1"/>
          </p:cNvSpPr>
          <p:nvPr>
            <p:ph type="body" sz="quarter" idx="10"/>
          </p:nvPr>
        </p:nvSpPr>
        <p:spPr/>
        <p:txBody>
          <a:bodyPr/>
          <a:lstStyle/>
          <a:p>
            <a:r>
              <a:rPr sz="1800" b="0">
                <a:solidFill>
                  <a:schemeClr val="tx1"/>
                </a:solidFill>
              </a:rPr>
              <a:t>One connection, and both sides talk whenever they like</a:t>
            </a:r>
          </a:p>
          <a:p>
            <a:r>
              <a:rPr sz="1400" b="0">
                <a:solidFill>
                  <a:schemeClr val="accent1"/>
                </a:solidFill>
              </a:rPr>
              <a:t>10 minutes, then Exercise 4 after the break</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Upgrade, then talk both ways</a:t>
            </a:r>
          </a:p>
        </p:txBody>
      </p:sp>
      <p:grpSp>
        <p:nvGrpSpPr>
          <p:cNvPr id="30" name="Group 29">
            <a:extLst>
              <a:ext uri="{FF2B5EF4-FFF2-40B4-BE49-F238E27FC236}">
                <a16:creationId xmlns:a16="http://schemas.microsoft.com/office/drawing/2014/main" id="{9F0AFC25-CDFC-BDB6-C4B1-91B6B9C93C32}"/>
              </a:ext>
            </a:extLst>
          </p:cNvPr>
          <p:cNvGrpSpPr/>
          <p:nvPr/>
        </p:nvGrpSpPr>
        <p:grpSpPr>
          <a:xfrm>
            <a:off x="688008" y="1234440"/>
            <a:ext cx="4380573" cy="3251890"/>
            <a:chOff x="688008" y="1234440"/>
            <a:chExt cx="4380573" cy="3251890"/>
          </a:xfrm>
        </p:grpSpPr>
        <p:cxnSp>
          <p:nvCxnSpPr>
            <p:cNvPr id="3" name="lane"/>
            <p:cNvCxnSpPr/>
            <p:nvPr/>
          </p:nvCxnSpPr>
          <p:spPr>
            <a:xfrm>
              <a:off x="1599167"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 name="lane head"/>
            <p:cNvSpPr/>
            <p:nvPr/>
          </p:nvSpPr>
          <p:spPr>
            <a:xfrm>
              <a:off x="688008"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lane name"/>
            <p:cNvSpPr txBox="1"/>
            <p:nvPr/>
          </p:nvSpPr>
          <p:spPr>
            <a:xfrm>
              <a:off x="688008" y="1234440"/>
              <a:ext cx="1822318" cy="361321"/>
            </a:xfrm>
            <a:prstGeom prst="rect">
              <a:avLst/>
            </a:prstGeom>
            <a:noFill/>
          </p:spPr>
          <p:txBody>
            <a:bodyPr wrap="square" lIns="0" tIns="0" rIns="0" bIns="0" anchor="ctr">
              <a:spAutoFit/>
            </a:bodyPr>
            <a:lstStyle/>
            <a:p>
              <a:pPr algn="ctr"/>
              <a:r>
                <a:rPr sz="1200" b="1">
                  <a:solidFill>
                    <a:schemeClr val="tx1"/>
                  </a:solidFill>
                </a:rPr>
                <a:t>Browser</a:t>
              </a:r>
            </a:p>
          </p:txBody>
        </p:sp>
        <p:cxnSp>
          <p:nvCxnSpPr>
            <p:cNvPr id="6" name="lane"/>
            <p:cNvCxnSpPr/>
            <p:nvPr/>
          </p:nvCxnSpPr>
          <p:spPr>
            <a:xfrm>
              <a:off x="4157422" y="1595761"/>
              <a:ext cx="0" cy="28905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3246263" y="1234440"/>
              <a:ext cx="1822318" cy="36132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lane name"/>
            <p:cNvSpPr txBox="1"/>
            <p:nvPr/>
          </p:nvSpPr>
          <p:spPr>
            <a:xfrm>
              <a:off x="3246263" y="1234440"/>
              <a:ext cx="1822318" cy="361321"/>
            </a:xfrm>
            <a:prstGeom prst="rect">
              <a:avLst/>
            </a:prstGeom>
            <a:noFill/>
          </p:spPr>
          <p:txBody>
            <a:bodyPr wrap="square" lIns="0" tIns="0" rIns="0" bIns="0" anchor="ctr">
              <a:spAutoFit/>
            </a:bodyPr>
            <a:lstStyle/>
            <a:p>
              <a:pPr algn="ctr"/>
              <a:r>
                <a:rPr sz="1200" b="1">
                  <a:solidFill>
                    <a:schemeClr val="tx1"/>
                  </a:solidFill>
                </a:rPr>
                <a:t>Jarvis :8084</a:t>
              </a:r>
            </a:p>
          </p:txBody>
        </p:sp>
      </p:grpSp>
      <p:grpSp>
        <p:nvGrpSpPr>
          <p:cNvPr id="31" name="Group 30">
            <a:extLst>
              <a:ext uri="{FF2B5EF4-FFF2-40B4-BE49-F238E27FC236}">
                <a16:creationId xmlns:a16="http://schemas.microsoft.com/office/drawing/2014/main" id="{2F03B52D-DFF8-EF4E-C59D-C832BE872145}"/>
              </a:ext>
            </a:extLst>
          </p:cNvPr>
          <p:cNvGrpSpPr/>
          <p:nvPr/>
        </p:nvGrpSpPr>
        <p:grpSpPr>
          <a:xfrm>
            <a:off x="1599167" y="1674594"/>
            <a:ext cx="2558255" cy="282488"/>
            <a:chOff x="1599167" y="1674594"/>
            <a:chExt cx="2558255" cy="282488"/>
          </a:xfrm>
        </p:grpSpPr>
        <p:cxnSp>
          <p:nvCxnSpPr>
            <p:cNvPr id="9" name="message"/>
            <p:cNvCxnSpPr/>
            <p:nvPr/>
          </p:nvCxnSpPr>
          <p:spPr>
            <a:xfrm>
              <a:off x="1599167" y="1957082"/>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0" name="message label"/>
            <p:cNvSpPr txBox="1"/>
            <p:nvPr/>
          </p:nvSpPr>
          <p:spPr>
            <a:xfrm>
              <a:off x="1634212" y="1674594"/>
              <a:ext cx="2488165" cy="236501"/>
            </a:xfrm>
            <a:prstGeom prst="rect">
              <a:avLst/>
            </a:prstGeom>
            <a:noFill/>
          </p:spPr>
          <p:txBody>
            <a:bodyPr wrap="square" lIns="0" tIns="0" rIns="0" bIns="0" anchor="b">
              <a:spAutoFit/>
            </a:bodyPr>
            <a:lstStyle/>
            <a:p>
              <a:pPr algn="ctr"/>
              <a:r>
                <a:rPr sz="1000" b="0" dirty="0">
                  <a:solidFill>
                    <a:schemeClr val="tx1"/>
                  </a:solidFill>
                  <a:latin typeface="APL385 Unicode"/>
                </a:rPr>
                <a:t>GET /chat  Upgrade: </a:t>
              </a:r>
              <a:r>
                <a:rPr sz="1000" b="0" dirty="0" err="1">
                  <a:solidFill>
                    <a:schemeClr val="tx1"/>
                  </a:solidFill>
                  <a:latin typeface="APL385 Unicode"/>
                </a:rPr>
                <a:t>websocket</a:t>
              </a:r>
              <a:endParaRPr sz="1000" b="0" dirty="0">
                <a:solidFill>
                  <a:schemeClr val="tx1"/>
                </a:solidFill>
                <a:latin typeface="APL385 Unicode"/>
              </a:endParaRPr>
            </a:p>
          </p:txBody>
        </p:sp>
      </p:grpSp>
      <p:grpSp>
        <p:nvGrpSpPr>
          <p:cNvPr id="32" name="Group 31">
            <a:extLst>
              <a:ext uri="{FF2B5EF4-FFF2-40B4-BE49-F238E27FC236}">
                <a16:creationId xmlns:a16="http://schemas.microsoft.com/office/drawing/2014/main" id="{10043FC8-4BF5-127D-375B-8C0A2CEB1A47}"/>
              </a:ext>
            </a:extLst>
          </p:cNvPr>
          <p:cNvGrpSpPr/>
          <p:nvPr/>
        </p:nvGrpSpPr>
        <p:grpSpPr>
          <a:xfrm>
            <a:off x="1599167" y="2068763"/>
            <a:ext cx="2558255" cy="282487"/>
            <a:chOff x="1599167" y="2068763"/>
            <a:chExt cx="2558255" cy="282487"/>
          </a:xfrm>
        </p:grpSpPr>
        <p:cxnSp>
          <p:nvCxnSpPr>
            <p:cNvPr id="11" name="message"/>
            <p:cNvCxnSpPr/>
            <p:nvPr/>
          </p:nvCxnSpPr>
          <p:spPr>
            <a:xfrm flipH="1">
              <a:off x="1599167" y="235125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 name="message label"/>
            <p:cNvSpPr txBox="1"/>
            <p:nvPr/>
          </p:nvSpPr>
          <p:spPr>
            <a:xfrm>
              <a:off x="1634212" y="2068763"/>
              <a:ext cx="2488165" cy="236501"/>
            </a:xfrm>
            <a:prstGeom prst="rect">
              <a:avLst/>
            </a:prstGeom>
            <a:noFill/>
          </p:spPr>
          <p:txBody>
            <a:bodyPr wrap="square" lIns="0" tIns="0" rIns="0" bIns="0" anchor="b">
              <a:spAutoFit/>
            </a:bodyPr>
            <a:lstStyle/>
            <a:p>
              <a:pPr algn="ctr"/>
              <a:r>
                <a:rPr sz="1000" b="0" dirty="0">
                  <a:solidFill>
                    <a:schemeClr val="tx1"/>
                  </a:solidFill>
                  <a:latin typeface="APL385 Unicode"/>
                </a:rPr>
                <a:t>101 Switching Protocols</a:t>
              </a:r>
            </a:p>
          </p:txBody>
        </p:sp>
      </p:grpSp>
      <p:grpSp>
        <p:nvGrpSpPr>
          <p:cNvPr id="33" name="Group 32">
            <a:extLst>
              <a:ext uri="{FF2B5EF4-FFF2-40B4-BE49-F238E27FC236}">
                <a16:creationId xmlns:a16="http://schemas.microsoft.com/office/drawing/2014/main" id="{B532D0DB-C887-2EB1-B099-8200CD711B0E}"/>
              </a:ext>
            </a:extLst>
          </p:cNvPr>
          <p:cNvGrpSpPr/>
          <p:nvPr/>
        </p:nvGrpSpPr>
        <p:grpSpPr>
          <a:xfrm>
            <a:off x="1599167" y="2561474"/>
            <a:ext cx="2558255" cy="282487"/>
            <a:chOff x="1599167" y="2561474"/>
            <a:chExt cx="2558255" cy="282487"/>
          </a:xfrm>
        </p:grpSpPr>
        <p:cxnSp>
          <p:nvCxnSpPr>
            <p:cNvPr id="13" name="message"/>
            <p:cNvCxnSpPr/>
            <p:nvPr/>
          </p:nvCxnSpPr>
          <p:spPr>
            <a:xfrm>
              <a:off x="1599167" y="2843961"/>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1634212" y="2561474"/>
              <a:ext cx="2488165" cy="236501"/>
            </a:xfrm>
            <a:prstGeom prst="rect">
              <a:avLst/>
            </a:prstGeom>
            <a:noFill/>
          </p:spPr>
          <p:txBody>
            <a:bodyPr wrap="square" lIns="0" tIns="0" rIns="0" bIns="0" anchor="b">
              <a:spAutoFit/>
            </a:bodyPr>
            <a:lstStyle/>
            <a:p>
              <a:pPr algn="ctr"/>
              <a:r>
                <a:rPr sz="1000" b="0" dirty="0">
                  <a:solidFill>
                    <a:schemeClr val="tx1"/>
                  </a:solidFill>
                  <a:latin typeface="APL385 Unicode"/>
                </a:rPr>
                <a:t>{"</a:t>
              </a:r>
              <a:r>
                <a:rPr sz="1000" b="0" dirty="0" err="1">
                  <a:solidFill>
                    <a:schemeClr val="tx1"/>
                  </a:solidFill>
                  <a:latin typeface="APL385 Unicode"/>
                </a:rPr>
                <a:t>type":"join","user":"Ada</a:t>
              </a:r>
              <a:r>
                <a:rPr sz="1000" b="0" dirty="0">
                  <a:solidFill>
                    <a:schemeClr val="tx1"/>
                  </a:solidFill>
                  <a:latin typeface="APL385 Unicode"/>
                </a:rPr>
                <a:t>"}</a:t>
              </a:r>
            </a:p>
          </p:txBody>
        </p:sp>
      </p:grpSp>
      <p:grpSp>
        <p:nvGrpSpPr>
          <p:cNvPr id="34" name="Group 33">
            <a:extLst>
              <a:ext uri="{FF2B5EF4-FFF2-40B4-BE49-F238E27FC236}">
                <a16:creationId xmlns:a16="http://schemas.microsoft.com/office/drawing/2014/main" id="{DD82D0BB-E66C-4DB3-45E2-F0C648371D34}"/>
              </a:ext>
            </a:extLst>
          </p:cNvPr>
          <p:cNvGrpSpPr/>
          <p:nvPr/>
        </p:nvGrpSpPr>
        <p:grpSpPr>
          <a:xfrm>
            <a:off x="1599167" y="2955642"/>
            <a:ext cx="2558255" cy="282488"/>
            <a:chOff x="1599167" y="2955642"/>
            <a:chExt cx="2558255" cy="282488"/>
          </a:xfrm>
        </p:grpSpPr>
        <p:cxnSp>
          <p:nvCxnSpPr>
            <p:cNvPr id="15" name="message"/>
            <p:cNvCxnSpPr/>
            <p:nvPr/>
          </p:nvCxnSpPr>
          <p:spPr>
            <a:xfrm flipH="1">
              <a:off x="1599167" y="323813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634212" y="2955642"/>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{"type":"join","user":"Ada",…}</a:t>
              </a:r>
            </a:p>
          </p:txBody>
        </p:sp>
      </p:grpSp>
      <p:grpSp>
        <p:nvGrpSpPr>
          <p:cNvPr id="35" name="Group 34">
            <a:extLst>
              <a:ext uri="{FF2B5EF4-FFF2-40B4-BE49-F238E27FC236}">
                <a16:creationId xmlns:a16="http://schemas.microsoft.com/office/drawing/2014/main" id="{DFF358D4-E6A6-B1E7-1F9D-FFBD5AA71677}"/>
              </a:ext>
            </a:extLst>
          </p:cNvPr>
          <p:cNvGrpSpPr/>
          <p:nvPr/>
        </p:nvGrpSpPr>
        <p:grpSpPr>
          <a:xfrm>
            <a:off x="1599167" y="3382658"/>
            <a:ext cx="2558255" cy="282488"/>
            <a:chOff x="1599167" y="3382658"/>
            <a:chExt cx="2558255" cy="282488"/>
          </a:xfrm>
        </p:grpSpPr>
        <p:cxnSp>
          <p:nvCxnSpPr>
            <p:cNvPr id="17" name="message"/>
            <p:cNvCxnSpPr/>
            <p:nvPr/>
          </p:nvCxnSpPr>
          <p:spPr>
            <a:xfrm>
              <a:off x="1599167" y="3665146"/>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8" name="message label"/>
            <p:cNvSpPr txBox="1"/>
            <p:nvPr/>
          </p:nvSpPr>
          <p:spPr>
            <a:xfrm>
              <a:off x="1634212" y="3382658"/>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{"type":"msg","text":"Hello"}</a:t>
              </a:r>
            </a:p>
          </p:txBody>
        </p:sp>
      </p:grpSp>
      <p:grpSp>
        <p:nvGrpSpPr>
          <p:cNvPr id="36" name="Group 35">
            <a:extLst>
              <a:ext uri="{FF2B5EF4-FFF2-40B4-BE49-F238E27FC236}">
                <a16:creationId xmlns:a16="http://schemas.microsoft.com/office/drawing/2014/main" id="{C15A35B7-D5CD-3DE3-987E-D1245105A466}"/>
              </a:ext>
            </a:extLst>
          </p:cNvPr>
          <p:cNvGrpSpPr/>
          <p:nvPr/>
        </p:nvGrpSpPr>
        <p:grpSpPr>
          <a:xfrm>
            <a:off x="1599167" y="3776827"/>
            <a:ext cx="2558255" cy="282487"/>
            <a:chOff x="1599167" y="3776827"/>
            <a:chExt cx="2558255" cy="282487"/>
          </a:xfrm>
        </p:grpSpPr>
        <p:cxnSp>
          <p:nvCxnSpPr>
            <p:cNvPr id="19" name="message"/>
            <p:cNvCxnSpPr/>
            <p:nvPr/>
          </p:nvCxnSpPr>
          <p:spPr>
            <a:xfrm flipH="1">
              <a:off x="1599167" y="4059314"/>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1634212" y="3776827"/>
              <a:ext cx="2488165" cy="236501"/>
            </a:xfrm>
            <a:prstGeom prst="rect">
              <a:avLst/>
            </a:prstGeom>
            <a:noFill/>
          </p:spPr>
          <p:txBody>
            <a:bodyPr wrap="square" lIns="0" tIns="0" rIns="0" bIns="0" anchor="b">
              <a:spAutoFit/>
            </a:bodyPr>
            <a:lstStyle/>
            <a:p>
              <a:pPr algn="ctr"/>
              <a:r>
                <a:rPr sz="1000" b="0">
                  <a:solidFill>
                    <a:schemeClr val="tx1"/>
                  </a:solidFill>
                  <a:latin typeface="APL385 Unicode"/>
                </a:rPr>
                <a:t>{"type":"msg","user":"Ada",…}</a:t>
              </a:r>
            </a:p>
          </p:txBody>
        </p:sp>
      </p:grpSp>
      <p:grpSp>
        <p:nvGrpSpPr>
          <p:cNvPr id="37" name="Group 36">
            <a:extLst>
              <a:ext uri="{FF2B5EF4-FFF2-40B4-BE49-F238E27FC236}">
                <a16:creationId xmlns:a16="http://schemas.microsoft.com/office/drawing/2014/main" id="{A12B15C7-DC77-F401-F5ED-20C25D1A050E}"/>
              </a:ext>
            </a:extLst>
          </p:cNvPr>
          <p:cNvGrpSpPr/>
          <p:nvPr/>
        </p:nvGrpSpPr>
        <p:grpSpPr>
          <a:xfrm>
            <a:off x="5716906" y="1234440"/>
            <a:ext cx="3083923" cy="1051116"/>
            <a:chOff x="5716906" y="1234440"/>
            <a:chExt cx="3083923" cy="1051116"/>
          </a:xfrm>
        </p:grpSpPr>
        <p:sp>
          <p:nvSpPr>
            <p:cNvPr id="21" name="card"/>
            <p:cNvSpPr/>
            <p:nvPr/>
          </p:nvSpPr>
          <p:spPr>
            <a:xfrm>
              <a:off x="5716906" y="1234440"/>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ard head"/>
            <p:cNvSpPr txBox="1"/>
            <p:nvPr/>
          </p:nvSpPr>
          <p:spPr>
            <a:xfrm>
              <a:off x="5927174" y="1378968"/>
              <a:ext cx="2663388" cy="328473"/>
            </a:xfrm>
            <a:prstGeom prst="rect">
              <a:avLst/>
            </a:prstGeom>
            <a:noFill/>
          </p:spPr>
          <p:txBody>
            <a:bodyPr wrap="square" lIns="0" tIns="0" rIns="0" bIns="0" anchor="t">
              <a:spAutoFit/>
            </a:bodyPr>
            <a:lstStyle/>
            <a:p>
              <a:r>
                <a:rPr sz="1500" b="1">
                  <a:solidFill>
                    <a:schemeClr val="tx1"/>
                  </a:solidFill>
                </a:rPr>
                <a:t>Starts as HTTP</a:t>
              </a:r>
            </a:p>
          </p:txBody>
        </p:sp>
        <p:sp>
          <p:nvSpPr>
            <p:cNvPr id="23" name="card body"/>
            <p:cNvSpPr txBox="1"/>
            <p:nvPr/>
          </p:nvSpPr>
          <p:spPr>
            <a:xfrm>
              <a:off x="5927174" y="1759998"/>
              <a:ext cx="2663388" cy="427015"/>
            </a:xfrm>
            <a:prstGeom prst="rect">
              <a:avLst/>
            </a:prstGeom>
            <a:noFill/>
          </p:spPr>
          <p:txBody>
            <a:bodyPr wrap="square" lIns="0" tIns="0" rIns="0" bIns="0" anchor="t">
              <a:spAutoFit/>
            </a:bodyPr>
            <a:lstStyle/>
            <a:p>
              <a:r>
                <a:rPr sz="1200" b="0">
                  <a:solidFill>
                    <a:schemeClr val="tx1"/>
                  </a:solidFill>
                </a:rPr>
                <a:t>The browser asks to upgrade; the server agrees.</a:t>
              </a:r>
            </a:p>
          </p:txBody>
        </p:sp>
      </p:grpSp>
      <p:grpSp>
        <p:nvGrpSpPr>
          <p:cNvPr id="38" name="Group 37">
            <a:extLst>
              <a:ext uri="{FF2B5EF4-FFF2-40B4-BE49-F238E27FC236}">
                <a16:creationId xmlns:a16="http://schemas.microsoft.com/office/drawing/2014/main" id="{5C8BFED4-BF10-3679-F83B-87050F12A1C3}"/>
              </a:ext>
            </a:extLst>
          </p:cNvPr>
          <p:cNvGrpSpPr/>
          <p:nvPr/>
        </p:nvGrpSpPr>
        <p:grpSpPr>
          <a:xfrm>
            <a:off x="5716906" y="2384098"/>
            <a:ext cx="3083923" cy="1051116"/>
            <a:chOff x="5716906" y="2384098"/>
            <a:chExt cx="3083923" cy="1051116"/>
          </a:xfrm>
        </p:grpSpPr>
        <p:sp>
          <p:nvSpPr>
            <p:cNvPr id="24" name="card"/>
            <p:cNvSpPr/>
            <p:nvPr/>
          </p:nvSpPr>
          <p:spPr>
            <a:xfrm>
              <a:off x="5716906" y="2384098"/>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card head"/>
            <p:cNvSpPr txBox="1"/>
            <p:nvPr/>
          </p:nvSpPr>
          <p:spPr>
            <a:xfrm>
              <a:off x="5927174" y="2528626"/>
              <a:ext cx="2663388" cy="328473"/>
            </a:xfrm>
            <a:prstGeom prst="rect">
              <a:avLst/>
            </a:prstGeom>
            <a:noFill/>
          </p:spPr>
          <p:txBody>
            <a:bodyPr wrap="square" lIns="0" tIns="0" rIns="0" bIns="0" anchor="t">
              <a:spAutoFit/>
            </a:bodyPr>
            <a:lstStyle/>
            <a:p>
              <a:r>
                <a:rPr sz="1500" b="1">
                  <a:solidFill>
                    <a:schemeClr val="tx1"/>
                  </a:solidFill>
                </a:rPr>
                <a:t>Then two-way</a:t>
              </a:r>
            </a:p>
          </p:txBody>
        </p:sp>
        <p:sp>
          <p:nvSpPr>
            <p:cNvPr id="26" name="card body"/>
            <p:cNvSpPr txBox="1"/>
            <p:nvPr/>
          </p:nvSpPr>
          <p:spPr>
            <a:xfrm>
              <a:off x="5927174" y="2909656"/>
              <a:ext cx="2663388" cy="427015"/>
            </a:xfrm>
            <a:prstGeom prst="rect">
              <a:avLst/>
            </a:prstGeom>
            <a:noFill/>
          </p:spPr>
          <p:txBody>
            <a:bodyPr wrap="square" lIns="0" tIns="0" rIns="0" bIns="0" anchor="t">
              <a:spAutoFit/>
            </a:bodyPr>
            <a:lstStyle/>
            <a:p>
              <a:r>
                <a:rPr sz="1200" b="0">
                  <a:solidFill>
                    <a:schemeClr val="tx1"/>
                  </a:solidFill>
                </a:rPr>
                <a:t>Either side sends a message at any time.</a:t>
              </a:r>
            </a:p>
          </p:txBody>
        </p:sp>
      </p:grpSp>
      <p:grpSp>
        <p:nvGrpSpPr>
          <p:cNvPr id="39" name="Group 38">
            <a:extLst>
              <a:ext uri="{FF2B5EF4-FFF2-40B4-BE49-F238E27FC236}">
                <a16:creationId xmlns:a16="http://schemas.microsoft.com/office/drawing/2014/main" id="{33C6AFC0-B2F3-7853-61DA-24FE667D9FAA}"/>
              </a:ext>
            </a:extLst>
          </p:cNvPr>
          <p:cNvGrpSpPr/>
          <p:nvPr/>
        </p:nvGrpSpPr>
        <p:grpSpPr>
          <a:xfrm>
            <a:off x="5716906" y="3533756"/>
            <a:ext cx="3083923" cy="1051116"/>
            <a:chOff x="5716906" y="3533756"/>
            <a:chExt cx="3083923" cy="1051116"/>
          </a:xfrm>
        </p:grpSpPr>
        <p:sp>
          <p:nvSpPr>
            <p:cNvPr id="27" name="card"/>
            <p:cNvSpPr/>
            <p:nvPr/>
          </p:nvSpPr>
          <p:spPr>
            <a:xfrm>
              <a:off x="5716906" y="3533756"/>
              <a:ext cx="3083923" cy="105111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card head"/>
            <p:cNvSpPr txBox="1"/>
            <p:nvPr/>
          </p:nvSpPr>
          <p:spPr>
            <a:xfrm>
              <a:off x="5927174" y="3678284"/>
              <a:ext cx="2663388" cy="328473"/>
            </a:xfrm>
            <a:prstGeom prst="rect">
              <a:avLst/>
            </a:prstGeom>
            <a:noFill/>
          </p:spPr>
          <p:txBody>
            <a:bodyPr wrap="square" lIns="0" tIns="0" rIns="0" bIns="0" anchor="t">
              <a:spAutoFit/>
            </a:bodyPr>
            <a:lstStyle/>
            <a:p>
              <a:r>
                <a:rPr sz="1500" b="1">
                  <a:solidFill>
                    <a:schemeClr val="tx1"/>
                  </a:solidFill>
                </a:rPr>
                <a:t>No reconnecting</a:t>
              </a:r>
            </a:p>
          </p:txBody>
        </p:sp>
        <p:sp>
          <p:nvSpPr>
            <p:cNvPr id="29" name="card body"/>
            <p:cNvSpPr txBox="1"/>
            <p:nvPr/>
          </p:nvSpPr>
          <p:spPr>
            <a:xfrm>
              <a:off x="5927174" y="4059314"/>
              <a:ext cx="2663388" cy="427015"/>
            </a:xfrm>
            <a:prstGeom prst="rect">
              <a:avLst/>
            </a:prstGeom>
            <a:noFill/>
          </p:spPr>
          <p:txBody>
            <a:bodyPr wrap="square" lIns="0" tIns="0" rIns="0" bIns="0" anchor="t">
              <a:spAutoFit/>
            </a:bodyPr>
            <a:lstStyle/>
            <a:p>
              <a:r>
                <a:rPr sz="1200" b="0">
                  <a:solidFill>
                    <a:schemeClr val="tx1"/>
                  </a:solidFill>
                </a:rPr>
                <a:t>If it closes, it stays closed.</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5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5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5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5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5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500"/>
                                        <p:tgtEl>
                                          <p:spTgt spid="3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9"/>
                                        </p:tgtEl>
                                        <p:attrNameLst>
                                          <p:attrName>style.visibility</p:attrName>
                                        </p:attrNameLst>
                                      </p:cBhvr>
                                      <p:to>
                                        <p:strVal val="visible"/>
                                      </p:to>
                                    </p:set>
                                    <p:animEffect transition="in" filter="fade">
                                      <p:cBhvr>
                                        <p:cTn id="5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DFF9E-D361-F85F-8C90-F12690506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E417AF-D6E6-62E4-4FD4-4229601CE234}"/>
              </a:ext>
            </a:extLst>
          </p:cNvPr>
          <p:cNvSpPr>
            <a:spLocks noGrp="1"/>
          </p:cNvSpPr>
          <p:nvPr>
            <p:ph type="title"/>
          </p:nvPr>
        </p:nvSpPr>
        <p:spPr/>
        <p:txBody>
          <a:bodyPr/>
          <a:lstStyle/>
          <a:p>
            <a:r>
              <a:rPr sz="2800"/>
              <a:t>Three hooks, written by you</a:t>
            </a:r>
          </a:p>
        </p:txBody>
      </p:sp>
      <p:grpSp>
        <p:nvGrpSpPr>
          <p:cNvPr id="61" name="Group 60">
            <a:extLst>
              <a:ext uri="{FF2B5EF4-FFF2-40B4-BE49-F238E27FC236}">
                <a16:creationId xmlns:a16="http://schemas.microsoft.com/office/drawing/2014/main" id="{41B928F8-63C0-5DAF-E991-FB101702B457}"/>
              </a:ext>
            </a:extLst>
          </p:cNvPr>
          <p:cNvGrpSpPr/>
          <p:nvPr/>
        </p:nvGrpSpPr>
        <p:grpSpPr>
          <a:xfrm>
            <a:off x="320040" y="3008198"/>
            <a:ext cx="8503920" cy="492710"/>
            <a:chOff x="320040" y="3008198"/>
            <a:chExt cx="8503920" cy="492710"/>
          </a:xfrm>
        </p:grpSpPr>
        <p:sp>
          <p:nvSpPr>
            <p:cNvPr id="4" name="code panel">
              <a:extLst>
                <a:ext uri="{FF2B5EF4-FFF2-40B4-BE49-F238E27FC236}">
                  <a16:creationId xmlns:a16="http://schemas.microsoft.com/office/drawing/2014/main" id="{16563292-CC1A-FE11-C7D4-AB3191B968B3}"/>
                </a:ext>
              </a:extLst>
            </p:cNvPr>
            <p:cNvSpPr/>
            <p:nvPr/>
          </p:nvSpPr>
          <p:spPr>
            <a:xfrm>
              <a:off x="320040" y="3008198"/>
              <a:ext cx="8503920" cy="49271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code">
              <a:extLst>
                <a:ext uri="{FF2B5EF4-FFF2-40B4-BE49-F238E27FC236}">
                  <a16:creationId xmlns:a16="http://schemas.microsoft.com/office/drawing/2014/main" id="{516FDA72-DFA2-8620-A133-AAF4330B1F41}"/>
                </a:ext>
              </a:extLst>
            </p:cNvPr>
            <p:cNvSpPr txBox="1"/>
            <p:nvPr/>
          </p:nvSpPr>
          <p:spPr>
            <a:xfrm>
              <a:off x="460218" y="3087032"/>
              <a:ext cx="8223563" cy="200055"/>
            </a:xfrm>
            <a:prstGeom prst="rect">
              <a:avLst/>
            </a:prstGeom>
            <a:noFill/>
          </p:spPr>
          <p:txBody>
            <a:bodyPr wrap="square" lIns="0" tIns="0" rIns="0" bIns="0" anchor="t">
              <a:spAutoFit/>
            </a:bodyPr>
            <a:lstStyle/>
            <a:p>
              <a:r>
                <a:rPr sz="1300" b="0" dirty="0">
                  <a:solidFill>
                    <a:schemeClr val="tx1"/>
                  </a:solidFill>
                  <a:latin typeface="APL385 Unicode"/>
                </a:rPr>
                <a:t>Clients </a:t>
              </a:r>
              <a:r>
                <a:rPr sz="1300" b="0" dirty="0" err="1">
                  <a:solidFill>
                    <a:schemeClr val="tx1"/>
                  </a:solidFill>
                  <a:latin typeface="APL385 Unicode"/>
                </a:rPr>
                <a:t>ns.Server.WsSend</a:t>
              </a:r>
              <a:r>
                <a:rPr sz="1300" b="0" dirty="0">
                  <a:solidFill>
                    <a:schemeClr val="tx1"/>
                  </a:solidFill>
                  <a:latin typeface="APL385 Unicode"/>
                </a:rPr>
                <a:t> out   ⍝ send to connection names</a:t>
              </a:r>
            </a:p>
          </p:txBody>
        </p:sp>
      </p:grpSp>
      <p:grpSp>
        <p:nvGrpSpPr>
          <p:cNvPr id="62" name="Group 61">
            <a:extLst>
              <a:ext uri="{FF2B5EF4-FFF2-40B4-BE49-F238E27FC236}">
                <a16:creationId xmlns:a16="http://schemas.microsoft.com/office/drawing/2014/main" id="{AC323BAB-F409-7169-0757-D13E6145BA02}"/>
              </a:ext>
            </a:extLst>
          </p:cNvPr>
          <p:cNvGrpSpPr/>
          <p:nvPr/>
        </p:nvGrpSpPr>
        <p:grpSpPr>
          <a:xfrm>
            <a:off x="4709159" y="3632298"/>
            <a:ext cx="4135261" cy="985421"/>
            <a:chOff x="320040" y="3632298"/>
            <a:chExt cx="4135261" cy="985421"/>
          </a:xfrm>
        </p:grpSpPr>
        <p:sp>
          <p:nvSpPr>
            <p:cNvPr id="6" name="card">
              <a:extLst>
                <a:ext uri="{FF2B5EF4-FFF2-40B4-BE49-F238E27FC236}">
                  <a16:creationId xmlns:a16="http://schemas.microsoft.com/office/drawing/2014/main" id="{4298E98A-BB2E-7394-AFC9-FAF05409DA39}"/>
                </a:ext>
              </a:extLst>
            </p:cNvPr>
            <p:cNvSpPr/>
            <p:nvPr/>
          </p:nvSpPr>
          <p:spPr>
            <a:xfrm>
              <a:off x="320040" y="3632298"/>
              <a:ext cx="4135261" cy="98542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card head">
              <a:extLst>
                <a:ext uri="{FF2B5EF4-FFF2-40B4-BE49-F238E27FC236}">
                  <a16:creationId xmlns:a16="http://schemas.microsoft.com/office/drawing/2014/main" id="{EB288B64-9E39-D04E-C670-B1DB706EBA58}"/>
                </a:ext>
              </a:extLst>
            </p:cNvPr>
            <p:cNvSpPr txBox="1"/>
            <p:nvPr/>
          </p:nvSpPr>
          <p:spPr>
            <a:xfrm>
              <a:off x="530307" y="3776827"/>
              <a:ext cx="3714726" cy="328473"/>
            </a:xfrm>
            <a:prstGeom prst="rect">
              <a:avLst/>
            </a:prstGeom>
            <a:noFill/>
          </p:spPr>
          <p:txBody>
            <a:bodyPr wrap="square" lIns="0" tIns="0" rIns="0" bIns="0" anchor="t">
              <a:spAutoFit/>
            </a:bodyPr>
            <a:lstStyle/>
            <a:p>
              <a:r>
                <a:rPr sz="1400" b="1">
                  <a:solidFill>
                    <a:schemeClr val="tx1"/>
                  </a:solidFill>
                </a:rPr>
                <a:t>Every hook returns a result</a:t>
              </a:r>
            </a:p>
          </p:txBody>
        </p:sp>
        <p:sp>
          <p:nvSpPr>
            <p:cNvPr id="8" name="card body">
              <a:extLst>
                <a:ext uri="{FF2B5EF4-FFF2-40B4-BE49-F238E27FC236}">
                  <a16:creationId xmlns:a16="http://schemas.microsoft.com/office/drawing/2014/main" id="{C1FA52CD-782C-25B8-CAE6-B57064C23580}"/>
                </a:ext>
              </a:extLst>
            </p:cNvPr>
            <p:cNvSpPr txBox="1"/>
            <p:nvPr/>
          </p:nvSpPr>
          <p:spPr>
            <a:xfrm>
              <a:off x="530307" y="4157856"/>
              <a:ext cx="3714726" cy="361321"/>
            </a:xfrm>
            <a:prstGeom prst="rect">
              <a:avLst/>
            </a:prstGeom>
            <a:noFill/>
          </p:spPr>
          <p:txBody>
            <a:bodyPr wrap="square" lIns="0" tIns="0" rIns="0" bIns="0" anchor="t">
              <a:spAutoFit/>
            </a:bodyPr>
            <a:lstStyle/>
            <a:p>
              <a:r>
                <a:rPr sz="1200" b="0">
                  <a:solidFill>
                    <a:schemeClr val="tx1"/>
                  </a:solidFill>
                </a:rPr>
                <a:t>0 carries on. Anything else from Connect or Receive closes the connection.</a:t>
              </a:r>
            </a:p>
          </p:txBody>
        </p:sp>
      </p:grpSp>
      <p:grpSp>
        <p:nvGrpSpPr>
          <p:cNvPr id="63" name="Group 62">
            <a:extLst>
              <a:ext uri="{FF2B5EF4-FFF2-40B4-BE49-F238E27FC236}">
                <a16:creationId xmlns:a16="http://schemas.microsoft.com/office/drawing/2014/main" id="{B79E2F97-1271-8C60-DF07-ABE726BBC271}"/>
              </a:ext>
            </a:extLst>
          </p:cNvPr>
          <p:cNvGrpSpPr/>
          <p:nvPr/>
        </p:nvGrpSpPr>
        <p:grpSpPr>
          <a:xfrm>
            <a:off x="311165" y="3665145"/>
            <a:ext cx="4135261" cy="985421"/>
            <a:chOff x="4654820" y="3641576"/>
            <a:chExt cx="4135261" cy="985421"/>
          </a:xfrm>
        </p:grpSpPr>
        <p:sp>
          <p:nvSpPr>
            <p:cNvPr id="13" name="card">
              <a:extLst>
                <a:ext uri="{FF2B5EF4-FFF2-40B4-BE49-F238E27FC236}">
                  <a16:creationId xmlns:a16="http://schemas.microsoft.com/office/drawing/2014/main" id="{5B0E6D29-21E5-6B6E-2CB4-01F59062FAF7}"/>
                </a:ext>
              </a:extLst>
            </p:cNvPr>
            <p:cNvSpPr/>
            <p:nvPr/>
          </p:nvSpPr>
          <p:spPr>
            <a:xfrm>
              <a:off x="4654820" y="3641576"/>
              <a:ext cx="4135261" cy="98542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card head">
              <a:extLst>
                <a:ext uri="{FF2B5EF4-FFF2-40B4-BE49-F238E27FC236}">
                  <a16:creationId xmlns:a16="http://schemas.microsoft.com/office/drawing/2014/main" id="{D063CEA2-AFDF-7D3F-78DF-52B71C166272}"/>
                </a:ext>
              </a:extLst>
            </p:cNvPr>
            <p:cNvSpPr txBox="1"/>
            <p:nvPr/>
          </p:nvSpPr>
          <p:spPr>
            <a:xfrm>
              <a:off x="4875836" y="3776827"/>
              <a:ext cx="3714726" cy="215444"/>
            </a:xfrm>
            <a:prstGeom prst="rect">
              <a:avLst/>
            </a:prstGeom>
            <a:noFill/>
          </p:spPr>
          <p:txBody>
            <a:bodyPr wrap="square" lIns="0" tIns="0" rIns="0" bIns="0" anchor="t">
              <a:spAutoFit/>
            </a:bodyPr>
            <a:lstStyle/>
            <a:p>
              <a:r>
                <a:rPr lang="en-US" sz="1400" b="1" dirty="0">
                  <a:solidFill>
                    <a:schemeClr val="tx1"/>
                  </a:solidFill>
                </a:rPr>
                <a:t>Hook function setting names</a:t>
              </a:r>
              <a:endParaRPr sz="1400" b="1" dirty="0">
                <a:solidFill>
                  <a:schemeClr val="tx1"/>
                </a:solidFill>
              </a:endParaRPr>
            </a:p>
          </p:txBody>
        </p:sp>
        <p:sp>
          <p:nvSpPr>
            <p:cNvPr id="11" name="card body">
              <a:extLst>
                <a:ext uri="{FF2B5EF4-FFF2-40B4-BE49-F238E27FC236}">
                  <a16:creationId xmlns:a16="http://schemas.microsoft.com/office/drawing/2014/main" id="{80CB2C5D-B2F4-BB01-5C14-9BD0262C7564}"/>
                </a:ext>
              </a:extLst>
            </p:cNvPr>
            <p:cNvSpPr txBox="1"/>
            <p:nvPr/>
          </p:nvSpPr>
          <p:spPr>
            <a:xfrm>
              <a:off x="4875836" y="4022684"/>
              <a:ext cx="3714726" cy="553998"/>
            </a:xfrm>
            <a:prstGeom prst="rect">
              <a:avLst/>
            </a:prstGeom>
            <a:noFill/>
          </p:spPr>
          <p:txBody>
            <a:bodyPr wrap="square" lIns="0" tIns="0" rIns="0" bIns="0" anchor="t">
              <a:spAutoFit/>
            </a:bodyPr>
            <a:lstStyle/>
            <a:p>
              <a:r>
                <a:rPr lang="en-US" sz="1200" b="0" dirty="0" err="1">
                  <a:solidFill>
                    <a:schemeClr val="tx1"/>
                  </a:solidFill>
                  <a:latin typeface="APL385 Unicode" panose="020B0709000202000203" pitchFamily="49" charset="0"/>
                </a:rPr>
                <a:t>OnWsUpgradeFn</a:t>
              </a:r>
              <a:endParaRPr lang="en-US" sz="1200" b="0" dirty="0">
                <a:solidFill>
                  <a:schemeClr val="tx1"/>
                </a:solidFill>
                <a:latin typeface="APL385 Unicode" panose="020B0709000202000203" pitchFamily="49" charset="0"/>
              </a:endParaRPr>
            </a:p>
            <a:p>
              <a:r>
                <a:rPr lang="en-US" sz="1200" b="0" dirty="0" err="1">
                  <a:solidFill>
                    <a:schemeClr val="tx1"/>
                  </a:solidFill>
                  <a:latin typeface="APL385 Unicode" panose="020B0709000202000203" pitchFamily="49" charset="0"/>
                </a:rPr>
                <a:t>OnWsReceiveFn</a:t>
              </a:r>
              <a:endParaRPr lang="en-US" sz="1200" b="0" dirty="0">
                <a:solidFill>
                  <a:schemeClr val="tx1"/>
                </a:solidFill>
                <a:latin typeface="APL385 Unicode" panose="020B0709000202000203" pitchFamily="49" charset="0"/>
              </a:endParaRPr>
            </a:p>
            <a:p>
              <a:r>
                <a:rPr lang="en-US" sz="1200" b="0" dirty="0" err="1">
                  <a:solidFill>
                    <a:schemeClr val="tx1"/>
                  </a:solidFill>
                  <a:latin typeface="APL385 Unicode" panose="020B0709000202000203" pitchFamily="49" charset="0"/>
                </a:rPr>
                <a:t>OnWsCloseFn</a:t>
              </a:r>
              <a:endParaRPr sz="1200" b="0" dirty="0">
                <a:solidFill>
                  <a:schemeClr val="tx1"/>
                </a:solidFill>
                <a:latin typeface="APL385 Unicode" panose="020B0709000202000203" pitchFamily="49" charset="0"/>
              </a:endParaRPr>
            </a:p>
          </p:txBody>
        </p:sp>
      </p:grpSp>
      <p:sp>
        <p:nvSpPr>
          <p:cNvPr id="19" name="AutoShape 3">
            <a:extLst>
              <a:ext uri="{FF2B5EF4-FFF2-40B4-BE49-F238E27FC236}">
                <a16:creationId xmlns:a16="http://schemas.microsoft.com/office/drawing/2014/main" id="{8D0D029B-5B7D-CB05-7D03-929EE0D5D463}"/>
              </a:ext>
            </a:extLst>
          </p:cNvPr>
          <p:cNvSpPr>
            <a:spLocks noChangeAspect="1" noChangeArrowheads="1" noTextEdit="1"/>
          </p:cNvSpPr>
          <p:nvPr/>
        </p:nvSpPr>
        <p:spPr bwMode="auto">
          <a:xfrm>
            <a:off x="311165" y="1272215"/>
            <a:ext cx="8537576" cy="14859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Rectangle 5">
            <a:extLst>
              <a:ext uri="{FF2B5EF4-FFF2-40B4-BE49-F238E27FC236}">
                <a16:creationId xmlns:a16="http://schemas.microsoft.com/office/drawing/2014/main" id="{B370E762-D8BC-1289-BDEA-E14D7AD66026}"/>
              </a:ext>
            </a:extLst>
          </p:cNvPr>
          <p:cNvSpPr>
            <a:spLocks noChangeArrowheads="1"/>
          </p:cNvSpPr>
          <p:nvPr/>
        </p:nvSpPr>
        <p:spPr bwMode="auto">
          <a:xfrm>
            <a:off x="319103" y="1280153"/>
            <a:ext cx="2312988" cy="3286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Rectangle 6">
            <a:extLst>
              <a:ext uri="{FF2B5EF4-FFF2-40B4-BE49-F238E27FC236}">
                <a16:creationId xmlns:a16="http://schemas.microsoft.com/office/drawing/2014/main" id="{7BA0831E-0F5C-466A-013B-A183F2DE0149}"/>
              </a:ext>
            </a:extLst>
          </p:cNvPr>
          <p:cNvSpPr>
            <a:spLocks noChangeArrowheads="1"/>
          </p:cNvSpPr>
          <p:nvPr/>
        </p:nvSpPr>
        <p:spPr bwMode="auto">
          <a:xfrm>
            <a:off x="2632090" y="1280153"/>
            <a:ext cx="2243138" cy="3286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Rectangle 7">
            <a:extLst>
              <a:ext uri="{FF2B5EF4-FFF2-40B4-BE49-F238E27FC236}">
                <a16:creationId xmlns:a16="http://schemas.microsoft.com/office/drawing/2014/main" id="{D3434DE2-CC3E-C8F9-03DB-643E52B5CDFE}"/>
              </a:ext>
            </a:extLst>
          </p:cNvPr>
          <p:cNvSpPr>
            <a:spLocks noChangeArrowheads="1"/>
          </p:cNvSpPr>
          <p:nvPr/>
        </p:nvSpPr>
        <p:spPr bwMode="auto">
          <a:xfrm>
            <a:off x="4876816" y="1280153"/>
            <a:ext cx="3946525" cy="3286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Line 17">
            <a:extLst>
              <a:ext uri="{FF2B5EF4-FFF2-40B4-BE49-F238E27FC236}">
                <a16:creationId xmlns:a16="http://schemas.microsoft.com/office/drawing/2014/main" id="{9D027B51-D343-C62B-2583-4E38E331FA35}"/>
              </a:ext>
            </a:extLst>
          </p:cNvPr>
          <p:cNvSpPr>
            <a:spLocks noChangeShapeType="1"/>
          </p:cNvSpPr>
          <p:nvPr/>
        </p:nvSpPr>
        <p:spPr bwMode="auto">
          <a:xfrm>
            <a:off x="2632090" y="1273803"/>
            <a:ext cx="0" cy="147161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Line 18">
            <a:extLst>
              <a:ext uri="{FF2B5EF4-FFF2-40B4-BE49-F238E27FC236}">
                <a16:creationId xmlns:a16="http://schemas.microsoft.com/office/drawing/2014/main" id="{8D9BCB28-7DDB-C405-5972-E9503F66973E}"/>
              </a:ext>
            </a:extLst>
          </p:cNvPr>
          <p:cNvSpPr>
            <a:spLocks noChangeShapeType="1"/>
          </p:cNvSpPr>
          <p:nvPr/>
        </p:nvSpPr>
        <p:spPr bwMode="auto">
          <a:xfrm>
            <a:off x="4875228" y="1273803"/>
            <a:ext cx="0" cy="147161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22">
            <a:extLst>
              <a:ext uri="{FF2B5EF4-FFF2-40B4-BE49-F238E27FC236}">
                <a16:creationId xmlns:a16="http://schemas.microsoft.com/office/drawing/2014/main" id="{3F95C603-559A-6882-8D33-485F0EE49FA9}"/>
              </a:ext>
            </a:extLst>
          </p:cNvPr>
          <p:cNvSpPr>
            <a:spLocks noChangeShapeType="1"/>
          </p:cNvSpPr>
          <p:nvPr/>
        </p:nvSpPr>
        <p:spPr bwMode="auto">
          <a:xfrm>
            <a:off x="319103" y="1273803"/>
            <a:ext cx="0" cy="147161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8" name="Line 23">
            <a:extLst>
              <a:ext uri="{FF2B5EF4-FFF2-40B4-BE49-F238E27FC236}">
                <a16:creationId xmlns:a16="http://schemas.microsoft.com/office/drawing/2014/main" id="{8E0DED1B-E51E-2D4C-1BCE-4026417FF1BD}"/>
              </a:ext>
            </a:extLst>
          </p:cNvPr>
          <p:cNvSpPr>
            <a:spLocks noChangeShapeType="1"/>
          </p:cNvSpPr>
          <p:nvPr/>
        </p:nvSpPr>
        <p:spPr bwMode="auto">
          <a:xfrm>
            <a:off x="8823341" y="1273803"/>
            <a:ext cx="0" cy="147161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24">
            <a:extLst>
              <a:ext uri="{FF2B5EF4-FFF2-40B4-BE49-F238E27FC236}">
                <a16:creationId xmlns:a16="http://schemas.microsoft.com/office/drawing/2014/main" id="{17C5596E-12D3-1C41-FC64-CB7505D640D8}"/>
              </a:ext>
            </a:extLst>
          </p:cNvPr>
          <p:cNvSpPr>
            <a:spLocks noChangeShapeType="1"/>
          </p:cNvSpPr>
          <p:nvPr/>
        </p:nvSpPr>
        <p:spPr bwMode="auto">
          <a:xfrm>
            <a:off x="304802" y="128015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Rectangle 26">
            <a:extLst>
              <a:ext uri="{FF2B5EF4-FFF2-40B4-BE49-F238E27FC236}">
                <a16:creationId xmlns:a16="http://schemas.microsoft.com/office/drawing/2014/main" id="{2B7BDED9-5E69-9C64-A885-210D77B3A840}"/>
              </a:ext>
            </a:extLst>
          </p:cNvPr>
          <p:cNvSpPr>
            <a:spLocks noChangeArrowheads="1"/>
          </p:cNvSpPr>
          <p:nvPr/>
        </p:nvSpPr>
        <p:spPr bwMode="auto">
          <a:xfrm>
            <a:off x="4949841" y="1340478"/>
            <a:ext cx="82550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FFFFFF"/>
                </a:solidFill>
                <a:effectLst/>
                <a:latin typeface="Sarabun" panose="00000500000000000000" pitchFamily="2" charset="-34"/>
              </a:rPr>
              <a:t>In the chat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2" name="Rectangle 27">
            <a:extLst>
              <a:ext uri="{FF2B5EF4-FFF2-40B4-BE49-F238E27FC236}">
                <a16:creationId xmlns:a16="http://schemas.microsoft.com/office/drawing/2014/main" id="{704BD939-222F-FBAE-BA49-B3EFE8E7E17D}"/>
              </a:ext>
            </a:extLst>
          </p:cNvPr>
          <p:cNvSpPr>
            <a:spLocks noChangeArrowheads="1"/>
          </p:cNvSpPr>
          <p:nvPr/>
        </p:nvSpPr>
        <p:spPr bwMode="auto">
          <a:xfrm>
            <a:off x="2706703" y="1340478"/>
            <a:ext cx="1376363"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FFFFFF"/>
                </a:solidFill>
                <a:effectLst/>
                <a:latin typeface="Sarabun" panose="00000500000000000000" pitchFamily="2" charset="-34"/>
              </a:rPr>
              <a:t>Jarvis calls it when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3" name="Rectangle 28">
            <a:extLst>
              <a:ext uri="{FF2B5EF4-FFF2-40B4-BE49-F238E27FC236}">
                <a16:creationId xmlns:a16="http://schemas.microsoft.com/office/drawing/2014/main" id="{E55BF2A8-95BA-C119-9D3A-68A74D485AEC}"/>
              </a:ext>
            </a:extLst>
          </p:cNvPr>
          <p:cNvSpPr>
            <a:spLocks noChangeArrowheads="1"/>
          </p:cNvSpPr>
          <p:nvPr/>
        </p:nvSpPr>
        <p:spPr bwMode="auto">
          <a:xfrm>
            <a:off x="393715" y="1340478"/>
            <a:ext cx="1033463"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FFFFFF"/>
                </a:solidFill>
                <a:effectLst/>
                <a:latin typeface="Sarabun" panose="00000500000000000000" pitchFamily="2" charset="-34"/>
              </a:rPr>
              <a:t>Your function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nvGrpSpPr>
          <p:cNvPr id="57" name="Group 56">
            <a:extLst>
              <a:ext uri="{FF2B5EF4-FFF2-40B4-BE49-F238E27FC236}">
                <a16:creationId xmlns:a16="http://schemas.microsoft.com/office/drawing/2014/main" id="{62BF4FC7-B862-6348-A49F-7DE619C11241}"/>
              </a:ext>
            </a:extLst>
          </p:cNvPr>
          <p:cNvGrpSpPr/>
          <p:nvPr/>
        </p:nvGrpSpPr>
        <p:grpSpPr>
          <a:xfrm>
            <a:off x="312753" y="1608766"/>
            <a:ext cx="8516938" cy="382588"/>
            <a:chOff x="312753" y="1608766"/>
            <a:chExt cx="8516938" cy="382588"/>
          </a:xfrm>
        </p:grpSpPr>
        <p:sp>
          <p:nvSpPr>
            <p:cNvPr id="23" name="Rectangle 8">
              <a:extLst>
                <a:ext uri="{FF2B5EF4-FFF2-40B4-BE49-F238E27FC236}">
                  <a16:creationId xmlns:a16="http://schemas.microsoft.com/office/drawing/2014/main" id="{3AF60C08-5803-6013-5E89-42467BD7E7E2}"/>
                </a:ext>
              </a:extLst>
            </p:cNvPr>
            <p:cNvSpPr>
              <a:spLocks noChangeArrowheads="1"/>
            </p:cNvSpPr>
            <p:nvPr/>
          </p:nvSpPr>
          <p:spPr bwMode="auto">
            <a:xfrm>
              <a:off x="319103" y="1608766"/>
              <a:ext cx="2312988"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Rectangle 9">
              <a:extLst>
                <a:ext uri="{FF2B5EF4-FFF2-40B4-BE49-F238E27FC236}">
                  <a16:creationId xmlns:a16="http://schemas.microsoft.com/office/drawing/2014/main" id="{A6AF96D3-F22C-6D4E-408D-3BFC28E8DFF5}"/>
                </a:ext>
              </a:extLst>
            </p:cNvPr>
            <p:cNvSpPr>
              <a:spLocks noChangeArrowheads="1"/>
            </p:cNvSpPr>
            <p:nvPr/>
          </p:nvSpPr>
          <p:spPr bwMode="auto">
            <a:xfrm>
              <a:off x="2632090" y="1608766"/>
              <a:ext cx="2243138"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Rectangle 10">
              <a:extLst>
                <a:ext uri="{FF2B5EF4-FFF2-40B4-BE49-F238E27FC236}">
                  <a16:creationId xmlns:a16="http://schemas.microsoft.com/office/drawing/2014/main" id="{9EB9B32F-5159-325D-C340-83A05BDF7212}"/>
                </a:ext>
              </a:extLst>
            </p:cNvPr>
            <p:cNvSpPr>
              <a:spLocks noChangeArrowheads="1"/>
            </p:cNvSpPr>
            <p:nvPr/>
          </p:nvSpPr>
          <p:spPr bwMode="auto">
            <a:xfrm>
              <a:off x="4876816" y="1608766"/>
              <a:ext cx="394652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Line 19">
              <a:extLst>
                <a:ext uri="{FF2B5EF4-FFF2-40B4-BE49-F238E27FC236}">
                  <a16:creationId xmlns:a16="http://schemas.microsoft.com/office/drawing/2014/main" id="{DCE8CEED-B9EB-2E36-93B4-20E07153A0C3}"/>
                </a:ext>
              </a:extLst>
            </p:cNvPr>
            <p:cNvSpPr>
              <a:spLocks noChangeShapeType="1"/>
            </p:cNvSpPr>
            <p:nvPr/>
          </p:nvSpPr>
          <p:spPr bwMode="auto">
            <a:xfrm>
              <a:off x="312753" y="1608766"/>
              <a:ext cx="8516938" cy="0"/>
            </a:xfrm>
            <a:prstGeom prst="line">
              <a:avLst/>
            </a:prstGeom>
            <a:noFill/>
            <a:ln w="381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20">
              <a:extLst>
                <a:ext uri="{FF2B5EF4-FFF2-40B4-BE49-F238E27FC236}">
                  <a16:creationId xmlns:a16="http://schemas.microsoft.com/office/drawing/2014/main" id="{3F0D401B-31EA-2853-25DE-DE7FFE1D636B}"/>
                </a:ext>
              </a:extLst>
            </p:cNvPr>
            <p:cNvSpPr>
              <a:spLocks noChangeShapeType="1"/>
            </p:cNvSpPr>
            <p:nvPr/>
          </p:nvSpPr>
          <p:spPr bwMode="auto">
            <a:xfrm>
              <a:off x="312753" y="1937379"/>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Rectangle 29">
              <a:extLst>
                <a:ext uri="{FF2B5EF4-FFF2-40B4-BE49-F238E27FC236}">
                  <a16:creationId xmlns:a16="http://schemas.microsoft.com/office/drawing/2014/main" id="{D6938898-0D15-3C81-7758-5FB7CAFF0C17}"/>
                </a:ext>
              </a:extLst>
            </p:cNvPr>
            <p:cNvSpPr>
              <a:spLocks noChangeArrowheads="1"/>
            </p:cNvSpPr>
            <p:nvPr/>
          </p:nvSpPr>
          <p:spPr bwMode="auto">
            <a:xfrm>
              <a:off x="4949841" y="1669091"/>
              <a:ext cx="2408238"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Remember the connection's name: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5" name="Rectangle 30">
              <a:extLst>
                <a:ext uri="{FF2B5EF4-FFF2-40B4-BE49-F238E27FC236}">
                  <a16:creationId xmlns:a16="http://schemas.microsoft.com/office/drawing/2014/main" id="{686C0F1A-4C8D-DCF3-644D-E8371F5CE0E4}"/>
                </a:ext>
              </a:extLst>
            </p:cNvPr>
            <p:cNvSpPr>
              <a:spLocks noChangeArrowheads="1"/>
            </p:cNvSpPr>
            <p:nvPr/>
          </p:nvSpPr>
          <p:spPr bwMode="auto">
            <a:xfrm>
              <a:off x="7292991" y="1683378"/>
              <a:ext cx="849313" cy="169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a:ln>
                    <a:noFill/>
                  </a:ln>
                  <a:solidFill>
                    <a:srgbClr val="232222"/>
                  </a:solidFill>
                  <a:effectLst/>
                  <a:latin typeface="APL385 Unicode" panose="020B0709000202000203" pitchFamily="49" charset="0"/>
                </a:rPr>
                <a:t>Clients,←⊂</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6" name="Rectangle 31">
              <a:extLst>
                <a:ext uri="{FF2B5EF4-FFF2-40B4-BE49-F238E27FC236}">
                  <a16:creationId xmlns:a16="http://schemas.microsoft.com/office/drawing/2014/main" id="{B42F532E-22E6-1EB2-DF74-B32EF504D1BC}"/>
                </a:ext>
              </a:extLst>
            </p:cNvPr>
            <p:cNvSpPr>
              <a:spLocks noChangeArrowheads="1"/>
            </p:cNvSpPr>
            <p:nvPr/>
          </p:nvSpPr>
          <p:spPr bwMode="auto">
            <a:xfrm>
              <a:off x="8139128" y="1681791"/>
              <a:ext cx="673100" cy="19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a:ln>
                    <a:noFill/>
                  </a:ln>
                  <a:solidFill>
                    <a:srgbClr val="232222"/>
                  </a:solidFill>
                  <a:effectLst/>
                  <a:latin typeface="APL385 Unicode" panose="020B0709000202000203" pitchFamily="49" charset="0"/>
                </a:rPr>
                <a:t>ns.conx</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7" name="Rectangle 32">
              <a:extLst>
                <a:ext uri="{FF2B5EF4-FFF2-40B4-BE49-F238E27FC236}">
                  <a16:creationId xmlns:a16="http://schemas.microsoft.com/office/drawing/2014/main" id="{9BF5D85E-21C4-162B-092A-A0904FE54784}"/>
                </a:ext>
              </a:extLst>
            </p:cNvPr>
            <p:cNvSpPr>
              <a:spLocks noChangeArrowheads="1"/>
            </p:cNvSpPr>
            <p:nvPr/>
          </p:nvSpPr>
          <p:spPr bwMode="auto">
            <a:xfrm>
              <a:off x="2706703" y="1672266"/>
              <a:ext cx="120015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232222"/>
                  </a:solidFill>
                  <a:effectLst/>
                  <a:latin typeface="Sarabun" panose="00000500000000000000" pitchFamily="2" charset="-34"/>
                </a:rPr>
                <a:t>a client connects</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8" name="Rectangle 33">
              <a:extLst>
                <a:ext uri="{FF2B5EF4-FFF2-40B4-BE49-F238E27FC236}">
                  <a16:creationId xmlns:a16="http://schemas.microsoft.com/office/drawing/2014/main" id="{A289B813-CD34-7229-435C-0629F8EEA6EE}"/>
                </a:ext>
              </a:extLst>
            </p:cNvPr>
            <p:cNvSpPr>
              <a:spLocks noChangeArrowheads="1"/>
            </p:cNvSpPr>
            <p:nvPr/>
          </p:nvSpPr>
          <p:spPr bwMode="auto">
            <a:xfrm>
              <a:off x="393715" y="1672266"/>
              <a:ext cx="847725"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232222"/>
                  </a:solidFill>
                  <a:effectLst/>
                  <a:latin typeface="Sarabun" panose="00000500000000000000" pitchFamily="2" charset="-34"/>
                </a:rPr>
                <a:t>Connect 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59" name="Group 58">
            <a:extLst>
              <a:ext uri="{FF2B5EF4-FFF2-40B4-BE49-F238E27FC236}">
                <a16:creationId xmlns:a16="http://schemas.microsoft.com/office/drawing/2014/main" id="{29D88464-EDDB-9B29-BB6D-384D16CC7C1F}"/>
              </a:ext>
            </a:extLst>
          </p:cNvPr>
          <p:cNvGrpSpPr/>
          <p:nvPr/>
        </p:nvGrpSpPr>
        <p:grpSpPr>
          <a:xfrm>
            <a:off x="312753" y="1937379"/>
            <a:ext cx="8516938" cy="569914"/>
            <a:chOff x="312753" y="1937379"/>
            <a:chExt cx="8516938" cy="569914"/>
          </a:xfrm>
        </p:grpSpPr>
        <p:sp>
          <p:nvSpPr>
            <p:cNvPr id="26" name="Rectangle 11">
              <a:extLst>
                <a:ext uri="{FF2B5EF4-FFF2-40B4-BE49-F238E27FC236}">
                  <a16:creationId xmlns:a16="http://schemas.microsoft.com/office/drawing/2014/main" id="{5538EE8B-BC6E-4668-508F-99391309E845}"/>
                </a:ext>
              </a:extLst>
            </p:cNvPr>
            <p:cNvSpPr>
              <a:spLocks noChangeArrowheads="1"/>
            </p:cNvSpPr>
            <p:nvPr/>
          </p:nvSpPr>
          <p:spPr bwMode="auto">
            <a:xfrm>
              <a:off x="319103" y="1937379"/>
              <a:ext cx="2312988" cy="4714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Rectangle 12">
              <a:extLst>
                <a:ext uri="{FF2B5EF4-FFF2-40B4-BE49-F238E27FC236}">
                  <a16:creationId xmlns:a16="http://schemas.microsoft.com/office/drawing/2014/main" id="{33AA36F4-CA6A-A9AE-76DB-F68D62FB16E2}"/>
                </a:ext>
              </a:extLst>
            </p:cNvPr>
            <p:cNvSpPr>
              <a:spLocks noChangeArrowheads="1"/>
            </p:cNvSpPr>
            <p:nvPr/>
          </p:nvSpPr>
          <p:spPr bwMode="auto">
            <a:xfrm>
              <a:off x="2632090" y="1937379"/>
              <a:ext cx="2243138" cy="4714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Rectangle 13">
              <a:extLst>
                <a:ext uri="{FF2B5EF4-FFF2-40B4-BE49-F238E27FC236}">
                  <a16:creationId xmlns:a16="http://schemas.microsoft.com/office/drawing/2014/main" id="{5D36D91A-00D6-7ED1-B777-4A1E98995BA3}"/>
                </a:ext>
              </a:extLst>
            </p:cNvPr>
            <p:cNvSpPr>
              <a:spLocks noChangeArrowheads="1"/>
            </p:cNvSpPr>
            <p:nvPr/>
          </p:nvSpPr>
          <p:spPr bwMode="auto">
            <a:xfrm>
              <a:off x="4876816" y="1937379"/>
              <a:ext cx="3946525" cy="473076"/>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Line 21">
              <a:extLst>
                <a:ext uri="{FF2B5EF4-FFF2-40B4-BE49-F238E27FC236}">
                  <a16:creationId xmlns:a16="http://schemas.microsoft.com/office/drawing/2014/main" id="{4BB54B10-35FD-73EA-F133-BD72D4FF0438}"/>
                </a:ext>
              </a:extLst>
            </p:cNvPr>
            <p:cNvSpPr>
              <a:spLocks noChangeShapeType="1"/>
            </p:cNvSpPr>
            <p:nvPr/>
          </p:nvSpPr>
          <p:spPr bwMode="auto">
            <a:xfrm>
              <a:off x="312753" y="2410455"/>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Rectangle 34">
              <a:extLst>
                <a:ext uri="{FF2B5EF4-FFF2-40B4-BE49-F238E27FC236}">
                  <a16:creationId xmlns:a16="http://schemas.microsoft.com/office/drawing/2014/main" id="{912851EE-D747-B96B-D427-DB7613CDBA9A}"/>
                </a:ext>
              </a:extLst>
            </p:cNvPr>
            <p:cNvSpPr>
              <a:spLocks noChangeArrowheads="1"/>
            </p:cNvSpPr>
            <p:nvPr/>
          </p:nvSpPr>
          <p:spPr bwMode="auto">
            <a:xfrm>
              <a:off x="4949841" y="1978654"/>
              <a:ext cx="3387725"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232222"/>
                  </a:solidFill>
                  <a:effectLst/>
                  <a:latin typeface="Sarabun" panose="00000500000000000000" pitchFamily="2" charset="-34"/>
                </a:rPr>
                <a:t>Read the JSON, add the name and time, send it to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0" name="Rectangle 35">
              <a:extLst>
                <a:ext uri="{FF2B5EF4-FFF2-40B4-BE49-F238E27FC236}">
                  <a16:creationId xmlns:a16="http://schemas.microsoft.com/office/drawing/2014/main" id="{83F8ED15-D1D5-FDE4-3365-509BE1320376}"/>
                </a:ext>
              </a:extLst>
            </p:cNvPr>
            <p:cNvSpPr>
              <a:spLocks noChangeArrowheads="1"/>
            </p:cNvSpPr>
            <p:nvPr/>
          </p:nvSpPr>
          <p:spPr bwMode="auto">
            <a:xfrm>
              <a:off x="4949841" y="2161217"/>
              <a:ext cx="739775" cy="3460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everyone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1" name="Rectangle 36">
              <a:extLst>
                <a:ext uri="{FF2B5EF4-FFF2-40B4-BE49-F238E27FC236}">
                  <a16:creationId xmlns:a16="http://schemas.microsoft.com/office/drawing/2014/main" id="{51364012-88DA-1A7A-4E4A-3B605C3AB0B4}"/>
                </a:ext>
              </a:extLst>
            </p:cNvPr>
            <p:cNvSpPr>
              <a:spLocks noChangeArrowheads="1"/>
            </p:cNvSpPr>
            <p:nvPr/>
          </p:nvSpPr>
          <p:spPr bwMode="auto">
            <a:xfrm>
              <a:off x="2706703" y="2070729"/>
              <a:ext cx="124460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a message arrives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2" name="Rectangle 37">
              <a:extLst>
                <a:ext uri="{FF2B5EF4-FFF2-40B4-BE49-F238E27FC236}">
                  <a16:creationId xmlns:a16="http://schemas.microsoft.com/office/drawing/2014/main" id="{5A6A3D7D-B8CF-42F4-EFB6-588D020B4B1A}"/>
                </a:ext>
              </a:extLst>
            </p:cNvPr>
            <p:cNvSpPr>
              <a:spLocks noChangeArrowheads="1"/>
            </p:cNvSpPr>
            <p:nvPr/>
          </p:nvSpPr>
          <p:spPr bwMode="auto">
            <a:xfrm>
              <a:off x="393715" y="2070729"/>
              <a:ext cx="93345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232222"/>
                  </a:solidFill>
                  <a:effectLst/>
                  <a:latin typeface="Sarabun" panose="00000500000000000000" pitchFamily="2" charset="-34"/>
                </a:rPr>
                <a:t>Receive msg</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0" name="Group 59">
            <a:extLst>
              <a:ext uri="{FF2B5EF4-FFF2-40B4-BE49-F238E27FC236}">
                <a16:creationId xmlns:a16="http://schemas.microsoft.com/office/drawing/2014/main" id="{A9AC1A78-3F60-5EA7-4837-E091378E9888}"/>
              </a:ext>
            </a:extLst>
          </p:cNvPr>
          <p:cNvGrpSpPr/>
          <p:nvPr/>
        </p:nvGrpSpPr>
        <p:grpSpPr>
          <a:xfrm>
            <a:off x="312753" y="2408867"/>
            <a:ext cx="8516938" cy="381001"/>
            <a:chOff x="312753" y="2408867"/>
            <a:chExt cx="8516938" cy="381001"/>
          </a:xfrm>
        </p:grpSpPr>
        <p:sp>
          <p:nvSpPr>
            <p:cNvPr id="29" name="Rectangle 14">
              <a:extLst>
                <a:ext uri="{FF2B5EF4-FFF2-40B4-BE49-F238E27FC236}">
                  <a16:creationId xmlns:a16="http://schemas.microsoft.com/office/drawing/2014/main" id="{82A1E617-8100-AFFE-3BBB-8D35A3A5FBBB}"/>
                </a:ext>
              </a:extLst>
            </p:cNvPr>
            <p:cNvSpPr>
              <a:spLocks noChangeArrowheads="1"/>
            </p:cNvSpPr>
            <p:nvPr/>
          </p:nvSpPr>
          <p:spPr bwMode="auto">
            <a:xfrm>
              <a:off x="319103" y="2408867"/>
              <a:ext cx="2312988" cy="330201"/>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Rectangle 15">
              <a:extLst>
                <a:ext uri="{FF2B5EF4-FFF2-40B4-BE49-F238E27FC236}">
                  <a16:creationId xmlns:a16="http://schemas.microsoft.com/office/drawing/2014/main" id="{D98E1A31-B965-6B87-16DD-55CDC607199D}"/>
                </a:ext>
              </a:extLst>
            </p:cNvPr>
            <p:cNvSpPr>
              <a:spLocks noChangeArrowheads="1"/>
            </p:cNvSpPr>
            <p:nvPr/>
          </p:nvSpPr>
          <p:spPr bwMode="auto">
            <a:xfrm>
              <a:off x="2632090" y="2408867"/>
              <a:ext cx="2243138" cy="330201"/>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Rectangle 16">
              <a:extLst>
                <a:ext uri="{FF2B5EF4-FFF2-40B4-BE49-F238E27FC236}">
                  <a16:creationId xmlns:a16="http://schemas.microsoft.com/office/drawing/2014/main" id="{9CB1190E-509C-546A-BE67-CE176B4CEA1D}"/>
                </a:ext>
              </a:extLst>
            </p:cNvPr>
            <p:cNvSpPr>
              <a:spLocks noChangeArrowheads="1"/>
            </p:cNvSpPr>
            <p:nvPr/>
          </p:nvSpPr>
          <p:spPr bwMode="auto">
            <a:xfrm>
              <a:off x="4876816" y="2410455"/>
              <a:ext cx="394652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0" name="Line 25">
              <a:extLst>
                <a:ext uri="{FF2B5EF4-FFF2-40B4-BE49-F238E27FC236}">
                  <a16:creationId xmlns:a16="http://schemas.microsoft.com/office/drawing/2014/main" id="{CCA2C24A-E5A9-A443-F45F-FC5C3AB3D3C0}"/>
                </a:ext>
              </a:extLst>
            </p:cNvPr>
            <p:cNvSpPr>
              <a:spLocks noChangeShapeType="1"/>
            </p:cNvSpPr>
            <p:nvPr/>
          </p:nvSpPr>
          <p:spPr bwMode="auto">
            <a:xfrm>
              <a:off x="312753" y="2739068"/>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Rectangle 38">
              <a:extLst>
                <a:ext uri="{FF2B5EF4-FFF2-40B4-BE49-F238E27FC236}">
                  <a16:creationId xmlns:a16="http://schemas.microsoft.com/office/drawing/2014/main" id="{B267E40F-6FE7-6E6C-8ABA-56CDB732B3F9}"/>
                </a:ext>
              </a:extLst>
            </p:cNvPr>
            <p:cNvSpPr>
              <a:spLocks noChangeArrowheads="1"/>
            </p:cNvSpPr>
            <p:nvPr/>
          </p:nvSpPr>
          <p:spPr bwMode="auto">
            <a:xfrm>
              <a:off x="4949841" y="2470780"/>
              <a:ext cx="245110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Forget it, and tell everyone who left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4" name="Rectangle 39">
              <a:extLst>
                <a:ext uri="{FF2B5EF4-FFF2-40B4-BE49-F238E27FC236}">
                  <a16:creationId xmlns:a16="http://schemas.microsoft.com/office/drawing/2014/main" id="{B85C3F1F-ED18-DCAE-3604-E7A09ED1E312}"/>
                </a:ext>
              </a:extLst>
            </p:cNvPr>
            <p:cNvSpPr>
              <a:spLocks noChangeArrowheads="1"/>
            </p:cNvSpPr>
            <p:nvPr/>
          </p:nvSpPr>
          <p:spPr bwMode="auto">
            <a:xfrm>
              <a:off x="2706703" y="2470780"/>
              <a:ext cx="1376363"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232222"/>
                  </a:solidFill>
                  <a:effectLst/>
                  <a:latin typeface="Sarabun" panose="00000500000000000000" pitchFamily="2" charset="-34"/>
                </a:rPr>
                <a:t>a connection closes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5" name="Rectangle 40">
              <a:extLst>
                <a:ext uri="{FF2B5EF4-FFF2-40B4-BE49-F238E27FC236}">
                  <a16:creationId xmlns:a16="http://schemas.microsoft.com/office/drawing/2014/main" id="{83D9DF17-982D-3E8A-C533-E085DAAF6AB6}"/>
                </a:ext>
              </a:extLst>
            </p:cNvPr>
            <p:cNvSpPr>
              <a:spLocks noChangeArrowheads="1"/>
            </p:cNvSpPr>
            <p:nvPr/>
          </p:nvSpPr>
          <p:spPr bwMode="auto">
            <a:xfrm>
              <a:off x="393715" y="2470780"/>
              <a:ext cx="1035050"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a:ln>
                    <a:noFill/>
                  </a:ln>
                  <a:solidFill>
                    <a:srgbClr val="232222"/>
                  </a:solidFill>
                  <a:effectLst/>
                  <a:latin typeface="Sarabun" panose="00000500000000000000" pitchFamily="2" charset="-34"/>
                </a:rPr>
                <a:t>Disconnect 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spTree>
    <p:extLst>
      <p:ext uri="{BB962C8B-B14F-4D97-AF65-F5344CB8AC3E}">
        <p14:creationId xmlns:p14="http://schemas.microsoft.com/office/powerpoint/2010/main" val="974959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5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500"/>
                                        <p:tgtEl>
                                          <p:spTgt spid="5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fade">
                                      <p:cBhvr>
                                        <p:cTn id="17" dur="500"/>
                                        <p:tgtEl>
                                          <p:spTgt spid="6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1"/>
                                        </p:tgtEl>
                                        <p:attrNameLst>
                                          <p:attrName>style.visibility</p:attrName>
                                        </p:attrNameLst>
                                      </p:cBhvr>
                                      <p:to>
                                        <p:strVal val="visible"/>
                                      </p:to>
                                    </p:set>
                                    <p:animEffect transition="in" filter="fade">
                                      <p:cBhvr>
                                        <p:cTn id="22" dur="500"/>
                                        <p:tgtEl>
                                          <p:spTgt spid="6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3"/>
                                        </p:tgtEl>
                                        <p:attrNameLst>
                                          <p:attrName>style.visibility</p:attrName>
                                        </p:attrNameLst>
                                      </p:cBhvr>
                                      <p:to>
                                        <p:strVal val="visible"/>
                                      </p:to>
                                    </p:set>
                                    <p:animEffect transition="in" filter="fade">
                                      <p:cBhvr>
                                        <p:cTn id="27" dur="500"/>
                                        <p:tgtEl>
                                          <p:spTgt spid="6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From APL: WebSocketClient</a:t>
            </a:r>
          </a:p>
        </p:txBody>
      </p:sp>
      <p:grpSp>
        <p:nvGrpSpPr>
          <p:cNvPr id="11" name="Group 10">
            <a:extLst>
              <a:ext uri="{FF2B5EF4-FFF2-40B4-BE49-F238E27FC236}">
                <a16:creationId xmlns:a16="http://schemas.microsoft.com/office/drawing/2014/main" id="{174C4F9F-A702-0755-19FD-AC9D06D2D76C}"/>
              </a:ext>
            </a:extLst>
          </p:cNvPr>
          <p:cNvGrpSpPr/>
          <p:nvPr/>
        </p:nvGrpSpPr>
        <p:grpSpPr>
          <a:xfrm>
            <a:off x="320040" y="1234440"/>
            <a:ext cx="8503920" cy="1313895"/>
            <a:chOff x="320040" y="1234440"/>
            <a:chExt cx="8503920" cy="1313895"/>
          </a:xfrm>
        </p:grpSpPr>
        <p:sp>
          <p:nvSpPr>
            <p:cNvPr id="3" name="code panel"/>
            <p:cNvSpPr/>
            <p:nvPr/>
          </p:nvSpPr>
          <p:spPr>
            <a:xfrm>
              <a:off x="320040" y="1234440"/>
              <a:ext cx="8503920" cy="1313895"/>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460218" y="1313273"/>
              <a:ext cx="8223563" cy="1156227"/>
            </a:xfrm>
            <a:prstGeom prst="rect">
              <a:avLst/>
            </a:prstGeom>
            <a:noFill/>
          </p:spPr>
          <p:txBody>
            <a:bodyPr wrap="square" lIns="0" tIns="0" rIns="0" bIns="0" anchor="t">
              <a:spAutoFit/>
            </a:bodyPr>
            <a:lstStyle/>
            <a:p>
              <a:r>
                <a:rPr sz="1200" b="0">
                  <a:solidFill>
                    <a:schemeClr val="tx1"/>
                  </a:solidFill>
                  <a:latin typeface="APL385 Unicode"/>
                </a:rPr>
                <a:t>s←⎕NS''</a:t>
              </a:r>
            </a:p>
            <a:p>
              <a:r>
                <a:rPr sz="1200" b="0">
                  <a:solidFill>
                    <a:schemeClr val="tx1"/>
                  </a:solidFill>
                  <a:latin typeface="APL385 Unicode"/>
                </a:rPr>
                <a:t>s.(URL OnWSReceive)←'ws://localhost:8084/chat' '#.Chat.ShowMessage'</a:t>
              </a:r>
            </a:p>
            <a:p>
              <a:r>
                <a:rPr sz="1200" b="0">
                  <a:solidFill>
                    <a:schemeClr val="tx1"/>
                  </a:solidFill>
                  <a:latin typeface="APL385 Unicode"/>
                </a:rPr>
                <a:t>c←WebSocketClient.New s</a:t>
              </a:r>
            </a:p>
            <a:p>
              <a:r>
                <a:rPr sz="1200" b="0">
                  <a:solidFill>
                    <a:schemeClr val="tx1"/>
                  </a:solidFill>
                  <a:latin typeface="APL385 Unicode"/>
                </a:rPr>
                <a:t>c.Connect</a:t>
              </a:r>
            </a:p>
            <a:p>
              <a:endParaRPr sz="1200" b="0">
                <a:solidFill>
                  <a:schemeClr val="tx1"/>
                </a:solidFill>
                <a:latin typeface="APL385 Unicode"/>
              </a:endParaRPr>
            </a:p>
            <a:p>
              <a:r>
                <a:rPr sz="1200" b="0">
                  <a:solidFill>
                    <a:schemeClr val="tx1"/>
                  </a:solidFill>
                  <a:latin typeface="APL385 Unicode"/>
                </a:rPr>
                <a:t>client ShowMessage message   ⍝ message.buffer is the text</a:t>
              </a:r>
            </a:p>
          </p:txBody>
        </p:sp>
      </p:grpSp>
      <p:grpSp>
        <p:nvGrpSpPr>
          <p:cNvPr id="12" name="Group 11">
            <a:extLst>
              <a:ext uri="{FF2B5EF4-FFF2-40B4-BE49-F238E27FC236}">
                <a16:creationId xmlns:a16="http://schemas.microsoft.com/office/drawing/2014/main" id="{9D3E2A9F-2027-2670-031D-37849E391B81}"/>
              </a:ext>
            </a:extLst>
          </p:cNvPr>
          <p:cNvGrpSpPr/>
          <p:nvPr/>
        </p:nvGrpSpPr>
        <p:grpSpPr>
          <a:xfrm>
            <a:off x="320040" y="2745419"/>
            <a:ext cx="4275439" cy="1708063"/>
            <a:chOff x="320040" y="2745419"/>
            <a:chExt cx="4275439" cy="1708063"/>
          </a:xfrm>
        </p:grpSpPr>
        <p:sp>
          <p:nvSpPr>
            <p:cNvPr id="5" name="card"/>
            <p:cNvSpPr/>
            <p:nvPr/>
          </p:nvSpPr>
          <p:spPr>
            <a:xfrm>
              <a:off x="320040" y="2745419"/>
              <a:ext cx="4275439" cy="1708063"/>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ard head"/>
            <p:cNvSpPr txBox="1"/>
            <p:nvPr/>
          </p:nvSpPr>
          <p:spPr>
            <a:xfrm>
              <a:off x="530307" y="2889947"/>
              <a:ext cx="3854904" cy="328473"/>
            </a:xfrm>
            <a:prstGeom prst="rect">
              <a:avLst/>
            </a:prstGeom>
            <a:noFill/>
          </p:spPr>
          <p:txBody>
            <a:bodyPr wrap="square" lIns="0" tIns="0" rIns="0" bIns="0" anchor="t">
              <a:spAutoFit/>
            </a:bodyPr>
            <a:lstStyle/>
            <a:p>
              <a:r>
                <a:rPr sz="1500" b="1">
                  <a:solidFill>
                    <a:schemeClr val="tx1"/>
                  </a:solidFill>
                </a:rPr>
                <a:t>Dyadic, always</a:t>
              </a:r>
            </a:p>
          </p:txBody>
        </p:sp>
        <p:sp>
          <p:nvSpPr>
            <p:cNvPr id="7" name="card body"/>
            <p:cNvSpPr txBox="1"/>
            <p:nvPr/>
          </p:nvSpPr>
          <p:spPr>
            <a:xfrm>
              <a:off x="530307" y="3270977"/>
              <a:ext cx="3854904" cy="923330"/>
            </a:xfrm>
            <a:prstGeom prst="rect">
              <a:avLst/>
            </a:prstGeom>
            <a:noFill/>
          </p:spPr>
          <p:txBody>
            <a:bodyPr wrap="square" lIns="0" tIns="0" rIns="0" bIns="0" anchor="t">
              <a:spAutoFit/>
            </a:bodyPr>
            <a:lstStyle/>
            <a:p>
              <a:r>
                <a:rPr sz="1200" b="0" dirty="0" err="1">
                  <a:solidFill>
                    <a:schemeClr val="tx1"/>
                  </a:solidFill>
                </a:rPr>
                <a:t>WebSocketClient</a:t>
              </a:r>
              <a:r>
                <a:rPr sz="1200" b="0" dirty="0">
                  <a:solidFill>
                    <a:schemeClr val="tx1"/>
                  </a:solidFill>
                </a:rPr>
                <a:t> calls the receive function as</a:t>
              </a:r>
              <a:br>
                <a:rPr lang="en-US" sz="1200" b="0" dirty="0">
                  <a:solidFill>
                    <a:schemeClr val="tx1"/>
                  </a:solidFill>
                </a:rPr>
              </a:br>
              <a:r>
                <a:rPr lang="en-US" sz="1200" b="0" dirty="0">
                  <a:solidFill>
                    <a:schemeClr val="tx1"/>
                  </a:solidFill>
                </a:rPr>
                <a:t>      </a:t>
              </a:r>
              <a:r>
                <a:rPr sz="1100" b="0" dirty="0">
                  <a:solidFill>
                    <a:schemeClr val="tx1"/>
                  </a:solidFill>
                  <a:latin typeface="APL385 Unicode" panose="020B0709000202000203" pitchFamily="49" charset="0"/>
                </a:rPr>
                <a:t>client </a:t>
              </a:r>
              <a:r>
                <a:rPr sz="1100" b="0" dirty="0" err="1">
                  <a:solidFill>
                    <a:schemeClr val="tx1"/>
                  </a:solidFill>
                  <a:latin typeface="APL385 Unicode" panose="020B0709000202000203" pitchFamily="49" charset="0"/>
                </a:rPr>
                <a:t>ShowMessage</a:t>
              </a:r>
              <a:r>
                <a:rPr sz="1100" b="0" dirty="0">
                  <a:solidFill>
                    <a:schemeClr val="tx1"/>
                  </a:solidFill>
                  <a:latin typeface="APL385 Unicode" panose="020B0709000202000203" pitchFamily="49" charset="0"/>
                </a:rPr>
                <a:t> message</a:t>
              </a:r>
              <a:r>
                <a:rPr sz="1200" b="0" dirty="0">
                  <a:solidFill>
                    <a:schemeClr val="tx1"/>
                  </a:solidFill>
                </a:rPr>
                <a:t>. </a:t>
              </a:r>
              <a:br>
                <a:rPr lang="en-US" sz="1200" b="0" dirty="0">
                  <a:solidFill>
                    <a:schemeClr val="tx1"/>
                  </a:solidFill>
                </a:rPr>
              </a:br>
              <a:r>
                <a:rPr lang="en-US" sz="1100" b="0" dirty="0">
                  <a:solidFill>
                    <a:schemeClr val="tx1"/>
                  </a:solidFill>
                  <a:latin typeface="APL385 Unicode" panose="020B0709000202000203" pitchFamily="49" charset="0"/>
                </a:rPr>
                <a:t>client</a:t>
              </a:r>
              <a:r>
                <a:rPr lang="en-US" sz="1200" b="0" dirty="0">
                  <a:solidFill>
                    <a:schemeClr val="tx1"/>
                  </a:solidFill>
                </a:rPr>
                <a:t> is a reference to the </a:t>
              </a:r>
              <a:r>
                <a:rPr lang="en-US" sz="1200" b="0" dirty="0" err="1">
                  <a:solidFill>
                    <a:schemeClr val="tx1"/>
                  </a:solidFill>
                </a:rPr>
                <a:t>WebSocketClient</a:t>
              </a:r>
              <a:r>
                <a:rPr lang="en-US" sz="1200" b="0" dirty="0">
                  <a:solidFill>
                    <a:schemeClr val="tx1"/>
                  </a:solidFill>
                </a:rPr>
                <a:t> instance so that you have access to all its fields and methods from within your hook function</a:t>
              </a:r>
              <a:endParaRPr sz="1200" b="0" dirty="0">
                <a:solidFill>
                  <a:schemeClr val="tx1"/>
                </a:solidFill>
              </a:endParaRPr>
            </a:p>
          </p:txBody>
        </p:sp>
      </p:grpSp>
      <p:grpSp>
        <p:nvGrpSpPr>
          <p:cNvPr id="13" name="Group 12">
            <a:extLst>
              <a:ext uri="{FF2B5EF4-FFF2-40B4-BE49-F238E27FC236}">
                <a16:creationId xmlns:a16="http://schemas.microsoft.com/office/drawing/2014/main" id="{C8B586BA-B4EE-3D80-96F0-68B6B07F342A}"/>
              </a:ext>
            </a:extLst>
          </p:cNvPr>
          <p:cNvGrpSpPr/>
          <p:nvPr/>
        </p:nvGrpSpPr>
        <p:grpSpPr>
          <a:xfrm>
            <a:off x="4840791" y="2745419"/>
            <a:ext cx="3981065" cy="1215352"/>
            <a:chOff x="4840791" y="2745419"/>
            <a:chExt cx="3981065" cy="1215352"/>
          </a:xfrm>
        </p:grpSpPr>
        <p:sp>
          <p:nvSpPr>
            <p:cNvPr id="8" name="text"/>
            <p:cNvSpPr txBox="1"/>
            <p:nvPr/>
          </p:nvSpPr>
          <p:spPr>
            <a:xfrm>
              <a:off x="4840791" y="2745419"/>
              <a:ext cx="3960038" cy="295626"/>
            </a:xfrm>
            <a:prstGeom prst="rect">
              <a:avLst/>
            </a:prstGeom>
            <a:noFill/>
          </p:spPr>
          <p:txBody>
            <a:bodyPr wrap="square" lIns="0" tIns="0" rIns="0" bIns="0" anchor="t">
              <a:spAutoFit/>
            </a:bodyPr>
            <a:lstStyle/>
            <a:p>
              <a:r>
                <a:rPr sz="1400" b="0">
                  <a:solidFill>
                    <a:schemeClr val="tx1"/>
                  </a:solidFill>
                </a:rPr>
                <a:t>In Exercise 4 this is supplied, as Chat:</a:t>
              </a:r>
            </a:p>
          </p:txBody>
        </p:sp>
        <p:sp>
          <p:nvSpPr>
            <p:cNvPr id="9" name="code panel"/>
            <p:cNvSpPr/>
            <p:nvPr/>
          </p:nvSpPr>
          <p:spPr>
            <a:xfrm>
              <a:off x="4840791" y="3106740"/>
              <a:ext cx="3981065" cy="85403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code"/>
            <p:cNvSpPr txBox="1"/>
            <p:nvPr/>
          </p:nvSpPr>
          <p:spPr>
            <a:xfrm>
              <a:off x="4980970" y="3185574"/>
              <a:ext cx="3700708" cy="696364"/>
            </a:xfrm>
            <a:prstGeom prst="rect">
              <a:avLst/>
            </a:prstGeom>
            <a:noFill/>
          </p:spPr>
          <p:txBody>
            <a:bodyPr wrap="square" lIns="0" tIns="0" rIns="0" bIns="0" anchor="t">
              <a:spAutoFit/>
            </a:bodyPr>
            <a:lstStyle/>
            <a:p>
              <a:r>
                <a:rPr sz="1200" b="0">
                  <a:solidFill>
                    <a:schemeClr val="tx1"/>
                  </a:solidFill>
                  <a:latin typeface="APL385 Unicode"/>
                </a:rPr>
                <a:t>Chat.Join 'APL'</a:t>
              </a:r>
            </a:p>
            <a:p>
              <a:r>
                <a:rPr sz="1200" b="0">
                  <a:solidFill>
                    <a:schemeClr val="tx1"/>
                  </a:solidFill>
                  <a:latin typeface="APL385 Unicode"/>
                </a:rPr>
                <a:t>Chat.Say 'Hello from APL'</a:t>
              </a:r>
            </a:p>
            <a:p>
              <a:r>
                <a:rPr sz="1200" b="0">
                  <a:solidFill>
                    <a:schemeClr val="tx1"/>
                  </a:solidFill>
                  <a:latin typeface="APL385 Unicode"/>
                </a:rPr>
                <a:t>Chat.Leave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Server-Sent Events or WebSockets?</a:t>
            </a:r>
          </a:p>
        </p:txBody>
      </p:sp>
      <p:graphicFrame>
        <p:nvGraphicFramePr>
          <p:cNvPr id="3" name="table"/>
          <p:cNvGraphicFramePr>
            <a:graphicFrameLocks noGrp="1"/>
          </p:cNvGraphicFramePr>
          <p:nvPr/>
        </p:nvGraphicFramePr>
        <p:xfrm>
          <a:off x="320040" y="1267287"/>
          <a:ext cx="8501816" cy="2251368"/>
        </p:xfrm>
        <a:graphic>
          <a:graphicData uri="http://schemas.openxmlformats.org/drawingml/2006/table">
            <a:tbl>
              <a:tblPr firstRow="1">
                <a:tableStyleId>{5C22544A-7EE6-4342-B048-85BDC9FD1C3A}</a:tableStyleId>
              </a:tblPr>
              <a:tblGrid>
                <a:gridCol w="2102675">
                  <a:extLst>
                    <a:ext uri="{9D8B030D-6E8A-4147-A177-3AD203B41FA5}">
                      <a16:colId xmlns:a16="http://schemas.microsoft.com/office/drawing/2014/main" val="20000"/>
                    </a:ext>
                  </a:extLst>
                </a:gridCol>
                <a:gridCol w="3196066">
                  <a:extLst>
                    <a:ext uri="{9D8B030D-6E8A-4147-A177-3AD203B41FA5}">
                      <a16:colId xmlns:a16="http://schemas.microsoft.com/office/drawing/2014/main" val="20001"/>
                    </a:ext>
                  </a:extLst>
                </a:gridCol>
                <a:gridCol w="3203075">
                  <a:extLst>
                    <a:ext uri="{9D8B030D-6E8A-4147-A177-3AD203B41FA5}">
                      <a16:colId xmlns:a16="http://schemas.microsoft.com/office/drawing/2014/main" val="20002"/>
                    </a:ext>
                  </a:extLst>
                </a:gridCol>
              </a:tblGrid>
              <a:tr h="328473">
                <a:tc>
                  <a:txBody>
                    <a:bodyPr/>
                    <a:lstStyle/>
                    <a:p>
                      <a:endParaRPr/>
                    </a:p>
                  </a:txBody>
                  <a:tcPr marL="73152" marR="73152" marT="65694" marB="65694" anchor="ctr">
                    <a:solidFill>
                      <a:schemeClr val="accent3"/>
                    </a:solidFill>
                  </a:tcPr>
                </a:tc>
                <a:tc>
                  <a:txBody>
                    <a:bodyPr/>
                    <a:lstStyle/>
                    <a:p>
                      <a:r>
                        <a:rPr sz="1300" b="1">
                          <a:solidFill>
                            <a:schemeClr val="bg1"/>
                          </a:solidFill>
                        </a:rPr>
                        <a:t>Server-Sent Events</a:t>
                      </a:r>
                    </a:p>
                  </a:txBody>
                  <a:tcPr marL="73152" marR="73152" marT="65694" marB="65694" anchor="ctr">
                    <a:solidFill>
                      <a:schemeClr val="accent3"/>
                    </a:solidFill>
                  </a:tcPr>
                </a:tc>
                <a:tc>
                  <a:txBody>
                    <a:bodyPr/>
                    <a:lstStyle/>
                    <a:p>
                      <a:r>
                        <a:rPr sz="1300" b="1">
                          <a:solidFill>
                            <a:schemeClr val="bg1"/>
                          </a:solidFill>
                        </a:rPr>
                        <a:t>WebSockets</a:t>
                      </a:r>
                    </a:p>
                  </a:txBody>
                  <a:tcPr marL="73152" marR="73152" marT="65694" marB="65694" anchor="ctr">
                    <a:solidFill>
                      <a:schemeClr val="accent3"/>
                    </a:solidFill>
                  </a:tcPr>
                </a:tc>
                <a:extLst>
                  <a:ext uri="{0D108BD9-81ED-4DB2-BD59-A6C34878D82A}">
                    <a16:rowId xmlns:a16="http://schemas.microsoft.com/office/drawing/2014/main" val="10000"/>
                  </a:ext>
                </a:extLst>
              </a:tr>
              <a:tr h="328473">
                <a:tc>
                  <a:txBody>
                    <a:bodyPr/>
                    <a:lstStyle/>
                    <a:p>
                      <a:r>
                        <a:rPr sz="1300" b="1">
                          <a:solidFill>
                            <a:schemeClr val="tx1"/>
                          </a:solidFill>
                        </a:rPr>
                        <a:t>Direction</a:t>
                      </a:r>
                    </a:p>
                  </a:txBody>
                  <a:tcPr marL="73152" marR="73152" marT="65694" marB="65694" anchor="ctr">
                    <a:solidFill>
                      <a:schemeClr val="bg2"/>
                    </a:solidFill>
                  </a:tcPr>
                </a:tc>
                <a:tc>
                  <a:txBody>
                    <a:bodyPr/>
                    <a:lstStyle/>
                    <a:p>
                      <a:r>
                        <a:rPr sz="1300" b="0">
                          <a:solidFill>
                            <a:schemeClr val="tx1"/>
                          </a:solidFill>
                        </a:rPr>
                        <a:t>Server to client only</a:t>
                      </a:r>
                    </a:p>
                  </a:txBody>
                  <a:tcPr marL="73152" marR="73152" marT="65694" marB="65694" anchor="ctr">
                    <a:solidFill>
                      <a:schemeClr val="bg2"/>
                    </a:solidFill>
                  </a:tcPr>
                </a:tc>
                <a:tc>
                  <a:txBody>
                    <a:bodyPr/>
                    <a:lstStyle/>
                    <a:p>
                      <a:r>
                        <a:rPr sz="1300" b="0">
                          <a:solidFill>
                            <a:schemeClr val="tx1"/>
                          </a:solidFill>
                        </a:rPr>
                        <a:t>Both ways</a:t>
                      </a:r>
                    </a:p>
                  </a:txBody>
                  <a:tcPr marL="73152" marR="73152" marT="65694" marB="65694" anchor="ctr">
                    <a:solidFill>
                      <a:schemeClr val="bg2"/>
                    </a:solidFill>
                  </a:tcPr>
                </a:tc>
                <a:extLst>
                  <a:ext uri="{0D108BD9-81ED-4DB2-BD59-A6C34878D82A}">
                    <a16:rowId xmlns:a16="http://schemas.microsoft.com/office/drawing/2014/main" val="10001"/>
                  </a:ext>
                </a:extLst>
              </a:tr>
              <a:tr h="328473">
                <a:tc>
                  <a:txBody>
                    <a:bodyPr/>
                    <a:lstStyle/>
                    <a:p>
                      <a:r>
                        <a:rPr sz="1300" b="1">
                          <a:solidFill>
                            <a:schemeClr val="tx1"/>
                          </a:solidFill>
                        </a:rPr>
                        <a:t>Connection</a:t>
                      </a:r>
                    </a:p>
                  </a:txBody>
                  <a:tcPr marL="73152" marR="73152" marT="65694" marB="65694" anchor="ctr">
                    <a:solidFill>
                      <a:schemeClr val="bg1"/>
                    </a:solidFill>
                  </a:tcPr>
                </a:tc>
                <a:tc>
                  <a:txBody>
                    <a:bodyPr/>
                    <a:lstStyle/>
                    <a:p>
                      <a:r>
                        <a:rPr sz="1300" b="0">
                          <a:solidFill>
                            <a:schemeClr val="tx1"/>
                          </a:solidFill>
                        </a:rPr>
                        <a:t>Plain HTTP, a response that never ends</a:t>
                      </a:r>
                    </a:p>
                  </a:txBody>
                  <a:tcPr marL="73152" marR="73152" marT="65694" marB="65694" anchor="ctr">
                    <a:solidFill>
                      <a:schemeClr val="bg1"/>
                    </a:solidFill>
                  </a:tcPr>
                </a:tc>
                <a:tc>
                  <a:txBody>
                    <a:bodyPr/>
                    <a:lstStyle/>
                    <a:p>
                      <a:r>
                        <a:rPr sz="1300" b="0">
                          <a:solidFill>
                            <a:schemeClr val="tx1"/>
                          </a:solidFill>
                        </a:rPr>
                        <a:t>Upgraded from HTTP</a:t>
                      </a:r>
                    </a:p>
                  </a:txBody>
                  <a:tcPr marL="73152" marR="73152" marT="65694" marB="65694" anchor="ctr">
                    <a:solidFill>
                      <a:schemeClr val="bg1"/>
                    </a:solidFill>
                  </a:tcPr>
                </a:tc>
                <a:extLst>
                  <a:ext uri="{0D108BD9-81ED-4DB2-BD59-A6C34878D82A}">
                    <a16:rowId xmlns:a16="http://schemas.microsoft.com/office/drawing/2014/main" val="10002"/>
                  </a:ext>
                </a:extLst>
              </a:tr>
              <a:tr h="328473">
                <a:tc>
                  <a:txBody>
                    <a:bodyPr/>
                    <a:lstStyle/>
                    <a:p>
                      <a:r>
                        <a:rPr sz="1300" b="1">
                          <a:solidFill>
                            <a:schemeClr val="tx1"/>
                          </a:solidFill>
                        </a:rPr>
                        <a:t>Dropped connection</a:t>
                      </a:r>
                    </a:p>
                  </a:txBody>
                  <a:tcPr marL="73152" marR="73152" marT="65694" marB="65694" anchor="ctr">
                    <a:solidFill>
                      <a:schemeClr val="bg2"/>
                    </a:solidFill>
                  </a:tcPr>
                </a:tc>
                <a:tc>
                  <a:txBody>
                    <a:bodyPr/>
                    <a:lstStyle/>
                    <a:p>
                      <a:r>
                        <a:rPr sz="1300" b="0">
                          <a:solidFill>
                            <a:schemeClr val="tx1"/>
                          </a:solidFill>
                        </a:rPr>
                        <a:t>The browser reconnects by itself</a:t>
                      </a:r>
                    </a:p>
                  </a:txBody>
                  <a:tcPr marL="73152" marR="73152" marT="65694" marB="65694" anchor="ctr">
                    <a:solidFill>
                      <a:schemeClr val="bg2"/>
                    </a:solidFill>
                  </a:tcPr>
                </a:tc>
                <a:tc>
                  <a:txBody>
                    <a:bodyPr/>
                    <a:lstStyle/>
                    <a:p>
                      <a:r>
                        <a:rPr sz="1300" b="0">
                          <a:solidFill>
                            <a:schemeClr val="tx1"/>
                          </a:solidFill>
                        </a:rPr>
                        <a:t>Your code reconnects, if it wants to</a:t>
                      </a:r>
                    </a:p>
                  </a:txBody>
                  <a:tcPr marL="73152" marR="73152" marT="65694" marB="65694" anchor="ctr">
                    <a:solidFill>
                      <a:schemeClr val="bg2"/>
                    </a:solidFill>
                  </a:tcPr>
                </a:tc>
                <a:extLst>
                  <a:ext uri="{0D108BD9-81ED-4DB2-BD59-A6C34878D82A}">
                    <a16:rowId xmlns:a16="http://schemas.microsoft.com/office/drawing/2014/main" val="10003"/>
                  </a:ext>
                </a:extLst>
              </a:tr>
              <a:tr h="328473">
                <a:tc>
                  <a:txBody>
                    <a:bodyPr/>
                    <a:lstStyle/>
                    <a:p>
                      <a:r>
                        <a:rPr sz="1300" b="1">
                          <a:solidFill>
                            <a:schemeClr val="tx1"/>
                          </a:solidFill>
                        </a:rPr>
                        <a:t>Messages</a:t>
                      </a:r>
                    </a:p>
                  </a:txBody>
                  <a:tcPr marL="73152" marR="73152" marT="65694" marB="65694" anchor="ctr">
                    <a:solidFill>
                      <a:schemeClr val="bg1"/>
                    </a:solidFill>
                  </a:tcPr>
                </a:tc>
                <a:tc>
                  <a:txBody>
                    <a:bodyPr/>
                    <a:lstStyle/>
                    <a:p>
                      <a:r>
                        <a:rPr sz="1300" b="0">
                          <a:solidFill>
                            <a:schemeClr val="tx1"/>
                          </a:solidFill>
                        </a:rPr>
                        <a:t>Text events with a type</a:t>
                      </a:r>
                    </a:p>
                  </a:txBody>
                  <a:tcPr marL="73152" marR="73152" marT="65694" marB="65694" anchor="ctr">
                    <a:solidFill>
                      <a:schemeClr val="bg1"/>
                    </a:solidFill>
                  </a:tcPr>
                </a:tc>
                <a:tc>
                  <a:txBody>
                    <a:bodyPr/>
                    <a:lstStyle/>
                    <a:p>
                      <a:r>
                        <a:rPr sz="1300" b="0">
                          <a:solidFill>
                            <a:schemeClr val="tx1"/>
                          </a:solidFill>
                        </a:rPr>
                        <a:t>Any text or binary</a:t>
                      </a:r>
                    </a:p>
                  </a:txBody>
                  <a:tcPr marL="73152" marR="73152" marT="65694" marB="65694" anchor="ctr">
                    <a:solidFill>
                      <a:schemeClr val="bg1"/>
                    </a:solidFill>
                  </a:tcPr>
                </a:tc>
                <a:extLst>
                  <a:ext uri="{0D108BD9-81ED-4DB2-BD59-A6C34878D82A}">
                    <a16:rowId xmlns:a16="http://schemas.microsoft.com/office/drawing/2014/main" val="10004"/>
                  </a:ext>
                </a:extLst>
              </a:tr>
              <a:tr h="328477">
                <a:tc>
                  <a:txBody>
                    <a:bodyPr/>
                    <a:lstStyle/>
                    <a:p>
                      <a:r>
                        <a:rPr sz="1300" b="1">
                          <a:solidFill>
                            <a:schemeClr val="tx1"/>
                          </a:solidFill>
                        </a:rPr>
                        <a:t>Use it for</a:t>
                      </a:r>
                    </a:p>
                  </a:txBody>
                  <a:tcPr marL="73152" marR="73152" marT="65694" marB="65694" anchor="ctr">
                    <a:solidFill>
                      <a:schemeClr val="bg2"/>
                    </a:solidFill>
                  </a:tcPr>
                </a:tc>
                <a:tc>
                  <a:txBody>
                    <a:bodyPr/>
                    <a:lstStyle/>
                    <a:p>
                      <a:r>
                        <a:rPr sz="1300" b="0">
                          <a:solidFill>
                            <a:schemeClr val="tx1"/>
                          </a:solidFill>
                        </a:rPr>
                        <a:t>Live updates: prices, progress, notifications</a:t>
                      </a:r>
                    </a:p>
                  </a:txBody>
                  <a:tcPr marL="73152" marR="73152" marT="65694" marB="65694" anchor="ctr">
                    <a:solidFill>
                      <a:schemeClr val="bg2"/>
                    </a:solidFill>
                  </a:tcPr>
                </a:tc>
                <a:tc>
                  <a:txBody>
                    <a:bodyPr/>
                    <a:lstStyle/>
                    <a:p>
                      <a:r>
                        <a:rPr sz="1300" b="0">
                          <a:solidFill>
                            <a:schemeClr val="tx1"/>
                          </a:solidFill>
                        </a:rPr>
                        <a:t>Conversations: chat, games, collaboration</a:t>
                      </a:r>
                    </a:p>
                  </a:txBody>
                  <a:tcPr marL="73152" marR="73152" marT="65694" marB="65694" anchor="ctr">
                    <a:solidFill>
                      <a:schemeClr val="bg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8F37D-D1A3-61BD-32C1-6CBFE52B5E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122657-CBBC-E3BF-06E2-5860F6E80B70}"/>
              </a:ext>
            </a:extLst>
          </p:cNvPr>
          <p:cNvSpPr>
            <a:spLocks noGrp="1"/>
          </p:cNvSpPr>
          <p:nvPr>
            <p:ph type="title"/>
          </p:nvPr>
        </p:nvSpPr>
        <p:spPr/>
        <p:txBody>
          <a:bodyPr/>
          <a:lstStyle/>
          <a:p>
            <a:r>
              <a:rPr sz="2800"/>
              <a:t>Server-Sent Events or WebSockets?</a:t>
            </a:r>
          </a:p>
        </p:txBody>
      </p:sp>
      <p:sp>
        <p:nvSpPr>
          <p:cNvPr id="9" name="AutoShape 3">
            <a:extLst>
              <a:ext uri="{FF2B5EF4-FFF2-40B4-BE49-F238E27FC236}">
                <a16:creationId xmlns:a16="http://schemas.microsoft.com/office/drawing/2014/main" id="{125FAC11-C045-9EE7-971A-3359B37C8E75}"/>
              </a:ext>
            </a:extLst>
          </p:cNvPr>
          <p:cNvSpPr>
            <a:spLocks noChangeAspect="1" noChangeArrowheads="1" noTextEdit="1"/>
          </p:cNvSpPr>
          <p:nvPr/>
        </p:nvSpPr>
        <p:spPr bwMode="auto">
          <a:xfrm>
            <a:off x="319088" y="1257300"/>
            <a:ext cx="8537575" cy="2293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Rectangle 5">
            <a:extLst>
              <a:ext uri="{FF2B5EF4-FFF2-40B4-BE49-F238E27FC236}">
                <a16:creationId xmlns:a16="http://schemas.microsoft.com/office/drawing/2014/main" id="{E448B9DF-7D0D-8D09-645B-593D1A3EB9CC}"/>
              </a:ext>
            </a:extLst>
          </p:cNvPr>
          <p:cNvSpPr>
            <a:spLocks noChangeArrowheads="1"/>
          </p:cNvSpPr>
          <p:nvPr/>
        </p:nvSpPr>
        <p:spPr bwMode="auto">
          <a:xfrm>
            <a:off x="327026" y="1265238"/>
            <a:ext cx="2103438"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a:extLst>
              <a:ext uri="{FF2B5EF4-FFF2-40B4-BE49-F238E27FC236}">
                <a16:creationId xmlns:a16="http://schemas.microsoft.com/office/drawing/2014/main" id="{FEF0F115-6F9A-F31D-77B4-73EADE4A3C1E}"/>
              </a:ext>
            </a:extLst>
          </p:cNvPr>
          <p:cNvSpPr>
            <a:spLocks noChangeArrowheads="1"/>
          </p:cNvSpPr>
          <p:nvPr/>
        </p:nvSpPr>
        <p:spPr bwMode="auto">
          <a:xfrm>
            <a:off x="2430463" y="1265238"/>
            <a:ext cx="3195638"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Rectangle 7">
            <a:extLst>
              <a:ext uri="{FF2B5EF4-FFF2-40B4-BE49-F238E27FC236}">
                <a16:creationId xmlns:a16="http://schemas.microsoft.com/office/drawing/2014/main" id="{E3062FF6-9C85-593E-20AE-1324BECFEC54}"/>
              </a:ext>
            </a:extLst>
          </p:cNvPr>
          <p:cNvSpPr>
            <a:spLocks noChangeArrowheads="1"/>
          </p:cNvSpPr>
          <p:nvPr/>
        </p:nvSpPr>
        <p:spPr bwMode="auto">
          <a:xfrm>
            <a:off x="5627688" y="1265238"/>
            <a:ext cx="3203575" cy="406400"/>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Line 23">
            <a:extLst>
              <a:ext uri="{FF2B5EF4-FFF2-40B4-BE49-F238E27FC236}">
                <a16:creationId xmlns:a16="http://schemas.microsoft.com/office/drawing/2014/main" id="{3510CF14-6242-7AB4-EAA8-D7C427B93F5D}"/>
              </a:ext>
            </a:extLst>
          </p:cNvPr>
          <p:cNvSpPr>
            <a:spLocks noChangeShapeType="1"/>
          </p:cNvSpPr>
          <p:nvPr/>
        </p:nvSpPr>
        <p:spPr bwMode="auto">
          <a:xfrm>
            <a:off x="2430463" y="1258888"/>
            <a:ext cx="0" cy="22653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a:extLst>
              <a:ext uri="{FF2B5EF4-FFF2-40B4-BE49-F238E27FC236}">
                <a16:creationId xmlns:a16="http://schemas.microsoft.com/office/drawing/2014/main" id="{B415B235-7A7F-3AF4-3536-AA3F8AAB0CD8}"/>
              </a:ext>
            </a:extLst>
          </p:cNvPr>
          <p:cNvSpPr>
            <a:spLocks noChangeShapeType="1"/>
          </p:cNvSpPr>
          <p:nvPr/>
        </p:nvSpPr>
        <p:spPr bwMode="auto">
          <a:xfrm>
            <a:off x="5626101" y="1258888"/>
            <a:ext cx="0" cy="22653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a:extLst>
              <a:ext uri="{FF2B5EF4-FFF2-40B4-BE49-F238E27FC236}">
                <a16:creationId xmlns:a16="http://schemas.microsoft.com/office/drawing/2014/main" id="{43E52197-89EE-94D1-723F-D15A75D7F2D6}"/>
              </a:ext>
            </a:extLst>
          </p:cNvPr>
          <p:cNvSpPr>
            <a:spLocks noChangeShapeType="1"/>
          </p:cNvSpPr>
          <p:nvPr/>
        </p:nvSpPr>
        <p:spPr bwMode="auto">
          <a:xfrm>
            <a:off x="327026" y="1258888"/>
            <a:ext cx="0" cy="22653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a:extLst>
              <a:ext uri="{FF2B5EF4-FFF2-40B4-BE49-F238E27FC236}">
                <a16:creationId xmlns:a16="http://schemas.microsoft.com/office/drawing/2014/main" id="{9F6E31C6-6528-A802-60A3-2D6E5FC77CD4}"/>
              </a:ext>
            </a:extLst>
          </p:cNvPr>
          <p:cNvSpPr>
            <a:spLocks noChangeShapeType="1"/>
          </p:cNvSpPr>
          <p:nvPr/>
        </p:nvSpPr>
        <p:spPr bwMode="auto">
          <a:xfrm>
            <a:off x="8831263" y="1258888"/>
            <a:ext cx="0" cy="2265363"/>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a:extLst>
              <a:ext uri="{FF2B5EF4-FFF2-40B4-BE49-F238E27FC236}">
                <a16:creationId xmlns:a16="http://schemas.microsoft.com/office/drawing/2014/main" id="{5B2FE477-FB62-1FE4-04D3-4EEE8EA41921}"/>
              </a:ext>
            </a:extLst>
          </p:cNvPr>
          <p:cNvSpPr>
            <a:spLocks noChangeShapeType="1"/>
          </p:cNvSpPr>
          <p:nvPr/>
        </p:nvSpPr>
        <p:spPr bwMode="auto">
          <a:xfrm>
            <a:off x="320676" y="1265238"/>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Rectangle 34">
            <a:extLst>
              <a:ext uri="{FF2B5EF4-FFF2-40B4-BE49-F238E27FC236}">
                <a16:creationId xmlns:a16="http://schemas.microsoft.com/office/drawing/2014/main" id="{FD33CA51-F146-CCAB-ED59-B10715DFD797}"/>
              </a:ext>
            </a:extLst>
          </p:cNvPr>
          <p:cNvSpPr>
            <a:spLocks noChangeArrowheads="1"/>
          </p:cNvSpPr>
          <p:nvPr/>
        </p:nvSpPr>
        <p:spPr bwMode="auto">
          <a:xfrm>
            <a:off x="5700713" y="1355725"/>
            <a:ext cx="1003300"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WebSockets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0" name="Rectangle 35">
            <a:extLst>
              <a:ext uri="{FF2B5EF4-FFF2-40B4-BE49-F238E27FC236}">
                <a16:creationId xmlns:a16="http://schemas.microsoft.com/office/drawing/2014/main" id="{E0F3CCA8-9FF5-3666-8D4C-64318E83F648}"/>
              </a:ext>
            </a:extLst>
          </p:cNvPr>
          <p:cNvSpPr>
            <a:spLocks noChangeArrowheads="1"/>
          </p:cNvSpPr>
          <p:nvPr/>
        </p:nvSpPr>
        <p:spPr bwMode="auto">
          <a:xfrm>
            <a:off x="2503488" y="1355725"/>
            <a:ext cx="577850"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Server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1" name="Rectangle 36">
            <a:extLst>
              <a:ext uri="{FF2B5EF4-FFF2-40B4-BE49-F238E27FC236}">
                <a16:creationId xmlns:a16="http://schemas.microsoft.com/office/drawing/2014/main" id="{D78772DF-E7B1-E395-A81B-9483042C0C20}"/>
              </a:ext>
            </a:extLst>
          </p:cNvPr>
          <p:cNvSpPr>
            <a:spLocks noChangeArrowheads="1"/>
          </p:cNvSpPr>
          <p:nvPr/>
        </p:nvSpPr>
        <p:spPr bwMode="auto">
          <a:xfrm>
            <a:off x="2994026" y="1355725"/>
            <a:ext cx="146050"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2" name="Rectangle 37">
            <a:extLst>
              <a:ext uri="{FF2B5EF4-FFF2-40B4-BE49-F238E27FC236}">
                <a16:creationId xmlns:a16="http://schemas.microsoft.com/office/drawing/2014/main" id="{8ABE4433-16F1-A317-0A26-14702C8B46A7}"/>
              </a:ext>
            </a:extLst>
          </p:cNvPr>
          <p:cNvSpPr>
            <a:spLocks noChangeArrowheads="1"/>
          </p:cNvSpPr>
          <p:nvPr/>
        </p:nvSpPr>
        <p:spPr bwMode="auto">
          <a:xfrm>
            <a:off x="3049588" y="1355725"/>
            <a:ext cx="976313"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Sent Events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nvGrpSpPr>
          <p:cNvPr id="59" name="Group 58">
            <a:extLst>
              <a:ext uri="{FF2B5EF4-FFF2-40B4-BE49-F238E27FC236}">
                <a16:creationId xmlns:a16="http://schemas.microsoft.com/office/drawing/2014/main" id="{B9F21985-1330-F053-50A9-84C03C794309}"/>
              </a:ext>
            </a:extLst>
          </p:cNvPr>
          <p:cNvGrpSpPr/>
          <p:nvPr/>
        </p:nvGrpSpPr>
        <p:grpSpPr>
          <a:xfrm>
            <a:off x="320676" y="1670050"/>
            <a:ext cx="8516938" cy="396875"/>
            <a:chOff x="320676" y="1670050"/>
            <a:chExt cx="8516938" cy="396875"/>
          </a:xfrm>
        </p:grpSpPr>
        <p:sp>
          <p:nvSpPr>
            <p:cNvPr id="13" name="Rectangle 8">
              <a:extLst>
                <a:ext uri="{FF2B5EF4-FFF2-40B4-BE49-F238E27FC236}">
                  <a16:creationId xmlns:a16="http://schemas.microsoft.com/office/drawing/2014/main" id="{D052D51A-01F7-5E51-7555-5D4AC76F3113}"/>
                </a:ext>
              </a:extLst>
            </p:cNvPr>
            <p:cNvSpPr>
              <a:spLocks noChangeArrowheads="1"/>
            </p:cNvSpPr>
            <p:nvPr/>
          </p:nvSpPr>
          <p:spPr bwMode="auto">
            <a:xfrm>
              <a:off x="327026" y="1670050"/>
              <a:ext cx="2103438"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Rectangle 9">
              <a:extLst>
                <a:ext uri="{FF2B5EF4-FFF2-40B4-BE49-F238E27FC236}">
                  <a16:creationId xmlns:a16="http://schemas.microsoft.com/office/drawing/2014/main" id="{CA980365-9981-8885-4938-B87201CB2ADB}"/>
                </a:ext>
              </a:extLst>
            </p:cNvPr>
            <p:cNvSpPr>
              <a:spLocks noChangeArrowheads="1"/>
            </p:cNvSpPr>
            <p:nvPr/>
          </p:nvSpPr>
          <p:spPr bwMode="auto">
            <a:xfrm>
              <a:off x="2430463" y="1670050"/>
              <a:ext cx="3195638"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Rectangle 10">
              <a:extLst>
                <a:ext uri="{FF2B5EF4-FFF2-40B4-BE49-F238E27FC236}">
                  <a16:creationId xmlns:a16="http://schemas.microsoft.com/office/drawing/2014/main" id="{00294F3B-803C-7731-1366-52DEBBA488BB}"/>
                </a:ext>
              </a:extLst>
            </p:cNvPr>
            <p:cNvSpPr>
              <a:spLocks noChangeArrowheads="1"/>
            </p:cNvSpPr>
            <p:nvPr/>
          </p:nvSpPr>
          <p:spPr bwMode="auto">
            <a:xfrm>
              <a:off x="5627688" y="1671638"/>
              <a:ext cx="3203575"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Line 25">
              <a:extLst>
                <a:ext uri="{FF2B5EF4-FFF2-40B4-BE49-F238E27FC236}">
                  <a16:creationId xmlns:a16="http://schemas.microsoft.com/office/drawing/2014/main" id="{FA813877-55AF-B274-B379-E52F0E06ADD8}"/>
                </a:ext>
              </a:extLst>
            </p:cNvPr>
            <p:cNvSpPr>
              <a:spLocks noChangeShapeType="1"/>
            </p:cNvSpPr>
            <p:nvPr/>
          </p:nvSpPr>
          <p:spPr bwMode="auto">
            <a:xfrm>
              <a:off x="320676" y="1671638"/>
              <a:ext cx="8516938" cy="0"/>
            </a:xfrm>
            <a:prstGeom prst="line">
              <a:avLst/>
            </a:prstGeom>
            <a:noFill/>
            <a:ln w="381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 name="Line 26">
              <a:extLst>
                <a:ext uri="{FF2B5EF4-FFF2-40B4-BE49-F238E27FC236}">
                  <a16:creationId xmlns:a16="http://schemas.microsoft.com/office/drawing/2014/main" id="{5CBCF50F-A159-1351-165A-E848DE32A885}"/>
                </a:ext>
              </a:extLst>
            </p:cNvPr>
            <p:cNvSpPr>
              <a:spLocks noChangeShapeType="1"/>
            </p:cNvSpPr>
            <p:nvPr/>
          </p:nvSpPr>
          <p:spPr bwMode="auto">
            <a:xfrm>
              <a:off x="320676" y="2000250"/>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Rectangle 38">
              <a:extLst>
                <a:ext uri="{FF2B5EF4-FFF2-40B4-BE49-F238E27FC236}">
                  <a16:creationId xmlns:a16="http://schemas.microsoft.com/office/drawing/2014/main" id="{C78BD8B4-FF26-FD8E-752A-98ECB69014CA}"/>
                </a:ext>
              </a:extLst>
            </p:cNvPr>
            <p:cNvSpPr>
              <a:spLocks noChangeArrowheads="1"/>
            </p:cNvSpPr>
            <p:nvPr/>
          </p:nvSpPr>
          <p:spPr bwMode="auto">
            <a:xfrm>
              <a:off x="5700713" y="1724025"/>
              <a:ext cx="8080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Both ways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4" name="Rectangle 39">
              <a:extLst>
                <a:ext uri="{FF2B5EF4-FFF2-40B4-BE49-F238E27FC236}">
                  <a16:creationId xmlns:a16="http://schemas.microsoft.com/office/drawing/2014/main" id="{D16972CF-85B4-D261-5070-A53B34DDF077}"/>
                </a:ext>
              </a:extLst>
            </p:cNvPr>
            <p:cNvSpPr>
              <a:spLocks noChangeArrowheads="1"/>
            </p:cNvSpPr>
            <p:nvPr/>
          </p:nvSpPr>
          <p:spPr bwMode="auto">
            <a:xfrm>
              <a:off x="2503488" y="1724025"/>
              <a:ext cx="15224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Server to client only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5" name="Rectangle 40">
              <a:extLst>
                <a:ext uri="{FF2B5EF4-FFF2-40B4-BE49-F238E27FC236}">
                  <a16:creationId xmlns:a16="http://schemas.microsoft.com/office/drawing/2014/main" id="{8A4E5C9D-408B-5CF0-0800-6A4CEA3490C6}"/>
                </a:ext>
              </a:extLst>
            </p:cNvPr>
            <p:cNvSpPr>
              <a:spLocks noChangeArrowheads="1"/>
            </p:cNvSpPr>
            <p:nvPr/>
          </p:nvSpPr>
          <p:spPr bwMode="auto">
            <a:xfrm>
              <a:off x="401638" y="1724025"/>
              <a:ext cx="7778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Direction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0" name="Group 59">
            <a:extLst>
              <a:ext uri="{FF2B5EF4-FFF2-40B4-BE49-F238E27FC236}">
                <a16:creationId xmlns:a16="http://schemas.microsoft.com/office/drawing/2014/main" id="{DCEE40D5-438E-CD68-568C-4D75465BED48}"/>
              </a:ext>
            </a:extLst>
          </p:cNvPr>
          <p:cNvGrpSpPr/>
          <p:nvPr/>
        </p:nvGrpSpPr>
        <p:grpSpPr>
          <a:xfrm>
            <a:off x="320676" y="2000250"/>
            <a:ext cx="8516938" cy="398463"/>
            <a:chOff x="320676" y="2000250"/>
            <a:chExt cx="8516938" cy="398463"/>
          </a:xfrm>
        </p:grpSpPr>
        <p:sp>
          <p:nvSpPr>
            <p:cNvPr id="16" name="Rectangle 11">
              <a:extLst>
                <a:ext uri="{FF2B5EF4-FFF2-40B4-BE49-F238E27FC236}">
                  <a16:creationId xmlns:a16="http://schemas.microsoft.com/office/drawing/2014/main" id="{C977CA8E-22E8-A04C-3D4D-010AED52F5C8}"/>
                </a:ext>
              </a:extLst>
            </p:cNvPr>
            <p:cNvSpPr>
              <a:spLocks noChangeArrowheads="1"/>
            </p:cNvSpPr>
            <p:nvPr/>
          </p:nvSpPr>
          <p:spPr bwMode="auto">
            <a:xfrm>
              <a:off x="327026" y="2000250"/>
              <a:ext cx="2103438"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Rectangle 12">
              <a:extLst>
                <a:ext uri="{FF2B5EF4-FFF2-40B4-BE49-F238E27FC236}">
                  <a16:creationId xmlns:a16="http://schemas.microsoft.com/office/drawing/2014/main" id="{50720823-4696-78F7-EB8B-43B1B0CB9978}"/>
                </a:ext>
              </a:extLst>
            </p:cNvPr>
            <p:cNvSpPr>
              <a:spLocks noChangeArrowheads="1"/>
            </p:cNvSpPr>
            <p:nvPr/>
          </p:nvSpPr>
          <p:spPr bwMode="auto">
            <a:xfrm>
              <a:off x="2430463" y="2000250"/>
              <a:ext cx="3195638"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Rectangle 13">
              <a:extLst>
                <a:ext uri="{FF2B5EF4-FFF2-40B4-BE49-F238E27FC236}">
                  <a16:creationId xmlns:a16="http://schemas.microsoft.com/office/drawing/2014/main" id="{019EB1B6-B01E-A01D-82AF-2E3B55141E69}"/>
                </a:ext>
              </a:extLst>
            </p:cNvPr>
            <p:cNvSpPr>
              <a:spLocks noChangeArrowheads="1"/>
            </p:cNvSpPr>
            <p:nvPr/>
          </p:nvSpPr>
          <p:spPr bwMode="auto">
            <a:xfrm>
              <a:off x="5627688" y="2000250"/>
              <a:ext cx="3203575"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Line 27">
              <a:extLst>
                <a:ext uri="{FF2B5EF4-FFF2-40B4-BE49-F238E27FC236}">
                  <a16:creationId xmlns:a16="http://schemas.microsoft.com/office/drawing/2014/main" id="{3A5E8647-B746-8FC6-B66A-061677CA8EB0}"/>
                </a:ext>
              </a:extLst>
            </p:cNvPr>
            <p:cNvSpPr>
              <a:spLocks noChangeShapeType="1"/>
            </p:cNvSpPr>
            <p:nvPr/>
          </p:nvSpPr>
          <p:spPr bwMode="auto">
            <a:xfrm>
              <a:off x="320676" y="2330450"/>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Rectangle 41">
              <a:extLst>
                <a:ext uri="{FF2B5EF4-FFF2-40B4-BE49-F238E27FC236}">
                  <a16:creationId xmlns:a16="http://schemas.microsoft.com/office/drawing/2014/main" id="{2D2D9E67-57FC-0A8D-C619-A85F4605B406}"/>
                </a:ext>
              </a:extLst>
            </p:cNvPr>
            <p:cNvSpPr>
              <a:spLocks noChangeArrowheads="1"/>
            </p:cNvSpPr>
            <p:nvPr/>
          </p:nvSpPr>
          <p:spPr bwMode="auto">
            <a:xfrm>
              <a:off x="5700713" y="2055813"/>
              <a:ext cx="15890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Upgraded from HTTP</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7" name="Rectangle 42">
              <a:extLst>
                <a:ext uri="{FF2B5EF4-FFF2-40B4-BE49-F238E27FC236}">
                  <a16:creationId xmlns:a16="http://schemas.microsoft.com/office/drawing/2014/main" id="{4B57A838-632A-A5D1-E0DE-9CC0FF7FCAA8}"/>
                </a:ext>
              </a:extLst>
            </p:cNvPr>
            <p:cNvSpPr>
              <a:spLocks noChangeArrowheads="1"/>
            </p:cNvSpPr>
            <p:nvPr/>
          </p:nvSpPr>
          <p:spPr bwMode="auto">
            <a:xfrm>
              <a:off x="2503488" y="2055813"/>
              <a:ext cx="2865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Plain HTTP, a response that never ends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8" name="Rectangle 43">
              <a:extLst>
                <a:ext uri="{FF2B5EF4-FFF2-40B4-BE49-F238E27FC236}">
                  <a16:creationId xmlns:a16="http://schemas.microsoft.com/office/drawing/2014/main" id="{8D1F635A-59C4-419E-985D-4C6B5E6B0927}"/>
                </a:ext>
              </a:extLst>
            </p:cNvPr>
            <p:cNvSpPr>
              <a:spLocks noChangeArrowheads="1"/>
            </p:cNvSpPr>
            <p:nvPr/>
          </p:nvSpPr>
          <p:spPr bwMode="auto">
            <a:xfrm>
              <a:off x="401638" y="2055813"/>
              <a:ext cx="9429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Connection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1" name="Group 60">
            <a:extLst>
              <a:ext uri="{FF2B5EF4-FFF2-40B4-BE49-F238E27FC236}">
                <a16:creationId xmlns:a16="http://schemas.microsoft.com/office/drawing/2014/main" id="{A24C4061-00B0-EFB9-FB5B-77DDA18839F4}"/>
              </a:ext>
            </a:extLst>
          </p:cNvPr>
          <p:cNvGrpSpPr/>
          <p:nvPr/>
        </p:nvGrpSpPr>
        <p:grpSpPr>
          <a:xfrm>
            <a:off x="320676" y="2330450"/>
            <a:ext cx="8516938" cy="398463"/>
            <a:chOff x="320676" y="2330450"/>
            <a:chExt cx="8516938" cy="398463"/>
          </a:xfrm>
        </p:grpSpPr>
        <p:sp>
          <p:nvSpPr>
            <p:cNvPr id="19" name="Rectangle 14">
              <a:extLst>
                <a:ext uri="{FF2B5EF4-FFF2-40B4-BE49-F238E27FC236}">
                  <a16:creationId xmlns:a16="http://schemas.microsoft.com/office/drawing/2014/main" id="{55C4DAB1-2393-8B7F-1534-F8D442AC734A}"/>
                </a:ext>
              </a:extLst>
            </p:cNvPr>
            <p:cNvSpPr>
              <a:spLocks noChangeArrowheads="1"/>
            </p:cNvSpPr>
            <p:nvPr/>
          </p:nvSpPr>
          <p:spPr bwMode="auto">
            <a:xfrm>
              <a:off x="327026" y="2330450"/>
              <a:ext cx="2103438"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Rectangle 15">
              <a:extLst>
                <a:ext uri="{FF2B5EF4-FFF2-40B4-BE49-F238E27FC236}">
                  <a16:creationId xmlns:a16="http://schemas.microsoft.com/office/drawing/2014/main" id="{58B89B8B-C17B-1BEF-619E-F5299FDE4513}"/>
                </a:ext>
              </a:extLst>
            </p:cNvPr>
            <p:cNvSpPr>
              <a:spLocks noChangeArrowheads="1"/>
            </p:cNvSpPr>
            <p:nvPr/>
          </p:nvSpPr>
          <p:spPr bwMode="auto">
            <a:xfrm>
              <a:off x="2430463" y="2330450"/>
              <a:ext cx="3195638"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Rectangle 16">
              <a:extLst>
                <a:ext uri="{FF2B5EF4-FFF2-40B4-BE49-F238E27FC236}">
                  <a16:creationId xmlns:a16="http://schemas.microsoft.com/office/drawing/2014/main" id="{B678216E-1FD9-30EE-8853-ACF5F8E1F03E}"/>
                </a:ext>
              </a:extLst>
            </p:cNvPr>
            <p:cNvSpPr>
              <a:spLocks noChangeArrowheads="1"/>
            </p:cNvSpPr>
            <p:nvPr/>
          </p:nvSpPr>
          <p:spPr bwMode="auto">
            <a:xfrm>
              <a:off x="5627688" y="2330450"/>
              <a:ext cx="3203575"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Line 28">
              <a:extLst>
                <a:ext uri="{FF2B5EF4-FFF2-40B4-BE49-F238E27FC236}">
                  <a16:creationId xmlns:a16="http://schemas.microsoft.com/office/drawing/2014/main" id="{537C5B33-F150-98AD-2BA8-9744E3E5459F}"/>
                </a:ext>
              </a:extLst>
            </p:cNvPr>
            <p:cNvSpPr>
              <a:spLocks noChangeShapeType="1"/>
            </p:cNvSpPr>
            <p:nvPr/>
          </p:nvSpPr>
          <p:spPr bwMode="auto">
            <a:xfrm>
              <a:off x="320676" y="2660650"/>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Rectangle 44">
              <a:extLst>
                <a:ext uri="{FF2B5EF4-FFF2-40B4-BE49-F238E27FC236}">
                  <a16:creationId xmlns:a16="http://schemas.microsoft.com/office/drawing/2014/main" id="{97375343-EEE2-690C-4C8E-0C60B7064D56}"/>
                </a:ext>
              </a:extLst>
            </p:cNvPr>
            <p:cNvSpPr>
              <a:spLocks noChangeArrowheads="1"/>
            </p:cNvSpPr>
            <p:nvPr/>
          </p:nvSpPr>
          <p:spPr bwMode="auto">
            <a:xfrm>
              <a:off x="5700713" y="2386013"/>
              <a:ext cx="25955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Your code reconnects, if it wants to</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0" name="Rectangle 45">
              <a:extLst>
                <a:ext uri="{FF2B5EF4-FFF2-40B4-BE49-F238E27FC236}">
                  <a16:creationId xmlns:a16="http://schemas.microsoft.com/office/drawing/2014/main" id="{E8D811DB-C142-608C-A943-89540785817C}"/>
                </a:ext>
              </a:extLst>
            </p:cNvPr>
            <p:cNvSpPr>
              <a:spLocks noChangeArrowheads="1"/>
            </p:cNvSpPr>
            <p:nvPr/>
          </p:nvSpPr>
          <p:spPr bwMode="auto">
            <a:xfrm>
              <a:off x="2503488" y="2386013"/>
              <a:ext cx="23844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browser reconnects by itself</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1" name="Rectangle 46">
              <a:extLst>
                <a:ext uri="{FF2B5EF4-FFF2-40B4-BE49-F238E27FC236}">
                  <a16:creationId xmlns:a16="http://schemas.microsoft.com/office/drawing/2014/main" id="{6E329954-2B1F-9BE5-9712-346E2742B8EA}"/>
                </a:ext>
              </a:extLst>
            </p:cNvPr>
            <p:cNvSpPr>
              <a:spLocks noChangeArrowheads="1"/>
            </p:cNvSpPr>
            <p:nvPr/>
          </p:nvSpPr>
          <p:spPr bwMode="auto">
            <a:xfrm>
              <a:off x="401638" y="2386013"/>
              <a:ext cx="15954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Dropped connection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2" name="Group 61">
            <a:extLst>
              <a:ext uri="{FF2B5EF4-FFF2-40B4-BE49-F238E27FC236}">
                <a16:creationId xmlns:a16="http://schemas.microsoft.com/office/drawing/2014/main" id="{FE6DBDCF-8C6C-0EFF-A322-1873D688715F}"/>
              </a:ext>
            </a:extLst>
          </p:cNvPr>
          <p:cNvGrpSpPr/>
          <p:nvPr/>
        </p:nvGrpSpPr>
        <p:grpSpPr>
          <a:xfrm>
            <a:off x="320676" y="2660650"/>
            <a:ext cx="8516938" cy="395288"/>
            <a:chOff x="320676" y="2660650"/>
            <a:chExt cx="8516938" cy="395288"/>
          </a:xfrm>
        </p:grpSpPr>
        <p:sp>
          <p:nvSpPr>
            <p:cNvPr id="22" name="Rectangle 17">
              <a:extLst>
                <a:ext uri="{FF2B5EF4-FFF2-40B4-BE49-F238E27FC236}">
                  <a16:creationId xmlns:a16="http://schemas.microsoft.com/office/drawing/2014/main" id="{5C068DBE-4835-68C4-B26C-9BA56346DF7B}"/>
                </a:ext>
              </a:extLst>
            </p:cNvPr>
            <p:cNvSpPr>
              <a:spLocks noChangeArrowheads="1"/>
            </p:cNvSpPr>
            <p:nvPr/>
          </p:nvSpPr>
          <p:spPr bwMode="auto">
            <a:xfrm>
              <a:off x="327026" y="2660650"/>
              <a:ext cx="2103438"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Rectangle 18">
              <a:extLst>
                <a:ext uri="{FF2B5EF4-FFF2-40B4-BE49-F238E27FC236}">
                  <a16:creationId xmlns:a16="http://schemas.microsoft.com/office/drawing/2014/main" id="{FC34CF84-B6BC-DF40-6E46-B97A61B2C44F}"/>
                </a:ext>
              </a:extLst>
            </p:cNvPr>
            <p:cNvSpPr>
              <a:spLocks noChangeArrowheads="1"/>
            </p:cNvSpPr>
            <p:nvPr/>
          </p:nvSpPr>
          <p:spPr bwMode="auto">
            <a:xfrm>
              <a:off x="2430463" y="2660650"/>
              <a:ext cx="3195638"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Rectangle 19">
              <a:extLst>
                <a:ext uri="{FF2B5EF4-FFF2-40B4-BE49-F238E27FC236}">
                  <a16:creationId xmlns:a16="http://schemas.microsoft.com/office/drawing/2014/main" id="{CCB6F507-C2BE-FDBE-2264-4E22787ED7C7}"/>
                </a:ext>
              </a:extLst>
            </p:cNvPr>
            <p:cNvSpPr>
              <a:spLocks noChangeArrowheads="1"/>
            </p:cNvSpPr>
            <p:nvPr/>
          </p:nvSpPr>
          <p:spPr bwMode="auto">
            <a:xfrm>
              <a:off x="5627688" y="2660650"/>
              <a:ext cx="3203575" cy="32861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 name="Line 29">
              <a:extLst>
                <a:ext uri="{FF2B5EF4-FFF2-40B4-BE49-F238E27FC236}">
                  <a16:creationId xmlns:a16="http://schemas.microsoft.com/office/drawing/2014/main" id="{C7A92F7C-AFB9-7256-CD27-8B3EADD59844}"/>
                </a:ext>
              </a:extLst>
            </p:cNvPr>
            <p:cNvSpPr>
              <a:spLocks noChangeShapeType="1"/>
            </p:cNvSpPr>
            <p:nvPr/>
          </p:nvSpPr>
          <p:spPr bwMode="auto">
            <a:xfrm>
              <a:off x="320676" y="298926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Rectangle 47">
              <a:extLst>
                <a:ext uri="{FF2B5EF4-FFF2-40B4-BE49-F238E27FC236}">
                  <a16:creationId xmlns:a16="http://schemas.microsoft.com/office/drawing/2014/main" id="{0067B7FD-B3D0-0D5D-DE55-51FB954629C7}"/>
                </a:ext>
              </a:extLst>
            </p:cNvPr>
            <p:cNvSpPr>
              <a:spLocks noChangeArrowheads="1"/>
            </p:cNvSpPr>
            <p:nvPr/>
          </p:nvSpPr>
          <p:spPr bwMode="auto">
            <a:xfrm>
              <a:off x="5700713" y="2713038"/>
              <a:ext cx="13430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Any text or binary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3" name="Rectangle 48">
              <a:extLst>
                <a:ext uri="{FF2B5EF4-FFF2-40B4-BE49-F238E27FC236}">
                  <a16:creationId xmlns:a16="http://schemas.microsoft.com/office/drawing/2014/main" id="{9B299128-5D80-A489-CAE8-AC8F458A21F4}"/>
                </a:ext>
              </a:extLst>
            </p:cNvPr>
            <p:cNvSpPr>
              <a:spLocks noChangeArrowheads="1"/>
            </p:cNvSpPr>
            <p:nvPr/>
          </p:nvSpPr>
          <p:spPr bwMode="auto">
            <a:xfrm>
              <a:off x="2503488" y="2713038"/>
              <a:ext cx="17351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Text events with a type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4" name="Rectangle 49">
              <a:extLst>
                <a:ext uri="{FF2B5EF4-FFF2-40B4-BE49-F238E27FC236}">
                  <a16:creationId xmlns:a16="http://schemas.microsoft.com/office/drawing/2014/main" id="{765238F6-6B42-1952-21E2-3A118D2D37A2}"/>
                </a:ext>
              </a:extLst>
            </p:cNvPr>
            <p:cNvSpPr>
              <a:spLocks noChangeArrowheads="1"/>
            </p:cNvSpPr>
            <p:nvPr/>
          </p:nvSpPr>
          <p:spPr bwMode="auto">
            <a:xfrm>
              <a:off x="401638" y="2713038"/>
              <a:ext cx="8032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Messages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63" name="Group 62">
            <a:extLst>
              <a:ext uri="{FF2B5EF4-FFF2-40B4-BE49-F238E27FC236}">
                <a16:creationId xmlns:a16="http://schemas.microsoft.com/office/drawing/2014/main" id="{9DB8FA22-9F57-681D-DF78-78F8B2779A98}"/>
              </a:ext>
            </a:extLst>
          </p:cNvPr>
          <p:cNvGrpSpPr/>
          <p:nvPr/>
        </p:nvGrpSpPr>
        <p:grpSpPr>
          <a:xfrm>
            <a:off x="320676" y="2989263"/>
            <a:ext cx="8516938" cy="596900"/>
            <a:chOff x="320676" y="2989263"/>
            <a:chExt cx="8516938" cy="596900"/>
          </a:xfrm>
        </p:grpSpPr>
        <p:sp>
          <p:nvSpPr>
            <p:cNvPr id="25" name="Rectangle 20">
              <a:extLst>
                <a:ext uri="{FF2B5EF4-FFF2-40B4-BE49-F238E27FC236}">
                  <a16:creationId xmlns:a16="http://schemas.microsoft.com/office/drawing/2014/main" id="{62B80106-D875-1A81-9482-318340C8A589}"/>
                </a:ext>
              </a:extLst>
            </p:cNvPr>
            <p:cNvSpPr>
              <a:spLocks noChangeArrowheads="1"/>
            </p:cNvSpPr>
            <p:nvPr/>
          </p:nvSpPr>
          <p:spPr bwMode="auto">
            <a:xfrm>
              <a:off x="327026" y="2989263"/>
              <a:ext cx="2103438" cy="528638"/>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Rectangle 21">
              <a:extLst>
                <a:ext uri="{FF2B5EF4-FFF2-40B4-BE49-F238E27FC236}">
                  <a16:creationId xmlns:a16="http://schemas.microsoft.com/office/drawing/2014/main" id="{FF5660CD-FA8D-F716-39D8-5B6B6938F19A}"/>
                </a:ext>
              </a:extLst>
            </p:cNvPr>
            <p:cNvSpPr>
              <a:spLocks noChangeArrowheads="1"/>
            </p:cNvSpPr>
            <p:nvPr/>
          </p:nvSpPr>
          <p:spPr bwMode="auto">
            <a:xfrm>
              <a:off x="2430463" y="2989263"/>
              <a:ext cx="3195638" cy="528638"/>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Rectangle 22">
              <a:extLst>
                <a:ext uri="{FF2B5EF4-FFF2-40B4-BE49-F238E27FC236}">
                  <a16:creationId xmlns:a16="http://schemas.microsoft.com/office/drawing/2014/main" id="{2B38439F-3E3D-DCEA-5E84-46BA65FBC60D}"/>
                </a:ext>
              </a:extLst>
            </p:cNvPr>
            <p:cNvSpPr>
              <a:spLocks noChangeArrowheads="1"/>
            </p:cNvSpPr>
            <p:nvPr/>
          </p:nvSpPr>
          <p:spPr bwMode="auto">
            <a:xfrm>
              <a:off x="5627688" y="2989263"/>
              <a:ext cx="3203575" cy="528638"/>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Line 33">
              <a:extLst>
                <a:ext uri="{FF2B5EF4-FFF2-40B4-BE49-F238E27FC236}">
                  <a16:creationId xmlns:a16="http://schemas.microsoft.com/office/drawing/2014/main" id="{C8255732-7B4F-C177-11B3-DFF211A9FD35}"/>
                </a:ext>
              </a:extLst>
            </p:cNvPr>
            <p:cNvSpPr>
              <a:spLocks noChangeShapeType="1"/>
            </p:cNvSpPr>
            <p:nvPr/>
          </p:nvSpPr>
          <p:spPr bwMode="auto">
            <a:xfrm>
              <a:off x="320676" y="3517900"/>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Rectangle 50">
              <a:extLst>
                <a:ext uri="{FF2B5EF4-FFF2-40B4-BE49-F238E27FC236}">
                  <a16:creationId xmlns:a16="http://schemas.microsoft.com/office/drawing/2014/main" id="{A4EC5CFD-D2FA-BF7B-082B-983F94FA91EE}"/>
                </a:ext>
              </a:extLst>
            </p:cNvPr>
            <p:cNvSpPr>
              <a:spLocks noChangeArrowheads="1"/>
            </p:cNvSpPr>
            <p:nvPr/>
          </p:nvSpPr>
          <p:spPr bwMode="auto">
            <a:xfrm>
              <a:off x="5700713" y="3141663"/>
              <a:ext cx="3073400"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Conversations: chat, games, collaboration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6" name="Rectangle 51">
              <a:extLst>
                <a:ext uri="{FF2B5EF4-FFF2-40B4-BE49-F238E27FC236}">
                  <a16:creationId xmlns:a16="http://schemas.microsoft.com/office/drawing/2014/main" id="{36845446-21F0-010B-6E2B-0E386A86C16F}"/>
                </a:ext>
              </a:extLst>
            </p:cNvPr>
            <p:cNvSpPr>
              <a:spLocks noChangeArrowheads="1"/>
            </p:cNvSpPr>
            <p:nvPr/>
          </p:nvSpPr>
          <p:spPr bwMode="auto">
            <a:xfrm>
              <a:off x="2503488" y="3044825"/>
              <a:ext cx="22621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Live updates: prices, progress,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7" name="Rectangle 52">
              <a:extLst>
                <a:ext uri="{FF2B5EF4-FFF2-40B4-BE49-F238E27FC236}">
                  <a16:creationId xmlns:a16="http://schemas.microsoft.com/office/drawing/2014/main" id="{A683FF73-2E69-20A8-9107-497EB01700DB}"/>
                </a:ext>
              </a:extLst>
            </p:cNvPr>
            <p:cNvSpPr>
              <a:spLocks noChangeArrowheads="1"/>
            </p:cNvSpPr>
            <p:nvPr/>
          </p:nvSpPr>
          <p:spPr bwMode="auto">
            <a:xfrm>
              <a:off x="2503488" y="3243263"/>
              <a:ext cx="9794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notifications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8" name="Rectangle 53">
              <a:extLst>
                <a:ext uri="{FF2B5EF4-FFF2-40B4-BE49-F238E27FC236}">
                  <a16:creationId xmlns:a16="http://schemas.microsoft.com/office/drawing/2014/main" id="{579E6EE2-5E1E-B930-B779-FF554D155174}"/>
                </a:ext>
              </a:extLst>
            </p:cNvPr>
            <p:cNvSpPr>
              <a:spLocks noChangeArrowheads="1"/>
            </p:cNvSpPr>
            <p:nvPr/>
          </p:nvSpPr>
          <p:spPr bwMode="auto">
            <a:xfrm>
              <a:off x="401638" y="3141663"/>
              <a:ext cx="774700"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Use it for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spTree>
    <p:extLst>
      <p:ext uri="{BB962C8B-B14F-4D97-AF65-F5344CB8AC3E}">
        <p14:creationId xmlns:p14="http://schemas.microsoft.com/office/powerpoint/2010/main" val="1086661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5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0"/>
                                        </p:tgtEl>
                                        <p:attrNameLst>
                                          <p:attrName>style.visibility</p:attrName>
                                        </p:attrNameLst>
                                      </p:cBhvr>
                                      <p:to>
                                        <p:strVal val="visible"/>
                                      </p:to>
                                    </p:set>
                                    <p:animEffect transition="in" filter="fade">
                                      <p:cBhvr>
                                        <p:cTn id="12" dur="500"/>
                                        <p:tgtEl>
                                          <p:spTgt spid="6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1"/>
                                        </p:tgtEl>
                                        <p:attrNameLst>
                                          <p:attrName>style.visibility</p:attrName>
                                        </p:attrNameLst>
                                      </p:cBhvr>
                                      <p:to>
                                        <p:strVal val="visible"/>
                                      </p:to>
                                    </p:set>
                                    <p:animEffect transition="in" filter="fade">
                                      <p:cBhvr>
                                        <p:cTn id="17" dur="500"/>
                                        <p:tgtEl>
                                          <p:spTgt spid="6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fade">
                                      <p:cBhvr>
                                        <p:cTn id="22" dur="500"/>
                                        <p:tgtEl>
                                          <p:spTgt spid="6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3"/>
                                        </p:tgtEl>
                                        <p:attrNameLst>
                                          <p:attrName>style.visibility</p:attrName>
                                        </p:attrNameLst>
                                      </p:cBhvr>
                                      <p:to>
                                        <p:strVal val="visible"/>
                                      </p:to>
                                    </p:set>
                                    <p:animEffect transition="in" filter="fade">
                                      <p:cBhvr>
                                        <p:cTn id="27"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Exercise 4: WebSockets</a:t>
            </a:r>
          </a:p>
        </p:txBody>
      </p:sp>
      <p:grpSp>
        <p:nvGrpSpPr>
          <p:cNvPr id="11" name="Group 10">
            <a:extLst>
              <a:ext uri="{FF2B5EF4-FFF2-40B4-BE49-F238E27FC236}">
                <a16:creationId xmlns:a16="http://schemas.microsoft.com/office/drawing/2014/main" id="{4181B864-F2ED-6067-C7B0-15D3394F7C96}"/>
              </a:ext>
            </a:extLst>
          </p:cNvPr>
          <p:cNvGrpSpPr/>
          <p:nvPr/>
        </p:nvGrpSpPr>
        <p:grpSpPr>
          <a:xfrm>
            <a:off x="320040" y="1234440"/>
            <a:ext cx="3931920" cy="1600200"/>
            <a:chOff x="320040" y="1234440"/>
            <a:chExt cx="3931920" cy="1600200"/>
          </a:xfrm>
        </p:grpSpPr>
        <p:sp>
          <p:nvSpPr>
            <p:cNvPr id="3" name="time"/>
            <p:cNvSpPr txBox="1"/>
            <p:nvPr/>
          </p:nvSpPr>
          <p:spPr>
            <a:xfrm>
              <a:off x="320040" y="1234440"/>
              <a:ext cx="3931920" cy="274320"/>
            </a:xfrm>
            <a:prstGeom prst="rect">
              <a:avLst/>
            </a:prstGeom>
            <a:noFill/>
          </p:spPr>
          <p:txBody>
            <a:bodyPr wrap="square" lIns="0" tIns="0" rIns="0" bIns="0" anchor="t">
              <a:spAutoFit/>
            </a:bodyPr>
            <a:lstStyle/>
            <a:p>
              <a:r>
                <a:rPr sz="1400" b="1">
                  <a:solidFill>
                    <a:schemeClr val="accent1"/>
                  </a:solidFill>
                </a:rPr>
                <a:t>30 minutes</a:t>
              </a:r>
            </a:p>
          </p:txBody>
        </p:sp>
        <p:sp>
          <p:nvSpPr>
            <p:cNvPr id="4" name="goal"/>
            <p:cNvSpPr txBox="1"/>
            <p:nvPr/>
          </p:nvSpPr>
          <p:spPr>
            <a:xfrm>
              <a:off x="320040" y="1554480"/>
              <a:ext cx="3931920" cy="1280160"/>
            </a:xfrm>
            <a:prstGeom prst="rect">
              <a:avLst/>
            </a:prstGeom>
            <a:noFill/>
          </p:spPr>
          <p:txBody>
            <a:bodyPr wrap="square" lIns="0" tIns="0" rIns="0" bIns="0" anchor="t">
              <a:spAutoFit/>
            </a:bodyPr>
            <a:lstStyle/>
            <a:p>
              <a:r>
                <a:rPr sz="1500" b="0">
                  <a:solidFill>
                    <a:schemeClr val="tx1"/>
                  </a:solidFill>
                </a:rPr>
                <a:t>Build a chat server with three hooks, chat from two browser tabs, then join the same chat from APL.</a:t>
              </a:r>
            </a:p>
          </p:txBody>
        </p:sp>
      </p:grpSp>
      <p:grpSp>
        <p:nvGrpSpPr>
          <p:cNvPr id="12" name="Group 11">
            <a:extLst>
              <a:ext uri="{FF2B5EF4-FFF2-40B4-BE49-F238E27FC236}">
                <a16:creationId xmlns:a16="http://schemas.microsoft.com/office/drawing/2014/main" id="{D190C14F-506A-D12B-5958-0D6DD2D5862E}"/>
              </a:ext>
            </a:extLst>
          </p:cNvPr>
          <p:cNvGrpSpPr/>
          <p:nvPr/>
        </p:nvGrpSpPr>
        <p:grpSpPr>
          <a:xfrm>
            <a:off x="4572000" y="1234440"/>
            <a:ext cx="4251960" cy="1920240"/>
            <a:chOff x="4572000" y="1234440"/>
            <a:chExt cx="4251960" cy="1920240"/>
          </a:xfrm>
        </p:grpSpPr>
        <p:sp>
          <p:nvSpPr>
            <p:cNvPr id="5" name="steps head"/>
            <p:cNvSpPr txBox="1"/>
            <p:nvPr/>
          </p:nvSpPr>
          <p:spPr>
            <a:xfrm>
              <a:off x="4572000" y="1234440"/>
              <a:ext cx="4251960" cy="274320"/>
            </a:xfrm>
            <a:prstGeom prst="rect">
              <a:avLst/>
            </a:prstGeom>
            <a:noFill/>
          </p:spPr>
          <p:txBody>
            <a:bodyPr wrap="square" lIns="0" tIns="0" rIns="0" bIns="0" anchor="t">
              <a:spAutoFit/>
            </a:bodyPr>
            <a:lstStyle/>
            <a:p>
              <a:r>
                <a:rPr sz="1300" b="1">
                  <a:solidFill>
                    <a:schemeClr val="accent2"/>
                  </a:solidFill>
                </a:rPr>
                <a:t>Core steps</a:t>
              </a:r>
            </a:p>
          </p:txBody>
        </p:sp>
        <p:sp>
          <p:nvSpPr>
            <p:cNvPr id="6" name="steps"/>
            <p:cNvSpPr txBox="1"/>
            <p:nvPr/>
          </p:nvSpPr>
          <p:spPr>
            <a:xfrm>
              <a:off x="4572000" y="1554480"/>
              <a:ext cx="4251960" cy="1600200"/>
            </a:xfrm>
            <a:prstGeom prst="rect">
              <a:avLst/>
            </a:prstGeom>
            <a:noFill/>
          </p:spPr>
          <p:txBody>
            <a:bodyPr wrap="square" lIns="0" tIns="0" rIns="0" bIns="0" anchor="t">
              <a:spAutoFit/>
            </a:bodyPr>
            <a:lstStyle/>
            <a:p>
              <a:pPr>
                <a:spcAft>
                  <a:spcPts val="200"/>
                </a:spcAft>
              </a:pPr>
              <a:r>
                <a:rPr sz="1200" b="0" dirty="0">
                  <a:solidFill>
                    <a:schemeClr val="tx1"/>
                  </a:solidFill>
                </a:rPr>
                <a:t>W1  Start the server, join from the page</a:t>
              </a:r>
            </a:p>
            <a:p>
              <a:pPr>
                <a:spcAft>
                  <a:spcPts val="200"/>
                </a:spcAft>
              </a:pPr>
              <a:r>
                <a:rPr sz="1200" b="0" dirty="0">
                  <a:solidFill>
                    <a:schemeClr val="tx1"/>
                  </a:solidFill>
                </a:rPr>
                <a:t>W2  Connect: remember the connection</a:t>
              </a:r>
            </a:p>
            <a:p>
              <a:pPr>
                <a:spcAft>
                  <a:spcPts val="200"/>
                </a:spcAft>
              </a:pPr>
              <a:r>
                <a:rPr sz="1200" b="0" dirty="0">
                  <a:solidFill>
                    <a:schemeClr val="tx1"/>
                  </a:solidFill>
                </a:rPr>
                <a:t>W3  Receive: send messages on to everyone</a:t>
              </a:r>
            </a:p>
            <a:p>
              <a:pPr>
                <a:spcAft>
                  <a:spcPts val="200"/>
                </a:spcAft>
              </a:pPr>
              <a:r>
                <a:rPr sz="1200" b="0" dirty="0">
                  <a:solidFill>
                    <a:schemeClr val="tx1"/>
                  </a:solidFill>
                </a:rPr>
                <a:t>W4  Disconnect: announce who left</a:t>
              </a:r>
            </a:p>
            <a:p>
              <a:pPr>
                <a:spcAft>
                  <a:spcPts val="200"/>
                </a:spcAft>
              </a:pPr>
              <a:r>
                <a:rPr sz="1200" b="0" dirty="0">
                  <a:solidFill>
                    <a:schemeClr val="tx1"/>
                  </a:solidFill>
                </a:rPr>
                <a:t>W5  Join from APL with Chat</a:t>
              </a:r>
            </a:p>
            <a:p>
              <a:pPr>
                <a:spcAft>
                  <a:spcPts val="200"/>
                </a:spcAft>
              </a:pPr>
              <a:r>
                <a:rPr sz="1200" b="0" dirty="0">
                  <a:solidFill>
                    <a:schemeClr val="tx1"/>
                  </a:solidFill>
                </a:rPr>
                <a:t>W6  Stop</a:t>
              </a:r>
            </a:p>
          </p:txBody>
        </p:sp>
      </p:grpSp>
      <p:grpSp>
        <p:nvGrpSpPr>
          <p:cNvPr id="13" name="Group 12">
            <a:extLst>
              <a:ext uri="{FF2B5EF4-FFF2-40B4-BE49-F238E27FC236}">
                <a16:creationId xmlns:a16="http://schemas.microsoft.com/office/drawing/2014/main" id="{9B80DC05-1003-7252-F055-083647D3670E}"/>
              </a:ext>
            </a:extLst>
          </p:cNvPr>
          <p:cNvGrpSpPr/>
          <p:nvPr/>
        </p:nvGrpSpPr>
        <p:grpSpPr>
          <a:xfrm>
            <a:off x="320040" y="3291840"/>
            <a:ext cx="8503920" cy="1060704"/>
            <a:chOff x="320040" y="3291840"/>
            <a:chExt cx="8503920" cy="1060704"/>
          </a:xfrm>
        </p:grpSpPr>
        <p:sp>
          <p:nvSpPr>
            <p:cNvPr id="7" name="first head"/>
            <p:cNvSpPr txBox="1"/>
            <p:nvPr/>
          </p:nvSpPr>
          <p:spPr>
            <a:xfrm>
              <a:off x="320040" y="3291840"/>
              <a:ext cx="5486400" cy="256032"/>
            </a:xfrm>
            <a:prstGeom prst="rect">
              <a:avLst/>
            </a:prstGeom>
            <a:noFill/>
          </p:spPr>
          <p:txBody>
            <a:bodyPr wrap="square" lIns="0" tIns="0" rIns="0" bIns="0" anchor="t">
              <a:spAutoFit/>
            </a:bodyPr>
            <a:lstStyle/>
            <a:p>
              <a:r>
                <a:rPr sz="1200" b="1">
                  <a:solidFill>
                    <a:schemeClr val="accent2"/>
                  </a:solidFill>
                </a:rPr>
                <a:t>Start here, after Setup</a:t>
              </a:r>
            </a:p>
          </p:txBody>
        </p:sp>
        <p:sp>
          <p:nvSpPr>
            <p:cNvPr id="8" name="code panel"/>
            <p:cNvSpPr/>
            <p:nvPr/>
          </p:nvSpPr>
          <p:spPr>
            <a:xfrm>
              <a:off x="320040" y="358444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de"/>
            <p:cNvSpPr txBox="1"/>
            <p:nvPr/>
          </p:nvSpPr>
          <p:spPr>
            <a:xfrm>
              <a:off x="457200" y="3694176"/>
              <a:ext cx="8229600" cy="292608"/>
            </a:xfrm>
            <a:prstGeom prst="rect">
              <a:avLst/>
            </a:prstGeom>
            <a:noFill/>
          </p:spPr>
          <p:txBody>
            <a:bodyPr wrap="square" lIns="0" tIns="0" rIns="0" bIns="0" anchor="t">
              <a:spAutoFit/>
            </a:bodyPr>
            <a:lstStyle/>
            <a:p>
              <a:r>
                <a:rPr sz="1100" b="0">
                  <a:solidFill>
                    <a:schemeClr val="bg1"/>
                  </a:solidFill>
                  <a:latin typeface="APL385 Unicode"/>
                </a:rPr>
                <a:t>Load 4</a:t>
              </a:r>
            </a:p>
          </p:txBody>
        </p:sp>
        <p:sp>
          <p:nvSpPr>
            <p:cNvPr id="10" name="readme"/>
            <p:cNvSpPr txBox="1"/>
            <p:nvPr/>
          </p:nvSpPr>
          <p:spPr>
            <a:xfrm>
              <a:off x="320040" y="4123944"/>
              <a:ext cx="8503920" cy="228600"/>
            </a:xfrm>
            <a:prstGeom prst="rect">
              <a:avLst/>
            </a:prstGeom>
            <a:noFill/>
          </p:spPr>
          <p:txBody>
            <a:bodyPr wrap="square" lIns="0" tIns="0" rIns="0" bIns="0" anchor="t">
              <a:spAutoFit/>
            </a:bodyPr>
            <a:lstStyle/>
            <a:p>
              <a:r>
                <a:rPr sz="1200" b="0">
                  <a:solidFill>
                    <a:schemeClr val="tx2"/>
                  </a:solidFill>
                </a:rPr>
                <a:t>Exercises/Ex4-WebSockets/README.md</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047CD-88D0-8248-D1A7-B2A0602E7D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8D49C0-F61E-EB38-5E6B-C9843116CA66}"/>
              </a:ext>
            </a:extLst>
          </p:cNvPr>
          <p:cNvSpPr>
            <a:spLocks noGrp="1"/>
          </p:cNvSpPr>
          <p:nvPr>
            <p:ph type="title"/>
          </p:nvPr>
        </p:nvSpPr>
        <p:spPr/>
        <p:txBody>
          <a:bodyPr/>
          <a:lstStyle/>
          <a:p>
            <a:r>
              <a:rPr sz="2800"/>
              <a:t>Choosing an approach</a:t>
            </a:r>
          </a:p>
        </p:txBody>
      </p:sp>
      <p:sp>
        <p:nvSpPr>
          <p:cNvPr id="4" name="text">
            <a:extLst>
              <a:ext uri="{FF2B5EF4-FFF2-40B4-BE49-F238E27FC236}">
                <a16:creationId xmlns:a16="http://schemas.microsoft.com/office/drawing/2014/main" id="{2AC786FE-828E-4869-9C29-4DF1EE224D69}"/>
              </a:ext>
            </a:extLst>
          </p:cNvPr>
          <p:cNvSpPr txBox="1"/>
          <p:nvPr/>
        </p:nvSpPr>
        <p:spPr>
          <a:xfrm>
            <a:off x="320040" y="4256398"/>
            <a:ext cx="8503920" cy="328473"/>
          </a:xfrm>
          <a:prstGeom prst="rect">
            <a:avLst/>
          </a:prstGeom>
          <a:noFill/>
        </p:spPr>
        <p:txBody>
          <a:bodyPr wrap="square" lIns="0" tIns="0" rIns="0" bIns="0" anchor="t">
            <a:spAutoFit/>
          </a:bodyPr>
          <a:lstStyle/>
          <a:p>
            <a:r>
              <a:rPr sz="1500" b="0" dirty="0">
                <a:solidFill>
                  <a:schemeClr val="tx1"/>
                </a:solidFill>
              </a:rPr>
              <a:t>All of them in APL: HttpCommand to call, Jarvis to serve, </a:t>
            </a:r>
            <a:r>
              <a:rPr sz="1500" b="0" dirty="0" err="1">
                <a:solidFill>
                  <a:schemeClr val="tx1"/>
                </a:solidFill>
              </a:rPr>
              <a:t>WebSocketClient</a:t>
            </a:r>
            <a:r>
              <a:rPr sz="1500" b="0" dirty="0">
                <a:solidFill>
                  <a:schemeClr val="tx1"/>
                </a:solidFill>
              </a:rPr>
              <a:t> to talk both ways.</a:t>
            </a:r>
          </a:p>
        </p:txBody>
      </p:sp>
      <p:sp>
        <p:nvSpPr>
          <p:cNvPr id="8" name="AutoShape 3">
            <a:extLst>
              <a:ext uri="{FF2B5EF4-FFF2-40B4-BE49-F238E27FC236}">
                <a16:creationId xmlns:a16="http://schemas.microsoft.com/office/drawing/2014/main" id="{C56AC46D-E55F-7D49-11D0-225B297C72C6}"/>
              </a:ext>
            </a:extLst>
          </p:cNvPr>
          <p:cNvSpPr>
            <a:spLocks noChangeAspect="1" noChangeArrowheads="1" noTextEdit="1"/>
          </p:cNvSpPr>
          <p:nvPr/>
        </p:nvSpPr>
        <p:spPr bwMode="auto">
          <a:xfrm>
            <a:off x="319088" y="1262063"/>
            <a:ext cx="8537575"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9" name="Rectangle 5">
            <a:extLst>
              <a:ext uri="{FF2B5EF4-FFF2-40B4-BE49-F238E27FC236}">
                <a16:creationId xmlns:a16="http://schemas.microsoft.com/office/drawing/2014/main" id="{A83384D8-2F7F-2A27-621F-FA942B551096}"/>
              </a:ext>
            </a:extLst>
          </p:cNvPr>
          <p:cNvSpPr>
            <a:spLocks noChangeArrowheads="1"/>
          </p:cNvSpPr>
          <p:nvPr/>
        </p:nvSpPr>
        <p:spPr bwMode="auto">
          <a:xfrm>
            <a:off x="327026" y="1270001"/>
            <a:ext cx="1822450"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Rectangle 6">
            <a:extLst>
              <a:ext uri="{FF2B5EF4-FFF2-40B4-BE49-F238E27FC236}">
                <a16:creationId xmlns:a16="http://schemas.microsoft.com/office/drawing/2014/main" id="{B93BEBA8-9E94-4F21-53CD-48278F11588A}"/>
              </a:ext>
            </a:extLst>
          </p:cNvPr>
          <p:cNvSpPr>
            <a:spLocks noChangeArrowheads="1"/>
          </p:cNvSpPr>
          <p:nvPr/>
        </p:nvSpPr>
        <p:spPr bwMode="auto">
          <a:xfrm>
            <a:off x="2149476" y="1270001"/>
            <a:ext cx="1682750"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7">
            <a:extLst>
              <a:ext uri="{FF2B5EF4-FFF2-40B4-BE49-F238E27FC236}">
                <a16:creationId xmlns:a16="http://schemas.microsoft.com/office/drawing/2014/main" id="{4EC0764A-DD93-F3E5-5B10-9DF2F3F773B4}"/>
              </a:ext>
            </a:extLst>
          </p:cNvPr>
          <p:cNvSpPr>
            <a:spLocks noChangeArrowheads="1"/>
          </p:cNvSpPr>
          <p:nvPr/>
        </p:nvSpPr>
        <p:spPr bwMode="auto">
          <a:xfrm>
            <a:off x="3832226" y="1270001"/>
            <a:ext cx="1822450" cy="404813"/>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Rectangle 8">
            <a:extLst>
              <a:ext uri="{FF2B5EF4-FFF2-40B4-BE49-F238E27FC236}">
                <a16:creationId xmlns:a16="http://schemas.microsoft.com/office/drawing/2014/main" id="{68C9B485-1CDC-271A-DAF8-CCA5F0E91D8C}"/>
              </a:ext>
            </a:extLst>
          </p:cNvPr>
          <p:cNvSpPr>
            <a:spLocks noChangeArrowheads="1"/>
          </p:cNvSpPr>
          <p:nvPr/>
        </p:nvSpPr>
        <p:spPr bwMode="auto">
          <a:xfrm>
            <a:off x="5654676" y="1270001"/>
            <a:ext cx="3176588" cy="406400"/>
          </a:xfrm>
          <a:prstGeom prst="rect">
            <a:avLst/>
          </a:prstGeom>
          <a:solidFill>
            <a:srgbClr val="003B5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 name="Line 29">
            <a:extLst>
              <a:ext uri="{FF2B5EF4-FFF2-40B4-BE49-F238E27FC236}">
                <a16:creationId xmlns:a16="http://schemas.microsoft.com/office/drawing/2014/main" id="{E797BC27-1910-5D5D-9240-B894DC189A6A}"/>
              </a:ext>
            </a:extLst>
          </p:cNvPr>
          <p:cNvSpPr>
            <a:spLocks noChangeShapeType="1"/>
          </p:cNvSpPr>
          <p:nvPr/>
        </p:nvSpPr>
        <p:spPr bwMode="auto">
          <a:xfrm>
            <a:off x="214947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Line 30">
            <a:extLst>
              <a:ext uri="{FF2B5EF4-FFF2-40B4-BE49-F238E27FC236}">
                <a16:creationId xmlns:a16="http://schemas.microsoft.com/office/drawing/2014/main" id="{0341EF2D-2B25-F3B1-7E9B-026ED2310162}"/>
              </a:ext>
            </a:extLst>
          </p:cNvPr>
          <p:cNvSpPr>
            <a:spLocks noChangeShapeType="1"/>
          </p:cNvSpPr>
          <p:nvPr/>
        </p:nvSpPr>
        <p:spPr bwMode="auto">
          <a:xfrm>
            <a:off x="383222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1">
            <a:extLst>
              <a:ext uri="{FF2B5EF4-FFF2-40B4-BE49-F238E27FC236}">
                <a16:creationId xmlns:a16="http://schemas.microsoft.com/office/drawing/2014/main" id="{5AE7DF4A-25DF-1A45-BA01-4C0D0431B2AA}"/>
              </a:ext>
            </a:extLst>
          </p:cNvPr>
          <p:cNvSpPr>
            <a:spLocks noChangeShapeType="1"/>
          </p:cNvSpPr>
          <p:nvPr/>
        </p:nvSpPr>
        <p:spPr bwMode="auto">
          <a:xfrm>
            <a:off x="565467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7">
            <a:extLst>
              <a:ext uri="{FF2B5EF4-FFF2-40B4-BE49-F238E27FC236}">
                <a16:creationId xmlns:a16="http://schemas.microsoft.com/office/drawing/2014/main" id="{B5FEB69E-8FD4-40C0-0072-699019E5C1A1}"/>
              </a:ext>
            </a:extLst>
          </p:cNvPr>
          <p:cNvSpPr>
            <a:spLocks noChangeShapeType="1"/>
          </p:cNvSpPr>
          <p:nvPr/>
        </p:nvSpPr>
        <p:spPr bwMode="auto">
          <a:xfrm>
            <a:off x="327026"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8">
            <a:extLst>
              <a:ext uri="{FF2B5EF4-FFF2-40B4-BE49-F238E27FC236}">
                <a16:creationId xmlns:a16="http://schemas.microsoft.com/office/drawing/2014/main" id="{9D815AC6-FBF3-C56A-2C98-E5BF1F87DBE6}"/>
              </a:ext>
            </a:extLst>
          </p:cNvPr>
          <p:cNvSpPr>
            <a:spLocks noChangeShapeType="1"/>
          </p:cNvSpPr>
          <p:nvPr/>
        </p:nvSpPr>
        <p:spPr bwMode="auto">
          <a:xfrm>
            <a:off x="8831263" y="1263651"/>
            <a:ext cx="0" cy="2066925"/>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9">
            <a:extLst>
              <a:ext uri="{FF2B5EF4-FFF2-40B4-BE49-F238E27FC236}">
                <a16:creationId xmlns:a16="http://schemas.microsoft.com/office/drawing/2014/main" id="{5D8DC8E5-28C8-FA90-E111-4A3F60A75574}"/>
              </a:ext>
            </a:extLst>
          </p:cNvPr>
          <p:cNvSpPr>
            <a:spLocks noChangeShapeType="1"/>
          </p:cNvSpPr>
          <p:nvPr/>
        </p:nvSpPr>
        <p:spPr bwMode="auto">
          <a:xfrm>
            <a:off x="320676" y="1270001"/>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Rectangle 41">
            <a:extLst>
              <a:ext uri="{FF2B5EF4-FFF2-40B4-BE49-F238E27FC236}">
                <a16:creationId xmlns:a16="http://schemas.microsoft.com/office/drawing/2014/main" id="{A369459E-77C1-D633-D5BA-0B404BBB70BB}"/>
              </a:ext>
            </a:extLst>
          </p:cNvPr>
          <p:cNvSpPr>
            <a:spLocks noChangeArrowheads="1"/>
          </p:cNvSpPr>
          <p:nvPr/>
        </p:nvSpPr>
        <p:spPr bwMode="auto">
          <a:xfrm>
            <a:off x="5729288" y="1360488"/>
            <a:ext cx="9429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Use it when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6" name="Rectangle 42">
            <a:extLst>
              <a:ext uri="{FF2B5EF4-FFF2-40B4-BE49-F238E27FC236}">
                <a16:creationId xmlns:a16="http://schemas.microsoft.com/office/drawing/2014/main" id="{CC2B9BB9-3812-A7BE-9CF9-3C8A8DCF556C}"/>
              </a:ext>
            </a:extLst>
          </p:cNvPr>
          <p:cNvSpPr>
            <a:spLocks noChangeArrowheads="1"/>
          </p:cNvSpPr>
          <p:nvPr/>
        </p:nvSpPr>
        <p:spPr bwMode="auto">
          <a:xfrm>
            <a:off x="3906838" y="1360488"/>
            <a:ext cx="7778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Direction</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7" name="Rectangle 43">
            <a:extLst>
              <a:ext uri="{FF2B5EF4-FFF2-40B4-BE49-F238E27FC236}">
                <a16:creationId xmlns:a16="http://schemas.microsoft.com/office/drawing/2014/main" id="{E4864DA1-F4D5-3F8F-9B68-A78C94B90206}"/>
              </a:ext>
            </a:extLst>
          </p:cNvPr>
          <p:cNvSpPr>
            <a:spLocks noChangeArrowheads="1"/>
          </p:cNvSpPr>
          <p:nvPr/>
        </p:nvSpPr>
        <p:spPr bwMode="auto">
          <a:xfrm>
            <a:off x="2224088" y="1360488"/>
            <a:ext cx="9001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FFFFFF"/>
                </a:solidFill>
                <a:effectLst/>
                <a:latin typeface="Sarabun" panose="00000500000000000000" pitchFamily="2" charset="-34"/>
              </a:rPr>
              <a:t>Who starts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nvGrpSpPr>
          <p:cNvPr id="70" name="Group 69">
            <a:extLst>
              <a:ext uri="{FF2B5EF4-FFF2-40B4-BE49-F238E27FC236}">
                <a16:creationId xmlns:a16="http://schemas.microsoft.com/office/drawing/2014/main" id="{A3E3D943-29DF-A601-E57F-B382D1E3B91D}"/>
              </a:ext>
            </a:extLst>
          </p:cNvPr>
          <p:cNvGrpSpPr/>
          <p:nvPr/>
        </p:nvGrpSpPr>
        <p:grpSpPr>
          <a:xfrm>
            <a:off x="320676" y="1674813"/>
            <a:ext cx="8516938" cy="398463"/>
            <a:chOff x="320676" y="1674813"/>
            <a:chExt cx="8516938" cy="398463"/>
          </a:xfrm>
        </p:grpSpPr>
        <p:sp>
          <p:nvSpPr>
            <p:cNvPr id="13" name="Rectangle 9">
              <a:extLst>
                <a:ext uri="{FF2B5EF4-FFF2-40B4-BE49-F238E27FC236}">
                  <a16:creationId xmlns:a16="http://schemas.microsoft.com/office/drawing/2014/main" id="{42191B10-6F11-38CB-1679-08EE1BCFE7F1}"/>
                </a:ext>
              </a:extLst>
            </p:cNvPr>
            <p:cNvSpPr>
              <a:spLocks noChangeArrowheads="1"/>
            </p:cNvSpPr>
            <p:nvPr/>
          </p:nvSpPr>
          <p:spPr bwMode="auto">
            <a:xfrm>
              <a:off x="327026" y="1674813"/>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Rectangle 10">
              <a:extLst>
                <a:ext uri="{FF2B5EF4-FFF2-40B4-BE49-F238E27FC236}">
                  <a16:creationId xmlns:a16="http://schemas.microsoft.com/office/drawing/2014/main" id="{3D0D319F-1606-CC4F-6FE8-61BFEF5E2D1E}"/>
                </a:ext>
              </a:extLst>
            </p:cNvPr>
            <p:cNvSpPr>
              <a:spLocks noChangeArrowheads="1"/>
            </p:cNvSpPr>
            <p:nvPr/>
          </p:nvSpPr>
          <p:spPr bwMode="auto">
            <a:xfrm>
              <a:off x="2149476" y="1674813"/>
              <a:ext cx="16827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Rectangle 11">
              <a:extLst>
                <a:ext uri="{FF2B5EF4-FFF2-40B4-BE49-F238E27FC236}">
                  <a16:creationId xmlns:a16="http://schemas.microsoft.com/office/drawing/2014/main" id="{0286F0DD-101C-C039-D24E-3ED16267C0BD}"/>
                </a:ext>
              </a:extLst>
            </p:cNvPr>
            <p:cNvSpPr>
              <a:spLocks noChangeArrowheads="1"/>
            </p:cNvSpPr>
            <p:nvPr/>
          </p:nvSpPr>
          <p:spPr bwMode="auto">
            <a:xfrm>
              <a:off x="3832226" y="1674813"/>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Rectangle 12">
              <a:extLst>
                <a:ext uri="{FF2B5EF4-FFF2-40B4-BE49-F238E27FC236}">
                  <a16:creationId xmlns:a16="http://schemas.microsoft.com/office/drawing/2014/main" id="{7D41F8D8-7686-9FBD-C591-977CA6DB3FCA}"/>
                </a:ext>
              </a:extLst>
            </p:cNvPr>
            <p:cNvSpPr>
              <a:spLocks noChangeArrowheads="1"/>
            </p:cNvSpPr>
            <p:nvPr/>
          </p:nvSpPr>
          <p:spPr bwMode="auto">
            <a:xfrm>
              <a:off x="5654676" y="1676401"/>
              <a:ext cx="3176588"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6" name="Line 32">
              <a:extLst>
                <a:ext uri="{FF2B5EF4-FFF2-40B4-BE49-F238E27FC236}">
                  <a16:creationId xmlns:a16="http://schemas.microsoft.com/office/drawing/2014/main" id="{C26E19B4-BF59-2727-1CDF-E2EF1FD20062}"/>
                </a:ext>
              </a:extLst>
            </p:cNvPr>
            <p:cNvSpPr>
              <a:spLocks noChangeShapeType="1"/>
            </p:cNvSpPr>
            <p:nvPr/>
          </p:nvSpPr>
          <p:spPr bwMode="auto">
            <a:xfrm>
              <a:off x="320676" y="1676401"/>
              <a:ext cx="8516938" cy="0"/>
            </a:xfrm>
            <a:prstGeom prst="line">
              <a:avLst/>
            </a:prstGeom>
            <a:noFill/>
            <a:ln w="381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3">
              <a:extLst>
                <a:ext uri="{FF2B5EF4-FFF2-40B4-BE49-F238E27FC236}">
                  <a16:creationId xmlns:a16="http://schemas.microsoft.com/office/drawing/2014/main" id="{754A4692-130E-F305-E667-3B1623B41FE1}"/>
                </a:ext>
              </a:extLst>
            </p:cNvPr>
            <p:cNvSpPr>
              <a:spLocks noChangeShapeType="1"/>
            </p:cNvSpPr>
            <p:nvPr/>
          </p:nvSpPr>
          <p:spPr bwMode="auto">
            <a:xfrm>
              <a:off x="320676" y="200501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Rectangle 44">
              <a:extLst>
                <a:ext uri="{FF2B5EF4-FFF2-40B4-BE49-F238E27FC236}">
                  <a16:creationId xmlns:a16="http://schemas.microsoft.com/office/drawing/2014/main" id="{7760B8C5-77DB-72ED-51AC-B6BE03530CC5}"/>
                </a:ext>
              </a:extLst>
            </p:cNvPr>
            <p:cNvSpPr>
              <a:spLocks noChangeArrowheads="1"/>
            </p:cNvSpPr>
            <p:nvPr/>
          </p:nvSpPr>
          <p:spPr bwMode="auto">
            <a:xfrm>
              <a:off x="5729288" y="1730376"/>
              <a:ext cx="14589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answer is quick</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49" name="Rectangle 45">
              <a:extLst>
                <a:ext uri="{FF2B5EF4-FFF2-40B4-BE49-F238E27FC236}">
                  <a16:creationId xmlns:a16="http://schemas.microsoft.com/office/drawing/2014/main" id="{41058A15-BEFD-91EF-80BC-06C04A66B63E}"/>
                </a:ext>
              </a:extLst>
            </p:cNvPr>
            <p:cNvSpPr>
              <a:spLocks noChangeArrowheads="1"/>
            </p:cNvSpPr>
            <p:nvPr/>
          </p:nvSpPr>
          <p:spPr bwMode="auto">
            <a:xfrm>
              <a:off x="3906838" y="1730376"/>
              <a:ext cx="12795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Ask, then answer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0" name="Rectangle 46">
              <a:extLst>
                <a:ext uri="{FF2B5EF4-FFF2-40B4-BE49-F238E27FC236}">
                  <a16:creationId xmlns:a16="http://schemas.microsoft.com/office/drawing/2014/main" id="{9DBF6174-D0E5-1C2F-C242-E06114B8401F}"/>
                </a:ext>
              </a:extLst>
            </p:cNvPr>
            <p:cNvSpPr>
              <a:spLocks noChangeArrowheads="1"/>
            </p:cNvSpPr>
            <p:nvPr/>
          </p:nvSpPr>
          <p:spPr bwMode="auto">
            <a:xfrm>
              <a:off x="2224088" y="1730376"/>
              <a:ext cx="50800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Client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1" name="Rectangle 47">
              <a:extLst>
                <a:ext uri="{FF2B5EF4-FFF2-40B4-BE49-F238E27FC236}">
                  <a16:creationId xmlns:a16="http://schemas.microsoft.com/office/drawing/2014/main" id="{719D5291-4121-8FEC-916F-769D2AF3B2F0}"/>
                </a:ext>
              </a:extLst>
            </p:cNvPr>
            <p:cNvSpPr>
              <a:spLocks noChangeArrowheads="1"/>
            </p:cNvSpPr>
            <p:nvPr/>
          </p:nvSpPr>
          <p:spPr bwMode="auto">
            <a:xfrm>
              <a:off x="401638" y="1730376"/>
              <a:ext cx="17129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Request and response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71" name="Group 70">
            <a:extLst>
              <a:ext uri="{FF2B5EF4-FFF2-40B4-BE49-F238E27FC236}">
                <a16:creationId xmlns:a16="http://schemas.microsoft.com/office/drawing/2014/main" id="{C8FB8DF8-58F9-636E-8A03-A4B81A8548BF}"/>
              </a:ext>
            </a:extLst>
          </p:cNvPr>
          <p:cNvGrpSpPr/>
          <p:nvPr/>
        </p:nvGrpSpPr>
        <p:grpSpPr>
          <a:xfrm>
            <a:off x="320676" y="2005013"/>
            <a:ext cx="8516938" cy="398463"/>
            <a:chOff x="320676" y="2005013"/>
            <a:chExt cx="8516938" cy="398463"/>
          </a:xfrm>
        </p:grpSpPr>
        <p:sp>
          <p:nvSpPr>
            <p:cNvPr id="17" name="Rectangle 13">
              <a:extLst>
                <a:ext uri="{FF2B5EF4-FFF2-40B4-BE49-F238E27FC236}">
                  <a16:creationId xmlns:a16="http://schemas.microsoft.com/office/drawing/2014/main" id="{E4343C61-39B0-7FAC-5BC5-2DFD5F1F4039}"/>
                </a:ext>
              </a:extLst>
            </p:cNvPr>
            <p:cNvSpPr>
              <a:spLocks noChangeArrowheads="1"/>
            </p:cNvSpPr>
            <p:nvPr/>
          </p:nvSpPr>
          <p:spPr bwMode="auto">
            <a:xfrm>
              <a:off x="327026" y="2005013"/>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Rectangle 14">
              <a:extLst>
                <a:ext uri="{FF2B5EF4-FFF2-40B4-BE49-F238E27FC236}">
                  <a16:creationId xmlns:a16="http://schemas.microsoft.com/office/drawing/2014/main" id="{666D122D-3DEB-71D9-B535-B3475BEDF314}"/>
                </a:ext>
              </a:extLst>
            </p:cNvPr>
            <p:cNvSpPr>
              <a:spLocks noChangeArrowheads="1"/>
            </p:cNvSpPr>
            <p:nvPr/>
          </p:nvSpPr>
          <p:spPr bwMode="auto">
            <a:xfrm>
              <a:off x="2149476" y="2005013"/>
              <a:ext cx="16827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Rectangle 15">
              <a:extLst>
                <a:ext uri="{FF2B5EF4-FFF2-40B4-BE49-F238E27FC236}">
                  <a16:creationId xmlns:a16="http://schemas.microsoft.com/office/drawing/2014/main" id="{3B37E884-CEB6-71F4-B421-1298A5FE1167}"/>
                </a:ext>
              </a:extLst>
            </p:cNvPr>
            <p:cNvSpPr>
              <a:spLocks noChangeArrowheads="1"/>
            </p:cNvSpPr>
            <p:nvPr/>
          </p:nvSpPr>
          <p:spPr bwMode="auto">
            <a:xfrm>
              <a:off x="3832226" y="2005013"/>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Rectangle 16">
              <a:extLst>
                <a:ext uri="{FF2B5EF4-FFF2-40B4-BE49-F238E27FC236}">
                  <a16:creationId xmlns:a16="http://schemas.microsoft.com/office/drawing/2014/main" id="{BCECA04C-7A0D-6691-A466-A78A3BC76810}"/>
                </a:ext>
              </a:extLst>
            </p:cNvPr>
            <p:cNvSpPr>
              <a:spLocks noChangeArrowheads="1"/>
            </p:cNvSpPr>
            <p:nvPr/>
          </p:nvSpPr>
          <p:spPr bwMode="auto">
            <a:xfrm>
              <a:off x="5654676" y="2005013"/>
              <a:ext cx="3176588"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8" name="Line 34">
              <a:extLst>
                <a:ext uri="{FF2B5EF4-FFF2-40B4-BE49-F238E27FC236}">
                  <a16:creationId xmlns:a16="http://schemas.microsoft.com/office/drawing/2014/main" id="{F78A6338-B730-917A-780E-ED10B2252EB5}"/>
                </a:ext>
              </a:extLst>
            </p:cNvPr>
            <p:cNvSpPr>
              <a:spLocks noChangeShapeType="1"/>
            </p:cNvSpPr>
            <p:nvPr/>
          </p:nvSpPr>
          <p:spPr bwMode="auto">
            <a:xfrm>
              <a:off x="320676" y="2335213"/>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Rectangle 48">
              <a:extLst>
                <a:ext uri="{FF2B5EF4-FFF2-40B4-BE49-F238E27FC236}">
                  <a16:creationId xmlns:a16="http://schemas.microsoft.com/office/drawing/2014/main" id="{14A54636-5331-8E27-0BEC-B13FA37CDA77}"/>
                </a:ext>
              </a:extLst>
            </p:cNvPr>
            <p:cNvSpPr>
              <a:spLocks noChangeArrowheads="1"/>
            </p:cNvSpPr>
            <p:nvPr/>
          </p:nvSpPr>
          <p:spPr bwMode="auto">
            <a:xfrm>
              <a:off x="5729288" y="2060576"/>
              <a:ext cx="17605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Nothing else is possible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3" name="Rectangle 49">
              <a:extLst>
                <a:ext uri="{FF2B5EF4-FFF2-40B4-BE49-F238E27FC236}">
                  <a16:creationId xmlns:a16="http://schemas.microsoft.com/office/drawing/2014/main" id="{A64E31BF-B290-5627-2C25-A8E7CCEBBE0C}"/>
                </a:ext>
              </a:extLst>
            </p:cNvPr>
            <p:cNvSpPr>
              <a:spLocks noChangeArrowheads="1"/>
            </p:cNvSpPr>
            <p:nvPr/>
          </p:nvSpPr>
          <p:spPr bwMode="auto">
            <a:xfrm>
              <a:off x="3906838" y="2060576"/>
              <a:ext cx="127952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Ask, then answer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4" name="Rectangle 50">
              <a:extLst>
                <a:ext uri="{FF2B5EF4-FFF2-40B4-BE49-F238E27FC236}">
                  <a16:creationId xmlns:a16="http://schemas.microsoft.com/office/drawing/2014/main" id="{43AD39D7-5D6B-E349-AD8F-1D7291BC1BE0}"/>
                </a:ext>
              </a:extLst>
            </p:cNvPr>
            <p:cNvSpPr>
              <a:spLocks noChangeArrowheads="1"/>
            </p:cNvSpPr>
            <p:nvPr/>
          </p:nvSpPr>
          <p:spPr bwMode="auto">
            <a:xfrm>
              <a:off x="2224088" y="2060576"/>
              <a:ext cx="13525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Client, repeatedly</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5" name="Rectangle 51">
              <a:extLst>
                <a:ext uri="{FF2B5EF4-FFF2-40B4-BE49-F238E27FC236}">
                  <a16:creationId xmlns:a16="http://schemas.microsoft.com/office/drawing/2014/main" id="{9A21A4D4-D6D8-882D-11FD-AE6979124C1B}"/>
                </a:ext>
              </a:extLst>
            </p:cNvPr>
            <p:cNvSpPr>
              <a:spLocks noChangeArrowheads="1"/>
            </p:cNvSpPr>
            <p:nvPr/>
          </p:nvSpPr>
          <p:spPr bwMode="auto">
            <a:xfrm>
              <a:off x="401638" y="2060576"/>
              <a:ext cx="61118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Polling</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72" name="Group 71">
            <a:extLst>
              <a:ext uri="{FF2B5EF4-FFF2-40B4-BE49-F238E27FC236}">
                <a16:creationId xmlns:a16="http://schemas.microsoft.com/office/drawing/2014/main" id="{83C0B15E-1C70-CFCE-D2AC-B57E9CEB9346}"/>
              </a:ext>
            </a:extLst>
          </p:cNvPr>
          <p:cNvGrpSpPr/>
          <p:nvPr/>
        </p:nvGrpSpPr>
        <p:grpSpPr>
          <a:xfrm>
            <a:off x="320676" y="2335213"/>
            <a:ext cx="8516938" cy="395288"/>
            <a:chOff x="320676" y="2335213"/>
            <a:chExt cx="8516938" cy="395288"/>
          </a:xfrm>
        </p:grpSpPr>
        <p:sp>
          <p:nvSpPr>
            <p:cNvPr id="21" name="Rectangle 17">
              <a:extLst>
                <a:ext uri="{FF2B5EF4-FFF2-40B4-BE49-F238E27FC236}">
                  <a16:creationId xmlns:a16="http://schemas.microsoft.com/office/drawing/2014/main" id="{0EB5BFB0-E8CD-4301-ECE9-64503A4ECA3A}"/>
                </a:ext>
              </a:extLst>
            </p:cNvPr>
            <p:cNvSpPr>
              <a:spLocks noChangeArrowheads="1"/>
            </p:cNvSpPr>
            <p:nvPr/>
          </p:nvSpPr>
          <p:spPr bwMode="auto">
            <a:xfrm>
              <a:off x="327026" y="2335213"/>
              <a:ext cx="1822450"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Rectangle 18">
              <a:extLst>
                <a:ext uri="{FF2B5EF4-FFF2-40B4-BE49-F238E27FC236}">
                  <a16:creationId xmlns:a16="http://schemas.microsoft.com/office/drawing/2014/main" id="{6FF2ADEA-8A33-B6A5-02BE-FEBDE1AFCD87}"/>
                </a:ext>
              </a:extLst>
            </p:cNvPr>
            <p:cNvSpPr>
              <a:spLocks noChangeArrowheads="1"/>
            </p:cNvSpPr>
            <p:nvPr/>
          </p:nvSpPr>
          <p:spPr bwMode="auto">
            <a:xfrm>
              <a:off x="2149476" y="2335213"/>
              <a:ext cx="1682750"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Rectangle 19">
              <a:extLst>
                <a:ext uri="{FF2B5EF4-FFF2-40B4-BE49-F238E27FC236}">
                  <a16:creationId xmlns:a16="http://schemas.microsoft.com/office/drawing/2014/main" id="{B90FB7F7-4FFF-CBB6-A34B-49CE013A3DB9}"/>
                </a:ext>
              </a:extLst>
            </p:cNvPr>
            <p:cNvSpPr>
              <a:spLocks noChangeArrowheads="1"/>
            </p:cNvSpPr>
            <p:nvPr/>
          </p:nvSpPr>
          <p:spPr bwMode="auto">
            <a:xfrm>
              <a:off x="3832226" y="2335213"/>
              <a:ext cx="1822450"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Rectangle 20">
              <a:extLst>
                <a:ext uri="{FF2B5EF4-FFF2-40B4-BE49-F238E27FC236}">
                  <a16:creationId xmlns:a16="http://schemas.microsoft.com/office/drawing/2014/main" id="{58B0536D-845E-9AD6-F88C-E0466F12F621}"/>
                </a:ext>
              </a:extLst>
            </p:cNvPr>
            <p:cNvSpPr>
              <a:spLocks noChangeArrowheads="1"/>
            </p:cNvSpPr>
            <p:nvPr/>
          </p:nvSpPr>
          <p:spPr bwMode="auto">
            <a:xfrm>
              <a:off x="5654676" y="2335213"/>
              <a:ext cx="3176588" cy="328613"/>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9" name="Line 35">
              <a:extLst>
                <a:ext uri="{FF2B5EF4-FFF2-40B4-BE49-F238E27FC236}">
                  <a16:creationId xmlns:a16="http://schemas.microsoft.com/office/drawing/2014/main" id="{2E9A53C7-B82F-3863-7960-6B82805EE8AF}"/>
                </a:ext>
              </a:extLst>
            </p:cNvPr>
            <p:cNvSpPr>
              <a:spLocks noChangeShapeType="1"/>
            </p:cNvSpPr>
            <p:nvPr/>
          </p:nvSpPr>
          <p:spPr bwMode="auto">
            <a:xfrm>
              <a:off x="320676" y="26638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Rectangle 52">
              <a:extLst>
                <a:ext uri="{FF2B5EF4-FFF2-40B4-BE49-F238E27FC236}">
                  <a16:creationId xmlns:a16="http://schemas.microsoft.com/office/drawing/2014/main" id="{56FBFDFB-B171-7B84-48B3-EC5E0BFA1E6F}"/>
                </a:ext>
              </a:extLst>
            </p:cNvPr>
            <p:cNvSpPr>
              <a:spLocks noChangeArrowheads="1"/>
            </p:cNvSpPr>
            <p:nvPr/>
          </p:nvSpPr>
          <p:spPr bwMode="auto">
            <a:xfrm>
              <a:off x="5729288" y="2387601"/>
              <a:ext cx="31019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Work is slow and the client can be reached</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7" name="Rectangle 53">
              <a:extLst>
                <a:ext uri="{FF2B5EF4-FFF2-40B4-BE49-F238E27FC236}">
                  <a16:creationId xmlns:a16="http://schemas.microsoft.com/office/drawing/2014/main" id="{2C7BC40A-ED4D-E9BE-8638-B34E0DE4EEC5}"/>
                </a:ext>
              </a:extLst>
            </p:cNvPr>
            <p:cNvSpPr>
              <a:spLocks noChangeArrowheads="1"/>
            </p:cNvSpPr>
            <p:nvPr/>
          </p:nvSpPr>
          <p:spPr bwMode="auto">
            <a:xfrm>
              <a:off x="3906838" y="2387601"/>
              <a:ext cx="12398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One result, later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8" name="Rectangle 54">
              <a:extLst>
                <a:ext uri="{FF2B5EF4-FFF2-40B4-BE49-F238E27FC236}">
                  <a16:creationId xmlns:a16="http://schemas.microsoft.com/office/drawing/2014/main" id="{ACBC7CDB-6DFB-A7CB-82F6-09BABAC47A43}"/>
                </a:ext>
              </a:extLst>
            </p:cNvPr>
            <p:cNvSpPr>
              <a:spLocks noChangeArrowheads="1"/>
            </p:cNvSpPr>
            <p:nvPr/>
          </p:nvSpPr>
          <p:spPr bwMode="auto">
            <a:xfrm>
              <a:off x="2224088" y="2387601"/>
              <a:ext cx="12747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Server calls back</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9" name="Rectangle 55">
              <a:extLst>
                <a:ext uri="{FF2B5EF4-FFF2-40B4-BE49-F238E27FC236}">
                  <a16:creationId xmlns:a16="http://schemas.microsoft.com/office/drawing/2014/main" id="{6289C6C1-B8EB-C12B-BEC4-17F2703DC1FB}"/>
                </a:ext>
              </a:extLst>
            </p:cNvPr>
            <p:cNvSpPr>
              <a:spLocks noChangeArrowheads="1"/>
            </p:cNvSpPr>
            <p:nvPr/>
          </p:nvSpPr>
          <p:spPr bwMode="auto">
            <a:xfrm>
              <a:off x="401638" y="2387601"/>
              <a:ext cx="82550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Web hook</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73" name="Group 72">
            <a:extLst>
              <a:ext uri="{FF2B5EF4-FFF2-40B4-BE49-F238E27FC236}">
                <a16:creationId xmlns:a16="http://schemas.microsoft.com/office/drawing/2014/main" id="{ADF557D7-96AB-BAE4-9D9A-052B675D4C04}"/>
              </a:ext>
            </a:extLst>
          </p:cNvPr>
          <p:cNvGrpSpPr/>
          <p:nvPr/>
        </p:nvGrpSpPr>
        <p:grpSpPr>
          <a:xfrm>
            <a:off x="320676" y="2663826"/>
            <a:ext cx="8516938" cy="398462"/>
            <a:chOff x="320676" y="2663826"/>
            <a:chExt cx="8516938" cy="398462"/>
          </a:xfrm>
        </p:grpSpPr>
        <p:sp>
          <p:nvSpPr>
            <p:cNvPr id="25" name="Rectangle 21">
              <a:extLst>
                <a:ext uri="{FF2B5EF4-FFF2-40B4-BE49-F238E27FC236}">
                  <a16:creationId xmlns:a16="http://schemas.microsoft.com/office/drawing/2014/main" id="{4A7E7411-2EC7-8D2D-98CA-1E3C57F4A479}"/>
                </a:ext>
              </a:extLst>
            </p:cNvPr>
            <p:cNvSpPr>
              <a:spLocks noChangeArrowheads="1"/>
            </p:cNvSpPr>
            <p:nvPr/>
          </p:nvSpPr>
          <p:spPr bwMode="auto">
            <a:xfrm>
              <a:off x="327026" y="2663826"/>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6" name="Rectangle 22">
              <a:extLst>
                <a:ext uri="{FF2B5EF4-FFF2-40B4-BE49-F238E27FC236}">
                  <a16:creationId xmlns:a16="http://schemas.microsoft.com/office/drawing/2014/main" id="{8A7F72A1-2512-4763-44B2-1F48EF749897}"/>
                </a:ext>
              </a:extLst>
            </p:cNvPr>
            <p:cNvSpPr>
              <a:spLocks noChangeArrowheads="1"/>
            </p:cNvSpPr>
            <p:nvPr/>
          </p:nvSpPr>
          <p:spPr bwMode="auto">
            <a:xfrm>
              <a:off x="2149476" y="2663826"/>
              <a:ext cx="16827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7" name="Rectangle 23">
              <a:extLst>
                <a:ext uri="{FF2B5EF4-FFF2-40B4-BE49-F238E27FC236}">
                  <a16:creationId xmlns:a16="http://schemas.microsoft.com/office/drawing/2014/main" id="{0CC8C9DD-A66D-57F6-EFAC-1E308A148EBF}"/>
                </a:ext>
              </a:extLst>
            </p:cNvPr>
            <p:cNvSpPr>
              <a:spLocks noChangeArrowheads="1"/>
            </p:cNvSpPr>
            <p:nvPr/>
          </p:nvSpPr>
          <p:spPr bwMode="auto">
            <a:xfrm>
              <a:off x="3832226" y="2663826"/>
              <a:ext cx="1822450"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8" name="Rectangle 24">
              <a:extLst>
                <a:ext uri="{FF2B5EF4-FFF2-40B4-BE49-F238E27FC236}">
                  <a16:creationId xmlns:a16="http://schemas.microsoft.com/office/drawing/2014/main" id="{B0310CA8-0601-FC3A-4B9C-CB39D4DCA581}"/>
                </a:ext>
              </a:extLst>
            </p:cNvPr>
            <p:cNvSpPr>
              <a:spLocks noChangeArrowheads="1"/>
            </p:cNvSpPr>
            <p:nvPr/>
          </p:nvSpPr>
          <p:spPr bwMode="auto">
            <a:xfrm>
              <a:off x="5654676" y="2663826"/>
              <a:ext cx="3176588" cy="3302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0" name="Line 36">
              <a:extLst>
                <a:ext uri="{FF2B5EF4-FFF2-40B4-BE49-F238E27FC236}">
                  <a16:creationId xmlns:a16="http://schemas.microsoft.com/office/drawing/2014/main" id="{04FCA5EA-3A6C-7267-1BA4-0D51A44FC068}"/>
                </a:ext>
              </a:extLst>
            </p:cNvPr>
            <p:cNvSpPr>
              <a:spLocks noChangeShapeType="1"/>
            </p:cNvSpPr>
            <p:nvPr/>
          </p:nvSpPr>
          <p:spPr bwMode="auto">
            <a:xfrm>
              <a:off x="320676" y="29940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Rectangle 56">
              <a:extLst>
                <a:ext uri="{FF2B5EF4-FFF2-40B4-BE49-F238E27FC236}">
                  <a16:creationId xmlns:a16="http://schemas.microsoft.com/office/drawing/2014/main" id="{4248EC70-7237-FA44-682A-645562ADBB50}"/>
                </a:ext>
              </a:extLst>
            </p:cNvPr>
            <p:cNvSpPr>
              <a:spLocks noChangeArrowheads="1"/>
            </p:cNvSpPr>
            <p:nvPr/>
          </p:nvSpPr>
          <p:spPr bwMode="auto">
            <a:xfrm>
              <a:off x="5729288" y="2719388"/>
              <a:ext cx="197326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The server pushes updates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1" name="Rectangle 57">
              <a:extLst>
                <a:ext uri="{FF2B5EF4-FFF2-40B4-BE49-F238E27FC236}">
                  <a16:creationId xmlns:a16="http://schemas.microsoft.com/office/drawing/2014/main" id="{99E1E68C-38FF-9312-FE23-F608FFC6CFB1}"/>
                </a:ext>
              </a:extLst>
            </p:cNvPr>
            <p:cNvSpPr>
              <a:spLocks noChangeArrowheads="1"/>
            </p:cNvSpPr>
            <p:nvPr/>
          </p:nvSpPr>
          <p:spPr bwMode="auto">
            <a:xfrm>
              <a:off x="3906838" y="2719388"/>
              <a:ext cx="11747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Server to client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2" name="Rectangle 58">
              <a:extLst>
                <a:ext uri="{FF2B5EF4-FFF2-40B4-BE49-F238E27FC236}">
                  <a16:creationId xmlns:a16="http://schemas.microsoft.com/office/drawing/2014/main" id="{8F233416-5043-213D-F4EE-CA077ACB2936}"/>
                </a:ext>
              </a:extLst>
            </p:cNvPr>
            <p:cNvSpPr>
              <a:spLocks noChangeArrowheads="1"/>
            </p:cNvSpPr>
            <p:nvPr/>
          </p:nvSpPr>
          <p:spPr bwMode="auto">
            <a:xfrm>
              <a:off x="2224088" y="2719388"/>
              <a:ext cx="935038"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Client, once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3" name="Rectangle 59">
              <a:extLst>
                <a:ext uri="{FF2B5EF4-FFF2-40B4-BE49-F238E27FC236}">
                  <a16:creationId xmlns:a16="http://schemas.microsoft.com/office/drawing/2014/main" id="{7139DF34-B83F-0558-C21E-8A18A7088EB7}"/>
                </a:ext>
              </a:extLst>
            </p:cNvPr>
            <p:cNvSpPr>
              <a:spLocks noChangeArrowheads="1"/>
            </p:cNvSpPr>
            <p:nvPr/>
          </p:nvSpPr>
          <p:spPr bwMode="auto">
            <a:xfrm>
              <a:off x="401638" y="2719388"/>
              <a:ext cx="5778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Server</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4" name="Rectangle 60">
              <a:extLst>
                <a:ext uri="{FF2B5EF4-FFF2-40B4-BE49-F238E27FC236}">
                  <a16:creationId xmlns:a16="http://schemas.microsoft.com/office/drawing/2014/main" id="{961A2CC0-5D7F-8E66-E088-9C99EC2E3A61}"/>
                </a:ext>
              </a:extLst>
            </p:cNvPr>
            <p:cNvSpPr>
              <a:spLocks noChangeArrowheads="1"/>
            </p:cNvSpPr>
            <p:nvPr/>
          </p:nvSpPr>
          <p:spPr bwMode="auto">
            <a:xfrm>
              <a:off x="890588" y="2719388"/>
              <a:ext cx="1460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5" name="Rectangle 61">
              <a:extLst>
                <a:ext uri="{FF2B5EF4-FFF2-40B4-BE49-F238E27FC236}">
                  <a16:creationId xmlns:a16="http://schemas.microsoft.com/office/drawing/2014/main" id="{E60A14BF-67D9-C60A-02B0-28DAD25F3AB1}"/>
                </a:ext>
              </a:extLst>
            </p:cNvPr>
            <p:cNvSpPr>
              <a:spLocks noChangeArrowheads="1"/>
            </p:cNvSpPr>
            <p:nvPr/>
          </p:nvSpPr>
          <p:spPr bwMode="auto">
            <a:xfrm>
              <a:off x="946151" y="2719388"/>
              <a:ext cx="9763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Sent Events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grpSp>
        <p:nvGrpSpPr>
          <p:cNvPr id="74" name="Group 73">
            <a:extLst>
              <a:ext uri="{FF2B5EF4-FFF2-40B4-BE49-F238E27FC236}">
                <a16:creationId xmlns:a16="http://schemas.microsoft.com/office/drawing/2014/main" id="{D276FEC3-D21F-9EF9-2156-D4A0DDEFA5F5}"/>
              </a:ext>
            </a:extLst>
          </p:cNvPr>
          <p:cNvGrpSpPr/>
          <p:nvPr/>
        </p:nvGrpSpPr>
        <p:grpSpPr>
          <a:xfrm>
            <a:off x="320676" y="2994026"/>
            <a:ext cx="8516938" cy="398462"/>
            <a:chOff x="320676" y="2994026"/>
            <a:chExt cx="8516938" cy="398462"/>
          </a:xfrm>
        </p:grpSpPr>
        <p:sp>
          <p:nvSpPr>
            <p:cNvPr id="29" name="Rectangle 25">
              <a:extLst>
                <a:ext uri="{FF2B5EF4-FFF2-40B4-BE49-F238E27FC236}">
                  <a16:creationId xmlns:a16="http://schemas.microsoft.com/office/drawing/2014/main" id="{4791125C-F6FB-0293-8E99-B6F0701F065A}"/>
                </a:ext>
              </a:extLst>
            </p:cNvPr>
            <p:cNvSpPr>
              <a:spLocks noChangeArrowheads="1"/>
            </p:cNvSpPr>
            <p:nvPr/>
          </p:nvSpPr>
          <p:spPr bwMode="auto">
            <a:xfrm>
              <a:off x="327026" y="2994026"/>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0" name="Rectangle 26">
              <a:extLst>
                <a:ext uri="{FF2B5EF4-FFF2-40B4-BE49-F238E27FC236}">
                  <a16:creationId xmlns:a16="http://schemas.microsoft.com/office/drawing/2014/main" id="{B24FFEDA-2B35-3712-4C55-EF52113BB5C1}"/>
                </a:ext>
              </a:extLst>
            </p:cNvPr>
            <p:cNvSpPr>
              <a:spLocks noChangeArrowheads="1"/>
            </p:cNvSpPr>
            <p:nvPr/>
          </p:nvSpPr>
          <p:spPr bwMode="auto">
            <a:xfrm>
              <a:off x="2149476" y="2994026"/>
              <a:ext cx="16827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Rectangle 27">
              <a:extLst>
                <a:ext uri="{FF2B5EF4-FFF2-40B4-BE49-F238E27FC236}">
                  <a16:creationId xmlns:a16="http://schemas.microsoft.com/office/drawing/2014/main" id="{0A8FFD22-44AC-0B6F-45D2-21663952C5E3}"/>
                </a:ext>
              </a:extLst>
            </p:cNvPr>
            <p:cNvSpPr>
              <a:spLocks noChangeArrowheads="1"/>
            </p:cNvSpPr>
            <p:nvPr/>
          </p:nvSpPr>
          <p:spPr bwMode="auto">
            <a:xfrm>
              <a:off x="3832226" y="2994026"/>
              <a:ext cx="1822450"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2" name="Rectangle 28">
              <a:extLst>
                <a:ext uri="{FF2B5EF4-FFF2-40B4-BE49-F238E27FC236}">
                  <a16:creationId xmlns:a16="http://schemas.microsoft.com/office/drawing/2014/main" id="{DF0C4410-BCE1-0CCD-90AF-E41713053F3D}"/>
                </a:ext>
              </a:extLst>
            </p:cNvPr>
            <p:cNvSpPr>
              <a:spLocks noChangeArrowheads="1"/>
            </p:cNvSpPr>
            <p:nvPr/>
          </p:nvSpPr>
          <p:spPr bwMode="auto">
            <a:xfrm>
              <a:off x="5654676" y="2994026"/>
              <a:ext cx="3176588" cy="330200"/>
            </a:xfrm>
            <a:prstGeom prst="rect">
              <a:avLst/>
            </a:prstGeom>
            <a:solidFill>
              <a:srgbClr val="F2F1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44" name="Line 40">
              <a:extLst>
                <a:ext uri="{FF2B5EF4-FFF2-40B4-BE49-F238E27FC236}">
                  <a16:creationId xmlns:a16="http://schemas.microsoft.com/office/drawing/2014/main" id="{F5D5628D-797F-D82B-32D6-197214D38942}"/>
                </a:ext>
              </a:extLst>
            </p:cNvPr>
            <p:cNvSpPr>
              <a:spLocks noChangeShapeType="1"/>
            </p:cNvSpPr>
            <p:nvPr/>
          </p:nvSpPr>
          <p:spPr bwMode="auto">
            <a:xfrm>
              <a:off x="320676" y="3324226"/>
              <a:ext cx="8516938" cy="0"/>
            </a:xfrm>
            <a:prstGeom prst="line">
              <a:avLst/>
            </a:prstGeom>
            <a:noFill/>
            <a:ln w="12700" cap="flat">
              <a:solidFill>
                <a:srgbClr val="FFFFFF"/>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Rectangle 62">
              <a:extLst>
                <a:ext uri="{FF2B5EF4-FFF2-40B4-BE49-F238E27FC236}">
                  <a16:creationId xmlns:a16="http://schemas.microsoft.com/office/drawing/2014/main" id="{51C16CD5-FCB4-0411-BB29-AD3003DF1703}"/>
                </a:ext>
              </a:extLst>
            </p:cNvPr>
            <p:cNvSpPr>
              <a:spLocks noChangeArrowheads="1"/>
            </p:cNvSpPr>
            <p:nvPr/>
          </p:nvSpPr>
          <p:spPr bwMode="auto">
            <a:xfrm>
              <a:off x="5729288" y="3049588"/>
              <a:ext cx="1831975"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Both sides talk, any time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7" name="Rectangle 63">
              <a:extLst>
                <a:ext uri="{FF2B5EF4-FFF2-40B4-BE49-F238E27FC236}">
                  <a16:creationId xmlns:a16="http://schemas.microsoft.com/office/drawing/2014/main" id="{521B5828-8025-4C2D-72B0-C5A1699FE787}"/>
                </a:ext>
              </a:extLst>
            </p:cNvPr>
            <p:cNvSpPr>
              <a:spLocks noChangeArrowheads="1"/>
            </p:cNvSpPr>
            <p:nvPr/>
          </p:nvSpPr>
          <p:spPr bwMode="auto">
            <a:xfrm>
              <a:off x="3906838" y="3049588"/>
              <a:ext cx="806450"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Both ways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8" name="Rectangle 64">
              <a:extLst>
                <a:ext uri="{FF2B5EF4-FFF2-40B4-BE49-F238E27FC236}">
                  <a16:creationId xmlns:a16="http://schemas.microsoft.com/office/drawing/2014/main" id="{2779695E-C050-A373-006E-221B8C29609C}"/>
                </a:ext>
              </a:extLst>
            </p:cNvPr>
            <p:cNvSpPr>
              <a:spLocks noChangeArrowheads="1"/>
            </p:cNvSpPr>
            <p:nvPr/>
          </p:nvSpPr>
          <p:spPr bwMode="auto">
            <a:xfrm>
              <a:off x="2224088" y="3049588"/>
              <a:ext cx="8366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0" i="0" u="none" strike="noStrike" cap="none" normalizeH="0" baseline="0">
                  <a:ln>
                    <a:noFill/>
                  </a:ln>
                  <a:solidFill>
                    <a:srgbClr val="232222"/>
                  </a:solidFill>
                  <a:effectLst/>
                  <a:latin typeface="Sarabun" panose="00000500000000000000" pitchFamily="2" charset="-34"/>
                </a:rPr>
                <a:t>Either side</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9" name="Rectangle 65">
              <a:extLst>
                <a:ext uri="{FF2B5EF4-FFF2-40B4-BE49-F238E27FC236}">
                  <a16:creationId xmlns:a16="http://schemas.microsoft.com/office/drawing/2014/main" id="{EC4E4B0F-5281-DA13-D675-0BC046CD2239}"/>
                </a:ext>
              </a:extLst>
            </p:cNvPr>
            <p:cNvSpPr>
              <a:spLocks noChangeArrowheads="1"/>
            </p:cNvSpPr>
            <p:nvPr/>
          </p:nvSpPr>
          <p:spPr bwMode="auto">
            <a:xfrm>
              <a:off x="401638" y="3049588"/>
              <a:ext cx="1001713" cy="342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300" b="1" i="0" u="none" strike="noStrike" cap="none" normalizeH="0" baseline="0">
                  <a:ln>
                    <a:noFill/>
                  </a:ln>
                  <a:solidFill>
                    <a:srgbClr val="232222"/>
                  </a:solidFill>
                  <a:effectLst/>
                  <a:latin typeface="Sarabun" panose="00000500000000000000" pitchFamily="2" charset="-34"/>
                </a:rPr>
                <a:t>WebSockets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pSp>
    </p:spTree>
    <p:extLst>
      <p:ext uri="{BB962C8B-B14F-4D97-AF65-F5344CB8AC3E}">
        <p14:creationId xmlns:p14="http://schemas.microsoft.com/office/powerpoint/2010/main" val="166344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1"/>
                                        </p:tgtEl>
                                        <p:attrNameLst>
                                          <p:attrName>style.visibility</p:attrName>
                                        </p:attrNameLst>
                                      </p:cBhvr>
                                      <p:to>
                                        <p:strVal val="visible"/>
                                      </p:to>
                                    </p:set>
                                    <p:animEffect transition="in" filter="fade">
                                      <p:cBhvr>
                                        <p:cTn id="12" dur="500"/>
                                        <p:tgtEl>
                                          <p:spTgt spid="7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2"/>
                                        </p:tgtEl>
                                        <p:attrNameLst>
                                          <p:attrName>style.visibility</p:attrName>
                                        </p:attrNameLst>
                                      </p:cBhvr>
                                      <p:to>
                                        <p:strVal val="visible"/>
                                      </p:to>
                                    </p:set>
                                    <p:animEffect transition="in" filter="fade">
                                      <p:cBhvr>
                                        <p:cTn id="17" dur="500"/>
                                        <p:tgtEl>
                                          <p:spTgt spid="7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3"/>
                                        </p:tgtEl>
                                        <p:attrNameLst>
                                          <p:attrName>style.visibility</p:attrName>
                                        </p:attrNameLst>
                                      </p:cBhvr>
                                      <p:to>
                                        <p:strVal val="visible"/>
                                      </p:to>
                                    </p:set>
                                    <p:animEffect transition="in" filter="fade">
                                      <p:cBhvr>
                                        <p:cTn id="22" dur="500"/>
                                        <p:tgtEl>
                                          <p:spTgt spid="7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5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
                                        </p:tgtEl>
                                        <p:attrNameLst>
                                          <p:attrName>style.visibility</p:attrName>
                                        </p:attrNameLst>
                                      </p:cBhvr>
                                      <p:to>
                                        <p:strVal val="visible"/>
                                      </p:to>
                                    </p:set>
                                    <p:animEffect transition="in" filter="fade">
                                      <p:cBhvr>
                                        <p:cTn id="3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Questions?</a:t>
            </a:r>
          </a:p>
        </p:txBody>
      </p:sp>
      <p:sp>
        <p:nvSpPr>
          <p:cNvPr id="3" name="Text Placeholder 2"/>
          <p:cNvSpPr>
            <a:spLocks noGrp="1"/>
          </p:cNvSpPr>
          <p:nvPr>
            <p:ph type="body" sz="quarter" idx="10"/>
          </p:nvPr>
        </p:nvSpPr>
        <p:spPr/>
        <p:txBody>
          <a:bodyPr/>
          <a:lstStyle/>
          <a:p>
            <a:r>
              <a:rPr sz="1800" b="0">
                <a:solidFill>
                  <a:schemeClr val="tx1"/>
                </a:solidFill>
              </a:rPr>
              <a:t>Thank you</a:t>
            </a:r>
          </a:p>
          <a:p>
            <a:r>
              <a:rPr sz="1200" b="0">
                <a:solidFill>
                  <a:schemeClr val="accent1"/>
                </a:solidFill>
                <a:hlinkClick r:id="rId3"/>
              </a:rPr>
              <a:t>Workshop materials: github.com/dyalog-training/2026-MP2</a:t>
            </a:r>
          </a:p>
          <a:p>
            <a:r>
              <a:rPr sz="1200" b="0">
                <a:solidFill>
                  <a:schemeClr val="tx1"/>
                </a:solidFill>
              </a:rPr>
              <a:t>Documentation: </a:t>
            </a:r>
            <a:r>
              <a:rPr sz="1200">
                <a:solidFill>
                  <a:schemeClr val="accent1"/>
                </a:solidFill>
                <a:hlinkClick r:id="rId4"/>
              </a:rPr>
              <a:t>HttpCommand</a:t>
            </a:r>
            <a:r>
              <a:rPr sz="1200">
                <a:solidFill>
                  <a:schemeClr val="tx1"/>
                </a:solidFill>
              </a:rPr>
              <a:t>, </a:t>
            </a:r>
            <a:r>
              <a:rPr sz="1200">
                <a:solidFill>
                  <a:schemeClr val="accent1"/>
                </a:solidFill>
                <a:hlinkClick r:id="rId5"/>
              </a:rPr>
              <a:t>Jarvis</a:t>
            </a:r>
            <a:r>
              <a:rPr sz="1200">
                <a:solidFill>
                  <a:schemeClr val="tx1"/>
                </a:solidFill>
              </a:rPr>
              <a:t>, </a:t>
            </a:r>
            <a:r>
              <a:rPr sz="1200">
                <a:solidFill>
                  <a:schemeClr val="accent1"/>
                </a:solidFill>
                <a:hlinkClick r:id="rId6"/>
              </a:rPr>
              <a:t>WebSocketClient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6634F91-A876-F0A2-016B-9AC943D4CAF9}"/>
              </a:ext>
            </a:extLst>
          </p:cNvPr>
          <p:cNvPicPr>
            <a:picLocks noGrp="1" noChangeAspect="1"/>
          </p:cNvPicPr>
          <p:nvPr>
            <p:ph idx="1"/>
          </p:nvPr>
        </p:nvPicPr>
        <p:blipFill>
          <a:blip>
            <a:extLst>
              <a:ext uri="{96DAC541-7B7A-43D3-8B79-37D633B846F1}">
                <asvg:svgBlip xmlns:asvg="http://schemas.microsoft.com/office/drawing/2016/SVG/main" r:embed="rId2"/>
              </a:ext>
            </a:extLst>
          </a:blip>
          <a:srcRect/>
          <a:stretch/>
        </p:blipFill>
        <p:spPr>
          <a:xfrm>
            <a:off x="112543" y="1222159"/>
            <a:ext cx="3284806" cy="3284806"/>
          </a:xfrm>
          <a:prstGeom prst="rect">
            <a:avLst/>
          </a:prstGeom>
        </p:spPr>
      </p:pic>
      <p:sp>
        <p:nvSpPr>
          <p:cNvPr id="3" name="Title 2">
            <a:extLst>
              <a:ext uri="{FF2B5EF4-FFF2-40B4-BE49-F238E27FC236}">
                <a16:creationId xmlns:a16="http://schemas.microsoft.com/office/drawing/2014/main" id="{AE94639D-8545-93D9-7F4B-5588DD1ABA86}"/>
              </a:ext>
            </a:extLst>
          </p:cNvPr>
          <p:cNvSpPr>
            <a:spLocks noGrp="1"/>
          </p:cNvSpPr>
          <p:nvPr>
            <p:ph type="title"/>
          </p:nvPr>
        </p:nvSpPr>
        <p:spPr/>
        <p:txBody>
          <a:bodyPr/>
          <a:lstStyle/>
          <a:p>
            <a:r>
              <a:rPr lang="en-GB" dirty="0"/>
              <a:t>Feedback</a:t>
            </a:r>
          </a:p>
        </p:txBody>
      </p:sp>
      <p:sp>
        <p:nvSpPr>
          <p:cNvPr id="5" name="Content Placeholder 4">
            <a:extLst>
              <a:ext uri="{FF2B5EF4-FFF2-40B4-BE49-F238E27FC236}">
                <a16:creationId xmlns:a16="http://schemas.microsoft.com/office/drawing/2014/main" id="{D859FC0D-61DF-B429-7858-6D9CA618AF16}"/>
              </a:ext>
            </a:extLst>
          </p:cNvPr>
          <p:cNvSpPr>
            <a:spLocks noGrp="1"/>
          </p:cNvSpPr>
          <p:nvPr>
            <p:ph idx="12"/>
          </p:nvPr>
        </p:nvSpPr>
        <p:spPr>
          <a:xfrm>
            <a:off x="3924886" y="2502882"/>
            <a:ext cx="4783048" cy="486503"/>
          </a:xfrm>
        </p:spPr>
        <p:txBody>
          <a:bodyPr/>
          <a:lstStyle/>
          <a:p>
            <a:pPr marL="0" indent="0">
              <a:buNone/>
            </a:pPr>
            <a:r>
              <a:rPr lang="en-GB" dirty="0">
                <a:hlinkClick r:id="rId3" tooltip="https://dyalog.fillout.com/feedback"/>
              </a:rPr>
              <a:t>https://feedback.dyalog.com</a:t>
            </a:r>
            <a:endParaRPr lang="en-GB" dirty="0"/>
          </a:p>
        </p:txBody>
      </p:sp>
    </p:spTree>
    <p:extLst>
      <p:ext uri="{BB962C8B-B14F-4D97-AF65-F5344CB8AC3E}">
        <p14:creationId xmlns:p14="http://schemas.microsoft.com/office/powerpoint/2010/main" val="630244164"/>
      </p:ext>
    </p:extLst>
  </p:cSld>
  <p:clrMapOvr>
    <a:masterClrMapping/>
  </p:clrMapOvr>
</p:sld>
</file>

<file path=ppt/theme/theme1.xml><?xml version="1.0" encoding="utf-8"?>
<a:theme xmlns:a="http://schemas.openxmlformats.org/drawingml/2006/main" name="Office Theme">
  <a:themeElements>
    <a:clrScheme name="Dyalog 2025.6">
      <a:dk1>
        <a:srgbClr val="232222"/>
      </a:dk1>
      <a:lt1>
        <a:sysClr val="window" lastClr="FFFFFF"/>
      </a:lt1>
      <a:dk2>
        <a:srgbClr val="2A3244"/>
      </a:dk2>
      <a:lt2>
        <a:srgbClr val="F2F1F0"/>
      </a:lt2>
      <a:accent1>
        <a:srgbClr val="FF6A13"/>
      </a:accent1>
      <a:accent2>
        <a:srgbClr val="8986CA"/>
      </a:accent2>
      <a:accent3>
        <a:srgbClr val="003B5C"/>
      </a:accent3>
      <a:accent4>
        <a:srgbClr val="FFA300"/>
      </a:accent4>
      <a:accent5>
        <a:srgbClr val="CA2E51"/>
      </a:accent5>
      <a:accent6>
        <a:srgbClr val="FF6A13"/>
      </a:accent6>
      <a:hlink>
        <a:srgbClr val="FF6A13"/>
      </a:hlink>
      <a:folHlink>
        <a:srgbClr val="FF6A13"/>
      </a:folHlink>
    </a:clrScheme>
    <a:fontScheme name="Sarabun">
      <a:majorFont>
        <a:latin typeface="Sarabun"/>
        <a:ea typeface=""/>
        <a:cs typeface=""/>
      </a:majorFont>
      <a:minorFont>
        <a:latin typeface="Sarabu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Dyalog19_template_bold_calibri.potx" id="{F0C38D23-3AC9-47E9-8D0D-BEDB5EAFCAD2}" vid="{35320D08-F00A-4224-9D94-CDC48BBB4D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3361</TotalTime>
  <Words>4264</Words>
  <Application>Microsoft Office PowerPoint</Application>
  <PresentationFormat>On-screen Show (16:9)</PresentationFormat>
  <Paragraphs>498</Paragraphs>
  <Slides>30</Slides>
  <Notes>29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Wingdings</vt:lpstr>
      <vt:lpstr>Arial</vt:lpstr>
      <vt:lpstr>Sarabun</vt:lpstr>
      <vt:lpstr>Wingdings 2</vt:lpstr>
      <vt:lpstr>APL385 Unicode</vt:lpstr>
      <vt:lpstr>Calibri</vt:lpstr>
      <vt:lpstr>Courier New</vt:lpstr>
      <vt:lpstr>Office Theme</vt:lpstr>
      <vt:lpstr>Asynchronous Services Web hooks, Server-Sent Events and WebSockets in Dyalog APL </vt:lpstr>
      <vt:lpstr>This afternoon</vt:lpstr>
      <vt:lpstr>Request and response: ask, then wait</vt:lpstr>
      <vt:lpstr>Four ways to get the answer</vt:lpstr>
      <vt:lpstr>Three tools, one APL session</vt:lpstr>
      <vt:lpstr>How each exercise works</vt:lpstr>
      <vt:lpstr>Dyalog 19 and Dyalog 20</vt:lpstr>
      <vt:lpstr>Exercise 1: Introducing the tools</vt:lpstr>
      <vt:lpstr>Web hooks</vt:lpstr>
      <vt:lpstr>The ticket pattern</vt:lpstr>
      <vt:lpstr>Answer now, work later</vt:lpstr>
      <vt:lpstr>When the call back fails</vt:lpstr>
      <vt:lpstr>Web hook or polling?</vt:lpstr>
      <vt:lpstr>Exercise 2: Web hook</vt:lpstr>
      <vt:lpstr>Server-Sent Events</vt:lpstr>
      <vt:lpstr>One request, many events</vt:lpstr>
      <vt:lpstr>An event on the wire</vt:lpstr>
      <vt:lpstr>In the browser: EventSource</vt:lpstr>
      <vt:lpstr>Server-Sent Events in Jarvis</vt:lpstr>
      <vt:lpstr>Exercise 3: Server-Sent Events</vt:lpstr>
      <vt:lpstr>WebSockets</vt:lpstr>
      <vt:lpstr>Upgrade, then talk both ways</vt:lpstr>
      <vt:lpstr>Three hooks, written by you</vt:lpstr>
      <vt:lpstr>From APL: WebSocketClient</vt:lpstr>
      <vt:lpstr>Server-Sent Events or WebSockets?</vt:lpstr>
      <vt:lpstr>Server-Sent Events or WebSockets?</vt:lpstr>
      <vt:lpstr>Exercise 4: WebSockets</vt:lpstr>
      <vt:lpstr>Choosing an approach</vt:lpstr>
      <vt:lpstr>Questions?</vt:lpstr>
      <vt:lpstr>Feedback</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Asynchronous Services</dc:title>
  <dc:subject>Dyalog26 User Meeting workshop: web hooks, Server-Sent Events and WebSockets in Dyalog APL</dc:subject>
  <dc:creator>Fiona Smith</dc:creator>
  <cp:lastModifiedBy>Brian Becker</cp:lastModifiedBy>
  <cp:revision>252</cp:revision>
  <cp:lastPrinted>2026-10-06T12:48:14Z</cp:lastPrinted>
  <dcterms:created xsi:type="dcterms:W3CDTF">2019-07-25T11:46:05Z</dcterms:created>
  <dcterms:modified xsi:type="dcterms:W3CDTF">2026-10-10T17:26:24Z</dcterms:modified>
</cp:coreProperties>
</file>