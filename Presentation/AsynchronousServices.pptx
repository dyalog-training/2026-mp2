
<file path=[Content_Types].xml><?xml version="1.0" encoding="utf-8"?>
<Types xmlns="http://schemas.openxmlformats.org/package/2006/content-types">
  <Default Extension="fntdata" ContentType="application/x-fontdata"/>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embedTrueTypeFonts="1">
  <p:sldMasterIdLst>
    <p:sldMasterId id="2147483648" r:id="rId1"/>
  </p:sldMasterIdLst>
  <p:notesMasterIdLst>
    <p:notesMasterId r:id="rId30"/>
  </p:notesMasterIdLst>
  <p:handoutMasterIdLst>
    <p:handoutMasterId r:id="rId31"/>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9144000" cy="5143500" type="screen16x9"/>
  <p:notesSz cx="6858000" cy="9144000"/>
  <p:embeddedFontLst>
    <p:embeddedFont>
      <p:font typeface="APL385 Unicode" panose="020B0709000202000203" pitchFamily="49" charset="0"/>
      <p:regular r:id="rId32"/>
    </p:embeddedFont>
    <p:embeddedFont>
      <p:font typeface="Sarabun" panose="00000500000000000000" pitchFamily="2" charset="-34"/>
      <p:regular r:id="rId33"/>
      <p:bold r:id="rId34"/>
      <p:italic r:id="rId35"/>
      <p:boldItalic r:id="rId36"/>
    </p:embeddedFont>
    <p:embeddedFont>
      <p:font typeface="Wingdings 2" panose="05020102010507070707" pitchFamily="18" charset="2"/>
      <p:regular r:id="rId3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6BA96A46-491D-4170-89D8-E0FB1F1B69D5}">
          <p14:sldIdLst>
            <p14:sldId id="256"/>
          </p14:sldIdLst>
        </p14:section>
        <p14:section name="Asynchronous services and the tools" id="{4CAE9DB1-A0A8-42A6-A582-652ABD7560DC}">
          <p14:sldIdLst>
            <p14:sldId id="257"/>
            <p14:sldId id="258"/>
            <p14:sldId id="259"/>
            <p14:sldId id="260"/>
            <p14:sldId id="261"/>
            <p14:sldId id="262"/>
            <p14:sldId id="263"/>
          </p14:sldIdLst>
        </p14:section>
        <p14:section name="Web hooks" id="{4DF0E380-F5BD-4FD7-929C-E6E69FC09A16}">
          <p14:sldIdLst>
            <p14:sldId id="264"/>
            <p14:sldId id="265"/>
            <p14:sldId id="266"/>
            <p14:sldId id="267"/>
            <p14:sldId id="268"/>
            <p14:sldId id="269"/>
          </p14:sldIdLst>
        </p14:section>
        <p14:section name="Server-Sent Events" id="{EFE9A115-0E51-493E-AE1C-C503672E8FC5}">
          <p14:sldIdLst>
            <p14:sldId id="270"/>
            <p14:sldId id="271"/>
            <p14:sldId id="272"/>
            <p14:sldId id="273"/>
            <p14:sldId id="274"/>
            <p14:sldId id="275"/>
          </p14:sldIdLst>
        </p14:section>
        <p14:section name="WebSockets" id="{FDCE103A-9C6D-4871-912D-32460BAE524B}">
          <p14:sldIdLst>
            <p14:sldId id="276"/>
            <p14:sldId id="277"/>
            <p14:sldId id="278"/>
            <p14:sldId id="279"/>
            <p14:sldId id="280"/>
            <p14:sldId id="281"/>
          </p14:sldIdLst>
        </p14:section>
        <p14:section name="Wrap-up" id="{CD3861DE-CD81-4CAD-BB8C-00875ED73E3C}">
          <p14:sldIdLst>
            <p14:sldId id="282"/>
            <p14:sldId id="283"/>
          </p14:sldIdLst>
        </p14:section>
      </p14:sectionLst>
    </p:ex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600"/>
    <a:srgbClr val="5A6D8F"/>
    <a:srgbClr val="3B475E"/>
    <a:srgbClr val="ED7F00"/>
    <a:srgbClr val="FDFDF5"/>
    <a:srgbClr val="F6F6D9"/>
    <a:srgbClr val="BBB5D6"/>
    <a:srgbClr val="928ABD"/>
    <a:srgbClr val="373535"/>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771" autoAdjust="0"/>
    <p:restoredTop sz="95508" autoAdjust="0"/>
  </p:normalViewPr>
  <p:slideViewPr>
    <p:cSldViewPr snapToGrid="0">
      <p:cViewPr>
        <p:scale>
          <a:sx n="149" d="100"/>
          <a:sy n="149" d="100"/>
        </p:scale>
        <p:origin x="360" y="108"/>
      </p:cViewPr>
      <p:guideLst>
        <p:guide orient="horz" pos="162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notesViewPr>
    <p:cSldViewPr snapToGrid="0">
      <p:cViewPr varScale="1">
        <p:scale>
          <a:sx n="96" d="100"/>
          <a:sy n="96" d="100"/>
        </p:scale>
        <p:origin x="4878" y="102"/>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font" Target="fonts/font3.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1.fntdata"/><Relationship Id="rId37" Type="http://schemas.openxmlformats.org/officeDocument/2006/relationships/font" Target="fonts/font6.fntdata"/><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font" Target="fonts/font4.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2.fntdata"/><Relationship Id="rId38"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dirty="0">
              <a:latin typeface="Sarabun" panose="00000500000000000000" pitchFamily="2" charset="-34"/>
            </a:endParaRPr>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CA6A3BD-28BD-4949-B52F-24E999822598}" type="datetimeFigureOut">
              <a:rPr lang="en-GB" smtClean="0">
                <a:latin typeface="Sarabun" panose="00000500000000000000" pitchFamily="2" charset="-34"/>
              </a:rPr>
              <a:t>04/10/2026</a:t>
            </a:fld>
            <a:endParaRPr lang="en-GB" dirty="0">
              <a:latin typeface="Sarabun" panose="00000500000000000000" pitchFamily="2" charset="-34"/>
            </a:endParaRPr>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dirty="0">
              <a:latin typeface="Sarabun" panose="00000500000000000000" pitchFamily="2" charset="-34"/>
            </a:endParaRPr>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DD7370AB-76A5-41F1-9753-9FE7E667F0C0}" type="slidenum">
              <a:rPr lang="en-GB" smtClean="0">
                <a:latin typeface="Sarabun" panose="00000500000000000000" pitchFamily="2" charset="-34"/>
              </a:rPr>
              <a:t>‹#›</a:t>
            </a:fld>
            <a:endParaRPr lang="en-GB" dirty="0">
              <a:latin typeface="Sarabun" panose="00000500000000000000" pitchFamily="2" charset="-34"/>
            </a:endParaRPr>
          </a:p>
        </p:txBody>
      </p:sp>
    </p:spTree>
    <p:extLst>
      <p:ext uri="{BB962C8B-B14F-4D97-AF65-F5344CB8AC3E}">
        <p14:creationId xmlns:p14="http://schemas.microsoft.com/office/powerpoint/2010/main" val="356471822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arabun" panose="00000500000000000000" pitchFamily="2" charset="-34"/>
              </a:defRPr>
            </a:lvl1pPr>
          </a:lstStyle>
          <a:p>
            <a:endParaRPr lang="en-GB"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arabun" panose="00000500000000000000" pitchFamily="2" charset="-34"/>
              </a:defRPr>
            </a:lvl1pPr>
          </a:lstStyle>
          <a:p>
            <a:fld id="{CDEAEF8A-5BB8-41C8-B8C2-160617C17EF4}" type="datetimeFigureOut">
              <a:rPr lang="en-GB" smtClean="0"/>
              <a:pPr/>
              <a:t>04/10/2026</a:t>
            </a:fld>
            <a:endParaRPr lang="en-GB"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GB"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Sarabun" panose="00000500000000000000" pitchFamily="2" charset="-34"/>
              </a:defRPr>
            </a:lvl1pPr>
          </a:lstStyle>
          <a:p>
            <a:endParaRPr lang="en-GB"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Sarabun" panose="00000500000000000000" pitchFamily="2" charset="-34"/>
              </a:defRPr>
            </a:lvl1pPr>
          </a:lstStyle>
          <a:p>
            <a:fld id="{4320660A-27FD-4528-AE7F-EC6080404EEB}" type="slidenum">
              <a:rPr lang="en-GB" smtClean="0"/>
              <a:pPr/>
              <a:t>‹#›</a:t>
            </a:fld>
            <a:endParaRPr lang="en-GB" dirty="0"/>
          </a:p>
        </p:txBody>
      </p:sp>
    </p:spTree>
    <p:extLst>
      <p:ext uri="{BB962C8B-B14F-4D97-AF65-F5344CB8AC3E}">
        <p14:creationId xmlns:p14="http://schemas.microsoft.com/office/powerpoint/2010/main" val="20121339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Sarabun" panose="00000500000000000000" pitchFamily="2" charset="-34"/>
        <a:ea typeface="+mn-ea"/>
        <a:cs typeface="+mn-cs"/>
      </a:defRPr>
    </a:lvl1pPr>
    <a:lvl2pPr marL="457200" algn="l" defTabSz="914400" rtl="0" eaLnBrk="1" latinLnBrk="0" hangingPunct="1">
      <a:defRPr sz="1200" kern="1200">
        <a:solidFill>
          <a:schemeClr val="tx1"/>
        </a:solidFill>
        <a:latin typeface="Sarabun" panose="00000500000000000000" pitchFamily="2" charset="-34"/>
        <a:ea typeface="+mn-ea"/>
        <a:cs typeface="+mn-cs"/>
      </a:defRPr>
    </a:lvl2pPr>
    <a:lvl3pPr marL="914400" algn="l" defTabSz="914400" rtl="0" eaLnBrk="1" latinLnBrk="0" hangingPunct="1">
      <a:defRPr sz="1200" kern="1200">
        <a:solidFill>
          <a:schemeClr val="tx1"/>
        </a:solidFill>
        <a:latin typeface="Sarabun" panose="00000500000000000000" pitchFamily="2" charset="-34"/>
        <a:ea typeface="+mn-ea"/>
        <a:cs typeface="+mn-cs"/>
      </a:defRPr>
    </a:lvl3pPr>
    <a:lvl4pPr marL="1371600" algn="l" defTabSz="914400" rtl="0" eaLnBrk="1" latinLnBrk="0" hangingPunct="1">
      <a:defRPr sz="1200" kern="1200">
        <a:solidFill>
          <a:schemeClr val="tx1"/>
        </a:solidFill>
        <a:latin typeface="Sarabun" panose="00000500000000000000" pitchFamily="2" charset="-34"/>
        <a:ea typeface="+mn-ea"/>
        <a:cs typeface="+mn-cs"/>
      </a:defRPr>
    </a:lvl4pPr>
    <a:lvl5pPr marL="1828800" algn="l" defTabSz="914400" rtl="0" eaLnBrk="1" latinLnBrk="0" hangingPunct="1">
      <a:defRPr sz="1200" kern="1200">
        <a:solidFill>
          <a:schemeClr val="tx1"/>
        </a:solidFill>
        <a:latin typeface="Sarabun" panose="00000500000000000000" pitchFamily="2" charset="-34"/>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This afternoon is about services that don't make the client wait for an answer.</a:t>
            </a:r>
          </a:p>
          <a:p>
            <a:endParaRPr/>
          </a:p>
          <a:p>
            <a:r>
              <a:t>Before starting: the APL code on these slides uses the APL385 Unicode font, which must be installed on the presenting machine, or the APL symbols will not display correctly.</a:t>
            </a:r>
          </a:p>
          <a:p>
            <a:endParaRPr/>
          </a:p>
          <a:p>
            <a:r>
              <a:t>Check that everyone has run Setup and seen Ready (Exercises/README.md). Use the first ten minutes for that.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schedule: 10 minutes of setup, then talk 1 (15 minutes) and Exercise 1; talk 2 on web hooks just before the first break, so people can start Exercise 2 straight after it; talks 3 and 4 each lead into their exercise. Five minutes of wrap-up at the end.</a:t>
            </a:r>
          </a:p>
          <a:p>
            <a:endParaRPr/>
          </a:p>
          <a:p>
            <a:r>
              <a:t>Stress that falling behind is fine: every exercise has a Solution folder, and 'Solution' Run loads it.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what Exercise 1 builds: the client asks, and waits for the answer on the same connection. That's fine for quick answers. For slow work it causes three problems: connections held open, timeouts, and a client that can't get on with anything else.</a:t>
            </a:r>
          </a:p>
          <a:p>
            <a:endParaRPr/>
          </a:p>
          <a:p>
            <a:r>
              <a:t>The rest of the afternoon is three ways around this.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patterns. Orange arrows go from the client, purple arrows from the server.</a:t>
            </a:r>
          </a:p>
          <a:p>
            <a:endParaRPr/>
          </a:p>
          <a:p>
            <a:r>
              <a:t>Polling: the client keeps asking. Simple, but most requests are wasted.</a:t>
            </a:r>
          </a:p>
          <a:p>
            <a:r>
              <a:t>Web hook: the client gives the server a URL; the server replies at once with a ticket and calls that URL when the work is done. Exercise 2.</a:t>
            </a:r>
          </a:p>
          <a:p>
            <a:r>
              <a:t>Server-Sent Events: the client asks once, and the server keeps the response open and sends events whenever it likes, one way only. Exercise 3.</a:t>
            </a:r>
          </a:p>
          <a:p>
            <a:r>
              <a:t>WebSockets: an HTTP request that upgrades to a two-way connection; either side sends at any time. Exercise 4.</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three tools, all open source from Dyalog, all in the Source folder of the workshop materials (Jarvis 1.23.1, HttpCommand 5.11.2, WebSocketClient 1.0.1).</a:t>
            </a:r>
          </a:p>
          <a:p>
            <a:endParaRPr/>
          </a:p>
          <a:p>
            <a:r>
              <a:t>HttpCommand is the client side: Exercises 1 and 2, and the worker in Exercise 2 uses it to call the web hook.</a:t>
            </a:r>
          </a:p>
          <a:p>
            <a:r>
              <a:t>Jarvis is the server side in every exercise: plain JSON endpoints, Server-Sent Events, and WebSockets.</a:t>
            </a:r>
          </a:p>
          <a:p>
            <a:r>
              <a:t>WebSocketClient joins the Exercise 4 chat from APL.</a:t>
            </a:r>
          </a:p>
          <a:p>
            <a:endParaRPr/>
          </a:p>
          <a:p>
            <a:r>
              <a:t>All three sit on Conga. Setup copies Conga into # before loading them, which is why there's nothing to configure.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exercise works the same way. Setup once per session. Each exercise has a Run function that starts its servers from the Start folder, where a few short functions are left for you to write.</a:t>
            </a:r>
          </a:p>
          <a:p>
            <a:endParaRPr/>
          </a:p>
          <a:p>
            <a:r>
              <a:t>You edit with )ED, and Jarvis uses the new definition on the next request, so there's no restart. Exercise 3 has one exception: its broadcast loop, which the README explains (Restart).</a:t>
            </a:r>
          </a:p>
          <a:p>
            <a:endParaRPr/>
          </a:p>
          <a:p>
            <a:r>
              <a:t>If you fall behind, 'Solution' Run loads the finished version. Run stops any server it started before, so running it twice can't leave an old server answering.</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Attendees may be on Dyalog 19 or 20. All the supplied code is Dyalog 19 style, so it runs everywhere. Where 20 is clearly neater, the READMEs show the 20 version too, and the solutions carry it as a ⍝ v20: comment.</a:t>
            </a:r>
          </a:p>
          <a:p>
            <a:endParaRPr/>
          </a:p>
          <a:p>
            <a:r>
              <a:t>Only three 20 features are used: array notation (shown here), ⎕VGET with a fallback value, and ⎕VSET.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Leave this on screen for the 30 minutes.</a:t>
            </a:r>
          </a:p>
          <a:p>
            <a:endParaRPr/>
          </a:p>
          <a:p>
            <a:r>
              <a:t>Key points to watch for: rc is 0 when the request worked even if HttpStatus says 404; Jarvis passes '' rather than a namespace when a request has no body; GET with a query string needs AllowGETs←1.</a:t>
            </a:r>
          </a:p>
          <a:p>
            <a:endParaRPr/>
          </a:p>
          <a:p>
            <a:r>
              <a:t>If the venue network is down, Part A has an offline fallback against the attendee's own Part B server.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Talk 2, before the first break, so people can start Exercise 2 as soon as they're back.</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flow in Exercise 2. The client posts a job with a callback URL. The ticket server answers immediately with a ticket number, and starts the work in a separate thread. When the work is done, the ticket server posts the result to the callback URL: that call is the web hook.</a:t>
            </a:r>
          </a:p>
          <a:p>
            <a:endParaRPr/>
          </a:p>
          <a:p>
            <a:r>
              <a:t>In real life the callback server belongs to someone else, on another machine. In the exercise both servers run in your session, so you can see everything happen.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heart of Submit. &amp; is the key: it starts Work in its own thread and Submit carries on and returns the ticket.</a:t>
            </a:r>
          </a:p>
          <a:p>
            <a:endParaRPr/>
          </a:p>
          <a:p>
            <a:r>
              <a:t>:Hold protects the ticket counter. Strictly, a one-line update can't be interleaved in Dyalog, but :Hold is the right habit.</a:t>
            </a:r>
          </a:p>
          <a:p>
            <a:endParaRPr/>
          </a:p>
          <a:p>
            <a:r>
              <a:t>The solution also checks that n is a whole number from 2 to 1E12 and that callback is text, replying 400 otherwise. Without that, a job with n of 'abc' gets a ticket and then fails inside Work.</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lessons from building Exercise 2.</a:t>
            </a:r>
          </a:p>
          <a:p>
            <a:endParaRPr/>
          </a:p>
          <a:p>
            <a:r>
              <a:t>First, from Exercise 1: rc and HttpStatus mean different things. rc is about the request (did anyone answer?), HttpStatus is the server's answer.</a:t>
            </a:r>
          </a:p>
          <a:p>
            <a:endParaRPr/>
          </a:p>
          <a:p>
            <a:r>
              <a:t>Second: Jarvis catches errors in your endpoints and replies 500. A thread started with &amp; has no such protection. Untrapped, an error suspends that thread in a session, or stops APL altogether when the service runs as a script. So Work's whole body is inside :Trap 0, and failures are printed with the ticket number.</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Web hooks aren't free: the client has to be reachable, and if it isn't when the result is ready, the result is lost unless the server retries. That's why services often offer both: a web hook, and a status endpoint to poll if a call back was missed. Both are stretch goals in Exercise 2 (S2 retry, S3 Status).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Leave on screen after the break.</a:t>
            </a:r>
          </a:p>
          <a:p>
            <a:endParaRPr/>
          </a:p>
          <a:p>
            <a:r>
              <a:t>Watch for: Submit is dyadic (it needs req for req.Fail); Work's results arriving in a different order from the tickets is the point; with the callback server stopped (stretch S1), Work prints 'could not reach' and Client gives up after 10 seconds.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Talk 3.</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Server-Sent Events: the browser makes one GET, and Jarvis keeps the response open, sending events whenever it likes. Only the server sends. It's ordinary HTTP, so it works through most proxies, and the browser's EventSource reconnects automatically if the connection drops.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everything on the wire. Each event is a few lines and a blank line. event: names the type, data: carries the content, here JSON. A line that starts with a colon is a comment; Jarvis sends one every 30 seconds (SSEHeartbeatInterval) so idle connections stay open.</a:t>
            </a:r>
          </a:p>
          <a:p>
            <a:endParaRPr/>
          </a:p>
          <a:p>
            <a:r>
              <a:t>FormatSSE builds the text for you: a namespace is converted to JSON. In Exercise 3 attendees try this in the session first.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browser side is supplied: attendees don't need to write JavaScript. EventSource opens the stream; each event type gets its own listener. When the connection drops, EventSource reconnects on its own, and Jarvis calls Ticker again for the new connection, so the welcome event is sent again.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 Jarvis pieces. SSEEndpoints names the stream; Ticker is called once per new client, so it's where you welcome that client. SSEConnections lists who's connected, and SendSSE sends to them.</a:t>
            </a:r>
          </a:p>
          <a:p>
            <a:endParaRPr/>
          </a:p>
          <a:p>
            <a:r>
              <a:t>One trap, found while building the exercise: Broadcast runs as one long call in its own thread, so editing it doesn't change the running loop. Restart stops the loop and starts it again with the current code. Don't use Run for this: it reloads the functions from the files and throws the attendee's edits away.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Leave on screen.</a:t>
            </a:r>
          </a:p>
          <a:p>
            <a:endParaRPr/>
          </a:p>
          <a:p>
            <a:r>
              <a:t>Watch for: Ticker must return no result or 0 (anything else closes the connection); after editing Broadcast, Restart (Run would reload the files); the table fills within a couple of seconds of Restart.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Talk 4, after the second break.</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WebSocket starts as an HTTP GET asking to upgrade. Once the server answers 101, the same connection carries messages both ways, whenever either side likes. That's what a chat needs.</a:t>
            </a:r>
          </a:p>
          <a:p>
            <a:endParaRPr/>
          </a:p>
          <a:p>
            <a:r>
              <a:t>Unlike EventSource, a WebSocket does not reconnect by itself: when it closes, the page shows 'not connected' and you Join again.</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three hooks attendees write in Exercise 4: Connect, Receive, Disconnect, named by OnWsUpgradeFn, OnWsReceiveFn and OnWsCloseFn.</a:t>
            </a:r>
          </a:p>
          <a:p>
            <a:endParaRPr/>
          </a:p>
          <a:p>
            <a:r>
              <a:t>Two things found while building it. WsSend accepts one connection namespace, or a list of connection names, but not a list of namespaces, so the chat keeps names in Clients. And Jarvis 1.23.0 never called the close hook, because Conga reports only 'Closed' when a client disconnects; 1.23.1, in the workshop materials, fixes that.</a:t>
            </a:r>
          </a:p>
          <a:p>
            <a:endParaRPr/>
          </a:p>
          <a:p>
            <a:r>
              <a:t>Every hook must return a result, or Jarvis won't start.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WebSocketClient creates its client from a namespace of settings, like HttpCommand.New. OnWSReceive names the function called for each message, and it must be dyadic. A monadic function there fails in WebSocketClient's own thread, and the connection just closes: no error in the session, which is very confusing if you don't know.</a:t>
            </a:r>
          </a:p>
          <a:p>
            <a:endParaRPr/>
          </a:p>
          <a:p>
            <a:r>
              <a:t>Like HttpCommand.New, a misspelled setting doesn't signal; New returns a result with rc ¯11. Chat.Join checks rc after New and after Connect.</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If only the server needs to talk, Server-Sent Events are simpler: plain HTTP, and the browser reconnects for you. If both sides talk, use WebSockets.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Leave on screen.</a:t>
            </a:r>
          </a:p>
          <a:p>
            <a:endParaRPr/>
          </a:p>
          <a:p>
            <a:r>
              <a:t>Watch for: hooks must return a result (r←0); WsSend needs Clients to hold connection names; after changing Connect, Leave and Join again on the page so the new code sees the connection; the S3 stretch (an /apl bot) comes with a warning never to execute text received from the network.</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table to take away. The quick question to ask: who needs to start the conversation, and which way do messages flow?</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Pointers to the documentation for each tool, and the workshop repository, which keeps the exercises, solutions, and READMEs.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le">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45060" y="1688053"/>
            <a:ext cx="5073517" cy="1767394"/>
          </a:xfrm>
          <a:prstGeom prst="rect">
            <a:avLst/>
          </a:prstGeom>
        </p:spPr>
        <p:txBody>
          <a:bodyPr anchor="ctr" anchorCtr="0">
            <a:noAutofit/>
          </a:bodyPr>
          <a:lstStyle>
            <a:lvl1pPr algn="l">
              <a:lnSpc>
                <a:spcPct val="100000"/>
              </a:lnSpc>
              <a:defRPr sz="3600" b="0">
                <a:solidFill>
                  <a:srgbClr val="3B475E"/>
                </a:solidFill>
                <a:latin typeface="Sarabun" panose="00000500000000000000" pitchFamily="2" charset="-34"/>
              </a:defRPr>
            </a:lvl1pPr>
          </a:lstStyle>
          <a:p>
            <a:r>
              <a:rPr lang="en-US" dirty="0"/>
              <a:t>Title</a:t>
            </a:r>
            <a:endParaRPr lang="en-GB" dirty="0"/>
          </a:p>
        </p:txBody>
      </p:sp>
      <p:sp>
        <p:nvSpPr>
          <p:cNvPr id="9" name="Text Placeholder 8"/>
          <p:cNvSpPr>
            <a:spLocks noGrp="1"/>
          </p:cNvSpPr>
          <p:nvPr>
            <p:ph type="body" sz="quarter" idx="10" hasCustomPrompt="1"/>
          </p:nvPr>
        </p:nvSpPr>
        <p:spPr>
          <a:xfrm>
            <a:off x="445061" y="3741620"/>
            <a:ext cx="5073516" cy="1024109"/>
          </a:xfrm>
        </p:spPr>
        <p:txBody>
          <a:bodyPr anchor="t" anchorCtr="0">
            <a:noAutofit/>
          </a:bodyPr>
          <a:lstStyle>
            <a:lvl1pPr marL="0" indent="0" algn="l">
              <a:lnSpc>
                <a:spcPct val="100000"/>
              </a:lnSpc>
              <a:buNone/>
              <a:defRPr sz="2400" i="1" baseline="0">
                <a:solidFill>
                  <a:srgbClr val="3B475E"/>
                </a:solidFill>
                <a:latin typeface="Sarabun" panose="00000500000000000000" pitchFamily="2" charset="-34"/>
              </a:defRPr>
            </a:lvl1pPr>
          </a:lstStyle>
          <a:p>
            <a:pPr lvl="0"/>
            <a:r>
              <a:rPr lang="en-US" dirty="0"/>
              <a:t>Presenter</a:t>
            </a:r>
          </a:p>
        </p:txBody>
      </p:sp>
      <p:sp useBgFill="1">
        <p:nvSpPr>
          <p:cNvPr id="3" name="Rounded Rectangle 2"/>
          <p:cNvSpPr/>
          <p:nvPr userDrawn="1"/>
        </p:nvSpPr>
        <p:spPr>
          <a:xfrm>
            <a:off x="8616917" y="51470"/>
            <a:ext cx="405045" cy="270030"/>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Sarabun" panose="00000500000000000000" pitchFamily="2" charset="-34"/>
            </a:endParaRPr>
          </a:p>
        </p:txBody>
      </p:sp>
      <p:pic>
        <p:nvPicPr>
          <p:cNvPr id="4" name="Picture 3">
            <a:extLst>
              <a:ext uri="{FF2B5EF4-FFF2-40B4-BE49-F238E27FC236}">
                <a16:creationId xmlns:a16="http://schemas.microsoft.com/office/drawing/2014/main" id="{91A7F93E-0AC9-4994-C087-EC47479093DE}"/>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45060" y="577889"/>
            <a:ext cx="2186609" cy="734076"/>
          </a:xfrm>
          <a:prstGeom prst="rect">
            <a:avLst/>
          </a:prstGeom>
        </p:spPr>
      </p:pic>
      <p:sp>
        <p:nvSpPr>
          <p:cNvPr id="5" name="Rectangle 4">
            <a:extLst>
              <a:ext uri="{FF2B5EF4-FFF2-40B4-BE49-F238E27FC236}">
                <a16:creationId xmlns:a16="http://schemas.microsoft.com/office/drawing/2014/main" id="{7D2228C3-8F95-166E-8A09-DC52EB61BD50}"/>
              </a:ext>
            </a:extLst>
          </p:cNvPr>
          <p:cNvSpPr/>
          <p:nvPr userDrawn="1"/>
        </p:nvSpPr>
        <p:spPr>
          <a:xfrm>
            <a:off x="72887" y="4813353"/>
            <a:ext cx="372173" cy="23455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Graphic 7">
            <a:extLst>
              <a:ext uri="{FF2B5EF4-FFF2-40B4-BE49-F238E27FC236}">
                <a16:creationId xmlns:a16="http://schemas.microsoft.com/office/drawing/2014/main" id="{63804001-4A52-A7FB-FC2A-F450E7C6EB4E}"/>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273349" y="1961586"/>
            <a:ext cx="2343568" cy="2343568"/>
          </a:xfrm>
          <a:prstGeom prst="rect">
            <a:avLst/>
          </a:prstGeom>
        </p:spPr>
      </p:pic>
      <p:sp>
        <p:nvSpPr>
          <p:cNvPr id="11" name="Rectangle 10">
            <a:extLst>
              <a:ext uri="{FF2B5EF4-FFF2-40B4-BE49-F238E27FC236}">
                <a16:creationId xmlns:a16="http://schemas.microsoft.com/office/drawing/2014/main" id="{CF9ED9E2-3219-F619-9BA3-FFB47D247704}"/>
              </a:ext>
            </a:extLst>
          </p:cNvPr>
          <p:cNvSpPr/>
          <p:nvPr userDrawn="1"/>
        </p:nvSpPr>
        <p:spPr>
          <a:xfrm>
            <a:off x="7678522" y="4583477"/>
            <a:ext cx="1273321" cy="46443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a:extLst>
              <a:ext uri="{FF2B5EF4-FFF2-40B4-BE49-F238E27FC236}">
                <a16:creationId xmlns:a16="http://schemas.microsoft.com/office/drawing/2014/main" id="{6612EFF5-B5C4-29F2-5FBE-E79CCD7FC086}"/>
              </a:ext>
            </a:extLst>
          </p:cNvPr>
          <p:cNvSpPr/>
          <p:nvPr userDrawn="1"/>
        </p:nvSpPr>
        <p:spPr>
          <a:xfrm>
            <a:off x="1159566" y="4813352"/>
            <a:ext cx="6155634" cy="23455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94737365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bg>
      <p:bgRef idx="1001">
        <a:schemeClr val="bg1"/>
      </p:bgRef>
    </p:bg>
    <p:spTree>
      <p:nvGrpSpPr>
        <p:cNvPr id="1" name=""/>
        <p:cNvGrpSpPr/>
        <p:nvPr/>
      </p:nvGrpSpPr>
      <p:grpSpPr>
        <a:xfrm>
          <a:off x="0" y="0"/>
          <a:ext cx="0" cy="0"/>
          <a:chOff x="0" y="0"/>
          <a:chExt cx="0" cy="0"/>
        </a:xfrm>
      </p:grpSpPr>
      <p:sp>
        <p:nvSpPr>
          <p:cNvPr id="7" name="Content Placeholder 2"/>
          <p:cNvSpPr>
            <a:spLocks noGrp="1"/>
          </p:cNvSpPr>
          <p:nvPr>
            <p:ph idx="10" hasCustomPrompt="1"/>
          </p:nvPr>
        </p:nvSpPr>
        <p:spPr>
          <a:xfrm>
            <a:off x="6723925" y="1417983"/>
            <a:ext cx="2127975" cy="3088981"/>
          </a:xfrm>
        </p:spPr>
        <p:txBody>
          <a:bodyPr>
            <a:normAutofit/>
          </a:bodyPr>
          <a:lstStyle>
            <a:lvl1pPr marL="0" indent="0">
              <a:lnSpc>
                <a:spcPct val="100000"/>
              </a:lnSpc>
              <a:spcBef>
                <a:spcPts val="0"/>
              </a:spcBef>
              <a:buFont typeface="Arial" panose="020B0604020202020204" pitchFamily="34" charset="0"/>
              <a:buNone/>
              <a:defRPr sz="1800"/>
            </a:lvl1pPr>
            <a:lvl2pPr marL="717550" indent="-355600">
              <a:buSzPct val="60000"/>
              <a:buFont typeface="Courier New" panose="02070309020205020404" pitchFamily="49" charset="0"/>
              <a:buChar char="o"/>
              <a:defRPr/>
            </a:lvl2pPr>
            <a:lvl3pPr marL="1079500" indent="-361950">
              <a:buFont typeface="Wingdings" panose="05000000000000000000" pitchFamily="2" charset="2"/>
              <a:buChar char="§"/>
              <a:defRPr/>
            </a:lvl3pPr>
            <a:lvl4pPr marL="1433513" indent="-354013">
              <a:buFont typeface="Calibri" panose="020F0502020204030204" pitchFamily="34" charset="0"/>
              <a:buChar char="–"/>
              <a:defRPr/>
            </a:lvl4pPr>
          </a:lstStyle>
          <a:p>
            <a:r>
              <a:rPr lang="da-DK" dirty="0"/>
              <a:t>Space here </a:t>
            </a:r>
            <a:br>
              <a:rPr lang="da-DK" dirty="0"/>
            </a:br>
            <a:r>
              <a:rPr lang="da-DK" dirty="0"/>
              <a:t>for code </a:t>
            </a:r>
            <a:r>
              <a:rPr lang="da-DK" dirty="0">
                <a:latin typeface="APL385 Unicode" panose="020B0709000202000203" pitchFamily="49" charset="0"/>
              </a:rPr>
              <a:t>{⍺×⍵}</a:t>
            </a:r>
            <a:br>
              <a:rPr lang="da-DK" dirty="0"/>
            </a:br>
            <a:r>
              <a:rPr lang="da-DK" dirty="0"/>
              <a:t>pictures</a:t>
            </a:r>
            <a:br>
              <a:rPr lang="da-DK" dirty="0"/>
            </a:br>
            <a:r>
              <a:rPr lang="da-DK" dirty="0"/>
              <a:t>etc.</a:t>
            </a:r>
          </a:p>
        </p:txBody>
      </p:sp>
      <p:sp>
        <p:nvSpPr>
          <p:cNvPr id="6" name="Text Placeholder 2">
            <a:extLst>
              <a:ext uri="{FF2B5EF4-FFF2-40B4-BE49-F238E27FC236}">
                <a16:creationId xmlns:a16="http://schemas.microsoft.com/office/drawing/2014/main" id="{56DBA27B-8304-4CFA-81F2-07D6954C9B4F}"/>
              </a:ext>
            </a:extLst>
          </p:cNvPr>
          <p:cNvSpPr>
            <a:spLocks noGrp="1"/>
          </p:cNvSpPr>
          <p:nvPr>
            <p:ph idx="1"/>
          </p:nvPr>
        </p:nvSpPr>
        <p:spPr>
          <a:xfrm>
            <a:off x="323527" y="1264925"/>
            <a:ext cx="6092513" cy="3242040"/>
          </a:xfrm>
          <a:prstGeom prst="rect">
            <a:avLst/>
          </a:prstGeom>
        </p:spPr>
        <p:txBody>
          <a:bodyPr vert="horz" lIns="91440" tIns="45720" rIns="91440" bIns="45720" rtlCol="0">
            <a:normAutofit/>
          </a:bodyPr>
          <a:lstStyle>
            <a:lvl1pPr>
              <a:spcBef>
                <a:spcPts val="0"/>
              </a:spcBef>
              <a:buClr>
                <a:srgbClr val="FF6A13"/>
              </a:buClr>
              <a:defRPr/>
            </a:lvl1pPr>
            <a:lvl2pPr>
              <a:spcBef>
                <a:spcPts val="0"/>
              </a:spcBef>
              <a:buClr>
                <a:srgbClr val="FF6A13"/>
              </a:buClr>
              <a:defRPr/>
            </a:lvl2pPr>
            <a:lvl3pPr>
              <a:spcBef>
                <a:spcPts val="0"/>
              </a:spcBef>
              <a:buClr>
                <a:srgbClr val="FF6A13"/>
              </a:buClr>
              <a:defRPr/>
            </a:lvl3pPr>
            <a:lvl4pPr>
              <a:spcBef>
                <a:spcPts val="0"/>
              </a:spcBef>
              <a:buClr>
                <a:srgbClr val="FFA336"/>
              </a:buClr>
              <a:defRPr/>
            </a:lvl4pPr>
          </a:lstStyle>
          <a:p>
            <a:pPr lvl="0"/>
            <a:r>
              <a:rPr lang="en-US" dirty="0"/>
              <a:t>Click to edit Master text styles</a:t>
            </a:r>
          </a:p>
          <a:p>
            <a:pPr lvl="1"/>
            <a:r>
              <a:rPr lang="en-US" dirty="0"/>
              <a:t>Second level</a:t>
            </a:r>
          </a:p>
          <a:p>
            <a:pPr lvl="2"/>
            <a:r>
              <a:rPr lang="en-US" dirty="0"/>
              <a:t>Third level</a:t>
            </a:r>
          </a:p>
        </p:txBody>
      </p:sp>
      <p:sp>
        <p:nvSpPr>
          <p:cNvPr id="8" name="Title Placeholder 1">
            <a:extLst>
              <a:ext uri="{FF2B5EF4-FFF2-40B4-BE49-F238E27FC236}">
                <a16:creationId xmlns:a16="http://schemas.microsoft.com/office/drawing/2014/main" id="{228F4D49-482B-40A2-86AF-43C7452AA67C}"/>
              </a:ext>
            </a:extLst>
          </p:cNvPr>
          <p:cNvSpPr>
            <a:spLocks noGrp="1"/>
          </p:cNvSpPr>
          <p:nvPr>
            <p:ph type="title"/>
          </p:nvPr>
        </p:nvSpPr>
        <p:spPr>
          <a:xfrm>
            <a:off x="323528" y="267657"/>
            <a:ext cx="8528371" cy="685535"/>
          </a:xfrm>
          <a:prstGeom prst="rect">
            <a:avLst/>
          </a:prstGeom>
        </p:spPr>
        <p:txBody>
          <a:bodyPr vert="horz" lIns="91440" tIns="45720" rIns="91440" bIns="45720" rtlCol="0" anchor="b"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231835220"/>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nd Content Wide">
    <p:bg>
      <p:bgRef idx="1001">
        <a:schemeClr val="bg1"/>
      </p:bgRef>
    </p:bg>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56DBA27B-8304-4CFA-81F2-07D6954C9B4F}"/>
              </a:ext>
            </a:extLst>
          </p:cNvPr>
          <p:cNvSpPr>
            <a:spLocks noGrp="1"/>
          </p:cNvSpPr>
          <p:nvPr>
            <p:ph idx="1"/>
          </p:nvPr>
        </p:nvSpPr>
        <p:spPr>
          <a:xfrm>
            <a:off x="323527" y="1264925"/>
            <a:ext cx="8521769" cy="3242040"/>
          </a:xfrm>
          <a:prstGeom prst="rect">
            <a:avLst/>
          </a:prstGeom>
        </p:spPr>
        <p:txBody>
          <a:bodyPr vert="horz" lIns="91440" tIns="45720" rIns="91440" bIns="45720" rtlCol="0">
            <a:normAutofit/>
          </a:bodyPr>
          <a:lstStyle>
            <a:lvl1pPr>
              <a:spcBef>
                <a:spcPts val="0"/>
              </a:spcBef>
              <a:buClr>
                <a:srgbClr val="FF6A13"/>
              </a:buClr>
              <a:defRPr/>
            </a:lvl1pPr>
            <a:lvl2pPr>
              <a:spcBef>
                <a:spcPts val="0"/>
              </a:spcBef>
              <a:buClr>
                <a:srgbClr val="FF6A13"/>
              </a:buClr>
              <a:defRPr/>
            </a:lvl2pPr>
            <a:lvl3pPr>
              <a:spcBef>
                <a:spcPts val="0"/>
              </a:spcBef>
              <a:buClr>
                <a:srgbClr val="FF6A13"/>
              </a:buClr>
              <a:defRPr/>
            </a:lvl3pPr>
            <a:lvl4pPr>
              <a:spcBef>
                <a:spcPts val="0"/>
              </a:spcBef>
              <a:buClr>
                <a:srgbClr val="FFA336"/>
              </a:buClr>
              <a:defRPr/>
            </a:lvl4pPr>
          </a:lstStyle>
          <a:p>
            <a:pPr lvl="0"/>
            <a:r>
              <a:rPr lang="en-US" dirty="0"/>
              <a:t>Click to edit Master text styles</a:t>
            </a:r>
          </a:p>
          <a:p>
            <a:pPr lvl="1"/>
            <a:r>
              <a:rPr lang="en-US" dirty="0"/>
              <a:t>Second level</a:t>
            </a:r>
          </a:p>
          <a:p>
            <a:pPr lvl="2"/>
            <a:r>
              <a:rPr lang="en-US" dirty="0"/>
              <a:t>Third level</a:t>
            </a:r>
          </a:p>
        </p:txBody>
      </p:sp>
      <p:sp>
        <p:nvSpPr>
          <p:cNvPr id="8" name="Title Placeholder 1">
            <a:extLst>
              <a:ext uri="{FF2B5EF4-FFF2-40B4-BE49-F238E27FC236}">
                <a16:creationId xmlns:a16="http://schemas.microsoft.com/office/drawing/2014/main" id="{228F4D49-482B-40A2-86AF-43C7452AA67C}"/>
              </a:ext>
            </a:extLst>
          </p:cNvPr>
          <p:cNvSpPr>
            <a:spLocks noGrp="1"/>
          </p:cNvSpPr>
          <p:nvPr>
            <p:ph type="title"/>
          </p:nvPr>
        </p:nvSpPr>
        <p:spPr>
          <a:xfrm>
            <a:off x="323528" y="267657"/>
            <a:ext cx="8521767" cy="685535"/>
          </a:xfrm>
          <a:prstGeom prst="rect">
            <a:avLst/>
          </a:prstGeom>
        </p:spPr>
        <p:txBody>
          <a:bodyPr vert="horz" lIns="91440" tIns="45720" rIns="91440" bIns="45720" rtlCol="0" anchor="b"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3476114612"/>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bg>
      <p:bgRef idx="1001">
        <a:schemeClr val="bg1"/>
      </p:bgRef>
    </p:bg>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BE1C07FA-679D-46C0-86F7-8D17779A014C}"/>
              </a:ext>
            </a:extLst>
          </p:cNvPr>
          <p:cNvSpPr>
            <a:spLocks noGrp="1"/>
          </p:cNvSpPr>
          <p:nvPr>
            <p:ph idx="1"/>
          </p:nvPr>
        </p:nvSpPr>
        <p:spPr>
          <a:xfrm>
            <a:off x="323527" y="1264925"/>
            <a:ext cx="4104000" cy="3242040"/>
          </a:xfrm>
          <a:prstGeom prst="rect">
            <a:avLst/>
          </a:prstGeom>
        </p:spPr>
        <p:txBody>
          <a:bodyPr vert="horz" lIns="91440" tIns="45720" rIns="91440" bIns="45720" rtlCol="0">
            <a:normAutofit/>
          </a:bodyPr>
          <a:lstStyle>
            <a:lvl1pPr>
              <a:spcBef>
                <a:spcPts val="0"/>
              </a:spcBef>
              <a:buClr>
                <a:srgbClr val="FF6A13"/>
              </a:buClr>
              <a:defRPr>
                <a:latin typeface="Sarabun" panose="00000500000000000000" pitchFamily="2" charset="-34"/>
              </a:defRPr>
            </a:lvl1pPr>
            <a:lvl2pPr>
              <a:spcBef>
                <a:spcPts val="0"/>
              </a:spcBef>
              <a:buClr>
                <a:srgbClr val="FF6A13"/>
              </a:buClr>
              <a:defRPr>
                <a:latin typeface="Sarabun" panose="00000500000000000000" pitchFamily="2" charset="-34"/>
              </a:defRPr>
            </a:lvl2pPr>
            <a:lvl3pPr>
              <a:spcBef>
                <a:spcPts val="0"/>
              </a:spcBef>
              <a:buClr>
                <a:srgbClr val="FF6A13"/>
              </a:buClr>
              <a:defRPr>
                <a:latin typeface="Sarabun" panose="00000500000000000000" pitchFamily="2" charset="-34"/>
              </a:defRPr>
            </a:lvl3pPr>
            <a:lvl4pPr>
              <a:spcBef>
                <a:spcPts val="0"/>
              </a:spcBef>
              <a:buClr>
                <a:srgbClr val="FF6A13"/>
              </a:buClr>
              <a:defRPr>
                <a:latin typeface="Sarabun" panose="00000500000000000000" pitchFamily="2" charset="-34"/>
              </a:defRPr>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8" name="Title Placeholder 1">
            <a:extLst>
              <a:ext uri="{FF2B5EF4-FFF2-40B4-BE49-F238E27FC236}">
                <a16:creationId xmlns:a16="http://schemas.microsoft.com/office/drawing/2014/main" id="{1378A4D6-E4A6-4021-9A3E-CD1962CFECD1}"/>
              </a:ext>
            </a:extLst>
          </p:cNvPr>
          <p:cNvSpPr>
            <a:spLocks noGrp="1"/>
          </p:cNvSpPr>
          <p:nvPr>
            <p:ph type="title"/>
          </p:nvPr>
        </p:nvSpPr>
        <p:spPr>
          <a:xfrm>
            <a:off x="323529" y="267657"/>
            <a:ext cx="8496946" cy="685535"/>
          </a:xfrm>
          <a:prstGeom prst="rect">
            <a:avLst/>
          </a:prstGeom>
        </p:spPr>
        <p:txBody>
          <a:bodyPr vert="horz" lIns="91440" tIns="45720" rIns="91440" bIns="45720" rtlCol="0" anchor="b" anchorCtr="0">
            <a:noAutofit/>
          </a:bodyPr>
          <a:lstStyle/>
          <a:p>
            <a:r>
              <a:rPr lang="en-US" dirty="0"/>
              <a:t>Click to edit Master title style</a:t>
            </a:r>
            <a:endParaRPr lang="en-GB" dirty="0"/>
          </a:p>
        </p:txBody>
      </p:sp>
      <p:sp>
        <p:nvSpPr>
          <p:cNvPr id="2" name="Text Placeholder 2">
            <a:extLst>
              <a:ext uri="{FF2B5EF4-FFF2-40B4-BE49-F238E27FC236}">
                <a16:creationId xmlns:a16="http://schemas.microsoft.com/office/drawing/2014/main" id="{524709DA-7321-C012-5950-141DDACE71D0}"/>
              </a:ext>
            </a:extLst>
          </p:cNvPr>
          <p:cNvSpPr>
            <a:spLocks noGrp="1"/>
          </p:cNvSpPr>
          <p:nvPr>
            <p:ph idx="12"/>
          </p:nvPr>
        </p:nvSpPr>
        <p:spPr>
          <a:xfrm>
            <a:off x="4716475" y="1264925"/>
            <a:ext cx="4104000" cy="3242040"/>
          </a:xfrm>
          <a:prstGeom prst="rect">
            <a:avLst/>
          </a:prstGeom>
        </p:spPr>
        <p:txBody>
          <a:bodyPr vert="horz" lIns="91440" tIns="45720" rIns="91440" bIns="45720" rtlCol="0">
            <a:normAutofit/>
          </a:bodyPr>
          <a:lstStyle>
            <a:lvl1pPr>
              <a:spcBef>
                <a:spcPts val="0"/>
              </a:spcBef>
              <a:buClr>
                <a:srgbClr val="FF6A13"/>
              </a:buClr>
              <a:defRPr>
                <a:latin typeface="Sarabun" panose="00000500000000000000" pitchFamily="2" charset="-34"/>
              </a:defRPr>
            </a:lvl1pPr>
            <a:lvl2pPr>
              <a:spcBef>
                <a:spcPts val="0"/>
              </a:spcBef>
              <a:buClr>
                <a:srgbClr val="FF6A13"/>
              </a:buClr>
              <a:defRPr>
                <a:latin typeface="Sarabun" panose="00000500000000000000" pitchFamily="2" charset="-34"/>
              </a:defRPr>
            </a:lvl2pPr>
            <a:lvl3pPr>
              <a:spcBef>
                <a:spcPts val="0"/>
              </a:spcBef>
              <a:buClr>
                <a:srgbClr val="FF6A13"/>
              </a:buClr>
              <a:defRPr>
                <a:latin typeface="Sarabun" panose="00000500000000000000" pitchFamily="2" charset="-34"/>
              </a:defRPr>
            </a:lvl3pPr>
            <a:lvl4pPr>
              <a:spcBef>
                <a:spcPts val="0"/>
              </a:spcBef>
              <a:buClr>
                <a:srgbClr val="FF6A13"/>
              </a:buClr>
              <a:defRPr>
                <a:latin typeface="Sarabun" panose="00000500000000000000" pitchFamily="2" charset="-34"/>
              </a:defRPr>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1414322680"/>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bg>
      <p:bgRef idx="1001">
        <a:schemeClr val="bg1"/>
      </p:bgRef>
    </p:bg>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4C4900D4-E042-4F52-A837-0B504DD6A4AA}"/>
              </a:ext>
            </a:extLst>
          </p:cNvPr>
          <p:cNvSpPr>
            <a:spLocks noGrp="1"/>
          </p:cNvSpPr>
          <p:nvPr>
            <p:ph type="title"/>
          </p:nvPr>
        </p:nvSpPr>
        <p:spPr>
          <a:xfrm>
            <a:off x="323528" y="267657"/>
            <a:ext cx="8515671" cy="685535"/>
          </a:xfrm>
          <a:prstGeom prst="rect">
            <a:avLst/>
          </a:prstGeom>
        </p:spPr>
        <p:txBody>
          <a:bodyPr vert="horz" lIns="91440" tIns="45720" rIns="91440" bIns="45720" rtlCol="0" anchor="b"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4226472367"/>
      </p:ext>
    </p:extLst>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47694286"/>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sv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23528" y="267657"/>
            <a:ext cx="8528372" cy="685535"/>
          </a:xfrm>
          <a:prstGeom prst="rect">
            <a:avLst/>
          </a:prstGeom>
        </p:spPr>
        <p:txBody>
          <a:bodyPr vert="horz" lIns="91440" tIns="45720" rIns="91440" bIns="45720" rtlCol="0" anchor="b" anchorCtr="0">
            <a:noAutofit/>
          </a:bodyPr>
          <a:lstStyle/>
          <a:p>
            <a:r>
              <a:rPr lang="en-US" dirty="0"/>
              <a:t>Click to edit Master title style</a:t>
            </a:r>
            <a:endParaRPr lang="en-GB" dirty="0"/>
          </a:p>
        </p:txBody>
      </p:sp>
      <p:sp>
        <p:nvSpPr>
          <p:cNvPr id="3" name="Text Placeholder 2"/>
          <p:cNvSpPr>
            <a:spLocks noGrp="1"/>
          </p:cNvSpPr>
          <p:nvPr>
            <p:ph type="body" idx="1"/>
          </p:nvPr>
        </p:nvSpPr>
        <p:spPr>
          <a:xfrm>
            <a:off x="323527" y="1264925"/>
            <a:ext cx="8528373" cy="324204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6" name="Content Placeholder 2">
            <a:extLst>
              <a:ext uri="{FF2B5EF4-FFF2-40B4-BE49-F238E27FC236}">
                <a16:creationId xmlns:a16="http://schemas.microsoft.com/office/drawing/2014/main" id="{79B4391E-A2CA-4E7C-B5A9-A31CF000D3E5}"/>
              </a:ext>
            </a:extLst>
          </p:cNvPr>
          <p:cNvSpPr txBox="1">
            <a:spLocks/>
          </p:cNvSpPr>
          <p:nvPr userDrawn="1"/>
        </p:nvSpPr>
        <p:spPr>
          <a:xfrm>
            <a:off x="710852" y="4745354"/>
            <a:ext cx="7066640" cy="398145"/>
          </a:xfrm>
          <a:prstGeom prst="rect">
            <a:avLst/>
          </a:prstGeom>
        </p:spPr>
        <p:txBody>
          <a:bodyPr anchor="ctr">
            <a:normAutofit/>
          </a:bodyPr>
          <a:lstStyle>
            <a:lvl1pPr marL="0" indent="0" algn="l" defTabSz="914400" rtl="0" eaLnBrk="1" latinLnBrk="0" hangingPunct="1">
              <a:lnSpc>
                <a:spcPct val="80000"/>
              </a:lnSpc>
              <a:spcBef>
                <a:spcPts val="400"/>
              </a:spcBef>
              <a:buClr>
                <a:srgbClr val="FF9421"/>
              </a:buClr>
              <a:buFont typeface="Arial" panose="020B0604020202020204" pitchFamily="34" charset="0"/>
              <a:buNone/>
              <a:defRPr sz="1800" kern="1200">
                <a:solidFill>
                  <a:schemeClr val="bg1"/>
                </a:solidFill>
                <a:latin typeface="+mn-lt"/>
                <a:ea typeface="+mn-ea"/>
                <a:cs typeface="+mn-cs"/>
              </a:defRPr>
            </a:lvl1pPr>
            <a:lvl2pPr marL="717550" indent="-355600" algn="l" defTabSz="914400" rtl="0" eaLnBrk="1" latinLnBrk="0" hangingPunct="1">
              <a:lnSpc>
                <a:spcPct val="80000"/>
              </a:lnSpc>
              <a:spcBef>
                <a:spcPts val="400"/>
              </a:spcBef>
              <a:buClr>
                <a:srgbClr val="FF9421"/>
              </a:buClr>
              <a:buSzPct val="60000"/>
              <a:buFont typeface="Courier New" panose="02070309020205020404" pitchFamily="49" charset="0"/>
              <a:buChar char="o"/>
              <a:defRPr sz="2400" kern="1200">
                <a:solidFill>
                  <a:schemeClr val="bg1"/>
                </a:solidFill>
                <a:latin typeface="+mn-lt"/>
                <a:ea typeface="+mn-ea"/>
                <a:cs typeface="+mn-cs"/>
              </a:defRPr>
            </a:lvl2pPr>
            <a:lvl3pPr marL="1079500" indent="-361950" algn="l" defTabSz="914400" rtl="0" eaLnBrk="1" latinLnBrk="0" hangingPunct="1">
              <a:lnSpc>
                <a:spcPct val="80000"/>
              </a:lnSpc>
              <a:spcBef>
                <a:spcPts val="400"/>
              </a:spcBef>
              <a:buClr>
                <a:srgbClr val="FF9421"/>
              </a:buClr>
              <a:buSzPct val="75000"/>
              <a:buFont typeface="Wingdings" panose="05000000000000000000" pitchFamily="2" charset="2"/>
              <a:buChar char="§"/>
              <a:defRPr sz="2000" kern="1200">
                <a:solidFill>
                  <a:schemeClr val="bg1"/>
                </a:solidFill>
                <a:latin typeface="+mn-lt"/>
                <a:ea typeface="+mn-ea"/>
                <a:cs typeface="+mn-cs"/>
              </a:defRPr>
            </a:lvl3pPr>
            <a:lvl4pPr marL="1433513" indent="-354013" algn="l" defTabSz="914400" rtl="0" eaLnBrk="1" latinLnBrk="0" hangingPunct="1">
              <a:lnSpc>
                <a:spcPct val="80000"/>
              </a:lnSpc>
              <a:spcBef>
                <a:spcPts val="400"/>
              </a:spcBef>
              <a:buClr>
                <a:srgbClr val="FF9421"/>
              </a:buClr>
              <a:buFont typeface="Calibri" panose="020F0502020204030204" pitchFamily="34" charset="0"/>
              <a:buChar char="–"/>
              <a:defRPr sz="1600" kern="1200">
                <a:solidFill>
                  <a:schemeClr val="bg1"/>
                </a:solidFill>
                <a:latin typeface="+mn-lt"/>
                <a:ea typeface="+mn-ea"/>
                <a:cs typeface="+mn-cs"/>
              </a:defRPr>
            </a:lvl4pPr>
            <a:lvl5pPr marL="1828800" indent="0" algn="l" defTabSz="914400" rtl="0" eaLnBrk="1" latinLnBrk="0" hangingPunct="1">
              <a:spcBef>
                <a:spcPct val="20000"/>
              </a:spcBef>
              <a:buClr>
                <a:srgbClr val="FF9421"/>
              </a:buClr>
              <a:buFont typeface="Calibri" panose="020F0502020204030204" pitchFamily="34" charset="0"/>
              <a:buNone/>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algn="ctr" rtl="0">
              <a:spcBef>
                <a:spcPts val="0"/>
              </a:spcBef>
            </a:pPr>
            <a:r>
              <a:rPr lang="en-US" sz="1600" dirty="0">
                <a:solidFill>
                  <a:srgbClr val="282828"/>
                </a:solidFill>
                <a:latin typeface="Sarabun" panose="00000500000000000000" pitchFamily="2" charset="-34"/>
              </a:rPr>
              <a:t>Asynchronous Services</a:t>
            </a:r>
          </a:p>
        </p:txBody>
      </p:sp>
      <p:sp>
        <p:nvSpPr>
          <p:cNvPr id="49" name="Date Placeholder 3"/>
          <p:cNvSpPr txBox="1">
            <a:spLocks/>
          </p:cNvSpPr>
          <p:nvPr userDrawn="1"/>
        </p:nvSpPr>
        <p:spPr>
          <a:xfrm>
            <a:off x="45720" y="4743900"/>
            <a:ext cx="665132" cy="399600"/>
          </a:xfrm>
          <a:prstGeom prst="rect">
            <a:avLst/>
          </a:prstGeom>
        </p:spPr>
        <p:txBody>
          <a:bodyPr vert="horz" lIns="91440" tIns="45720" rIns="91440" bIns="45720" rtlCol="0" anchor="ctr"/>
          <a:lstStyle>
            <a:defPPr>
              <a:defRPr lang="en-US"/>
            </a:defPPr>
            <a:lvl1pPr marL="0" algn="l" defTabSz="914400" rtl="0" eaLnBrk="1" latinLnBrk="0" hangingPunct="1">
              <a:defRPr sz="2000" b="0" kern="1200">
                <a:solidFill>
                  <a:schemeClr val="bg1"/>
                </a:solidFill>
                <a:latin typeface="Klavika Medium" panose="02000603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02EDF88B-1B61-4481-9BD6-D2E23BF0DCD8}" type="slidenum">
              <a:rPr lang="en-GB" sz="1600" baseline="0" smtClean="0">
                <a:solidFill>
                  <a:srgbClr val="FF6A13"/>
                </a:solidFill>
                <a:latin typeface="Sarabun" panose="00000500000000000000" pitchFamily="2" charset="-34"/>
              </a:rPr>
              <a:pPr algn="l"/>
              <a:t>‹#›</a:t>
            </a:fld>
            <a:endParaRPr lang="en-GB" sz="1600" baseline="0" dirty="0">
              <a:solidFill>
                <a:srgbClr val="FF6A13"/>
              </a:solidFill>
              <a:latin typeface="Sarabun" panose="00000500000000000000" pitchFamily="2" charset="-34"/>
            </a:endParaRPr>
          </a:p>
        </p:txBody>
      </p:sp>
      <p:pic>
        <p:nvPicPr>
          <p:cNvPr id="5" name="Picture 4">
            <a:extLst>
              <a:ext uri="{FF2B5EF4-FFF2-40B4-BE49-F238E27FC236}">
                <a16:creationId xmlns:a16="http://schemas.microsoft.com/office/drawing/2014/main" id="{CFEC5741-2586-9026-BBB0-7FC530AB64E7}"/>
              </a:ext>
            </a:extLst>
          </p:cNvPr>
          <p:cNvPicPr>
            <a:picLocks noChangeAspect="1"/>
          </p:cNvPicPr>
          <p:nvPr userDrawn="1"/>
        </p:nvPicPr>
        <p:blipFill>
          <a:blip>
            <a:extLst>
              <a:ext uri="{96DAC541-7B7A-43D3-8B79-37D633B846F1}">
                <asvg:svgBlip xmlns:asvg="http://schemas.microsoft.com/office/drawing/2016/SVG/main" r:embed="rId8"/>
              </a:ext>
            </a:extLst>
          </a:blip>
          <a:srcRect/>
          <a:stretch/>
        </p:blipFill>
        <p:spPr>
          <a:xfrm>
            <a:off x="7699513" y="4665641"/>
            <a:ext cx="1152387" cy="386873"/>
          </a:xfrm>
          <a:prstGeom prst="rect">
            <a:avLst/>
          </a:prstGeom>
        </p:spPr>
      </p:pic>
      <p:cxnSp>
        <p:nvCxnSpPr>
          <p:cNvPr id="10" name="Straight Connector 9">
            <a:extLst>
              <a:ext uri="{FF2B5EF4-FFF2-40B4-BE49-F238E27FC236}">
                <a16:creationId xmlns:a16="http://schemas.microsoft.com/office/drawing/2014/main" id="{8AB9ED5D-5652-ECE7-BCC6-63EFE93D812C}"/>
              </a:ext>
            </a:extLst>
          </p:cNvPr>
          <p:cNvCxnSpPr>
            <a:cxnSpLocks/>
          </p:cNvCxnSpPr>
          <p:nvPr userDrawn="1"/>
        </p:nvCxnSpPr>
        <p:spPr>
          <a:xfrm>
            <a:off x="0" y="5119690"/>
            <a:ext cx="9144000" cy="0"/>
          </a:xfrm>
          <a:prstGeom prst="line">
            <a:avLst/>
          </a:prstGeom>
          <a:ln w="508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81740000"/>
      </p:ext>
    </p:extLst>
  </p:cSld>
  <p:clrMap bg1="lt1" tx1="dk1" bg2="lt2" tx2="dk2" accent1="accent1" accent2="accent2" accent3="accent3" accent4="accent4" accent5="accent5" accent6="accent6" hlink="hlink" folHlink="folHlink"/>
  <p:sldLayoutIdLst>
    <p:sldLayoutId id="2147483657" r:id="rId1"/>
    <p:sldLayoutId id="2147483650" r:id="rId2"/>
    <p:sldLayoutId id="2147483658" r:id="rId3"/>
    <p:sldLayoutId id="2147483652" r:id="rId4"/>
    <p:sldLayoutId id="2147483654" r:id="rId5"/>
    <p:sldLayoutId id="2147483655" r:id="rId6"/>
  </p:sldLayoutIdLst>
  <p:hf sldNum="0" hdr="0" dt="0"/>
  <p:txStyles>
    <p:titleStyle>
      <a:lvl1pPr algn="l" defTabSz="914400" rtl="0" eaLnBrk="1" latinLnBrk="0" hangingPunct="1">
        <a:spcBef>
          <a:spcPct val="0"/>
        </a:spcBef>
        <a:buNone/>
        <a:defRPr sz="3600" b="0" kern="1200">
          <a:solidFill>
            <a:srgbClr val="3B475E"/>
          </a:solidFill>
          <a:latin typeface="Sarabun" panose="00000500000000000000" pitchFamily="2" charset="-34"/>
          <a:ea typeface="+mj-ea"/>
          <a:cs typeface="Calibri" panose="020F0502020204030204" pitchFamily="34" charset="0"/>
        </a:defRPr>
      </a:lvl1pPr>
    </p:titleStyle>
    <p:bodyStyle>
      <a:lvl1pPr marL="458788" indent="-458788" algn="l" defTabSz="914400" rtl="0" eaLnBrk="1" latinLnBrk="0" hangingPunct="1">
        <a:lnSpc>
          <a:spcPct val="100000"/>
        </a:lnSpc>
        <a:spcBef>
          <a:spcPts val="0"/>
        </a:spcBef>
        <a:spcAft>
          <a:spcPts val="1200"/>
        </a:spcAft>
        <a:buClr>
          <a:srgbClr val="FF6A13"/>
        </a:buClr>
        <a:buSzPct val="75000"/>
        <a:buFont typeface="Wingdings 2" panose="05020102010507070707" pitchFamily="18" charset="2"/>
        <a:buChar char=""/>
        <a:defRPr sz="2400" kern="1200">
          <a:solidFill>
            <a:srgbClr val="3B475E"/>
          </a:solidFill>
          <a:latin typeface="Sarabun" panose="00000500000000000000" pitchFamily="2" charset="-34"/>
          <a:ea typeface="+mn-ea"/>
          <a:cs typeface="+mn-cs"/>
        </a:defRPr>
      </a:lvl1pPr>
      <a:lvl2pPr marL="858838" indent="-401638" algn="l" defTabSz="914400" rtl="0" eaLnBrk="1" latinLnBrk="0" hangingPunct="1">
        <a:lnSpc>
          <a:spcPct val="100000"/>
        </a:lnSpc>
        <a:spcBef>
          <a:spcPts val="0"/>
        </a:spcBef>
        <a:spcAft>
          <a:spcPts val="1200"/>
        </a:spcAft>
        <a:buClr>
          <a:srgbClr val="FF6A13"/>
        </a:buClr>
        <a:buSzPct val="75000"/>
        <a:buFont typeface="Wingdings 2" panose="05020102010507070707" pitchFamily="18" charset="2"/>
        <a:buChar char=""/>
        <a:defRPr lang="en-US" sz="2000" kern="1200" dirty="0" smtClean="0">
          <a:solidFill>
            <a:srgbClr val="3B475E"/>
          </a:solidFill>
          <a:latin typeface="Sarabun" panose="00000500000000000000" pitchFamily="2" charset="-34"/>
          <a:ea typeface="+mn-ea"/>
          <a:cs typeface="+mn-cs"/>
        </a:defRPr>
      </a:lvl2pPr>
      <a:lvl3pPr marL="1257300" indent="-342900" algn="l" defTabSz="914400" rtl="0" eaLnBrk="1" latinLnBrk="0" hangingPunct="1">
        <a:lnSpc>
          <a:spcPct val="100000"/>
        </a:lnSpc>
        <a:spcBef>
          <a:spcPts val="0"/>
        </a:spcBef>
        <a:spcAft>
          <a:spcPts val="1200"/>
        </a:spcAft>
        <a:buClr>
          <a:srgbClr val="FF6A13"/>
        </a:buClr>
        <a:buSzPct val="75000"/>
        <a:buFont typeface="Wingdings 2" panose="05020102010507070707" pitchFamily="18" charset="2"/>
        <a:buChar char=""/>
        <a:defRPr sz="1800" kern="1200">
          <a:solidFill>
            <a:srgbClr val="3B475E"/>
          </a:solidFill>
          <a:latin typeface="Sarabun" panose="00000500000000000000" pitchFamily="2" charset="-34"/>
          <a:ea typeface="+mn-ea"/>
          <a:cs typeface="+mn-cs"/>
        </a:defRPr>
      </a:lvl3pPr>
      <a:lvl4pPr marL="1655763" indent="-284163" algn="l" defTabSz="914400" rtl="0" eaLnBrk="1" latinLnBrk="0" hangingPunct="1">
        <a:lnSpc>
          <a:spcPct val="100000"/>
        </a:lnSpc>
        <a:spcBef>
          <a:spcPts val="0"/>
        </a:spcBef>
        <a:spcAft>
          <a:spcPts val="1200"/>
        </a:spcAft>
        <a:buClr>
          <a:srgbClr val="FF6A13"/>
        </a:buClr>
        <a:buSzPct val="75000"/>
        <a:buFont typeface="Wingdings 2" panose="05020102010507070707" pitchFamily="18" charset="2"/>
        <a:buChar char=""/>
        <a:defRPr sz="1400" kern="1200">
          <a:solidFill>
            <a:srgbClr val="3B475E"/>
          </a:solidFill>
          <a:latin typeface="Sarabun" panose="00000500000000000000" pitchFamily="2" charset="-34"/>
          <a:ea typeface="+mn-ea"/>
          <a:cs typeface="+mn-cs"/>
        </a:defRPr>
      </a:lvl4pPr>
      <a:lvl5pPr marL="1828800" indent="0" algn="l" defTabSz="914400" rtl="0" eaLnBrk="1" latinLnBrk="0" hangingPunct="1">
        <a:spcBef>
          <a:spcPct val="20000"/>
        </a:spcBef>
        <a:buClr>
          <a:srgbClr val="FF9421"/>
        </a:buClr>
        <a:buFont typeface="Calibri" panose="020F0502020204030204" pitchFamily="34" charset="0"/>
        <a:buNone/>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3" Type="http://schemas.openxmlformats.org/officeDocument/2006/relationships/hyperlink" Target="https://github.com/dyalog-training/2026-MP2" TargetMode="External"/><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hyperlink" Target="https://dyalog.github.io/WebSocketClient" TargetMode="External"/><Relationship Id="rId5" Type="http://schemas.openxmlformats.org/officeDocument/2006/relationships/hyperlink" Target="https://dyalog.github.io/Jarvis" TargetMode="External"/><Relationship Id="rId4" Type="http://schemas.openxmlformats.org/officeDocument/2006/relationships/hyperlink" Target="https://dyalog.github.io/HttpCommand"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t>Asynchronous Services</a:t>
            </a:r>
            <a:br/>
            <a:r>
              <a:rPr sz="1800">
                <a:solidFill>
                  <a:schemeClr val="tx1"/>
                </a:solidFill>
              </a:rPr>
              <a:t>Web hooks, Server-Sent Events</a:t>
            </a:r>
            <a:br/>
            <a:r>
              <a:rPr sz="1800">
                <a:solidFill>
                  <a:schemeClr val="tx1"/>
                </a:solidFill>
              </a:rPr>
              <a:t>and WebSockets in Dyalog APL</a:t>
            </a:r>
            <a:br/>
            <a:endParaRPr/>
          </a:p>
        </p:txBody>
      </p:sp>
      <p:sp>
        <p:nvSpPr>
          <p:cNvPr id="3" name="Text Placeholder 2"/>
          <p:cNvSpPr>
            <a:spLocks noGrp="1"/>
          </p:cNvSpPr>
          <p:nvPr>
            <p:ph type="body" sz="quarter" idx="10"/>
          </p:nvPr>
        </p:nvSpPr>
        <p:spPr/>
        <p:txBody>
          <a:bodyPr/>
          <a:lstStyle/>
          <a:p>
            <a:r>
              <a:rPr sz="1400" b="0" i="0">
                <a:solidFill>
                  <a:schemeClr val="tx1"/>
                </a:solidFill>
              </a:rPr>
              <a:t>Brian Becker</a:t>
            </a:r>
          </a:p>
          <a:p>
            <a:r>
              <a:rPr sz="1400" b="0">
                <a:solidFill>
                  <a:schemeClr val="accent1"/>
                </a:solidFill>
              </a:rPr>
              <a:t>Dyalog26 User Meeting · 12 October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This afternoon</a:t>
            </a:r>
          </a:p>
        </p:txBody>
      </p:sp>
      <p:sp>
        <p:nvSpPr>
          <p:cNvPr id="3" name="schedule block"/>
          <p:cNvSpPr/>
          <p:nvPr/>
        </p:nvSpPr>
        <p:spPr>
          <a:xfrm>
            <a:off x="334057" y="1924234"/>
            <a:ext cx="376912" cy="65694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schedule block"/>
          <p:cNvSpPr/>
          <p:nvPr/>
        </p:nvSpPr>
        <p:spPr>
          <a:xfrm>
            <a:off x="739006" y="1924234"/>
            <a:ext cx="579387" cy="65694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schedule block"/>
          <p:cNvSpPr/>
          <p:nvPr/>
        </p:nvSpPr>
        <p:spPr>
          <a:xfrm>
            <a:off x="1346429" y="1924234"/>
            <a:ext cx="1186810" cy="656947"/>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chedule label"/>
          <p:cNvSpPr txBox="1"/>
          <p:nvPr/>
        </p:nvSpPr>
        <p:spPr>
          <a:xfrm>
            <a:off x="1332411" y="1924234"/>
            <a:ext cx="1214845" cy="656947"/>
          </a:xfrm>
          <a:prstGeom prst="rect">
            <a:avLst/>
          </a:prstGeom>
          <a:noFill/>
        </p:spPr>
        <p:txBody>
          <a:bodyPr wrap="square" lIns="0" tIns="0" rIns="0" bIns="0" anchor="ctr">
            <a:spAutoFit/>
          </a:bodyPr>
          <a:lstStyle/>
          <a:p>
            <a:pPr algn="ctr"/>
            <a:r>
              <a:rPr sz="1200" b="1">
                <a:solidFill>
                  <a:schemeClr val="bg1"/>
                </a:solidFill>
              </a:rPr>
              <a:t>Ex 1</a:t>
            </a:r>
          </a:p>
        </p:txBody>
      </p:sp>
      <p:sp>
        <p:nvSpPr>
          <p:cNvPr id="7" name="schedule block"/>
          <p:cNvSpPr/>
          <p:nvPr/>
        </p:nvSpPr>
        <p:spPr>
          <a:xfrm>
            <a:off x="2561274" y="1924234"/>
            <a:ext cx="376912" cy="65694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chedule block"/>
          <p:cNvSpPr/>
          <p:nvPr/>
        </p:nvSpPr>
        <p:spPr>
          <a:xfrm>
            <a:off x="2966223" y="1924234"/>
            <a:ext cx="579387" cy="656947"/>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schedule block"/>
          <p:cNvSpPr/>
          <p:nvPr/>
        </p:nvSpPr>
        <p:spPr>
          <a:xfrm>
            <a:off x="3573646" y="1924234"/>
            <a:ext cx="1186810" cy="656947"/>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schedule label"/>
          <p:cNvSpPr txBox="1"/>
          <p:nvPr/>
        </p:nvSpPr>
        <p:spPr>
          <a:xfrm>
            <a:off x="3559628" y="1924234"/>
            <a:ext cx="1214845" cy="656947"/>
          </a:xfrm>
          <a:prstGeom prst="rect">
            <a:avLst/>
          </a:prstGeom>
          <a:noFill/>
        </p:spPr>
        <p:txBody>
          <a:bodyPr wrap="square" lIns="0" tIns="0" rIns="0" bIns="0" anchor="ctr">
            <a:spAutoFit/>
          </a:bodyPr>
          <a:lstStyle/>
          <a:p>
            <a:pPr algn="ctr"/>
            <a:r>
              <a:rPr sz="1200" b="1">
                <a:solidFill>
                  <a:schemeClr val="bg1"/>
                </a:solidFill>
              </a:rPr>
              <a:t>Ex 2</a:t>
            </a:r>
          </a:p>
        </p:txBody>
      </p:sp>
      <p:sp>
        <p:nvSpPr>
          <p:cNvPr id="11" name="schedule block"/>
          <p:cNvSpPr/>
          <p:nvPr/>
        </p:nvSpPr>
        <p:spPr>
          <a:xfrm>
            <a:off x="4788492" y="1924234"/>
            <a:ext cx="376912" cy="65694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schedule block"/>
          <p:cNvSpPr/>
          <p:nvPr/>
        </p:nvSpPr>
        <p:spPr>
          <a:xfrm>
            <a:off x="5193440" y="1924234"/>
            <a:ext cx="1186810" cy="656947"/>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schedule label"/>
          <p:cNvSpPr txBox="1"/>
          <p:nvPr/>
        </p:nvSpPr>
        <p:spPr>
          <a:xfrm>
            <a:off x="5179422" y="1924234"/>
            <a:ext cx="1214845" cy="656947"/>
          </a:xfrm>
          <a:prstGeom prst="rect">
            <a:avLst/>
          </a:prstGeom>
          <a:noFill/>
        </p:spPr>
        <p:txBody>
          <a:bodyPr wrap="square" lIns="0" tIns="0" rIns="0" bIns="0" anchor="ctr">
            <a:spAutoFit/>
          </a:bodyPr>
          <a:lstStyle/>
          <a:p>
            <a:pPr algn="ctr"/>
            <a:r>
              <a:rPr sz="1200" b="1">
                <a:solidFill>
                  <a:schemeClr val="bg1"/>
                </a:solidFill>
              </a:rPr>
              <a:t>Ex 3</a:t>
            </a:r>
          </a:p>
        </p:txBody>
      </p:sp>
      <p:sp>
        <p:nvSpPr>
          <p:cNvPr id="14" name="schedule block"/>
          <p:cNvSpPr/>
          <p:nvPr/>
        </p:nvSpPr>
        <p:spPr>
          <a:xfrm>
            <a:off x="6408286" y="1924234"/>
            <a:ext cx="579387" cy="656947"/>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schedule block"/>
          <p:cNvSpPr/>
          <p:nvPr/>
        </p:nvSpPr>
        <p:spPr>
          <a:xfrm>
            <a:off x="7015709" y="1924234"/>
            <a:ext cx="376912" cy="65694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chedule block"/>
          <p:cNvSpPr/>
          <p:nvPr/>
        </p:nvSpPr>
        <p:spPr>
          <a:xfrm>
            <a:off x="7420657" y="1924234"/>
            <a:ext cx="1186810" cy="656947"/>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schedule label"/>
          <p:cNvSpPr txBox="1"/>
          <p:nvPr/>
        </p:nvSpPr>
        <p:spPr>
          <a:xfrm>
            <a:off x="7406640" y="1924234"/>
            <a:ext cx="1214845" cy="656947"/>
          </a:xfrm>
          <a:prstGeom prst="rect">
            <a:avLst/>
          </a:prstGeom>
          <a:noFill/>
        </p:spPr>
        <p:txBody>
          <a:bodyPr wrap="square" lIns="0" tIns="0" rIns="0" bIns="0" anchor="ctr">
            <a:spAutoFit/>
          </a:bodyPr>
          <a:lstStyle/>
          <a:p>
            <a:pPr algn="ctr"/>
            <a:r>
              <a:rPr sz="1200" b="1">
                <a:solidFill>
                  <a:schemeClr val="bg1"/>
                </a:solidFill>
              </a:rPr>
              <a:t>Ex 4</a:t>
            </a:r>
          </a:p>
        </p:txBody>
      </p:sp>
      <p:sp>
        <p:nvSpPr>
          <p:cNvPr id="18" name="schedule block"/>
          <p:cNvSpPr/>
          <p:nvPr/>
        </p:nvSpPr>
        <p:spPr>
          <a:xfrm>
            <a:off x="8635503" y="1924234"/>
            <a:ext cx="174438" cy="65694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legend swatch"/>
          <p:cNvSpPr/>
          <p:nvPr/>
        </p:nvSpPr>
        <p:spPr>
          <a:xfrm>
            <a:off x="320040" y="2843961"/>
            <a:ext cx="245312" cy="229931"/>
          </a:xfrm>
          <a:prstGeom prst="rect">
            <a:avLst/>
          </a:prstGeom>
          <a:solidFill>
            <a:schemeClr val="tx2"/>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
          <p:cNvSpPr txBox="1"/>
          <p:nvPr/>
        </p:nvSpPr>
        <p:spPr>
          <a:xfrm>
            <a:off x="670485" y="2843961"/>
            <a:ext cx="2102675" cy="229931"/>
          </a:xfrm>
          <a:prstGeom prst="rect">
            <a:avLst/>
          </a:prstGeom>
          <a:noFill/>
        </p:spPr>
        <p:txBody>
          <a:bodyPr wrap="square" lIns="0" tIns="0" rIns="0" bIns="0" anchor="ctr">
            <a:spAutoFit/>
          </a:bodyPr>
          <a:lstStyle/>
          <a:p>
            <a:r>
              <a:rPr sz="1200" b="0">
                <a:solidFill>
                  <a:schemeClr val="tx1"/>
                </a:solidFill>
              </a:rPr>
              <a:t>Talk</a:t>
            </a:r>
          </a:p>
        </p:txBody>
      </p:sp>
      <p:sp>
        <p:nvSpPr>
          <p:cNvPr id="21" name="legend swatch"/>
          <p:cNvSpPr/>
          <p:nvPr/>
        </p:nvSpPr>
        <p:spPr>
          <a:xfrm>
            <a:off x="2843250" y="2843961"/>
            <a:ext cx="245312" cy="229931"/>
          </a:xfrm>
          <a:prstGeom prst="rect">
            <a:avLst/>
          </a:prstGeom>
          <a:solidFill>
            <a:schemeClr val="accent2"/>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
          <p:cNvSpPr txBox="1"/>
          <p:nvPr/>
        </p:nvSpPr>
        <p:spPr>
          <a:xfrm>
            <a:off x="3193696" y="2843961"/>
            <a:ext cx="2102675" cy="229931"/>
          </a:xfrm>
          <a:prstGeom prst="rect">
            <a:avLst/>
          </a:prstGeom>
          <a:noFill/>
        </p:spPr>
        <p:txBody>
          <a:bodyPr wrap="square" lIns="0" tIns="0" rIns="0" bIns="0" anchor="ctr">
            <a:spAutoFit/>
          </a:bodyPr>
          <a:lstStyle/>
          <a:p>
            <a:r>
              <a:rPr sz="1200" b="0">
                <a:solidFill>
                  <a:schemeClr val="tx1"/>
                </a:solidFill>
              </a:rPr>
              <a:t>Exercise, 30 minutes each</a:t>
            </a:r>
          </a:p>
        </p:txBody>
      </p:sp>
      <p:sp>
        <p:nvSpPr>
          <p:cNvPr id="23" name="legend swatch"/>
          <p:cNvSpPr/>
          <p:nvPr/>
        </p:nvSpPr>
        <p:spPr>
          <a:xfrm>
            <a:off x="5366460" y="2843961"/>
            <a:ext cx="245312" cy="229931"/>
          </a:xfrm>
          <a:prstGeom prst="rect">
            <a:avLst/>
          </a:prstGeom>
          <a:solidFill>
            <a:schemeClr val="bg2"/>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
          <p:cNvSpPr txBox="1"/>
          <p:nvPr/>
        </p:nvSpPr>
        <p:spPr>
          <a:xfrm>
            <a:off x="5716906" y="2843961"/>
            <a:ext cx="2102675" cy="229931"/>
          </a:xfrm>
          <a:prstGeom prst="rect">
            <a:avLst/>
          </a:prstGeom>
          <a:noFill/>
        </p:spPr>
        <p:txBody>
          <a:bodyPr wrap="square" lIns="0" tIns="0" rIns="0" bIns="0" anchor="ctr">
            <a:spAutoFit/>
          </a:bodyPr>
          <a:lstStyle/>
          <a:p>
            <a:r>
              <a:rPr sz="1200" b="0">
                <a:solidFill>
                  <a:schemeClr val="tx1"/>
                </a:solidFill>
              </a:rPr>
              <a:t>Break, 15 minutes</a:t>
            </a:r>
          </a:p>
        </p:txBody>
      </p:sp>
      <p:sp>
        <p:nvSpPr>
          <p:cNvPr id="25" name="text"/>
          <p:cNvSpPr txBox="1"/>
          <p:nvPr/>
        </p:nvSpPr>
        <p:spPr>
          <a:xfrm>
            <a:off x="320040" y="1234440"/>
            <a:ext cx="8060255" cy="525558"/>
          </a:xfrm>
          <a:prstGeom prst="rect">
            <a:avLst/>
          </a:prstGeom>
          <a:noFill/>
        </p:spPr>
        <p:txBody>
          <a:bodyPr wrap="square" lIns="0" tIns="0" rIns="0" bIns="0" anchor="t">
            <a:spAutoFit/>
          </a:bodyPr>
          <a:lstStyle/>
          <a:p>
            <a:r>
              <a:rPr sz="1600" b="0">
                <a:solidFill>
                  <a:schemeClr val="tx1"/>
                </a:solidFill>
              </a:rPr>
              <a:t>3 hours 30 minutes: four short talks, four 30-minute exercises, two breaks. Each talk sets up the exercise that follows it.</a:t>
            </a:r>
          </a:p>
        </p:txBody>
      </p:sp>
      <p:sp>
        <p:nvSpPr>
          <p:cNvPr id="26" name="card"/>
          <p:cNvSpPr/>
          <p:nvPr/>
        </p:nvSpPr>
        <p:spPr>
          <a:xfrm>
            <a:off x="320040" y="3303824"/>
            <a:ext cx="2663388" cy="1281047"/>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card head"/>
          <p:cNvSpPr txBox="1"/>
          <p:nvPr/>
        </p:nvSpPr>
        <p:spPr>
          <a:xfrm>
            <a:off x="530307" y="3448353"/>
            <a:ext cx="2242853" cy="328473"/>
          </a:xfrm>
          <a:prstGeom prst="rect">
            <a:avLst/>
          </a:prstGeom>
          <a:noFill/>
        </p:spPr>
        <p:txBody>
          <a:bodyPr wrap="square" lIns="0" tIns="0" rIns="0" bIns="0" anchor="t">
            <a:spAutoFit/>
          </a:bodyPr>
          <a:lstStyle/>
          <a:p>
            <a:r>
              <a:rPr sz="1600" b="1">
                <a:solidFill>
                  <a:schemeClr val="tx1"/>
                </a:solidFill>
              </a:rPr>
              <a:t>Behind?</a:t>
            </a:r>
          </a:p>
        </p:txBody>
      </p:sp>
      <p:sp>
        <p:nvSpPr>
          <p:cNvPr id="28" name="card body"/>
          <p:cNvSpPr txBox="1"/>
          <p:nvPr/>
        </p:nvSpPr>
        <p:spPr>
          <a:xfrm>
            <a:off x="530307" y="3829382"/>
            <a:ext cx="2242853" cy="656947"/>
          </a:xfrm>
          <a:prstGeom prst="rect">
            <a:avLst/>
          </a:prstGeom>
          <a:noFill/>
        </p:spPr>
        <p:txBody>
          <a:bodyPr wrap="square" lIns="0" tIns="0" rIns="0" bIns="0" anchor="t">
            <a:spAutoFit/>
          </a:bodyPr>
          <a:lstStyle/>
          <a:p>
            <a:r>
              <a:rPr sz="1100" b="0">
                <a:solidFill>
                  <a:schemeClr val="tx1"/>
                </a:solidFill>
              </a:rPr>
              <a:t>Load the exercise's Solution and carry on. No exercise depends on your own earlier code.</a:t>
            </a:r>
          </a:p>
        </p:txBody>
      </p:sp>
      <p:sp>
        <p:nvSpPr>
          <p:cNvPr id="29" name="card"/>
          <p:cNvSpPr/>
          <p:nvPr/>
        </p:nvSpPr>
        <p:spPr>
          <a:xfrm>
            <a:off x="3228740" y="3303824"/>
            <a:ext cx="2663388" cy="1281047"/>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card head"/>
          <p:cNvSpPr txBox="1"/>
          <p:nvPr/>
        </p:nvSpPr>
        <p:spPr>
          <a:xfrm>
            <a:off x="3439008" y="3448353"/>
            <a:ext cx="2242853" cy="328473"/>
          </a:xfrm>
          <a:prstGeom prst="rect">
            <a:avLst/>
          </a:prstGeom>
          <a:noFill/>
        </p:spPr>
        <p:txBody>
          <a:bodyPr wrap="square" lIns="0" tIns="0" rIns="0" bIns="0" anchor="t">
            <a:spAutoFit/>
          </a:bodyPr>
          <a:lstStyle/>
          <a:p>
            <a:r>
              <a:rPr sz="1600" b="1">
                <a:solidFill>
                  <a:schemeClr val="tx1"/>
                </a:solidFill>
              </a:rPr>
              <a:t>Ahead?</a:t>
            </a:r>
          </a:p>
        </p:txBody>
      </p:sp>
      <p:sp>
        <p:nvSpPr>
          <p:cNvPr id="31" name="card body"/>
          <p:cNvSpPr txBox="1"/>
          <p:nvPr/>
        </p:nvSpPr>
        <p:spPr>
          <a:xfrm>
            <a:off x="3439008" y="3829382"/>
            <a:ext cx="2242853" cy="656947"/>
          </a:xfrm>
          <a:prstGeom prst="rect">
            <a:avLst/>
          </a:prstGeom>
          <a:noFill/>
        </p:spPr>
        <p:txBody>
          <a:bodyPr wrap="square" lIns="0" tIns="0" rIns="0" bIns="0" anchor="t">
            <a:spAutoFit/>
          </a:bodyPr>
          <a:lstStyle/>
          <a:p>
            <a:r>
              <a:rPr sz="1100" b="0">
                <a:solidFill>
                  <a:schemeClr val="tx1"/>
                </a:solidFill>
              </a:rPr>
              <a:t>Each README has stretch goals, marked as optional.</a:t>
            </a:r>
          </a:p>
        </p:txBody>
      </p:sp>
      <p:sp>
        <p:nvSpPr>
          <p:cNvPr id="32" name="card"/>
          <p:cNvSpPr/>
          <p:nvPr/>
        </p:nvSpPr>
        <p:spPr>
          <a:xfrm>
            <a:off x="6137441" y="3303824"/>
            <a:ext cx="2663388" cy="1281047"/>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card head"/>
          <p:cNvSpPr txBox="1"/>
          <p:nvPr/>
        </p:nvSpPr>
        <p:spPr>
          <a:xfrm>
            <a:off x="6347709" y="3448353"/>
            <a:ext cx="2242853" cy="328473"/>
          </a:xfrm>
          <a:prstGeom prst="rect">
            <a:avLst/>
          </a:prstGeom>
          <a:noFill/>
        </p:spPr>
        <p:txBody>
          <a:bodyPr wrap="square" lIns="0" tIns="0" rIns="0" bIns="0" anchor="t">
            <a:spAutoFit/>
          </a:bodyPr>
          <a:lstStyle/>
          <a:p>
            <a:r>
              <a:rPr sz="1600" b="1">
                <a:solidFill>
                  <a:schemeClr val="tx1"/>
                </a:solidFill>
              </a:rPr>
              <a:t>Stuck?</a:t>
            </a:r>
          </a:p>
        </p:txBody>
      </p:sp>
      <p:sp>
        <p:nvSpPr>
          <p:cNvPr id="34" name="card body"/>
          <p:cNvSpPr txBox="1"/>
          <p:nvPr/>
        </p:nvSpPr>
        <p:spPr>
          <a:xfrm>
            <a:off x="6347709" y="3829382"/>
            <a:ext cx="2242853" cy="656947"/>
          </a:xfrm>
          <a:prstGeom prst="rect">
            <a:avLst/>
          </a:prstGeom>
          <a:noFill/>
        </p:spPr>
        <p:txBody>
          <a:bodyPr wrap="square" lIns="0" tIns="0" rIns="0" bIns="0" anchor="t">
            <a:spAutoFit/>
          </a:bodyPr>
          <a:lstStyle/>
          <a:p>
            <a:r>
              <a:rPr sz="1100" b="0">
                <a:solidFill>
                  <a:schemeClr val="tx1"/>
                </a:solidFill>
              </a:rPr>
              <a:t>Ask. The breaks are also for catching up.</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Request and response: ask, then wait</a:t>
            </a:r>
          </a:p>
        </p:txBody>
      </p:sp>
      <p:cxnSp>
        <p:nvCxnSpPr>
          <p:cNvPr id="3" name="lane"/>
          <p:cNvCxnSpPr/>
          <p:nvPr/>
        </p:nvCxnSpPr>
        <p:spPr>
          <a:xfrm>
            <a:off x="1406422" y="1628608"/>
            <a:ext cx="0" cy="2857722"/>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4" name="lane head"/>
          <p:cNvSpPr/>
          <p:nvPr/>
        </p:nvSpPr>
        <p:spPr>
          <a:xfrm>
            <a:off x="495262" y="1267287"/>
            <a:ext cx="1822318"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lane name"/>
          <p:cNvSpPr txBox="1"/>
          <p:nvPr/>
        </p:nvSpPr>
        <p:spPr>
          <a:xfrm>
            <a:off x="495262" y="1267287"/>
            <a:ext cx="1822318" cy="361321"/>
          </a:xfrm>
          <a:prstGeom prst="rect">
            <a:avLst/>
          </a:prstGeom>
          <a:noFill/>
        </p:spPr>
        <p:txBody>
          <a:bodyPr wrap="square" lIns="0" tIns="0" rIns="0" bIns="0" anchor="ctr">
            <a:spAutoFit/>
          </a:bodyPr>
          <a:lstStyle/>
          <a:p>
            <a:pPr algn="ctr"/>
            <a:r>
              <a:rPr sz="1200" b="1">
                <a:solidFill>
                  <a:schemeClr val="tx1"/>
                </a:solidFill>
              </a:rPr>
              <a:t>Client</a:t>
            </a:r>
          </a:p>
        </p:txBody>
      </p:sp>
      <p:cxnSp>
        <p:nvCxnSpPr>
          <p:cNvPr id="6" name="lane"/>
          <p:cNvCxnSpPr/>
          <p:nvPr/>
        </p:nvCxnSpPr>
        <p:spPr>
          <a:xfrm>
            <a:off x="3579186" y="1628608"/>
            <a:ext cx="0" cy="2857722"/>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7" name="lane head"/>
          <p:cNvSpPr/>
          <p:nvPr/>
        </p:nvSpPr>
        <p:spPr>
          <a:xfrm>
            <a:off x="2668027" y="1267287"/>
            <a:ext cx="1822318"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lane name"/>
          <p:cNvSpPr txBox="1"/>
          <p:nvPr/>
        </p:nvSpPr>
        <p:spPr>
          <a:xfrm>
            <a:off x="2668027" y="1267287"/>
            <a:ext cx="1822318" cy="361321"/>
          </a:xfrm>
          <a:prstGeom prst="rect">
            <a:avLst/>
          </a:prstGeom>
          <a:noFill/>
        </p:spPr>
        <p:txBody>
          <a:bodyPr wrap="square" lIns="0" tIns="0" rIns="0" bIns="0" anchor="ctr">
            <a:spAutoFit/>
          </a:bodyPr>
          <a:lstStyle/>
          <a:p>
            <a:pPr algn="ctr"/>
            <a:r>
              <a:rPr sz="1200" b="1">
                <a:solidFill>
                  <a:schemeClr val="tx1"/>
                </a:solidFill>
              </a:rPr>
              <a:t>Server</a:t>
            </a:r>
          </a:p>
        </p:txBody>
      </p:sp>
      <p:cxnSp>
        <p:nvCxnSpPr>
          <p:cNvPr id="9" name="message"/>
          <p:cNvCxnSpPr/>
          <p:nvPr/>
        </p:nvCxnSpPr>
        <p:spPr>
          <a:xfrm>
            <a:off x="1406422" y="1989929"/>
            <a:ext cx="2172764"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10" name="message label"/>
          <p:cNvSpPr txBox="1"/>
          <p:nvPr/>
        </p:nvSpPr>
        <p:spPr>
          <a:xfrm>
            <a:off x="1441466" y="1707442"/>
            <a:ext cx="2102675" cy="236501"/>
          </a:xfrm>
          <a:prstGeom prst="rect">
            <a:avLst/>
          </a:prstGeom>
          <a:noFill/>
        </p:spPr>
        <p:txBody>
          <a:bodyPr wrap="square" lIns="0" tIns="0" rIns="0" bIns="0" anchor="b">
            <a:spAutoFit/>
          </a:bodyPr>
          <a:lstStyle/>
          <a:p>
            <a:pPr algn="ctr"/>
            <a:r>
              <a:rPr sz="1000" b="0">
                <a:solidFill>
                  <a:schemeClr val="tx1"/>
                </a:solidFill>
                <a:latin typeface="APL385 Unicode"/>
              </a:rPr>
              <a:t>POST /SlowWork {…}</a:t>
            </a:r>
          </a:p>
        </p:txBody>
      </p:sp>
      <p:sp>
        <p:nvSpPr>
          <p:cNvPr id="11" name="lane note"/>
          <p:cNvSpPr/>
          <p:nvPr/>
        </p:nvSpPr>
        <p:spPr>
          <a:xfrm>
            <a:off x="2808205" y="2252708"/>
            <a:ext cx="1541961" cy="1051116"/>
          </a:xfrm>
          <a:prstGeom prst="roundRect">
            <a:avLst>
              <a:gd name="adj" fmla="val 8000"/>
            </a:avLst>
          </a:prstGeom>
          <a:solidFill>
            <a:schemeClr val="accent4">
              <a:lumMod val="30000"/>
              <a:lumOff val="7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lane note text"/>
          <p:cNvSpPr txBox="1"/>
          <p:nvPr/>
        </p:nvSpPr>
        <p:spPr>
          <a:xfrm>
            <a:off x="2864277" y="2252708"/>
            <a:ext cx="1429819" cy="1051116"/>
          </a:xfrm>
          <a:prstGeom prst="rect">
            <a:avLst/>
          </a:prstGeom>
          <a:noFill/>
        </p:spPr>
        <p:txBody>
          <a:bodyPr wrap="square" lIns="0" tIns="0" rIns="0" bIns="0" anchor="ctr">
            <a:spAutoFit/>
          </a:bodyPr>
          <a:lstStyle/>
          <a:p>
            <a:pPr algn="ctr"/>
            <a:r>
              <a:rPr sz="1000" b="0">
                <a:solidFill>
                  <a:schemeClr val="tx1"/>
                </a:solidFill>
              </a:rPr>
              <a:t>working…</a:t>
            </a:r>
          </a:p>
          <a:p>
            <a:pPr algn="ctr"/>
            <a:r>
              <a:rPr sz="1000" b="0">
                <a:solidFill>
                  <a:schemeClr val="tx1"/>
                </a:solidFill>
              </a:rPr>
              <a:t>(seconds or minutes)</a:t>
            </a:r>
          </a:p>
        </p:txBody>
      </p:sp>
      <p:sp>
        <p:nvSpPr>
          <p:cNvPr id="13" name="lane note"/>
          <p:cNvSpPr/>
          <p:nvPr/>
        </p:nvSpPr>
        <p:spPr>
          <a:xfrm>
            <a:off x="635441" y="2252708"/>
            <a:ext cx="1541961" cy="1051116"/>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lane note text"/>
          <p:cNvSpPr txBox="1"/>
          <p:nvPr/>
        </p:nvSpPr>
        <p:spPr>
          <a:xfrm>
            <a:off x="691512" y="2252708"/>
            <a:ext cx="1429819" cy="1051116"/>
          </a:xfrm>
          <a:prstGeom prst="rect">
            <a:avLst/>
          </a:prstGeom>
          <a:noFill/>
        </p:spPr>
        <p:txBody>
          <a:bodyPr wrap="square" lIns="0" tIns="0" rIns="0" bIns="0" anchor="ctr">
            <a:spAutoFit/>
          </a:bodyPr>
          <a:lstStyle/>
          <a:p>
            <a:pPr algn="ctr"/>
            <a:r>
              <a:rPr sz="1000" b="0">
                <a:solidFill>
                  <a:schemeClr val="tx1"/>
                </a:solidFill>
              </a:rPr>
              <a:t>waiting…</a:t>
            </a:r>
          </a:p>
          <a:p>
            <a:pPr algn="ctr"/>
            <a:r>
              <a:rPr sz="1000" b="0">
                <a:solidFill>
                  <a:schemeClr val="tx1"/>
                </a:solidFill>
              </a:rPr>
              <a:t>connection held open</a:t>
            </a:r>
          </a:p>
        </p:txBody>
      </p:sp>
      <p:cxnSp>
        <p:nvCxnSpPr>
          <p:cNvPr id="15" name="message"/>
          <p:cNvCxnSpPr/>
          <p:nvPr/>
        </p:nvCxnSpPr>
        <p:spPr>
          <a:xfrm flipH="1">
            <a:off x="1406422" y="3895077"/>
            <a:ext cx="2172764"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6" name="message label"/>
          <p:cNvSpPr txBox="1"/>
          <p:nvPr/>
        </p:nvSpPr>
        <p:spPr>
          <a:xfrm>
            <a:off x="1441466" y="3612590"/>
            <a:ext cx="2102675" cy="236501"/>
          </a:xfrm>
          <a:prstGeom prst="rect">
            <a:avLst/>
          </a:prstGeom>
          <a:noFill/>
        </p:spPr>
        <p:txBody>
          <a:bodyPr wrap="square" lIns="0" tIns="0" rIns="0" bIns="0" anchor="b">
            <a:spAutoFit/>
          </a:bodyPr>
          <a:lstStyle/>
          <a:p>
            <a:pPr algn="ctr"/>
            <a:r>
              <a:rPr sz="1000" b="0">
                <a:solidFill>
                  <a:schemeClr val="tx1"/>
                </a:solidFill>
                <a:latin typeface="APL385 Unicode"/>
              </a:rPr>
              <a:t>{"result":…}</a:t>
            </a:r>
          </a:p>
        </p:txBody>
      </p:sp>
      <p:sp>
        <p:nvSpPr>
          <p:cNvPr id="17" name="card"/>
          <p:cNvSpPr/>
          <p:nvPr/>
        </p:nvSpPr>
        <p:spPr>
          <a:xfrm>
            <a:off x="5086104" y="1267287"/>
            <a:ext cx="3714726"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card head"/>
          <p:cNvSpPr txBox="1"/>
          <p:nvPr/>
        </p:nvSpPr>
        <p:spPr>
          <a:xfrm>
            <a:off x="5296371" y="1411815"/>
            <a:ext cx="3294191" cy="328473"/>
          </a:xfrm>
          <a:prstGeom prst="rect">
            <a:avLst/>
          </a:prstGeom>
          <a:noFill/>
        </p:spPr>
        <p:txBody>
          <a:bodyPr wrap="square" lIns="0" tIns="0" rIns="0" bIns="0" anchor="t">
            <a:spAutoFit/>
          </a:bodyPr>
          <a:lstStyle/>
          <a:p>
            <a:r>
              <a:rPr sz="1500" b="1">
                <a:solidFill>
                  <a:schemeClr val="tx1"/>
                </a:solidFill>
              </a:rPr>
              <a:t>The connection stays open</a:t>
            </a:r>
          </a:p>
        </p:txBody>
      </p:sp>
      <p:sp>
        <p:nvSpPr>
          <p:cNvPr id="19" name="card body"/>
          <p:cNvSpPr txBox="1"/>
          <p:nvPr/>
        </p:nvSpPr>
        <p:spPr>
          <a:xfrm>
            <a:off x="5296371" y="1792845"/>
            <a:ext cx="3294191" cy="427015"/>
          </a:xfrm>
          <a:prstGeom prst="rect">
            <a:avLst/>
          </a:prstGeom>
          <a:noFill/>
        </p:spPr>
        <p:txBody>
          <a:bodyPr wrap="square" lIns="0" tIns="0" rIns="0" bIns="0" anchor="t">
            <a:spAutoFit/>
          </a:bodyPr>
          <a:lstStyle/>
          <a:p>
            <a:r>
              <a:rPr sz="1200" b="0">
                <a:solidFill>
                  <a:schemeClr val="tx1"/>
                </a:solidFill>
              </a:rPr>
              <a:t>Every waiting client holds a connection on the server.</a:t>
            </a:r>
          </a:p>
        </p:txBody>
      </p:sp>
      <p:sp>
        <p:nvSpPr>
          <p:cNvPr id="20" name="card"/>
          <p:cNvSpPr/>
          <p:nvPr/>
        </p:nvSpPr>
        <p:spPr>
          <a:xfrm>
            <a:off x="5086104" y="2416945"/>
            <a:ext cx="3714726"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card head"/>
          <p:cNvSpPr txBox="1"/>
          <p:nvPr/>
        </p:nvSpPr>
        <p:spPr>
          <a:xfrm>
            <a:off x="5296371" y="2561474"/>
            <a:ext cx="3294191" cy="328473"/>
          </a:xfrm>
          <a:prstGeom prst="rect">
            <a:avLst/>
          </a:prstGeom>
          <a:noFill/>
        </p:spPr>
        <p:txBody>
          <a:bodyPr wrap="square" lIns="0" tIns="0" rIns="0" bIns="0" anchor="t">
            <a:spAutoFit/>
          </a:bodyPr>
          <a:lstStyle/>
          <a:p>
            <a:r>
              <a:rPr sz="1500" b="1">
                <a:solidFill>
                  <a:schemeClr val="tx1"/>
                </a:solidFill>
              </a:rPr>
              <a:t>Timeouts</a:t>
            </a:r>
          </a:p>
        </p:txBody>
      </p:sp>
      <p:sp>
        <p:nvSpPr>
          <p:cNvPr id="22" name="card body"/>
          <p:cNvSpPr txBox="1"/>
          <p:nvPr/>
        </p:nvSpPr>
        <p:spPr>
          <a:xfrm>
            <a:off x="5296371" y="2942503"/>
            <a:ext cx="3294191" cy="427015"/>
          </a:xfrm>
          <a:prstGeom prst="rect">
            <a:avLst/>
          </a:prstGeom>
          <a:noFill/>
        </p:spPr>
        <p:txBody>
          <a:bodyPr wrap="square" lIns="0" tIns="0" rIns="0" bIns="0" anchor="t">
            <a:spAutoFit/>
          </a:bodyPr>
          <a:lstStyle/>
          <a:p>
            <a:r>
              <a:rPr sz="1200" b="0">
                <a:solidFill>
                  <a:schemeClr val="tx1"/>
                </a:solidFill>
              </a:rPr>
              <a:t>Proxies, browsers and HttpCommand give up after a while.</a:t>
            </a:r>
          </a:p>
        </p:txBody>
      </p:sp>
      <p:sp>
        <p:nvSpPr>
          <p:cNvPr id="23" name="card"/>
          <p:cNvSpPr/>
          <p:nvPr/>
        </p:nvSpPr>
        <p:spPr>
          <a:xfrm>
            <a:off x="5086104" y="3566603"/>
            <a:ext cx="3714726"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card head"/>
          <p:cNvSpPr txBox="1"/>
          <p:nvPr/>
        </p:nvSpPr>
        <p:spPr>
          <a:xfrm>
            <a:off x="5296371" y="3711132"/>
            <a:ext cx="3294191" cy="328473"/>
          </a:xfrm>
          <a:prstGeom prst="rect">
            <a:avLst/>
          </a:prstGeom>
          <a:noFill/>
        </p:spPr>
        <p:txBody>
          <a:bodyPr wrap="square" lIns="0" tIns="0" rIns="0" bIns="0" anchor="t">
            <a:spAutoFit/>
          </a:bodyPr>
          <a:lstStyle/>
          <a:p>
            <a:r>
              <a:rPr sz="1500" b="1">
                <a:solidFill>
                  <a:schemeClr val="tx1"/>
                </a:solidFill>
              </a:rPr>
              <a:t>The client is stuck</a:t>
            </a:r>
          </a:p>
        </p:txBody>
      </p:sp>
      <p:sp>
        <p:nvSpPr>
          <p:cNvPr id="25" name="card body"/>
          <p:cNvSpPr txBox="1"/>
          <p:nvPr/>
        </p:nvSpPr>
        <p:spPr>
          <a:xfrm>
            <a:off x="5296371" y="4092161"/>
            <a:ext cx="3294191" cy="427015"/>
          </a:xfrm>
          <a:prstGeom prst="rect">
            <a:avLst/>
          </a:prstGeom>
          <a:noFill/>
        </p:spPr>
        <p:txBody>
          <a:bodyPr wrap="square" lIns="0" tIns="0" rIns="0" bIns="0" anchor="t">
            <a:spAutoFit/>
          </a:bodyPr>
          <a:lstStyle/>
          <a:p>
            <a:r>
              <a:rPr sz="1200" b="0">
                <a:solidFill>
                  <a:schemeClr val="tx1"/>
                </a:solidFill>
              </a:rPr>
              <a:t>It can't do anything else with that request until the answer comes.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Four ways to get the answer</a:t>
            </a:r>
          </a:p>
        </p:txBody>
      </p:sp>
      <p:sp>
        <p:nvSpPr>
          <p:cNvPr id="3" name="text"/>
          <p:cNvSpPr txBox="1"/>
          <p:nvPr/>
        </p:nvSpPr>
        <p:spPr>
          <a:xfrm>
            <a:off x="320040" y="1234440"/>
            <a:ext cx="1997541" cy="295626"/>
          </a:xfrm>
          <a:prstGeom prst="rect">
            <a:avLst/>
          </a:prstGeom>
          <a:noFill/>
        </p:spPr>
        <p:txBody>
          <a:bodyPr wrap="square" lIns="0" tIns="0" rIns="0" bIns="0" anchor="t">
            <a:spAutoFit/>
          </a:bodyPr>
          <a:lstStyle/>
          <a:p>
            <a:r>
              <a:rPr sz="1600" b="1">
                <a:solidFill>
                  <a:schemeClr val="tx1"/>
                </a:solidFill>
              </a:rPr>
              <a:t>Polling</a:t>
            </a:r>
          </a:p>
        </p:txBody>
      </p:sp>
      <p:sp>
        <p:nvSpPr>
          <p:cNvPr id="4" name="text"/>
          <p:cNvSpPr txBox="1"/>
          <p:nvPr/>
        </p:nvSpPr>
        <p:spPr>
          <a:xfrm>
            <a:off x="320040" y="1530066"/>
            <a:ext cx="1997541" cy="262779"/>
          </a:xfrm>
          <a:prstGeom prst="rect">
            <a:avLst/>
          </a:prstGeom>
          <a:noFill/>
        </p:spPr>
        <p:txBody>
          <a:bodyPr wrap="square" lIns="0" tIns="0" rIns="0" bIns="0" anchor="t">
            <a:spAutoFit/>
          </a:bodyPr>
          <a:lstStyle/>
          <a:p>
            <a:r>
              <a:rPr sz="1200" b="0">
                <a:solidFill>
                  <a:schemeClr val="tx1"/>
                </a:solidFill>
              </a:rPr>
              <a:t>Client asks again and again</a:t>
            </a:r>
          </a:p>
        </p:txBody>
      </p:sp>
      <p:cxnSp>
        <p:nvCxnSpPr>
          <p:cNvPr id="5" name="lane"/>
          <p:cNvCxnSpPr/>
          <p:nvPr/>
        </p:nvCxnSpPr>
        <p:spPr>
          <a:xfrm>
            <a:off x="819425" y="2252708"/>
            <a:ext cx="0" cy="2069385"/>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6" name="lane head"/>
          <p:cNvSpPr/>
          <p:nvPr/>
        </p:nvSpPr>
        <p:spPr>
          <a:xfrm>
            <a:off x="425173" y="1891387"/>
            <a:ext cx="788503"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lane name"/>
          <p:cNvSpPr txBox="1"/>
          <p:nvPr/>
        </p:nvSpPr>
        <p:spPr>
          <a:xfrm>
            <a:off x="425173" y="1891387"/>
            <a:ext cx="788503" cy="361321"/>
          </a:xfrm>
          <a:prstGeom prst="rect">
            <a:avLst/>
          </a:prstGeom>
          <a:noFill/>
        </p:spPr>
        <p:txBody>
          <a:bodyPr wrap="square" lIns="0" tIns="0" rIns="0" bIns="0" anchor="ctr">
            <a:spAutoFit/>
          </a:bodyPr>
          <a:lstStyle/>
          <a:p>
            <a:pPr algn="ctr"/>
            <a:r>
              <a:rPr sz="1100" b="1">
                <a:solidFill>
                  <a:schemeClr val="tx1"/>
                </a:solidFill>
              </a:rPr>
              <a:t>C</a:t>
            </a:r>
          </a:p>
        </p:txBody>
      </p:sp>
      <p:cxnSp>
        <p:nvCxnSpPr>
          <p:cNvPr id="8" name="lane"/>
          <p:cNvCxnSpPr/>
          <p:nvPr/>
        </p:nvCxnSpPr>
        <p:spPr>
          <a:xfrm>
            <a:off x="1818196" y="2252708"/>
            <a:ext cx="0" cy="2069385"/>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9" name="lane head"/>
          <p:cNvSpPr/>
          <p:nvPr/>
        </p:nvSpPr>
        <p:spPr>
          <a:xfrm>
            <a:off x="1423944" y="1891387"/>
            <a:ext cx="788503"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lane name"/>
          <p:cNvSpPr txBox="1"/>
          <p:nvPr/>
        </p:nvSpPr>
        <p:spPr>
          <a:xfrm>
            <a:off x="1423944" y="1891387"/>
            <a:ext cx="788503" cy="361321"/>
          </a:xfrm>
          <a:prstGeom prst="rect">
            <a:avLst/>
          </a:prstGeom>
          <a:noFill/>
        </p:spPr>
        <p:txBody>
          <a:bodyPr wrap="square" lIns="0" tIns="0" rIns="0" bIns="0" anchor="ctr">
            <a:spAutoFit/>
          </a:bodyPr>
          <a:lstStyle/>
          <a:p>
            <a:pPr algn="ctr"/>
            <a:r>
              <a:rPr sz="1100" b="1">
                <a:solidFill>
                  <a:schemeClr val="tx1"/>
                </a:solidFill>
              </a:rPr>
              <a:t>S</a:t>
            </a:r>
          </a:p>
        </p:txBody>
      </p:sp>
      <p:cxnSp>
        <p:nvCxnSpPr>
          <p:cNvPr id="11" name="message"/>
          <p:cNvCxnSpPr/>
          <p:nvPr/>
        </p:nvCxnSpPr>
        <p:spPr>
          <a:xfrm>
            <a:off x="819425" y="2515487"/>
            <a:ext cx="998771"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12" name="message label"/>
          <p:cNvSpPr txBox="1"/>
          <p:nvPr/>
        </p:nvSpPr>
        <p:spPr>
          <a:xfrm>
            <a:off x="854469" y="2233000"/>
            <a:ext cx="928681" cy="236501"/>
          </a:xfrm>
          <a:prstGeom prst="rect">
            <a:avLst/>
          </a:prstGeom>
          <a:noFill/>
        </p:spPr>
        <p:txBody>
          <a:bodyPr wrap="square" lIns="0" tIns="0" rIns="0" bIns="0" anchor="b">
            <a:spAutoFit/>
          </a:bodyPr>
          <a:lstStyle/>
          <a:p>
            <a:pPr algn="ctr"/>
            <a:r>
              <a:rPr sz="1000" b="0">
                <a:solidFill>
                  <a:schemeClr val="tx1"/>
                </a:solidFill>
              </a:rPr>
              <a:t>done?</a:t>
            </a:r>
          </a:p>
        </p:txBody>
      </p:sp>
      <p:cxnSp>
        <p:nvCxnSpPr>
          <p:cNvPr id="13" name="message"/>
          <p:cNvCxnSpPr/>
          <p:nvPr/>
        </p:nvCxnSpPr>
        <p:spPr>
          <a:xfrm flipH="1">
            <a:off x="819425" y="2778266"/>
            <a:ext cx="998771"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4" name="message label"/>
          <p:cNvSpPr txBox="1"/>
          <p:nvPr/>
        </p:nvSpPr>
        <p:spPr>
          <a:xfrm>
            <a:off x="854469" y="2535196"/>
            <a:ext cx="928681" cy="197084"/>
          </a:xfrm>
          <a:prstGeom prst="rect">
            <a:avLst/>
          </a:prstGeom>
          <a:noFill/>
        </p:spPr>
        <p:txBody>
          <a:bodyPr wrap="square" lIns="0" tIns="0" rIns="0" bIns="0" anchor="b">
            <a:spAutoFit/>
          </a:bodyPr>
          <a:lstStyle/>
          <a:p>
            <a:pPr algn="ctr"/>
            <a:r>
              <a:rPr sz="1000" b="0">
                <a:solidFill>
                  <a:schemeClr val="tx1"/>
                </a:solidFill>
              </a:rPr>
              <a:t>no</a:t>
            </a:r>
          </a:p>
        </p:txBody>
      </p:sp>
      <p:cxnSp>
        <p:nvCxnSpPr>
          <p:cNvPr id="15" name="message"/>
          <p:cNvCxnSpPr/>
          <p:nvPr/>
        </p:nvCxnSpPr>
        <p:spPr>
          <a:xfrm>
            <a:off x="819425" y="3139587"/>
            <a:ext cx="998771"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16" name="message label"/>
          <p:cNvSpPr txBox="1"/>
          <p:nvPr/>
        </p:nvSpPr>
        <p:spPr>
          <a:xfrm>
            <a:off x="854469" y="2857100"/>
            <a:ext cx="928681" cy="236501"/>
          </a:xfrm>
          <a:prstGeom prst="rect">
            <a:avLst/>
          </a:prstGeom>
          <a:noFill/>
        </p:spPr>
        <p:txBody>
          <a:bodyPr wrap="square" lIns="0" tIns="0" rIns="0" bIns="0" anchor="b">
            <a:spAutoFit/>
          </a:bodyPr>
          <a:lstStyle/>
          <a:p>
            <a:pPr algn="ctr"/>
            <a:r>
              <a:rPr sz="1000" b="0">
                <a:solidFill>
                  <a:schemeClr val="tx1"/>
                </a:solidFill>
              </a:rPr>
              <a:t>done?</a:t>
            </a:r>
          </a:p>
        </p:txBody>
      </p:sp>
      <p:cxnSp>
        <p:nvCxnSpPr>
          <p:cNvPr id="17" name="message"/>
          <p:cNvCxnSpPr/>
          <p:nvPr/>
        </p:nvCxnSpPr>
        <p:spPr>
          <a:xfrm flipH="1">
            <a:off x="819425" y="3402366"/>
            <a:ext cx="998771"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8" name="message label"/>
          <p:cNvSpPr txBox="1"/>
          <p:nvPr/>
        </p:nvSpPr>
        <p:spPr>
          <a:xfrm>
            <a:off x="854469" y="3159296"/>
            <a:ext cx="928681" cy="197084"/>
          </a:xfrm>
          <a:prstGeom prst="rect">
            <a:avLst/>
          </a:prstGeom>
          <a:noFill/>
        </p:spPr>
        <p:txBody>
          <a:bodyPr wrap="square" lIns="0" tIns="0" rIns="0" bIns="0" anchor="b">
            <a:spAutoFit/>
          </a:bodyPr>
          <a:lstStyle/>
          <a:p>
            <a:pPr algn="ctr"/>
            <a:r>
              <a:rPr sz="1000" b="0">
                <a:solidFill>
                  <a:schemeClr val="tx1"/>
                </a:solidFill>
              </a:rPr>
              <a:t>no</a:t>
            </a:r>
          </a:p>
        </p:txBody>
      </p:sp>
      <p:cxnSp>
        <p:nvCxnSpPr>
          <p:cNvPr id="19" name="message"/>
          <p:cNvCxnSpPr/>
          <p:nvPr/>
        </p:nvCxnSpPr>
        <p:spPr>
          <a:xfrm>
            <a:off x="819425" y="3763688"/>
            <a:ext cx="998771"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20" name="message label"/>
          <p:cNvSpPr txBox="1"/>
          <p:nvPr/>
        </p:nvSpPr>
        <p:spPr>
          <a:xfrm>
            <a:off x="854469" y="3481200"/>
            <a:ext cx="928681" cy="236501"/>
          </a:xfrm>
          <a:prstGeom prst="rect">
            <a:avLst/>
          </a:prstGeom>
          <a:noFill/>
        </p:spPr>
        <p:txBody>
          <a:bodyPr wrap="square" lIns="0" tIns="0" rIns="0" bIns="0" anchor="b">
            <a:spAutoFit/>
          </a:bodyPr>
          <a:lstStyle/>
          <a:p>
            <a:pPr algn="ctr"/>
            <a:r>
              <a:rPr sz="1000" b="0">
                <a:solidFill>
                  <a:schemeClr val="tx1"/>
                </a:solidFill>
              </a:rPr>
              <a:t>done?</a:t>
            </a:r>
          </a:p>
        </p:txBody>
      </p:sp>
      <p:cxnSp>
        <p:nvCxnSpPr>
          <p:cNvPr id="21" name="message"/>
          <p:cNvCxnSpPr/>
          <p:nvPr/>
        </p:nvCxnSpPr>
        <p:spPr>
          <a:xfrm flipH="1">
            <a:off x="819425" y="4026467"/>
            <a:ext cx="998771"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22" name="message label"/>
          <p:cNvSpPr txBox="1"/>
          <p:nvPr/>
        </p:nvSpPr>
        <p:spPr>
          <a:xfrm>
            <a:off x="854469" y="3783396"/>
            <a:ext cx="928681" cy="197084"/>
          </a:xfrm>
          <a:prstGeom prst="rect">
            <a:avLst/>
          </a:prstGeom>
          <a:noFill/>
        </p:spPr>
        <p:txBody>
          <a:bodyPr wrap="square" lIns="0" tIns="0" rIns="0" bIns="0" anchor="b">
            <a:spAutoFit/>
          </a:bodyPr>
          <a:lstStyle/>
          <a:p>
            <a:pPr algn="ctr"/>
            <a:r>
              <a:rPr sz="1000" b="0">
                <a:solidFill>
                  <a:schemeClr val="tx1"/>
                </a:solidFill>
              </a:rPr>
              <a:t>yes</a:t>
            </a:r>
          </a:p>
        </p:txBody>
      </p:sp>
      <p:sp>
        <p:nvSpPr>
          <p:cNvPr id="23" name="text"/>
          <p:cNvSpPr txBox="1"/>
          <p:nvPr/>
        </p:nvSpPr>
        <p:spPr>
          <a:xfrm>
            <a:off x="320040" y="4453483"/>
            <a:ext cx="1997541" cy="169277"/>
          </a:xfrm>
          <a:prstGeom prst="rect">
            <a:avLst/>
          </a:prstGeom>
          <a:noFill/>
        </p:spPr>
        <p:txBody>
          <a:bodyPr wrap="square" lIns="0" tIns="0" rIns="0" bIns="0" anchor="t">
            <a:spAutoFit/>
          </a:bodyPr>
          <a:lstStyle/>
          <a:p>
            <a:pPr algn="ctr"/>
            <a:r>
              <a:rPr sz="1100" b="1" dirty="0">
                <a:solidFill>
                  <a:schemeClr val="accent2"/>
                </a:solidFill>
              </a:rPr>
              <a:t>Exercise 1 style, repeated</a:t>
            </a:r>
          </a:p>
        </p:txBody>
      </p:sp>
      <p:sp>
        <p:nvSpPr>
          <p:cNvPr id="24" name="text"/>
          <p:cNvSpPr txBox="1"/>
          <p:nvPr/>
        </p:nvSpPr>
        <p:spPr>
          <a:xfrm>
            <a:off x="2506822" y="1234440"/>
            <a:ext cx="1997541" cy="295626"/>
          </a:xfrm>
          <a:prstGeom prst="rect">
            <a:avLst/>
          </a:prstGeom>
          <a:noFill/>
        </p:spPr>
        <p:txBody>
          <a:bodyPr wrap="square" lIns="0" tIns="0" rIns="0" bIns="0" anchor="t">
            <a:spAutoFit/>
          </a:bodyPr>
          <a:lstStyle/>
          <a:p>
            <a:r>
              <a:rPr sz="1600" b="1">
                <a:solidFill>
                  <a:schemeClr val="tx1"/>
                </a:solidFill>
              </a:rPr>
              <a:t>Web hook</a:t>
            </a:r>
          </a:p>
        </p:txBody>
      </p:sp>
      <p:sp>
        <p:nvSpPr>
          <p:cNvPr id="25" name="text"/>
          <p:cNvSpPr txBox="1"/>
          <p:nvPr/>
        </p:nvSpPr>
        <p:spPr>
          <a:xfrm>
            <a:off x="2506822" y="1530066"/>
            <a:ext cx="1997541" cy="262779"/>
          </a:xfrm>
          <a:prstGeom prst="rect">
            <a:avLst/>
          </a:prstGeom>
          <a:noFill/>
        </p:spPr>
        <p:txBody>
          <a:bodyPr wrap="square" lIns="0" tIns="0" rIns="0" bIns="0" anchor="t">
            <a:spAutoFit/>
          </a:bodyPr>
          <a:lstStyle/>
          <a:p>
            <a:r>
              <a:rPr sz="1200" b="0">
                <a:solidFill>
                  <a:schemeClr val="tx1"/>
                </a:solidFill>
              </a:rPr>
              <a:t>Server calls you back</a:t>
            </a:r>
          </a:p>
        </p:txBody>
      </p:sp>
      <p:cxnSp>
        <p:nvCxnSpPr>
          <p:cNvPr id="26" name="lane"/>
          <p:cNvCxnSpPr/>
          <p:nvPr/>
        </p:nvCxnSpPr>
        <p:spPr>
          <a:xfrm>
            <a:off x="3006207" y="2252708"/>
            <a:ext cx="0" cy="2069385"/>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27" name="lane head"/>
          <p:cNvSpPr/>
          <p:nvPr/>
        </p:nvSpPr>
        <p:spPr>
          <a:xfrm>
            <a:off x="2611956" y="1891387"/>
            <a:ext cx="788503"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lane name"/>
          <p:cNvSpPr txBox="1"/>
          <p:nvPr/>
        </p:nvSpPr>
        <p:spPr>
          <a:xfrm>
            <a:off x="2611956" y="1891387"/>
            <a:ext cx="788503" cy="361321"/>
          </a:xfrm>
          <a:prstGeom prst="rect">
            <a:avLst/>
          </a:prstGeom>
          <a:noFill/>
        </p:spPr>
        <p:txBody>
          <a:bodyPr wrap="square" lIns="0" tIns="0" rIns="0" bIns="0" anchor="ctr">
            <a:spAutoFit/>
          </a:bodyPr>
          <a:lstStyle/>
          <a:p>
            <a:pPr algn="ctr"/>
            <a:r>
              <a:rPr sz="1100" b="1">
                <a:solidFill>
                  <a:schemeClr val="tx1"/>
                </a:solidFill>
              </a:rPr>
              <a:t>C</a:t>
            </a:r>
          </a:p>
        </p:txBody>
      </p:sp>
      <p:cxnSp>
        <p:nvCxnSpPr>
          <p:cNvPr id="29" name="lane"/>
          <p:cNvCxnSpPr/>
          <p:nvPr/>
        </p:nvCxnSpPr>
        <p:spPr>
          <a:xfrm>
            <a:off x="4004978" y="2252708"/>
            <a:ext cx="0" cy="2069385"/>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30" name="lane head"/>
          <p:cNvSpPr/>
          <p:nvPr/>
        </p:nvSpPr>
        <p:spPr>
          <a:xfrm>
            <a:off x="3610726" y="1891387"/>
            <a:ext cx="788503"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lane name"/>
          <p:cNvSpPr txBox="1"/>
          <p:nvPr/>
        </p:nvSpPr>
        <p:spPr>
          <a:xfrm>
            <a:off x="3610726" y="1891387"/>
            <a:ext cx="788503" cy="361321"/>
          </a:xfrm>
          <a:prstGeom prst="rect">
            <a:avLst/>
          </a:prstGeom>
          <a:noFill/>
        </p:spPr>
        <p:txBody>
          <a:bodyPr wrap="square" lIns="0" tIns="0" rIns="0" bIns="0" anchor="ctr">
            <a:spAutoFit/>
          </a:bodyPr>
          <a:lstStyle/>
          <a:p>
            <a:pPr algn="ctr"/>
            <a:r>
              <a:rPr sz="1100" b="1">
                <a:solidFill>
                  <a:schemeClr val="tx1"/>
                </a:solidFill>
              </a:rPr>
              <a:t>S</a:t>
            </a:r>
          </a:p>
        </p:txBody>
      </p:sp>
      <p:cxnSp>
        <p:nvCxnSpPr>
          <p:cNvPr id="32" name="message"/>
          <p:cNvCxnSpPr/>
          <p:nvPr/>
        </p:nvCxnSpPr>
        <p:spPr>
          <a:xfrm>
            <a:off x="3006207" y="2548335"/>
            <a:ext cx="998771"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33" name="message label"/>
          <p:cNvSpPr txBox="1"/>
          <p:nvPr/>
        </p:nvSpPr>
        <p:spPr>
          <a:xfrm>
            <a:off x="3041252" y="2265847"/>
            <a:ext cx="928681" cy="236501"/>
          </a:xfrm>
          <a:prstGeom prst="rect">
            <a:avLst/>
          </a:prstGeom>
          <a:noFill/>
        </p:spPr>
        <p:txBody>
          <a:bodyPr wrap="square" lIns="0" tIns="0" rIns="0" bIns="0" anchor="b">
            <a:spAutoFit/>
          </a:bodyPr>
          <a:lstStyle/>
          <a:p>
            <a:pPr algn="ctr"/>
            <a:r>
              <a:rPr sz="1000" b="0">
                <a:solidFill>
                  <a:schemeClr val="tx1"/>
                </a:solidFill>
              </a:rPr>
              <a:t>job + URL</a:t>
            </a:r>
          </a:p>
        </p:txBody>
      </p:sp>
      <p:cxnSp>
        <p:nvCxnSpPr>
          <p:cNvPr id="34" name="message"/>
          <p:cNvCxnSpPr/>
          <p:nvPr/>
        </p:nvCxnSpPr>
        <p:spPr>
          <a:xfrm flipH="1">
            <a:off x="3006207" y="2876808"/>
            <a:ext cx="998771"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35" name="message label"/>
          <p:cNvSpPr txBox="1"/>
          <p:nvPr/>
        </p:nvSpPr>
        <p:spPr>
          <a:xfrm>
            <a:off x="3041252" y="2633738"/>
            <a:ext cx="928681" cy="197084"/>
          </a:xfrm>
          <a:prstGeom prst="rect">
            <a:avLst/>
          </a:prstGeom>
          <a:noFill/>
        </p:spPr>
        <p:txBody>
          <a:bodyPr wrap="square" lIns="0" tIns="0" rIns="0" bIns="0" anchor="b">
            <a:spAutoFit/>
          </a:bodyPr>
          <a:lstStyle/>
          <a:p>
            <a:pPr algn="ctr"/>
            <a:r>
              <a:rPr sz="1000" b="0">
                <a:solidFill>
                  <a:schemeClr val="tx1"/>
                </a:solidFill>
              </a:rPr>
              <a:t>ticket</a:t>
            </a:r>
          </a:p>
        </p:txBody>
      </p:sp>
      <p:cxnSp>
        <p:nvCxnSpPr>
          <p:cNvPr id="36" name="message"/>
          <p:cNvCxnSpPr/>
          <p:nvPr/>
        </p:nvCxnSpPr>
        <p:spPr>
          <a:xfrm flipH="1">
            <a:off x="3006207" y="3993619"/>
            <a:ext cx="998771"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37" name="message label"/>
          <p:cNvSpPr txBox="1"/>
          <p:nvPr/>
        </p:nvSpPr>
        <p:spPr>
          <a:xfrm>
            <a:off x="3041252" y="3711132"/>
            <a:ext cx="928681" cy="236501"/>
          </a:xfrm>
          <a:prstGeom prst="rect">
            <a:avLst/>
          </a:prstGeom>
          <a:noFill/>
        </p:spPr>
        <p:txBody>
          <a:bodyPr wrap="square" lIns="0" tIns="0" rIns="0" bIns="0" anchor="b">
            <a:spAutoFit/>
          </a:bodyPr>
          <a:lstStyle/>
          <a:p>
            <a:pPr algn="ctr"/>
            <a:r>
              <a:rPr sz="1000" b="0">
                <a:solidFill>
                  <a:schemeClr val="tx1"/>
                </a:solidFill>
              </a:rPr>
              <a:t>POST result</a:t>
            </a:r>
          </a:p>
        </p:txBody>
      </p:sp>
      <p:sp>
        <p:nvSpPr>
          <p:cNvPr id="38" name="text"/>
          <p:cNvSpPr txBox="1"/>
          <p:nvPr/>
        </p:nvSpPr>
        <p:spPr>
          <a:xfrm>
            <a:off x="2506822" y="4453483"/>
            <a:ext cx="1997541" cy="169277"/>
          </a:xfrm>
          <a:prstGeom prst="rect">
            <a:avLst/>
          </a:prstGeom>
          <a:noFill/>
        </p:spPr>
        <p:txBody>
          <a:bodyPr wrap="square" lIns="0" tIns="0" rIns="0" bIns="0" anchor="t">
            <a:spAutoFit/>
          </a:bodyPr>
          <a:lstStyle/>
          <a:p>
            <a:pPr algn="ctr"/>
            <a:r>
              <a:rPr sz="1100" b="1">
                <a:solidFill>
                  <a:schemeClr val="accent2"/>
                </a:solidFill>
              </a:rPr>
              <a:t>Exercise 2</a:t>
            </a:r>
          </a:p>
        </p:txBody>
      </p:sp>
      <p:sp>
        <p:nvSpPr>
          <p:cNvPr id="39" name="text"/>
          <p:cNvSpPr txBox="1"/>
          <p:nvPr/>
        </p:nvSpPr>
        <p:spPr>
          <a:xfrm>
            <a:off x="4693604" y="1234440"/>
            <a:ext cx="1997541" cy="295626"/>
          </a:xfrm>
          <a:prstGeom prst="rect">
            <a:avLst/>
          </a:prstGeom>
          <a:noFill/>
        </p:spPr>
        <p:txBody>
          <a:bodyPr wrap="square" lIns="0" tIns="0" rIns="0" bIns="0" anchor="t">
            <a:spAutoFit/>
          </a:bodyPr>
          <a:lstStyle/>
          <a:p>
            <a:r>
              <a:rPr sz="1600" b="1">
                <a:solidFill>
                  <a:schemeClr val="tx1"/>
                </a:solidFill>
              </a:rPr>
              <a:t>Server-Sent Events</a:t>
            </a:r>
          </a:p>
        </p:txBody>
      </p:sp>
      <p:sp>
        <p:nvSpPr>
          <p:cNvPr id="40" name="text"/>
          <p:cNvSpPr txBox="1"/>
          <p:nvPr/>
        </p:nvSpPr>
        <p:spPr>
          <a:xfrm>
            <a:off x="4693604" y="1530066"/>
            <a:ext cx="1997541" cy="262779"/>
          </a:xfrm>
          <a:prstGeom prst="rect">
            <a:avLst/>
          </a:prstGeom>
          <a:noFill/>
        </p:spPr>
        <p:txBody>
          <a:bodyPr wrap="square" lIns="0" tIns="0" rIns="0" bIns="0" anchor="t">
            <a:spAutoFit/>
          </a:bodyPr>
          <a:lstStyle/>
          <a:p>
            <a:r>
              <a:rPr sz="1200" b="0">
                <a:solidFill>
                  <a:schemeClr val="tx1"/>
                </a:solidFill>
              </a:rPr>
              <a:t>One request, many events</a:t>
            </a:r>
          </a:p>
        </p:txBody>
      </p:sp>
      <p:cxnSp>
        <p:nvCxnSpPr>
          <p:cNvPr id="41" name="lane"/>
          <p:cNvCxnSpPr/>
          <p:nvPr/>
        </p:nvCxnSpPr>
        <p:spPr>
          <a:xfrm>
            <a:off x="5192990" y="2252708"/>
            <a:ext cx="0" cy="2069385"/>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42" name="lane head"/>
          <p:cNvSpPr/>
          <p:nvPr/>
        </p:nvSpPr>
        <p:spPr>
          <a:xfrm>
            <a:off x="4798738" y="1891387"/>
            <a:ext cx="788503"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lane name"/>
          <p:cNvSpPr txBox="1"/>
          <p:nvPr/>
        </p:nvSpPr>
        <p:spPr>
          <a:xfrm>
            <a:off x="4798738" y="1891387"/>
            <a:ext cx="788503" cy="361321"/>
          </a:xfrm>
          <a:prstGeom prst="rect">
            <a:avLst/>
          </a:prstGeom>
          <a:noFill/>
        </p:spPr>
        <p:txBody>
          <a:bodyPr wrap="square" lIns="0" tIns="0" rIns="0" bIns="0" anchor="ctr">
            <a:spAutoFit/>
          </a:bodyPr>
          <a:lstStyle/>
          <a:p>
            <a:pPr algn="ctr"/>
            <a:r>
              <a:rPr sz="1100" b="1">
                <a:solidFill>
                  <a:schemeClr val="tx1"/>
                </a:solidFill>
              </a:rPr>
              <a:t>C</a:t>
            </a:r>
          </a:p>
        </p:txBody>
      </p:sp>
      <p:cxnSp>
        <p:nvCxnSpPr>
          <p:cNvPr id="44" name="lane"/>
          <p:cNvCxnSpPr/>
          <p:nvPr/>
        </p:nvCxnSpPr>
        <p:spPr>
          <a:xfrm>
            <a:off x="6191760" y="2252708"/>
            <a:ext cx="0" cy="2069385"/>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45" name="lane head"/>
          <p:cNvSpPr/>
          <p:nvPr/>
        </p:nvSpPr>
        <p:spPr>
          <a:xfrm>
            <a:off x="5797509" y="1891387"/>
            <a:ext cx="788503"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lane name"/>
          <p:cNvSpPr txBox="1"/>
          <p:nvPr/>
        </p:nvSpPr>
        <p:spPr>
          <a:xfrm>
            <a:off x="5797509" y="1891387"/>
            <a:ext cx="788503" cy="361321"/>
          </a:xfrm>
          <a:prstGeom prst="rect">
            <a:avLst/>
          </a:prstGeom>
          <a:noFill/>
        </p:spPr>
        <p:txBody>
          <a:bodyPr wrap="square" lIns="0" tIns="0" rIns="0" bIns="0" anchor="ctr">
            <a:spAutoFit/>
          </a:bodyPr>
          <a:lstStyle/>
          <a:p>
            <a:pPr algn="ctr"/>
            <a:r>
              <a:rPr sz="1100" b="1">
                <a:solidFill>
                  <a:schemeClr val="tx1"/>
                </a:solidFill>
              </a:rPr>
              <a:t>S</a:t>
            </a:r>
          </a:p>
        </p:txBody>
      </p:sp>
      <p:cxnSp>
        <p:nvCxnSpPr>
          <p:cNvPr id="47" name="message"/>
          <p:cNvCxnSpPr/>
          <p:nvPr/>
        </p:nvCxnSpPr>
        <p:spPr>
          <a:xfrm>
            <a:off x="5192990" y="2548335"/>
            <a:ext cx="998770"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48" name="message label"/>
          <p:cNvSpPr txBox="1"/>
          <p:nvPr/>
        </p:nvSpPr>
        <p:spPr>
          <a:xfrm>
            <a:off x="5228034" y="2265847"/>
            <a:ext cx="928681" cy="236501"/>
          </a:xfrm>
          <a:prstGeom prst="rect">
            <a:avLst/>
          </a:prstGeom>
          <a:noFill/>
        </p:spPr>
        <p:txBody>
          <a:bodyPr wrap="square" lIns="0" tIns="0" rIns="0" bIns="0" anchor="b">
            <a:spAutoFit/>
          </a:bodyPr>
          <a:lstStyle/>
          <a:p>
            <a:pPr algn="ctr"/>
            <a:r>
              <a:rPr sz="1000" b="0">
                <a:solidFill>
                  <a:schemeClr val="tx1"/>
                </a:solidFill>
              </a:rPr>
              <a:t>GET /Ticker</a:t>
            </a:r>
          </a:p>
        </p:txBody>
      </p:sp>
      <p:cxnSp>
        <p:nvCxnSpPr>
          <p:cNvPr id="49" name="message"/>
          <p:cNvCxnSpPr/>
          <p:nvPr/>
        </p:nvCxnSpPr>
        <p:spPr>
          <a:xfrm flipH="1">
            <a:off x="5192990" y="2942503"/>
            <a:ext cx="998770"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50" name="message label"/>
          <p:cNvSpPr txBox="1"/>
          <p:nvPr/>
        </p:nvSpPr>
        <p:spPr>
          <a:xfrm>
            <a:off x="5228034" y="2699433"/>
            <a:ext cx="928681" cy="197084"/>
          </a:xfrm>
          <a:prstGeom prst="rect">
            <a:avLst/>
          </a:prstGeom>
          <a:noFill/>
        </p:spPr>
        <p:txBody>
          <a:bodyPr wrap="square" lIns="0" tIns="0" rIns="0" bIns="0" anchor="b">
            <a:spAutoFit/>
          </a:bodyPr>
          <a:lstStyle/>
          <a:p>
            <a:pPr algn="ctr"/>
            <a:r>
              <a:rPr sz="1000" b="0">
                <a:solidFill>
                  <a:schemeClr val="tx1"/>
                </a:solidFill>
              </a:rPr>
              <a:t>event</a:t>
            </a:r>
          </a:p>
        </p:txBody>
      </p:sp>
      <p:cxnSp>
        <p:nvCxnSpPr>
          <p:cNvPr id="51" name="message"/>
          <p:cNvCxnSpPr/>
          <p:nvPr/>
        </p:nvCxnSpPr>
        <p:spPr>
          <a:xfrm flipH="1">
            <a:off x="5192990" y="3270977"/>
            <a:ext cx="998770"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52" name="message"/>
          <p:cNvCxnSpPr/>
          <p:nvPr/>
        </p:nvCxnSpPr>
        <p:spPr>
          <a:xfrm flipH="1">
            <a:off x="5192990" y="3599451"/>
            <a:ext cx="998770"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53" name="message"/>
          <p:cNvCxnSpPr/>
          <p:nvPr/>
        </p:nvCxnSpPr>
        <p:spPr>
          <a:xfrm flipH="1">
            <a:off x="5192990" y="3927925"/>
            <a:ext cx="998770"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54" name="text"/>
          <p:cNvSpPr txBox="1"/>
          <p:nvPr/>
        </p:nvSpPr>
        <p:spPr>
          <a:xfrm>
            <a:off x="4693604" y="4453483"/>
            <a:ext cx="1997541" cy="169277"/>
          </a:xfrm>
          <a:prstGeom prst="rect">
            <a:avLst/>
          </a:prstGeom>
          <a:noFill/>
        </p:spPr>
        <p:txBody>
          <a:bodyPr wrap="square" lIns="0" tIns="0" rIns="0" bIns="0" anchor="t">
            <a:spAutoFit/>
          </a:bodyPr>
          <a:lstStyle/>
          <a:p>
            <a:pPr algn="ctr"/>
            <a:r>
              <a:rPr sz="1100" b="1">
                <a:solidFill>
                  <a:schemeClr val="accent2"/>
                </a:solidFill>
              </a:rPr>
              <a:t>Exercise 3</a:t>
            </a:r>
          </a:p>
        </p:txBody>
      </p:sp>
      <p:sp>
        <p:nvSpPr>
          <p:cNvPr id="55" name="text"/>
          <p:cNvSpPr txBox="1"/>
          <p:nvPr/>
        </p:nvSpPr>
        <p:spPr>
          <a:xfrm>
            <a:off x="6880387" y="1234440"/>
            <a:ext cx="1997541" cy="295626"/>
          </a:xfrm>
          <a:prstGeom prst="rect">
            <a:avLst/>
          </a:prstGeom>
          <a:noFill/>
        </p:spPr>
        <p:txBody>
          <a:bodyPr wrap="square" lIns="0" tIns="0" rIns="0" bIns="0" anchor="t">
            <a:spAutoFit/>
          </a:bodyPr>
          <a:lstStyle/>
          <a:p>
            <a:r>
              <a:rPr sz="1600" b="1">
                <a:solidFill>
                  <a:schemeClr val="tx1"/>
                </a:solidFill>
              </a:rPr>
              <a:t>WebSockets</a:t>
            </a:r>
          </a:p>
        </p:txBody>
      </p:sp>
      <p:sp>
        <p:nvSpPr>
          <p:cNvPr id="56" name="text"/>
          <p:cNvSpPr txBox="1"/>
          <p:nvPr/>
        </p:nvSpPr>
        <p:spPr>
          <a:xfrm>
            <a:off x="6880387" y="1530066"/>
            <a:ext cx="1997541" cy="262779"/>
          </a:xfrm>
          <a:prstGeom prst="rect">
            <a:avLst/>
          </a:prstGeom>
          <a:noFill/>
        </p:spPr>
        <p:txBody>
          <a:bodyPr wrap="square" lIns="0" tIns="0" rIns="0" bIns="0" anchor="t">
            <a:spAutoFit/>
          </a:bodyPr>
          <a:lstStyle/>
          <a:p>
            <a:r>
              <a:rPr sz="1200" b="0">
                <a:solidFill>
                  <a:schemeClr val="tx1"/>
                </a:solidFill>
              </a:rPr>
              <a:t>Both sides, any time</a:t>
            </a:r>
          </a:p>
        </p:txBody>
      </p:sp>
      <p:cxnSp>
        <p:nvCxnSpPr>
          <p:cNvPr id="57" name="lane"/>
          <p:cNvCxnSpPr/>
          <p:nvPr/>
        </p:nvCxnSpPr>
        <p:spPr>
          <a:xfrm>
            <a:off x="7379772" y="2252708"/>
            <a:ext cx="0" cy="2069385"/>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58" name="lane head"/>
          <p:cNvSpPr/>
          <p:nvPr/>
        </p:nvSpPr>
        <p:spPr>
          <a:xfrm>
            <a:off x="6985520" y="1891387"/>
            <a:ext cx="788503"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lane name"/>
          <p:cNvSpPr txBox="1"/>
          <p:nvPr/>
        </p:nvSpPr>
        <p:spPr>
          <a:xfrm>
            <a:off x="6985520" y="1891387"/>
            <a:ext cx="788503" cy="361321"/>
          </a:xfrm>
          <a:prstGeom prst="rect">
            <a:avLst/>
          </a:prstGeom>
          <a:noFill/>
        </p:spPr>
        <p:txBody>
          <a:bodyPr wrap="square" lIns="0" tIns="0" rIns="0" bIns="0" anchor="ctr">
            <a:spAutoFit/>
          </a:bodyPr>
          <a:lstStyle/>
          <a:p>
            <a:pPr algn="ctr"/>
            <a:r>
              <a:rPr sz="1100" b="1">
                <a:solidFill>
                  <a:schemeClr val="tx1"/>
                </a:solidFill>
              </a:rPr>
              <a:t>C</a:t>
            </a:r>
          </a:p>
        </p:txBody>
      </p:sp>
      <p:cxnSp>
        <p:nvCxnSpPr>
          <p:cNvPr id="60" name="lane"/>
          <p:cNvCxnSpPr/>
          <p:nvPr/>
        </p:nvCxnSpPr>
        <p:spPr>
          <a:xfrm>
            <a:off x="8378543" y="2252708"/>
            <a:ext cx="0" cy="2069385"/>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61" name="lane head"/>
          <p:cNvSpPr/>
          <p:nvPr/>
        </p:nvSpPr>
        <p:spPr>
          <a:xfrm>
            <a:off x="7984291" y="1891387"/>
            <a:ext cx="788503"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2" name="lane name"/>
          <p:cNvSpPr txBox="1"/>
          <p:nvPr/>
        </p:nvSpPr>
        <p:spPr>
          <a:xfrm>
            <a:off x="7984291" y="1891387"/>
            <a:ext cx="788503" cy="361321"/>
          </a:xfrm>
          <a:prstGeom prst="rect">
            <a:avLst/>
          </a:prstGeom>
          <a:noFill/>
        </p:spPr>
        <p:txBody>
          <a:bodyPr wrap="square" lIns="0" tIns="0" rIns="0" bIns="0" anchor="ctr">
            <a:spAutoFit/>
          </a:bodyPr>
          <a:lstStyle/>
          <a:p>
            <a:pPr algn="ctr"/>
            <a:r>
              <a:rPr sz="1100" b="1">
                <a:solidFill>
                  <a:schemeClr val="tx1"/>
                </a:solidFill>
              </a:rPr>
              <a:t>S</a:t>
            </a:r>
          </a:p>
        </p:txBody>
      </p:sp>
      <p:cxnSp>
        <p:nvCxnSpPr>
          <p:cNvPr id="63" name="message"/>
          <p:cNvCxnSpPr/>
          <p:nvPr/>
        </p:nvCxnSpPr>
        <p:spPr>
          <a:xfrm>
            <a:off x="7379772" y="2548335"/>
            <a:ext cx="998771"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64" name="message label"/>
          <p:cNvSpPr txBox="1"/>
          <p:nvPr/>
        </p:nvSpPr>
        <p:spPr>
          <a:xfrm>
            <a:off x="7414817" y="2265847"/>
            <a:ext cx="928681" cy="236501"/>
          </a:xfrm>
          <a:prstGeom prst="rect">
            <a:avLst/>
          </a:prstGeom>
          <a:noFill/>
        </p:spPr>
        <p:txBody>
          <a:bodyPr wrap="square" lIns="0" tIns="0" rIns="0" bIns="0" anchor="b">
            <a:spAutoFit/>
          </a:bodyPr>
          <a:lstStyle/>
          <a:p>
            <a:pPr algn="ctr"/>
            <a:r>
              <a:rPr sz="1000" b="0">
                <a:solidFill>
                  <a:schemeClr val="tx1"/>
                </a:solidFill>
              </a:rPr>
              <a:t>upgrade</a:t>
            </a:r>
          </a:p>
        </p:txBody>
      </p:sp>
      <p:cxnSp>
        <p:nvCxnSpPr>
          <p:cNvPr id="65" name="message"/>
          <p:cNvCxnSpPr/>
          <p:nvPr/>
        </p:nvCxnSpPr>
        <p:spPr>
          <a:xfrm flipH="1">
            <a:off x="7379772" y="2942503"/>
            <a:ext cx="998771"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66" name="message"/>
          <p:cNvCxnSpPr/>
          <p:nvPr/>
        </p:nvCxnSpPr>
        <p:spPr>
          <a:xfrm>
            <a:off x="7379772" y="3270977"/>
            <a:ext cx="998771"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cxnSp>
        <p:nvCxnSpPr>
          <p:cNvPr id="67" name="message"/>
          <p:cNvCxnSpPr/>
          <p:nvPr/>
        </p:nvCxnSpPr>
        <p:spPr>
          <a:xfrm flipH="1">
            <a:off x="7379772" y="3599451"/>
            <a:ext cx="998771"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68" name="message"/>
          <p:cNvCxnSpPr/>
          <p:nvPr/>
        </p:nvCxnSpPr>
        <p:spPr>
          <a:xfrm flipH="1">
            <a:off x="7379772" y="3927925"/>
            <a:ext cx="998771"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69" name="text"/>
          <p:cNvSpPr txBox="1"/>
          <p:nvPr/>
        </p:nvSpPr>
        <p:spPr>
          <a:xfrm>
            <a:off x="6880387" y="4453483"/>
            <a:ext cx="1997541" cy="169277"/>
          </a:xfrm>
          <a:prstGeom prst="rect">
            <a:avLst/>
          </a:prstGeom>
          <a:noFill/>
        </p:spPr>
        <p:txBody>
          <a:bodyPr wrap="square" lIns="0" tIns="0" rIns="0" bIns="0" anchor="t">
            <a:spAutoFit/>
          </a:bodyPr>
          <a:lstStyle/>
          <a:p>
            <a:pPr algn="ctr"/>
            <a:r>
              <a:rPr sz="1100" b="1">
                <a:solidFill>
                  <a:schemeClr val="accent2"/>
                </a:solidFill>
              </a:rPr>
              <a:t>Exercise 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Three tools, one APL session</a:t>
            </a:r>
          </a:p>
        </p:txBody>
      </p:sp>
      <p:sp>
        <p:nvSpPr>
          <p:cNvPr id="3" name="card"/>
          <p:cNvSpPr/>
          <p:nvPr/>
        </p:nvSpPr>
        <p:spPr>
          <a:xfrm>
            <a:off x="320040" y="1267287"/>
            <a:ext cx="2698433" cy="2365011"/>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card head"/>
          <p:cNvSpPr txBox="1"/>
          <p:nvPr/>
        </p:nvSpPr>
        <p:spPr>
          <a:xfrm>
            <a:off x="530307" y="1411815"/>
            <a:ext cx="2277898" cy="328473"/>
          </a:xfrm>
          <a:prstGeom prst="rect">
            <a:avLst/>
          </a:prstGeom>
          <a:noFill/>
        </p:spPr>
        <p:txBody>
          <a:bodyPr wrap="square" lIns="0" tIns="0" rIns="0" bIns="0" anchor="t">
            <a:spAutoFit/>
          </a:bodyPr>
          <a:lstStyle/>
          <a:p>
            <a:r>
              <a:rPr sz="1800" b="1">
                <a:solidFill>
                  <a:schemeClr val="tx1"/>
                </a:solidFill>
              </a:rPr>
              <a:t>HttpCommand</a:t>
            </a:r>
          </a:p>
        </p:txBody>
      </p:sp>
      <p:sp>
        <p:nvSpPr>
          <p:cNvPr id="5" name="card body"/>
          <p:cNvSpPr txBox="1"/>
          <p:nvPr/>
        </p:nvSpPr>
        <p:spPr>
          <a:xfrm>
            <a:off x="530307" y="1792845"/>
            <a:ext cx="2277898" cy="1740911"/>
          </a:xfrm>
          <a:prstGeom prst="rect">
            <a:avLst/>
          </a:prstGeom>
          <a:noFill/>
        </p:spPr>
        <p:txBody>
          <a:bodyPr wrap="square" lIns="0" tIns="0" rIns="0" bIns="0" anchor="t">
            <a:spAutoFit/>
          </a:bodyPr>
          <a:lstStyle/>
          <a:p>
            <a:r>
              <a:rPr sz="1400" b="0">
                <a:solidFill>
                  <a:schemeClr val="tx1"/>
                </a:solidFill>
              </a:rPr>
              <a:t>An HTTP client: call web services from APL.</a:t>
            </a:r>
          </a:p>
        </p:txBody>
      </p:sp>
      <p:sp>
        <p:nvSpPr>
          <p:cNvPr id="6" name="code panel"/>
          <p:cNvSpPr/>
          <p:nvPr/>
        </p:nvSpPr>
        <p:spPr>
          <a:xfrm>
            <a:off x="404147" y="2581182"/>
            <a:ext cx="2530219" cy="9854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code"/>
          <p:cNvSpPr txBox="1"/>
          <p:nvPr/>
        </p:nvSpPr>
        <p:spPr>
          <a:xfrm>
            <a:off x="488254" y="2660016"/>
            <a:ext cx="2362005" cy="827753"/>
          </a:xfrm>
          <a:prstGeom prst="rect">
            <a:avLst/>
          </a:prstGeom>
          <a:noFill/>
        </p:spPr>
        <p:txBody>
          <a:bodyPr wrap="square" lIns="0" tIns="0" rIns="0" bIns="0" anchor="t">
            <a:spAutoFit/>
          </a:bodyPr>
          <a:lstStyle/>
          <a:p>
            <a:r>
              <a:rPr sz="1000" b="0">
                <a:solidFill>
                  <a:schemeClr val="tx1"/>
                </a:solidFill>
                <a:latin typeface="APL385 Unicode"/>
              </a:rPr>
              <a:t>r←HttpCommand.Get url</a:t>
            </a:r>
          </a:p>
          <a:p>
            <a:r>
              <a:rPr sz="1000" b="0">
                <a:solidFill>
                  <a:schemeClr val="tx1"/>
                </a:solidFill>
                <a:latin typeface="APL385 Unicode"/>
              </a:rPr>
              <a:t>r.(rc HttpStatus Data)</a:t>
            </a:r>
          </a:p>
        </p:txBody>
      </p:sp>
      <p:sp>
        <p:nvSpPr>
          <p:cNvPr id="8" name="card"/>
          <p:cNvSpPr/>
          <p:nvPr/>
        </p:nvSpPr>
        <p:spPr>
          <a:xfrm>
            <a:off x="3207714" y="1267287"/>
            <a:ext cx="2698433" cy="2365011"/>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card head"/>
          <p:cNvSpPr txBox="1"/>
          <p:nvPr/>
        </p:nvSpPr>
        <p:spPr>
          <a:xfrm>
            <a:off x="3417981" y="1411815"/>
            <a:ext cx="2277898" cy="328473"/>
          </a:xfrm>
          <a:prstGeom prst="rect">
            <a:avLst/>
          </a:prstGeom>
          <a:noFill/>
        </p:spPr>
        <p:txBody>
          <a:bodyPr wrap="square" lIns="0" tIns="0" rIns="0" bIns="0" anchor="t">
            <a:spAutoFit/>
          </a:bodyPr>
          <a:lstStyle/>
          <a:p>
            <a:r>
              <a:rPr sz="1800" b="1">
                <a:solidFill>
                  <a:schemeClr val="tx1"/>
                </a:solidFill>
              </a:rPr>
              <a:t>Jarvis</a:t>
            </a:r>
          </a:p>
        </p:txBody>
      </p:sp>
      <p:sp>
        <p:nvSpPr>
          <p:cNvPr id="10" name="card body"/>
          <p:cNvSpPr txBox="1"/>
          <p:nvPr/>
        </p:nvSpPr>
        <p:spPr>
          <a:xfrm>
            <a:off x="3417981" y="1792845"/>
            <a:ext cx="2277898" cy="1740911"/>
          </a:xfrm>
          <a:prstGeom prst="rect">
            <a:avLst/>
          </a:prstGeom>
          <a:noFill/>
        </p:spPr>
        <p:txBody>
          <a:bodyPr wrap="square" lIns="0" tIns="0" rIns="0" bIns="0" anchor="t">
            <a:spAutoFit/>
          </a:bodyPr>
          <a:lstStyle/>
          <a:p>
            <a:r>
              <a:rPr sz="1400" b="0">
                <a:solidFill>
                  <a:schemeClr val="tx1"/>
                </a:solidFill>
              </a:rPr>
              <a:t>A web service framework: your APL functions become endpoints.</a:t>
            </a:r>
          </a:p>
        </p:txBody>
      </p:sp>
      <p:sp>
        <p:nvSpPr>
          <p:cNvPr id="11" name="code panel"/>
          <p:cNvSpPr/>
          <p:nvPr/>
        </p:nvSpPr>
        <p:spPr>
          <a:xfrm>
            <a:off x="3291821" y="2581182"/>
            <a:ext cx="2530219" cy="9854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code"/>
          <p:cNvSpPr txBox="1"/>
          <p:nvPr/>
        </p:nvSpPr>
        <p:spPr>
          <a:xfrm>
            <a:off x="3375928" y="2660016"/>
            <a:ext cx="2362005" cy="827753"/>
          </a:xfrm>
          <a:prstGeom prst="rect">
            <a:avLst/>
          </a:prstGeom>
          <a:noFill/>
        </p:spPr>
        <p:txBody>
          <a:bodyPr wrap="square" lIns="0" tIns="0" rIns="0" bIns="0" anchor="t">
            <a:spAutoFit/>
          </a:bodyPr>
          <a:lstStyle/>
          <a:p>
            <a:r>
              <a:rPr sz="1000" b="0">
                <a:solidFill>
                  <a:schemeClr val="tx1"/>
                </a:solidFill>
                <a:latin typeface="APL385 Unicode"/>
              </a:rPr>
              <a:t>s←Jarvis.New ''</a:t>
            </a:r>
          </a:p>
          <a:p>
            <a:r>
              <a:rPr sz="1000" b="0">
                <a:solidFill>
                  <a:schemeClr val="tx1"/>
                </a:solidFill>
                <a:latin typeface="APL385 Unicode"/>
              </a:rPr>
              <a:t>s.CodeLocation←#.MyApp</a:t>
            </a:r>
          </a:p>
          <a:p>
            <a:r>
              <a:rPr sz="1000" b="0">
                <a:solidFill>
                  <a:schemeClr val="tx1"/>
                </a:solidFill>
                <a:latin typeface="APL385 Unicode"/>
              </a:rPr>
              <a:t>s.Start</a:t>
            </a:r>
          </a:p>
        </p:txBody>
      </p:sp>
      <p:sp>
        <p:nvSpPr>
          <p:cNvPr id="13" name="card"/>
          <p:cNvSpPr/>
          <p:nvPr/>
        </p:nvSpPr>
        <p:spPr>
          <a:xfrm>
            <a:off x="6095388" y="1267287"/>
            <a:ext cx="2698433" cy="2365011"/>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card head"/>
          <p:cNvSpPr txBox="1"/>
          <p:nvPr/>
        </p:nvSpPr>
        <p:spPr>
          <a:xfrm>
            <a:off x="6305655" y="1411815"/>
            <a:ext cx="2277898" cy="328473"/>
          </a:xfrm>
          <a:prstGeom prst="rect">
            <a:avLst/>
          </a:prstGeom>
          <a:noFill/>
        </p:spPr>
        <p:txBody>
          <a:bodyPr wrap="square" lIns="0" tIns="0" rIns="0" bIns="0" anchor="t">
            <a:spAutoFit/>
          </a:bodyPr>
          <a:lstStyle/>
          <a:p>
            <a:r>
              <a:rPr sz="1800" b="1">
                <a:solidFill>
                  <a:schemeClr val="tx1"/>
                </a:solidFill>
              </a:rPr>
              <a:t>WebSocketClient</a:t>
            </a:r>
          </a:p>
        </p:txBody>
      </p:sp>
      <p:sp>
        <p:nvSpPr>
          <p:cNvPr id="15" name="card body"/>
          <p:cNvSpPr txBox="1"/>
          <p:nvPr/>
        </p:nvSpPr>
        <p:spPr>
          <a:xfrm>
            <a:off x="6305655" y="1792845"/>
            <a:ext cx="2277898" cy="1740911"/>
          </a:xfrm>
          <a:prstGeom prst="rect">
            <a:avLst/>
          </a:prstGeom>
          <a:noFill/>
        </p:spPr>
        <p:txBody>
          <a:bodyPr wrap="square" lIns="0" tIns="0" rIns="0" bIns="0" anchor="t">
            <a:spAutoFit/>
          </a:bodyPr>
          <a:lstStyle/>
          <a:p>
            <a:r>
              <a:rPr sz="1400" b="0">
                <a:solidFill>
                  <a:schemeClr val="tx1"/>
                </a:solidFill>
              </a:rPr>
              <a:t>Two-way messages from APL over a WebSocket.</a:t>
            </a:r>
          </a:p>
        </p:txBody>
      </p:sp>
      <p:sp>
        <p:nvSpPr>
          <p:cNvPr id="16" name="code panel"/>
          <p:cNvSpPr/>
          <p:nvPr/>
        </p:nvSpPr>
        <p:spPr>
          <a:xfrm>
            <a:off x="6179495" y="2581182"/>
            <a:ext cx="2530219" cy="9854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code"/>
          <p:cNvSpPr txBox="1"/>
          <p:nvPr/>
        </p:nvSpPr>
        <p:spPr>
          <a:xfrm>
            <a:off x="6263602" y="2660016"/>
            <a:ext cx="2362005" cy="827753"/>
          </a:xfrm>
          <a:prstGeom prst="rect">
            <a:avLst/>
          </a:prstGeom>
          <a:noFill/>
        </p:spPr>
        <p:txBody>
          <a:bodyPr wrap="square" lIns="0" tIns="0" rIns="0" bIns="0" anchor="t">
            <a:spAutoFit/>
          </a:bodyPr>
          <a:lstStyle/>
          <a:p>
            <a:r>
              <a:rPr sz="1000" b="0">
                <a:solidFill>
                  <a:schemeClr val="tx1"/>
                </a:solidFill>
                <a:latin typeface="APL385 Unicode"/>
              </a:rPr>
              <a:t>c←WebSocketClient.New s</a:t>
            </a:r>
          </a:p>
          <a:p>
            <a:r>
              <a:rPr sz="1000" b="0">
                <a:solidFill>
                  <a:schemeClr val="tx1"/>
                </a:solidFill>
                <a:latin typeface="APL385 Unicode"/>
              </a:rPr>
              <a:t>c.Connect</a:t>
            </a:r>
          </a:p>
          <a:p>
            <a:r>
              <a:rPr sz="1000" b="0">
                <a:solidFill>
                  <a:schemeClr val="tx1"/>
                </a:solidFill>
                <a:latin typeface="APL385 Unicode"/>
              </a:rPr>
              <a:t>m←'{"type":"msg","text":"Hi"}'</a:t>
            </a:r>
          </a:p>
          <a:p>
            <a:r>
              <a:rPr sz="1000" b="0">
                <a:solidFill>
                  <a:schemeClr val="tx1"/>
                </a:solidFill>
                <a:latin typeface="APL385 Unicode"/>
              </a:rPr>
              <a:t>c.Send m</a:t>
            </a:r>
          </a:p>
        </p:txBody>
      </p:sp>
      <p:sp>
        <p:nvSpPr>
          <p:cNvPr id="18" name="conga strip"/>
          <p:cNvSpPr/>
          <p:nvPr/>
        </p:nvSpPr>
        <p:spPr>
          <a:xfrm>
            <a:off x="320040" y="3829382"/>
            <a:ext cx="8503920" cy="558405"/>
          </a:xfrm>
          <a:prstGeom prst="roundRect">
            <a:avLst>
              <a:gd name="adj" fmla="val 8000"/>
            </a:avLst>
          </a:prstGeom>
          <a:solidFill>
            <a:schemeClr val="accent2">
              <a:lumMod val="25000"/>
              <a:lumOff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
          <p:cNvSpPr txBox="1"/>
          <p:nvPr/>
        </p:nvSpPr>
        <p:spPr>
          <a:xfrm>
            <a:off x="530307" y="3829382"/>
            <a:ext cx="8083384" cy="558405"/>
          </a:xfrm>
          <a:prstGeom prst="rect">
            <a:avLst/>
          </a:prstGeom>
          <a:noFill/>
        </p:spPr>
        <p:txBody>
          <a:bodyPr wrap="square" lIns="0" tIns="0" rIns="0" bIns="0" anchor="ctr">
            <a:spAutoFit/>
          </a:bodyPr>
          <a:lstStyle/>
          <a:p>
            <a:r>
              <a:rPr sz="1400" b="0">
                <a:solidFill>
                  <a:schemeClr val="tx1"/>
                </a:solidFill>
              </a:rPr>
              <a:t>All three use Conga, Dyalog's TCP/IP library. Setup copies Conga into # first, so every tool finds it with no extra configuration.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How each exercise works</a:t>
            </a:r>
          </a:p>
        </p:txBody>
      </p:sp>
      <p:sp>
        <p:nvSpPr>
          <p:cNvPr id="3" name="code panel"/>
          <p:cNvSpPr/>
          <p:nvPr/>
        </p:nvSpPr>
        <p:spPr>
          <a:xfrm>
            <a:off x="320040" y="1267287"/>
            <a:ext cx="5431911" cy="22336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code"/>
          <p:cNvSpPr txBox="1"/>
          <p:nvPr/>
        </p:nvSpPr>
        <p:spPr>
          <a:xfrm>
            <a:off x="460218" y="1346121"/>
            <a:ext cx="5151554" cy="2075954"/>
          </a:xfrm>
          <a:prstGeom prst="rect">
            <a:avLst/>
          </a:prstGeom>
          <a:noFill/>
        </p:spPr>
        <p:txBody>
          <a:bodyPr wrap="square" lIns="0" tIns="0" rIns="0" bIns="0" anchor="t">
            <a:spAutoFit/>
          </a:bodyPr>
          <a:lstStyle/>
          <a:p>
            <a:r>
              <a:rPr sz="1000" b="0">
                <a:solidFill>
                  <a:schemeClr val="tx1"/>
                </a:solidFill>
                <a:latin typeface="APL385 Unicode"/>
              </a:rPr>
              <a:t>2 ⎕FIX 'file://&lt;repo&gt;/Exercises/Setup.aplf'</a:t>
            </a:r>
          </a:p>
          <a:p>
            <a:r>
              <a:rPr sz="1000" b="0">
                <a:solidFill>
                  <a:schemeClr val="tx1"/>
                </a:solidFill>
                <a:latin typeface="APL385 Unicode"/>
              </a:rPr>
              <a:t>Setup '&lt;repo&gt;'</a:t>
            </a:r>
          </a:p>
          <a:p>
            <a:endParaRPr sz="1000" b="0">
              <a:solidFill>
                <a:schemeClr val="tx1"/>
              </a:solidFill>
              <a:latin typeface="APL385 Unicode"/>
            </a:endParaRPr>
          </a:p>
          <a:p>
            <a:r>
              <a:rPr sz="1000" b="0">
                <a:solidFill>
                  <a:schemeClr val="tx1"/>
                </a:solidFill>
                <a:latin typeface="APL385 Unicode"/>
              </a:rPr>
              <a:t>2 ⎕FIX 'file://',#.WorkshopRoot,'/Exercises/Ex1-Tools/Run.aplf'</a:t>
            </a:r>
          </a:p>
          <a:p>
            <a:r>
              <a:rPr sz="1000" b="0">
                <a:solidFill>
                  <a:schemeClr val="tx1"/>
                </a:solidFill>
                <a:latin typeface="APL385 Unicode"/>
              </a:rPr>
              <a:t>server←Run 8080</a:t>
            </a:r>
          </a:p>
          <a:p>
            <a:r>
              <a:rPr sz="1000" b="0">
                <a:solidFill>
                  <a:schemeClr val="tx1"/>
                </a:solidFill>
                <a:latin typeface="APL385 Unicode"/>
              </a:rPr>
              <a:t>)ED #.Ex1.Hello</a:t>
            </a:r>
          </a:p>
          <a:p>
            <a:endParaRPr sz="1000" b="0">
              <a:solidFill>
                <a:schemeClr val="tx1"/>
              </a:solidFill>
              <a:latin typeface="APL385 Unicode"/>
            </a:endParaRPr>
          </a:p>
          <a:p>
            <a:r>
              <a:rPr sz="1000" b="0">
                <a:solidFill>
                  <a:schemeClr val="tx1"/>
                </a:solidFill>
                <a:latin typeface="APL385 Unicode"/>
              </a:rPr>
              <a:t>server←'Solution' Run 8080</a:t>
            </a:r>
          </a:p>
        </p:txBody>
      </p:sp>
      <p:sp>
        <p:nvSpPr>
          <p:cNvPr id="5" name="step head"/>
          <p:cNvSpPr txBox="1"/>
          <p:nvPr/>
        </p:nvSpPr>
        <p:spPr>
          <a:xfrm>
            <a:off x="5962218" y="1267287"/>
            <a:ext cx="2838611" cy="236501"/>
          </a:xfrm>
          <a:prstGeom prst="rect">
            <a:avLst/>
          </a:prstGeom>
          <a:noFill/>
        </p:spPr>
        <p:txBody>
          <a:bodyPr wrap="square" lIns="0" tIns="0" rIns="0" bIns="0" anchor="t">
            <a:spAutoFit/>
          </a:bodyPr>
          <a:lstStyle/>
          <a:p>
            <a:r>
              <a:rPr sz="1300" b="0">
                <a:solidFill>
                  <a:schemeClr val="accent2"/>
                </a:solidFill>
                <a:latin typeface="APL385 Unicode"/>
              </a:rPr>
              <a:t>Setup</a:t>
            </a:r>
          </a:p>
        </p:txBody>
      </p:sp>
      <p:sp>
        <p:nvSpPr>
          <p:cNvPr id="6" name="text"/>
          <p:cNvSpPr txBox="1"/>
          <p:nvPr/>
        </p:nvSpPr>
        <p:spPr>
          <a:xfrm>
            <a:off x="5962218" y="1503788"/>
            <a:ext cx="2838611" cy="328473"/>
          </a:xfrm>
          <a:prstGeom prst="rect">
            <a:avLst/>
          </a:prstGeom>
          <a:noFill/>
        </p:spPr>
        <p:txBody>
          <a:bodyPr wrap="square" lIns="0" tIns="0" rIns="0" bIns="0" anchor="t">
            <a:spAutoFit/>
          </a:bodyPr>
          <a:lstStyle/>
          <a:p>
            <a:r>
              <a:rPr sz="1100" b="0">
                <a:solidFill>
                  <a:schemeClr val="tx1"/>
                </a:solidFill>
              </a:rPr>
              <a:t>Loads the tools and checks a server can run. Once per session.</a:t>
            </a:r>
          </a:p>
        </p:txBody>
      </p:sp>
      <p:sp>
        <p:nvSpPr>
          <p:cNvPr id="7" name="step head"/>
          <p:cNvSpPr txBox="1"/>
          <p:nvPr/>
        </p:nvSpPr>
        <p:spPr>
          <a:xfrm>
            <a:off x="5962218" y="1845401"/>
            <a:ext cx="2838611" cy="236501"/>
          </a:xfrm>
          <a:prstGeom prst="rect">
            <a:avLst/>
          </a:prstGeom>
          <a:noFill/>
        </p:spPr>
        <p:txBody>
          <a:bodyPr wrap="square" lIns="0" tIns="0" rIns="0" bIns="0" anchor="t">
            <a:spAutoFit/>
          </a:bodyPr>
          <a:lstStyle/>
          <a:p>
            <a:r>
              <a:rPr sz="1300" b="0">
                <a:solidFill>
                  <a:schemeClr val="accent2"/>
                </a:solidFill>
                <a:latin typeface="APL385 Unicode"/>
              </a:rPr>
              <a:t>Run</a:t>
            </a:r>
          </a:p>
        </p:txBody>
      </p:sp>
      <p:sp>
        <p:nvSpPr>
          <p:cNvPr id="8" name="text"/>
          <p:cNvSpPr txBox="1"/>
          <p:nvPr/>
        </p:nvSpPr>
        <p:spPr>
          <a:xfrm>
            <a:off x="5962218" y="2081902"/>
            <a:ext cx="2838611" cy="328473"/>
          </a:xfrm>
          <a:prstGeom prst="rect">
            <a:avLst/>
          </a:prstGeom>
          <a:noFill/>
        </p:spPr>
        <p:txBody>
          <a:bodyPr wrap="square" lIns="0" tIns="0" rIns="0" bIns="0" anchor="t">
            <a:spAutoFit/>
          </a:bodyPr>
          <a:lstStyle/>
          <a:p>
            <a:r>
              <a:rPr sz="1100" b="0">
                <a:solidFill>
                  <a:schemeClr val="tx1"/>
                </a:solidFill>
              </a:rPr>
              <a:t>Starts the exercise's servers on localhost, from Start/.</a:t>
            </a:r>
          </a:p>
        </p:txBody>
      </p:sp>
      <p:sp>
        <p:nvSpPr>
          <p:cNvPr id="9" name="step head"/>
          <p:cNvSpPr txBox="1"/>
          <p:nvPr/>
        </p:nvSpPr>
        <p:spPr>
          <a:xfrm>
            <a:off x="5962218" y="2423515"/>
            <a:ext cx="2838611" cy="236501"/>
          </a:xfrm>
          <a:prstGeom prst="rect">
            <a:avLst/>
          </a:prstGeom>
          <a:noFill/>
        </p:spPr>
        <p:txBody>
          <a:bodyPr wrap="square" lIns="0" tIns="0" rIns="0" bIns="0" anchor="t">
            <a:spAutoFit/>
          </a:bodyPr>
          <a:lstStyle/>
          <a:p>
            <a:r>
              <a:rPr sz="1300" b="0">
                <a:solidFill>
                  <a:schemeClr val="accent2"/>
                </a:solidFill>
                <a:latin typeface="APL385 Unicode"/>
              </a:rPr>
              <a:t>)ED</a:t>
            </a:r>
          </a:p>
        </p:txBody>
      </p:sp>
      <p:sp>
        <p:nvSpPr>
          <p:cNvPr id="10" name="text"/>
          <p:cNvSpPr txBox="1"/>
          <p:nvPr/>
        </p:nvSpPr>
        <p:spPr>
          <a:xfrm>
            <a:off x="5962218" y="2660016"/>
            <a:ext cx="2838611" cy="328473"/>
          </a:xfrm>
          <a:prstGeom prst="rect">
            <a:avLst/>
          </a:prstGeom>
          <a:noFill/>
        </p:spPr>
        <p:txBody>
          <a:bodyPr wrap="square" lIns="0" tIns="0" rIns="0" bIns="0" anchor="t">
            <a:spAutoFit/>
          </a:bodyPr>
          <a:lstStyle/>
          <a:p>
            <a:r>
              <a:rPr sz="1100" b="0">
                <a:solidFill>
                  <a:schemeClr val="tx1"/>
                </a:solidFill>
              </a:rPr>
              <a:t>Edit a function; the running server uses it straight away.</a:t>
            </a:r>
          </a:p>
        </p:txBody>
      </p:sp>
      <p:sp>
        <p:nvSpPr>
          <p:cNvPr id="11" name="step head"/>
          <p:cNvSpPr txBox="1"/>
          <p:nvPr/>
        </p:nvSpPr>
        <p:spPr>
          <a:xfrm>
            <a:off x="5962218" y="3001628"/>
            <a:ext cx="2838611" cy="236501"/>
          </a:xfrm>
          <a:prstGeom prst="rect">
            <a:avLst/>
          </a:prstGeom>
          <a:noFill/>
        </p:spPr>
        <p:txBody>
          <a:bodyPr wrap="square" lIns="0" tIns="0" rIns="0" bIns="0" anchor="t">
            <a:spAutoFit/>
          </a:bodyPr>
          <a:lstStyle/>
          <a:p>
            <a:r>
              <a:rPr sz="1300" b="0">
                <a:solidFill>
                  <a:schemeClr val="accent2"/>
                </a:solidFill>
                <a:latin typeface="APL385 Unicode"/>
              </a:rPr>
              <a:t>'Solution' Run</a:t>
            </a:r>
          </a:p>
        </p:txBody>
      </p:sp>
      <p:sp>
        <p:nvSpPr>
          <p:cNvPr id="12" name="text"/>
          <p:cNvSpPr txBox="1"/>
          <p:nvPr/>
        </p:nvSpPr>
        <p:spPr>
          <a:xfrm>
            <a:off x="5962218" y="3238130"/>
            <a:ext cx="2838611" cy="328473"/>
          </a:xfrm>
          <a:prstGeom prst="rect">
            <a:avLst/>
          </a:prstGeom>
          <a:noFill/>
        </p:spPr>
        <p:txBody>
          <a:bodyPr wrap="square" lIns="0" tIns="0" rIns="0" bIns="0" anchor="t">
            <a:spAutoFit/>
          </a:bodyPr>
          <a:lstStyle/>
          <a:p>
            <a:r>
              <a:rPr sz="1100" b="0">
                <a:solidFill>
                  <a:schemeClr val="tx1"/>
                </a:solidFill>
              </a:rPr>
              <a:t>Catch up: loads the finished version.</a:t>
            </a:r>
          </a:p>
        </p:txBody>
      </p:sp>
      <p:sp>
        <p:nvSpPr>
          <p:cNvPr id="13" name="text"/>
          <p:cNvSpPr txBox="1"/>
          <p:nvPr/>
        </p:nvSpPr>
        <p:spPr>
          <a:xfrm>
            <a:off x="320040" y="3796535"/>
            <a:ext cx="8503920" cy="788337"/>
          </a:xfrm>
          <a:prstGeom prst="rect">
            <a:avLst/>
          </a:prstGeom>
          <a:noFill/>
        </p:spPr>
        <p:txBody>
          <a:bodyPr wrap="square" lIns="0" tIns="0" rIns="0" bIns="0" anchor="t">
            <a:spAutoFit/>
          </a:bodyPr>
          <a:lstStyle/>
          <a:p>
            <a:r>
              <a:rPr sz="1400" b="0">
                <a:solidFill>
                  <a:schemeClr val="tx1"/>
                </a:solidFill>
              </a:rPr>
              <a:t>Every line in the READMEs can be pasted into your session. Your edits live in the session; the files in Start/ don't change. Run stops any server it started earlier, so running it again is always safe.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Dyalog 19 and Dyalog 20</a:t>
            </a:r>
          </a:p>
        </p:txBody>
      </p:sp>
      <p:sp>
        <p:nvSpPr>
          <p:cNvPr id="3" name="text"/>
          <p:cNvSpPr txBox="1"/>
          <p:nvPr/>
        </p:nvSpPr>
        <p:spPr>
          <a:xfrm>
            <a:off x="320040" y="1201592"/>
            <a:ext cx="8503920" cy="492710"/>
          </a:xfrm>
          <a:prstGeom prst="rect">
            <a:avLst/>
          </a:prstGeom>
          <a:noFill/>
        </p:spPr>
        <p:txBody>
          <a:bodyPr wrap="square" lIns="0" tIns="0" rIns="0" bIns="0" anchor="t">
            <a:spAutoFit/>
          </a:bodyPr>
          <a:lstStyle/>
          <a:p>
            <a:r>
              <a:rPr sz="1400" b="0">
                <a:solidFill>
                  <a:schemeClr val="tx1"/>
                </a:solidFill>
              </a:rPr>
              <a:t>All the supplied code runs on Dyalog 19.0 and later. Where Dyalog 20 is neater, the READMEs show both. For example, creating an HttpCommand instance from a namespace of settings:</a:t>
            </a:r>
          </a:p>
        </p:txBody>
      </p:sp>
      <p:sp>
        <p:nvSpPr>
          <p:cNvPr id="4" name="text"/>
          <p:cNvSpPr txBox="1"/>
          <p:nvPr/>
        </p:nvSpPr>
        <p:spPr>
          <a:xfrm>
            <a:off x="320040" y="1825692"/>
            <a:ext cx="2803567" cy="262779"/>
          </a:xfrm>
          <a:prstGeom prst="rect">
            <a:avLst/>
          </a:prstGeom>
          <a:noFill/>
        </p:spPr>
        <p:txBody>
          <a:bodyPr wrap="square" lIns="0" tIns="0" rIns="0" bIns="0" anchor="t">
            <a:spAutoFit/>
          </a:bodyPr>
          <a:lstStyle/>
          <a:p>
            <a:r>
              <a:rPr sz="1300" b="1">
                <a:solidFill>
                  <a:schemeClr val="accent2"/>
                </a:solidFill>
              </a:rPr>
              <a:t>Dyalog 19</a:t>
            </a:r>
          </a:p>
        </p:txBody>
      </p:sp>
      <p:sp>
        <p:nvSpPr>
          <p:cNvPr id="5" name="code panel"/>
          <p:cNvSpPr/>
          <p:nvPr/>
        </p:nvSpPr>
        <p:spPr>
          <a:xfrm>
            <a:off x="320040" y="2121319"/>
            <a:ext cx="8503920" cy="85403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code"/>
          <p:cNvSpPr txBox="1"/>
          <p:nvPr/>
        </p:nvSpPr>
        <p:spPr>
          <a:xfrm>
            <a:off x="460218" y="2200152"/>
            <a:ext cx="8223563" cy="696364"/>
          </a:xfrm>
          <a:prstGeom prst="rect">
            <a:avLst/>
          </a:prstGeom>
          <a:noFill/>
        </p:spPr>
        <p:txBody>
          <a:bodyPr wrap="square" lIns="0" tIns="0" rIns="0" bIns="0" anchor="t">
            <a:spAutoFit/>
          </a:bodyPr>
          <a:lstStyle/>
          <a:p>
            <a:r>
              <a:rPr sz="1000" b="0">
                <a:solidFill>
                  <a:schemeClr val="tx1"/>
                </a:solidFill>
                <a:latin typeface="APL385 Unicode"/>
              </a:rPr>
              <a:t>s←⎕NS''</a:t>
            </a:r>
          </a:p>
          <a:p>
            <a:r>
              <a:rPr sz="1000" b="0">
                <a:solidFill>
                  <a:schemeClr val="tx1"/>
                </a:solidFill>
                <a:latin typeface="APL385 Unicode"/>
              </a:rPr>
              <a:t>s.(Command BaseURL TranslateData)←'get' 'https://official-joke-api.appspot.com' 1</a:t>
            </a:r>
          </a:p>
          <a:p>
            <a:r>
              <a:rPr sz="1000" b="0">
                <a:solidFill>
                  <a:schemeClr val="tx1"/>
                </a:solidFill>
                <a:latin typeface="APL385 Unicode"/>
              </a:rPr>
              <a:t>h←HttpCommand.New s</a:t>
            </a:r>
          </a:p>
        </p:txBody>
      </p:sp>
      <p:sp>
        <p:nvSpPr>
          <p:cNvPr id="7" name="text"/>
          <p:cNvSpPr txBox="1"/>
          <p:nvPr/>
        </p:nvSpPr>
        <p:spPr>
          <a:xfrm>
            <a:off x="320040" y="3106740"/>
            <a:ext cx="5607134" cy="262779"/>
          </a:xfrm>
          <a:prstGeom prst="rect">
            <a:avLst/>
          </a:prstGeom>
          <a:noFill/>
        </p:spPr>
        <p:txBody>
          <a:bodyPr wrap="square" lIns="0" tIns="0" rIns="0" bIns="0" anchor="t">
            <a:spAutoFit/>
          </a:bodyPr>
          <a:lstStyle/>
          <a:p>
            <a:r>
              <a:rPr sz="1300" b="1">
                <a:solidFill>
                  <a:schemeClr val="accent1"/>
                </a:solidFill>
              </a:rPr>
              <a:t>Dyalog 20 alternative, with array notation</a:t>
            </a:r>
          </a:p>
        </p:txBody>
      </p:sp>
      <p:sp>
        <p:nvSpPr>
          <p:cNvPr id="8" name="code panel"/>
          <p:cNvSpPr/>
          <p:nvPr/>
        </p:nvSpPr>
        <p:spPr>
          <a:xfrm>
            <a:off x="320040" y="3402366"/>
            <a:ext cx="8503920" cy="689794"/>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code"/>
          <p:cNvSpPr txBox="1"/>
          <p:nvPr/>
        </p:nvSpPr>
        <p:spPr>
          <a:xfrm>
            <a:off x="460218" y="3481200"/>
            <a:ext cx="8223563" cy="532127"/>
          </a:xfrm>
          <a:prstGeom prst="rect">
            <a:avLst/>
          </a:prstGeom>
          <a:noFill/>
        </p:spPr>
        <p:txBody>
          <a:bodyPr wrap="square" lIns="0" tIns="0" rIns="0" bIns="0" anchor="t">
            <a:spAutoFit/>
          </a:bodyPr>
          <a:lstStyle/>
          <a:p>
            <a:r>
              <a:rPr sz="1000" b="0">
                <a:solidFill>
                  <a:schemeClr val="tx1"/>
                </a:solidFill>
                <a:latin typeface="APL385 Unicode"/>
              </a:rPr>
              <a:t>h←HttpCommand.New (Command: 'get' ⋄ BaseURL: 'https://official-joke-api.appspot.com' ⋄ TranslateData: 1)</a:t>
            </a:r>
          </a:p>
        </p:txBody>
      </p:sp>
      <p:sp>
        <p:nvSpPr>
          <p:cNvPr id="10" name="text"/>
          <p:cNvSpPr txBox="1"/>
          <p:nvPr/>
        </p:nvSpPr>
        <p:spPr>
          <a:xfrm>
            <a:off x="320040" y="4256398"/>
            <a:ext cx="8503920" cy="394168"/>
          </a:xfrm>
          <a:prstGeom prst="rect">
            <a:avLst/>
          </a:prstGeom>
          <a:noFill/>
        </p:spPr>
        <p:txBody>
          <a:bodyPr wrap="square" lIns="0" tIns="0" rIns="0" bIns="0" anchor="t">
            <a:spAutoFit/>
          </a:bodyPr>
          <a:lstStyle/>
          <a:p>
            <a:r>
              <a:rPr sz="1300" b="0">
                <a:solidFill>
                  <a:schemeClr val="tx1"/>
                </a:solidFill>
              </a:rPr>
              <a:t>The other Dyalog 20 alternatives you'll see: </a:t>
            </a:r>
            <a:r>
              <a:rPr sz="1300" b="0">
                <a:solidFill>
                  <a:schemeClr val="tx1"/>
                </a:solidFill>
                <a:latin typeface="APL385 Unicode"/>
              </a:rPr>
              <a:t>⎕</a:t>
            </a:r>
            <a:r>
              <a:rPr sz="1300" b="0">
                <a:solidFill>
                  <a:schemeClr val="tx1"/>
                </a:solidFill>
              </a:rPr>
              <a:t>VGET with a default (an optional field), and </a:t>
            </a:r>
            <a:r>
              <a:rPr sz="1300" b="0">
                <a:solidFill>
                  <a:schemeClr val="tx1"/>
                </a:solidFill>
                <a:latin typeface="APL385 Unicode"/>
              </a:rPr>
              <a:t>⎕</a:t>
            </a:r>
            <a:r>
              <a:rPr sz="1300" b="0">
                <a:solidFill>
                  <a:schemeClr val="tx1"/>
                </a:solidFill>
              </a:rPr>
              <a:t>VSET (filling in a namespace).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Exercise 1: Introducing the tools</a:t>
            </a:r>
          </a:p>
        </p:txBody>
      </p:sp>
      <p:sp>
        <p:nvSpPr>
          <p:cNvPr id="3" name="time"/>
          <p:cNvSpPr txBox="1"/>
          <p:nvPr/>
        </p:nvSpPr>
        <p:spPr>
          <a:xfrm>
            <a:off x="320040" y="1234440"/>
            <a:ext cx="3931920" cy="274320"/>
          </a:xfrm>
          <a:prstGeom prst="rect">
            <a:avLst/>
          </a:prstGeom>
          <a:noFill/>
        </p:spPr>
        <p:txBody>
          <a:bodyPr wrap="square" lIns="0" tIns="0" rIns="0" bIns="0" anchor="t">
            <a:spAutoFit/>
          </a:bodyPr>
          <a:lstStyle/>
          <a:p>
            <a:r>
              <a:rPr sz="1400" b="1">
                <a:solidFill>
                  <a:schemeClr val="accent1"/>
                </a:solidFill>
              </a:rPr>
              <a:t>30 minutes</a:t>
            </a:r>
          </a:p>
        </p:txBody>
      </p:sp>
      <p:sp>
        <p:nvSpPr>
          <p:cNvPr id="4" name="goal"/>
          <p:cNvSpPr txBox="1"/>
          <p:nvPr/>
        </p:nvSpPr>
        <p:spPr>
          <a:xfrm>
            <a:off x="320040" y="1554480"/>
            <a:ext cx="3931920" cy="1280160"/>
          </a:xfrm>
          <a:prstGeom prst="rect">
            <a:avLst/>
          </a:prstGeom>
          <a:noFill/>
        </p:spPr>
        <p:txBody>
          <a:bodyPr wrap="square" lIns="0" tIns="0" rIns="0" bIns="0" anchor="t">
            <a:spAutoFit/>
          </a:bodyPr>
          <a:lstStyle/>
          <a:p>
            <a:r>
              <a:rPr sz="1500" b="0">
                <a:solidFill>
                  <a:schemeClr val="tx1"/>
                </a:solidFill>
              </a:rPr>
              <a:t>Call a public web service with HttpCommand, then write a Jarvis service and call it from your browser and from APL.</a:t>
            </a:r>
          </a:p>
        </p:txBody>
      </p:sp>
      <p:sp>
        <p:nvSpPr>
          <p:cNvPr id="5" name="steps head"/>
          <p:cNvSpPr txBox="1"/>
          <p:nvPr/>
        </p:nvSpPr>
        <p:spPr>
          <a:xfrm>
            <a:off x="4572000" y="1234440"/>
            <a:ext cx="4251960" cy="274320"/>
          </a:xfrm>
          <a:prstGeom prst="rect">
            <a:avLst/>
          </a:prstGeom>
          <a:noFill/>
        </p:spPr>
        <p:txBody>
          <a:bodyPr wrap="square" lIns="0" tIns="0" rIns="0" bIns="0" anchor="t">
            <a:spAutoFit/>
          </a:bodyPr>
          <a:lstStyle/>
          <a:p>
            <a:r>
              <a:rPr sz="1300" b="1">
                <a:solidFill>
                  <a:schemeClr val="accent2"/>
                </a:solidFill>
              </a:rPr>
              <a:t>Core steps</a:t>
            </a:r>
          </a:p>
        </p:txBody>
      </p:sp>
      <p:sp>
        <p:nvSpPr>
          <p:cNvPr id="6" name="steps"/>
          <p:cNvSpPr txBox="1"/>
          <p:nvPr/>
        </p:nvSpPr>
        <p:spPr>
          <a:xfrm>
            <a:off x="4572000" y="1554480"/>
            <a:ext cx="4251960" cy="1600200"/>
          </a:xfrm>
          <a:prstGeom prst="rect">
            <a:avLst/>
          </a:prstGeom>
          <a:noFill/>
        </p:spPr>
        <p:txBody>
          <a:bodyPr wrap="square" lIns="0" tIns="0" rIns="0" bIns="0" anchor="t">
            <a:spAutoFit/>
          </a:bodyPr>
          <a:lstStyle/>
          <a:p>
            <a:pPr>
              <a:spcAft>
                <a:spcPts val="200"/>
              </a:spcAft>
            </a:pPr>
            <a:r>
              <a:rPr sz="1200" b="0">
                <a:solidFill>
                  <a:schemeClr val="tx1"/>
                </a:solidFill>
              </a:rPr>
              <a:t>Part A (A1 to A4): HttpCommand and the Joke API: rc versus HttpStatus, BaseURL, a namespace of settings</a:t>
            </a:r>
          </a:p>
          <a:p>
            <a:pPr>
              <a:spcAft>
                <a:spcPts val="200"/>
              </a:spcAft>
            </a:pPr>
            <a:r>
              <a:rPr sz="1200" b="0">
                <a:solidFill>
                  <a:schemeClr val="tx1"/>
                </a:solidFill>
              </a:rPr>
              <a:t>Part B (B1 to B6): a Jarvis service with Hello and Sum, called with a JSON body and with a query string</a:t>
            </a:r>
          </a:p>
        </p:txBody>
      </p:sp>
      <p:sp>
        <p:nvSpPr>
          <p:cNvPr id="7" name="first head"/>
          <p:cNvSpPr txBox="1"/>
          <p:nvPr/>
        </p:nvSpPr>
        <p:spPr>
          <a:xfrm>
            <a:off x="320040" y="3291840"/>
            <a:ext cx="5486400" cy="256032"/>
          </a:xfrm>
          <a:prstGeom prst="rect">
            <a:avLst/>
          </a:prstGeom>
          <a:noFill/>
        </p:spPr>
        <p:txBody>
          <a:bodyPr wrap="square" lIns="0" tIns="0" rIns="0" bIns="0" anchor="t">
            <a:spAutoFit/>
          </a:bodyPr>
          <a:lstStyle/>
          <a:p>
            <a:r>
              <a:rPr sz="1200" b="1">
                <a:solidFill>
                  <a:schemeClr val="accent2"/>
                </a:solidFill>
              </a:rPr>
              <a:t>Start here, after Setup</a:t>
            </a:r>
          </a:p>
        </p:txBody>
      </p:sp>
      <p:sp>
        <p:nvSpPr>
          <p:cNvPr id="8" name="code panel"/>
          <p:cNvSpPr/>
          <p:nvPr/>
        </p:nvSpPr>
        <p:spPr>
          <a:xfrm>
            <a:off x="320040" y="3584448"/>
            <a:ext cx="8503920" cy="475488"/>
          </a:xfrm>
          <a:prstGeom prst="roundRect">
            <a:avLst>
              <a:gd name="adj" fmla="val 8000"/>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code"/>
          <p:cNvSpPr txBox="1"/>
          <p:nvPr/>
        </p:nvSpPr>
        <p:spPr>
          <a:xfrm>
            <a:off x="457200" y="3694176"/>
            <a:ext cx="8229600" cy="292608"/>
          </a:xfrm>
          <a:prstGeom prst="rect">
            <a:avLst/>
          </a:prstGeom>
          <a:noFill/>
        </p:spPr>
        <p:txBody>
          <a:bodyPr wrap="square" lIns="0" tIns="0" rIns="0" bIns="0" anchor="t">
            <a:spAutoFit/>
          </a:bodyPr>
          <a:lstStyle/>
          <a:p>
            <a:r>
              <a:rPr sz="1100" b="0">
                <a:solidFill>
                  <a:schemeClr val="bg1"/>
                </a:solidFill>
                <a:latin typeface="APL385 Unicode"/>
              </a:rPr>
              <a:t>2 ⎕FIX 'file://',#.WorkshopRoot,'/Exercises/Ex1-Tools/Run.aplf'</a:t>
            </a:r>
          </a:p>
        </p:txBody>
      </p:sp>
      <p:sp>
        <p:nvSpPr>
          <p:cNvPr id="10" name="readme"/>
          <p:cNvSpPr txBox="1"/>
          <p:nvPr/>
        </p:nvSpPr>
        <p:spPr>
          <a:xfrm>
            <a:off x="320040" y="4123944"/>
            <a:ext cx="8503920" cy="228600"/>
          </a:xfrm>
          <a:prstGeom prst="rect">
            <a:avLst/>
          </a:prstGeom>
          <a:noFill/>
        </p:spPr>
        <p:txBody>
          <a:bodyPr wrap="square" lIns="0" tIns="0" rIns="0" bIns="0" anchor="t">
            <a:spAutoFit/>
          </a:bodyPr>
          <a:lstStyle/>
          <a:p>
            <a:r>
              <a:rPr sz="1200" b="0">
                <a:solidFill>
                  <a:schemeClr val="tx2"/>
                </a:solidFill>
              </a:rPr>
              <a:t>Exercises/Ex1-Tools/README.md    No network? The README has an offline route.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Web hooks</a:t>
            </a:r>
          </a:p>
        </p:txBody>
      </p:sp>
      <p:sp>
        <p:nvSpPr>
          <p:cNvPr id="3" name="Text Placeholder 2"/>
          <p:cNvSpPr>
            <a:spLocks noGrp="1"/>
          </p:cNvSpPr>
          <p:nvPr>
            <p:ph type="body" sz="quarter" idx="10"/>
          </p:nvPr>
        </p:nvSpPr>
        <p:spPr/>
        <p:txBody>
          <a:bodyPr/>
          <a:lstStyle/>
          <a:p>
            <a:r>
              <a:rPr sz="1800" b="0">
                <a:solidFill>
                  <a:schemeClr val="tx1"/>
                </a:solidFill>
              </a:rPr>
              <a:t>Don't wait for the answer: get a ticket, and be called back</a:t>
            </a:r>
          </a:p>
          <a:p>
            <a:r>
              <a:rPr sz="1400" b="0">
                <a:solidFill>
                  <a:schemeClr val="accent1"/>
                </a:solidFill>
              </a:rPr>
              <a:t>10 minutes, then Exercise 2 after the break</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The ticket pattern</a:t>
            </a:r>
          </a:p>
        </p:txBody>
      </p:sp>
      <p:cxnSp>
        <p:nvCxnSpPr>
          <p:cNvPr id="3" name="lane"/>
          <p:cNvCxnSpPr/>
          <p:nvPr/>
        </p:nvCxnSpPr>
        <p:spPr>
          <a:xfrm>
            <a:off x="1737360" y="1595761"/>
            <a:ext cx="0" cy="2890569"/>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4" name="lane head"/>
          <p:cNvSpPr/>
          <p:nvPr/>
        </p:nvSpPr>
        <p:spPr>
          <a:xfrm>
            <a:off x="826200" y="1234440"/>
            <a:ext cx="1822318"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lane name"/>
          <p:cNvSpPr txBox="1"/>
          <p:nvPr/>
        </p:nvSpPr>
        <p:spPr>
          <a:xfrm>
            <a:off x="826200" y="1234440"/>
            <a:ext cx="1822318" cy="361321"/>
          </a:xfrm>
          <a:prstGeom prst="rect">
            <a:avLst/>
          </a:prstGeom>
          <a:noFill/>
        </p:spPr>
        <p:txBody>
          <a:bodyPr wrap="square" lIns="0" tIns="0" rIns="0" bIns="0" anchor="ctr">
            <a:spAutoFit/>
          </a:bodyPr>
          <a:lstStyle/>
          <a:p>
            <a:pPr algn="ctr"/>
            <a:r>
              <a:rPr sz="1200" b="1">
                <a:solidFill>
                  <a:schemeClr val="tx1"/>
                </a:solidFill>
              </a:rPr>
              <a:t>Client</a:t>
            </a:r>
          </a:p>
        </p:txBody>
      </p:sp>
      <p:cxnSp>
        <p:nvCxnSpPr>
          <p:cNvPr id="6" name="lane"/>
          <p:cNvCxnSpPr/>
          <p:nvPr/>
        </p:nvCxnSpPr>
        <p:spPr>
          <a:xfrm>
            <a:off x="4572000" y="1595761"/>
            <a:ext cx="0" cy="2890569"/>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7" name="lane head"/>
          <p:cNvSpPr/>
          <p:nvPr/>
        </p:nvSpPr>
        <p:spPr>
          <a:xfrm>
            <a:off x="3660840" y="1234440"/>
            <a:ext cx="1822318"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lane name"/>
          <p:cNvSpPr txBox="1"/>
          <p:nvPr/>
        </p:nvSpPr>
        <p:spPr>
          <a:xfrm>
            <a:off x="3660840" y="1234440"/>
            <a:ext cx="1822318" cy="361321"/>
          </a:xfrm>
          <a:prstGeom prst="rect">
            <a:avLst/>
          </a:prstGeom>
          <a:noFill/>
        </p:spPr>
        <p:txBody>
          <a:bodyPr wrap="square" lIns="0" tIns="0" rIns="0" bIns="0" anchor="ctr">
            <a:spAutoFit/>
          </a:bodyPr>
          <a:lstStyle/>
          <a:p>
            <a:pPr algn="ctr"/>
            <a:r>
              <a:rPr sz="1200" b="1">
                <a:solidFill>
                  <a:schemeClr val="tx1"/>
                </a:solidFill>
              </a:rPr>
              <a:t>Ticket server :8081</a:t>
            </a:r>
          </a:p>
        </p:txBody>
      </p:sp>
      <p:cxnSp>
        <p:nvCxnSpPr>
          <p:cNvPr id="9" name="lane"/>
          <p:cNvCxnSpPr/>
          <p:nvPr/>
        </p:nvCxnSpPr>
        <p:spPr>
          <a:xfrm>
            <a:off x="7406640" y="1595761"/>
            <a:ext cx="0" cy="2890569"/>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10" name="lane head"/>
          <p:cNvSpPr/>
          <p:nvPr/>
        </p:nvSpPr>
        <p:spPr>
          <a:xfrm>
            <a:off x="6495480" y="1234440"/>
            <a:ext cx="1822318"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lane name"/>
          <p:cNvSpPr txBox="1"/>
          <p:nvPr/>
        </p:nvSpPr>
        <p:spPr>
          <a:xfrm>
            <a:off x="6495480" y="1234440"/>
            <a:ext cx="1822318" cy="361321"/>
          </a:xfrm>
          <a:prstGeom prst="rect">
            <a:avLst/>
          </a:prstGeom>
          <a:noFill/>
        </p:spPr>
        <p:txBody>
          <a:bodyPr wrap="square" lIns="0" tIns="0" rIns="0" bIns="0" anchor="ctr">
            <a:spAutoFit/>
          </a:bodyPr>
          <a:lstStyle/>
          <a:p>
            <a:pPr algn="ctr"/>
            <a:r>
              <a:rPr sz="1200" b="1">
                <a:solidFill>
                  <a:schemeClr val="tx1"/>
                </a:solidFill>
              </a:rPr>
              <a:t>Callback server :8082</a:t>
            </a:r>
          </a:p>
        </p:txBody>
      </p:sp>
      <p:cxnSp>
        <p:nvCxnSpPr>
          <p:cNvPr id="12" name="message"/>
          <p:cNvCxnSpPr/>
          <p:nvPr/>
        </p:nvCxnSpPr>
        <p:spPr>
          <a:xfrm>
            <a:off x="1737360" y="2285556"/>
            <a:ext cx="2834640"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13" name="message label"/>
          <p:cNvSpPr txBox="1"/>
          <p:nvPr/>
        </p:nvSpPr>
        <p:spPr>
          <a:xfrm>
            <a:off x="1772404" y="1681164"/>
            <a:ext cx="2764550" cy="558405"/>
          </a:xfrm>
          <a:prstGeom prst="rect">
            <a:avLst/>
          </a:prstGeom>
          <a:noFill/>
        </p:spPr>
        <p:txBody>
          <a:bodyPr wrap="square" lIns="0" tIns="0" rIns="0" bIns="0" anchor="b">
            <a:spAutoFit/>
          </a:bodyPr>
          <a:lstStyle/>
          <a:p>
            <a:pPr algn="ctr"/>
            <a:r>
              <a:rPr sz="1000" b="0">
                <a:solidFill>
                  <a:schemeClr val="tx1"/>
                </a:solidFill>
                <a:latin typeface="APL385 Unicode"/>
              </a:rPr>
              <a:t>POST /Submit</a:t>
            </a:r>
          </a:p>
          <a:p>
            <a:pPr algn="ctr"/>
            <a:r>
              <a:rPr sz="1000" b="0">
                <a:solidFill>
                  <a:schemeClr val="tx1"/>
                </a:solidFill>
                <a:latin typeface="APL385 Unicode"/>
              </a:rPr>
              <a:t>{"n":360,"callback":</a:t>
            </a:r>
          </a:p>
          <a:p>
            <a:pPr algn="ctr"/>
            <a:r>
              <a:rPr sz="1000" b="0">
                <a:solidFill>
                  <a:schemeClr val="tx1"/>
                </a:solidFill>
                <a:latin typeface="APL385 Unicode"/>
              </a:rPr>
              <a:t>"http://localhost:8082/Result"}</a:t>
            </a:r>
          </a:p>
        </p:txBody>
      </p:sp>
      <p:cxnSp>
        <p:nvCxnSpPr>
          <p:cNvPr id="14" name="message"/>
          <p:cNvCxnSpPr/>
          <p:nvPr/>
        </p:nvCxnSpPr>
        <p:spPr>
          <a:xfrm flipH="1">
            <a:off x="1737360" y="2745419"/>
            <a:ext cx="2834640"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5" name="message label"/>
          <p:cNvSpPr txBox="1"/>
          <p:nvPr/>
        </p:nvSpPr>
        <p:spPr>
          <a:xfrm>
            <a:off x="1772404" y="2462931"/>
            <a:ext cx="2764550" cy="236501"/>
          </a:xfrm>
          <a:prstGeom prst="rect">
            <a:avLst/>
          </a:prstGeom>
          <a:noFill/>
        </p:spPr>
        <p:txBody>
          <a:bodyPr wrap="square" lIns="0" tIns="0" rIns="0" bIns="0" anchor="b">
            <a:spAutoFit/>
          </a:bodyPr>
          <a:lstStyle/>
          <a:p>
            <a:pPr algn="ctr"/>
            <a:r>
              <a:rPr sz="1000" b="0">
                <a:solidFill>
                  <a:schemeClr val="tx1"/>
                </a:solidFill>
                <a:latin typeface="APL385 Unicode"/>
              </a:rPr>
              <a:t>{"ticket":17}  at once</a:t>
            </a:r>
          </a:p>
        </p:txBody>
      </p:sp>
      <p:sp>
        <p:nvSpPr>
          <p:cNvPr id="16" name="lane note"/>
          <p:cNvSpPr/>
          <p:nvPr/>
        </p:nvSpPr>
        <p:spPr>
          <a:xfrm>
            <a:off x="3520662" y="2975351"/>
            <a:ext cx="2102675" cy="591252"/>
          </a:xfrm>
          <a:prstGeom prst="roundRect">
            <a:avLst>
              <a:gd name="adj" fmla="val 8000"/>
            </a:avLst>
          </a:prstGeom>
          <a:solidFill>
            <a:schemeClr val="accent4">
              <a:lumMod val="30000"/>
              <a:lumOff val="7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lane note text"/>
          <p:cNvSpPr txBox="1"/>
          <p:nvPr/>
        </p:nvSpPr>
        <p:spPr>
          <a:xfrm>
            <a:off x="3576733" y="2975351"/>
            <a:ext cx="1990532" cy="591252"/>
          </a:xfrm>
          <a:prstGeom prst="rect">
            <a:avLst/>
          </a:prstGeom>
          <a:noFill/>
        </p:spPr>
        <p:txBody>
          <a:bodyPr wrap="square" lIns="0" tIns="0" rIns="0" bIns="0" anchor="ctr">
            <a:spAutoFit/>
          </a:bodyPr>
          <a:lstStyle/>
          <a:p>
            <a:pPr algn="ctr"/>
            <a:r>
              <a:rPr sz="1000" b="0">
                <a:solidFill>
                  <a:schemeClr val="tx1"/>
                </a:solidFill>
              </a:rPr>
              <a:t>Work runs in its own thread:</a:t>
            </a:r>
          </a:p>
          <a:p>
            <a:pPr algn="ctr"/>
            <a:r>
              <a:rPr sz="1000" b="0">
                <a:solidFill>
                  <a:schemeClr val="tx1"/>
                </a:solidFill>
              </a:rPr>
              <a:t>Factors 360</a:t>
            </a:r>
          </a:p>
        </p:txBody>
      </p:sp>
      <p:cxnSp>
        <p:nvCxnSpPr>
          <p:cNvPr id="18" name="message"/>
          <p:cNvCxnSpPr/>
          <p:nvPr/>
        </p:nvCxnSpPr>
        <p:spPr>
          <a:xfrm>
            <a:off x="4572000" y="4322093"/>
            <a:ext cx="2834640"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9" name="message label"/>
          <p:cNvSpPr txBox="1"/>
          <p:nvPr/>
        </p:nvSpPr>
        <p:spPr>
          <a:xfrm>
            <a:off x="4607044" y="3717701"/>
            <a:ext cx="2764550" cy="558405"/>
          </a:xfrm>
          <a:prstGeom prst="rect">
            <a:avLst/>
          </a:prstGeom>
          <a:noFill/>
        </p:spPr>
        <p:txBody>
          <a:bodyPr wrap="square" lIns="0" tIns="0" rIns="0" bIns="0" anchor="b">
            <a:spAutoFit/>
          </a:bodyPr>
          <a:lstStyle/>
          <a:p>
            <a:pPr algn="ctr"/>
            <a:r>
              <a:rPr sz="1000" b="0">
                <a:solidFill>
                  <a:schemeClr val="tx1"/>
                </a:solidFill>
                <a:latin typeface="APL385 Unicode"/>
              </a:rPr>
              <a:t>POST /Result</a:t>
            </a:r>
          </a:p>
          <a:p>
            <a:pPr algn="ctr"/>
            <a:r>
              <a:rPr sz="1000" b="0">
                <a:solidFill>
                  <a:schemeClr val="tx1"/>
                </a:solidFill>
                <a:latin typeface="APL385 Unicode"/>
              </a:rPr>
              <a:t>{"ticket":17,"n":360,</a:t>
            </a:r>
          </a:p>
          <a:p>
            <a:pPr algn="ctr"/>
            <a:r>
              <a:rPr sz="1000" b="0">
                <a:solidFill>
                  <a:schemeClr val="tx1"/>
                </a:solidFill>
                <a:latin typeface="APL385 Unicode"/>
              </a:rPr>
              <a:t>"factors":[2,2,2,3,3,5]}</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Answer now, work later</a:t>
            </a:r>
          </a:p>
        </p:txBody>
      </p:sp>
      <p:sp>
        <p:nvSpPr>
          <p:cNvPr id="3" name="code panel"/>
          <p:cNvSpPr/>
          <p:nvPr/>
        </p:nvSpPr>
        <p:spPr>
          <a:xfrm>
            <a:off x="320040" y="1267287"/>
            <a:ext cx="4836153" cy="2167926"/>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code"/>
          <p:cNvSpPr txBox="1"/>
          <p:nvPr/>
        </p:nvSpPr>
        <p:spPr>
          <a:xfrm>
            <a:off x="460218" y="1346121"/>
            <a:ext cx="4555796" cy="2010259"/>
          </a:xfrm>
          <a:prstGeom prst="rect">
            <a:avLst/>
          </a:prstGeom>
          <a:noFill/>
        </p:spPr>
        <p:txBody>
          <a:bodyPr wrap="square" lIns="0" tIns="0" rIns="0" bIns="0" anchor="t">
            <a:spAutoFit/>
          </a:bodyPr>
          <a:lstStyle/>
          <a:p>
            <a:r>
              <a:rPr sz="1300" b="0">
                <a:solidFill>
                  <a:schemeClr val="tx1"/>
                </a:solidFill>
                <a:latin typeface="APL385 Unicode"/>
              </a:rPr>
              <a:t> :Hold 'Ex2Ticket'</a:t>
            </a:r>
          </a:p>
          <a:p>
            <a:r>
              <a:rPr sz="1300" b="0">
                <a:solidFill>
                  <a:schemeClr val="tx1"/>
                </a:solidFill>
                <a:latin typeface="APL385 Unicode"/>
              </a:rPr>
              <a:t>     ticket←LastTicket←LastTicket+1</a:t>
            </a:r>
          </a:p>
          <a:p>
            <a:r>
              <a:rPr sz="1300" b="0">
                <a:solidFill>
                  <a:schemeClr val="tx1"/>
                </a:solidFill>
                <a:latin typeface="APL385 Unicode"/>
              </a:rPr>
              <a:t> :EndHold</a:t>
            </a:r>
          </a:p>
          <a:p>
            <a:r>
              <a:rPr sz="1300" b="0">
                <a:solidFill>
                  <a:schemeClr val="tx1"/>
                </a:solidFill>
                <a:latin typeface="APL385 Unicode"/>
              </a:rPr>
              <a:t> Work&amp;ticket job   ⍝ &amp; starts a new thread</a:t>
            </a:r>
          </a:p>
          <a:p>
            <a:r>
              <a:rPr sz="1300" b="0">
                <a:solidFill>
                  <a:schemeClr val="tx1"/>
                </a:solidFill>
                <a:latin typeface="APL385 Unicode"/>
              </a:rPr>
              <a:t> r←⎕NS''</a:t>
            </a:r>
          </a:p>
          <a:p>
            <a:r>
              <a:rPr sz="1300" b="0">
                <a:solidFill>
                  <a:schemeClr val="tx1"/>
                </a:solidFill>
                <a:latin typeface="APL385 Unicode"/>
              </a:rPr>
              <a:t> r.ticket←ticket</a:t>
            </a:r>
          </a:p>
        </p:txBody>
      </p:sp>
      <p:sp>
        <p:nvSpPr>
          <p:cNvPr id="5" name="text"/>
          <p:cNvSpPr txBox="1"/>
          <p:nvPr/>
        </p:nvSpPr>
        <p:spPr>
          <a:xfrm>
            <a:off x="320040" y="3566603"/>
            <a:ext cx="4836153" cy="328473"/>
          </a:xfrm>
          <a:prstGeom prst="rect">
            <a:avLst/>
          </a:prstGeom>
          <a:noFill/>
        </p:spPr>
        <p:txBody>
          <a:bodyPr wrap="square" lIns="0" tIns="0" rIns="0" bIns="0" anchor="t">
            <a:spAutoFit/>
          </a:bodyPr>
          <a:lstStyle/>
          <a:p>
            <a:r>
              <a:rPr sz="1100" b="0">
                <a:solidFill>
                  <a:schemeClr val="tx2"/>
                </a:solidFill>
              </a:rPr>
              <a:t>From Submit, the ticket server's endpoint</a:t>
            </a:r>
          </a:p>
        </p:txBody>
      </p:sp>
      <p:sp>
        <p:nvSpPr>
          <p:cNvPr id="6" name="card"/>
          <p:cNvSpPr/>
          <p:nvPr/>
        </p:nvSpPr>
        <p:spPr>
          <a:xfrm>
            <a:off x="5366460" y="1267287"/>
            <a:ext cx="3434369"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card head"/>
          <p:cNvSpPr txBox="1"/>
          <p:nvPr/>
        </p:nvSpPr>
        <p:spPr>
          <a:xfrm>
            <a:off x="5576728" y="1411815"/>
            <a:ext cx="3013834" cy="328473"/>
          </a:xfrm>
          <a:prstGeom prst="rect">
            <a:avLst/>
          </a:prstGeom>
          <a:noFill/>
        </p:spPr>
        <p:txBody>
          <a:bodyPr wrap="square" lIns="0" tIns="0" rIns="0" bIns="0" anchor="t">
            <a:spAutoFit/>
          </a:bodyPr>
          <a:lstStyle/>
          <a:p>
            <a:r>
              <a:rPr sz="1500" b="1">
                <a:solidFill>
                  <a:schemeClr val="tx1"/>
                </a:solidFill>
              </a:rPr>
              <a:t>Reply at once</a:t>
            </a:r>
          </a:p>
        </p:txBody>
      </p:sp>
      <p:sp>
        <p:nvSpPr>
          <p:cNvPr id="8" name="card body"/>
          <p:cNvSpPr txBox="1"/>
          <p:nvPr/>
        </p:nvSpPr>
        <p:spPr>
          <a:xfrm>
            <a:off x="5576728" y="1792845"/>
            <a:ext cx="3013834" cy="427015"/>
          </a:xfrm>
          <a:prstGeom prst="rect">
            <a:avLst/>
          </a:prstGeom>
          <a:noFill/>
        </p:spPr>
        <p:txBody>
          <a:bodyPr wrap="square" lIns="0" tIns="0" rIns="0" bIns="0" anchor="t">
            <a:spAutoFit/>
          </a:bodyPr>
          <a:lstStyle/>
          <a:p>
            <a:r>
              <a:rPr sz="1100" b="0">
                <a:solidFill>
                  <a:schemeClr val="tx1"/>
                </a:solidFill>
              </a:rPr>
              <a:t>&amp; runs Work in a new thread, so Submit returns the ticket straight away.</a:t>
            </a:r>
          </a:p>
        </p:txBody>
      </p:sp>
      <p:sp>
        <p:nvSpPr>
          <p:cNvPr id="9" name="card"/>
          <p:cNvSpPr/>
          <p:nvPr/>
        </p:nvSpPr>
        <p:spPr>
          <a:xfrm>
            <a:off x="5366460" y="2416945"/>
            <a:ext cx="3434369"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card head"/>
          <p:cNvSpPr txBox="1"/>
          <p:nvPr/>
        </p:nvSpPr>
        <p:spPr>
          <a:xfrm>
            <a:off x="5576728" y="2561474"/>
            <a:ext cx="3013834" cy="328473"/>
          </a:xfrm>
          <a:prstGeom prst="rect">
            <a:avLst/>
          </a:prstGeom>
          <a:noFill/>
        </p:spPr>
        <p:txBody>
          <a:bodyPr wrap="square" lIns="0" tIns="0" rIns="0" bIns="0" anchor="t">
            <a:spAutoFit/>
          </a:bodyPr>
          <a:lstStyle/>
          <a:p>
            <a:r>
              <a:rPr sz="1500" b="1">
                <a:solidFill>
                  <a:schemeClr val="tx1"/>
                </a:solidFill>
              </a:rPr>
              <a:t>One ticket each</a:t>
            </a:r>
          </a:p>
        </p:txBody>
      </p:sp>
      <p:sp>
        <p:nvSpPr>
          <p:cNvPr id="11" name="card body"/>
          <p:cNvSpPr txBox="1"/>
          <p:nvPr/>
        </p:nvSpPr>
        <p:spPr>
          <a:xfrm>
            <a:off x="5576728" y="2942503"/>
            <a:ext cx="3013834" cy="427015"/>
          </a:xfrm>
          <a:prstGeom prst="rect">
            <a:avLst/>
          </a:prstGeom>
          <a:noFill/>
        </p:spPr>
        <p:txBody>
          <a:bodyPr wrap="square" lIns="0" tIns="0" rIns="0" bIns="0" anchor="t">
            <a:spAutoFit/>
          </a:bodyPr>
          <a:lstStyle/>
          <a:p>
            <a:r>
              <a:rPr sz="1100" b="0">
                <a:solidFill>
                  <a:schemeClr val="tx1"/>
                </a:solidFill>
              </a:rPr>
              <a:t>:Hold makes sure two requests never get the same number.</a:t>
            </a:r>
          </a:p>
        </p:txBody>
      </p:sp>
      <p:sp>
        <p:nvSpPr>
          <p:cNvPr id="12" name="card"/>
          <p:cNvSpPr/>
          <p:nvPr/>
        </p:nvSpPr>
        <p:spPr>
          <a:xfrm>
            <a:off x="5366460" y="3566603"/>
            <a:ext cx="3434369"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card head"/>
          <p:cNvSpPr txBox="1"/>
          <p:nvPr/>
        </p:nvSpPr>
        <p:spPr>
          <a:xfrm>
            <a:off x="5576728" y="3711132"/>
            <a:ext cx="3013834" cy="328473"/>
          </a:xfrm>
          <a:prstGeom prst="rect">
            <a:avLst/>
          </a:prstGeom>
          <a:noFill/>
        </p:spPr>
        <p:txBody>
          <a:bodyPr wrap="square" lIns="0" tIns="0" rIns="0" bIns="0" anchor="t">
            <a:spAutoFit/>
          </a:bodyPr>
          <a:lstStyle/>
          <a:p>
            <a:r>
              <a:rPr sz="1500" b="1">
                <a:solidFill>
                  <a:schemeClr val="tx1"/>
                </a:solidFill>
              </a:rPr>
              <a:t>Check first</a:t>
            </a:r>
          </a:p>
        </p:txBody>
      </p:sp>
      <p:sp>
        <p:nvSpPr>
          <p:cNvPr id="14" name="card body"/>
          <p:cNvSpPr txBox="1"/>
          <p:nvPr/>
        </p:nvSpPr>
        <p:spPr>
          <a:xfrm>
            <a:off x="5576728" y="4092161"/>
            <a:ext cx="3013834" cy="427015"/>
          </a:xfrm>
          <a:prstGeom prst="rect">
            <a:avLst/>
          </a:prstGeom>
          <a:noFill/>
        </p:spPr>
        <p:txBody>
          <a:bodyPr wrap="square" lIns="0" tIns="0" rIns="0" bIns="0" anchor="t">
            <a:spAutoFit/>
          </a:bodyPr>
          <a:lstStyle/>
          <a:p>
            <a:r>
              <a:rPr sz="1100" b="0">
                <a:solidFill>
                  <a:schemeClr val="tx1"/>
                </a:solidFill>
              </a:rPr>
              <a:t>Check the job before giving a ticket: after that, a bad job can only fail out of sight.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When the call back fails</a:t>
            </a:r>
          </a:p>
        </p:txBody>
      </p:sp>
      <p:sp>
        <p:nvSpPr>
          <p:cNvPr id="3" name="code panel"/>
          <p:cNvSpPr/>
          <p:nvPr/>
        </p:nvSpPr>
        <p:spPr>
          <a:xfrm>
            <a:off x="320040" y="1267287"/>
            <a:ext cx="8503920" cy="1313895"/>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code"/>
          <p:cNvSpPr txBox="1"/>
          <p:nvPr/>
        </p:nvSpPr>
        <p:spPr>
          <a:xfrm>
            <a:off x="460218" y="1346121"/>
            <a:ext cx="8223563" cy="1156227"/>
          </a:xfrm>
          <a:prstGeom prst="rect">
            <a:avLst/>
          </a:prstGeom>
          <a:noFill/>
        </p:spPr>
        <p:txBody>
          <a:bodyPr wrap="square" lIns="0" tIns="0" rIns="0" bIns="0" anchor="t">
            <a:spAutoFit/>
          </a:bodyPr>
          <a:lstStyle/>
          <a:p>
            <a:r>
              <a:rPr sz="1200" b="0">
                <a:solidFill>
                  <a:schemeClr val="tx1"/>
                </a:solidFill>
                <a:latin typeface="APL385 Unicode"/>
              </a:rPr>
              <a:t> r←#.HttpCommand.GetJSON 'post' job.callback payload</a:t>
            </a:r>
          </a:p>
          <a:p>
            <a:r>
              <a:rPr sz="1200" b="0">
                <a:solidFill>
                  <a:schemeClr val="tx1"/>
                </a:solidFill>
                <a:latin typeface="APL385 Unicode"/>
              </a:rPr>
              <a:t> :If r.rc≠0                ⍝ the request failed: e.g. the callback server isn't running</a:t>
            </a:r>
          </a:p>
          <a:p>
            <a:r>
              <a:rPr sz="1200" b="0">
                <a:solidFill>
                  <a:schemeClr val="tx1"/>
                </a:solidFill>
                <a:latin typeface="APL385 Unicode"/>
              </a:rPr>
              <a:t> :ElseIf r.HttpStatus≠200  ⍝ the callback server said no</a:t>
            </a:r>
          </a:p>
          <a:p>
            <a:r>
              <a:rPr sz="1200" b="0">
                <a:solidFill>
                  <a:schemeClr val="tx1"/>
                </a:solidFill>
                <a:latin typeface="APL385 Unicode"/>
              </a:rPr>
              <a:t> :EndIf</a:t>
            </a:r>
          </a:p>
        </p:txBody>
      </p:sp>
      <p:sp>
        <p:nvSpPr>
          <p:cNvPr id="5" name="card"/>
          <p:cNvSpPr/>
          <p:nvPr/>
        </p:nvSpPr>
        <p:spPr>
          <a:xfrm>
            <a:off x="320040" y="2811114"/>
            <a:ext cx="4135261" cy="164236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card head"/>
          <p:cNvSpPr txBox="1"/>
          <p:nvPr/>
        </p:nvSpPr>
        <p:spPr>
          <a:xfrm>
            <a:off x="530307" y="2955642"/>
            <a:ext cx="3714726" cy="328473"/>
          </a:xfrm>
          <a:prstGeom prst="rect">
            <a:avLst/>
          </a:prstGeom>
          <a:noFill/>
        </p:spPr>
        <p:txBody>
          <a:bodyPr wrap="square" lIns="0" tIns="0" rIns="0" bIns="0" anchor="t">
            <a:spAutoFit/>
          </a:bodyPr>
          <a:lstStyle/>
          <a:p>
            <a:r>
              <a:rPr sz="1600" b="1">
                <a:solidFill>
                  <a:schemeClr val="tx1"/>
                </a:solidFill>
              </a:rPr>
              <a:t>Check both</a:t>
            </a:r>
          </a:p>
        </p:txBody>
      </p:sp>
      <p:sp>
        <p:nvSpPr>
          <p:cNvPr id="7" name="card body"/>
          <p:cNvSpPr txBox="1"/>
          <p:nvPr/>
        </p:nvSpPr>
        <p:spPr>
          <a:xfrm>
            <a:off x="530307" y="3336672"/>
            <a:ext cx="3714726" cy="1018268"/>
          </a:xfrm>
          <a:prstGeom prst="rect">
            <a:avLst/>
          </a:prstGeom>
          <a:noFill/>
        </p:spPr>
        <p:txBody>
          <a:bodyPr wrap="square" lIns="0" tIns="0" rIns="0" bIns="0" anchor="t">
            <a:spAutoFit/>
          </a:bodyPr>
          <a:lstStyle/>
          <a:p>
            <a:r>
              <a:rPr sz="1300" b="0">
                <a:solidFill>
                  <a:schemeClr val="tx1"/>
                </a:solidFill>
              </a:rPr>
              <a:t>rc</a:t>
            </a:r>
            <a:r>
              <a:rPr sz="1300" b="0">
                <a:solidFill>
                  <a:schemeClr val="tx1"/>
                </a:solidFill>
                <a:latin typeface="APL385 Unicode"/>
              </a:rPr>
              <a:t>≠</a:t>
            </a:r>
            <a:r>
              <a:rPr sz="1300" b="0">
                <a:solidFill>
                  <a:schemeClr val="tx1"/>
                </a:solidFill>
              </a:rPr>
              <a:t>0: the request itself failed (nobody answered).</a:t>
            </a:r>
          </a:p>
          <a:p>
            <a:r>
              <a:rPr sz="1300" b="0">
                <a:solidFill>
                  <a:schemeClr val="tx1"/>
                </a:solidFill>
              </a:rPr>
              <a:t>HttpStatus</a:t>
            </a:r>
            <a:r>
              <a:rPr sz="1300" b="0">
                <a:solidFill>
                  <a:schemeClr val="tx1"/>
                </a:solidFill>
                <a:latin typeface="APL385 Unicode"/>
              </a:rPr>
              <a:t>≠</a:t>
            </a:r>
            <a:r>
              <a:rPr sz="1300" b="0">
                <a:solidFill>
                  <a:schemeClr val="tx1"/>
                </a:solidFill>
              </a:rPr>
              <a:t>200: the server answered, and said no.</a:t>
            </a:r>
          </a:p>
        </p:txBody>
      </p:sp>
      <p:sp>
        <p:nvSpPr>
          <p:cNvPr id="8" name="card"/>
          <p:cNvSpPr/>
          <p:nvPr/>
        </p:nvSpPr>
        <p:spPr>
          <a:xfrm>
            <a:off x="4665569" y="2811114"/>
            <a:ext cx="4135261" cy="1642368"/>
          </a:xfrm>
          <a:prstGeom prst="roundRect">
            <a:avLst>
              <a:gd name="adj" fmla="val 6000"/>
            </a:avLst>
          </a:prstGeom>
          <a:solidFill>
            <a:schemeClr val="accent4">
              <a:lumMod val="30000"/>
              <a:lumOff val="7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card head"/>
          <p:cNvSpPr txBox="1"/>
          <p:nvPr/>
        </p:nvSpPr>
        <p:spPr>
          <a:xfrm>
            <a:off x="4875836" y="2955642"/>
            <a:ext cx="3714726" cy="328473"/>
          </a:xfrm>
          <a:prstGeom prst="rect">
            <a:avLst/>
          </a:prstGeom>
          <a:noFill/>
        </p:spPr>
        <p:txBody>
          <a:bodyPr wrap="square" lIns="0" tIns="0" rIns="0" bIns="0" anchor="t">
            <a:spAutoFit/>
          </a:bodyPr>
          <a:lstStyle/>
          <a:p>
            <a:r>
              <a:rPr sz="1600" b="1">
                <a:solidFill>
                  <a:schemeClr val="tx1"/>
                </a:solidFill>
              </a:rPr>
              <a:t>Trap inside the thread</a:t>
            </a:r>
          </a:p>
        </p:txBody>
      </p:sp>
      <p:sp>
        <p:nvSpPr>
          <p:cNvPr id="10" name="card body"/>
          <p:cNvSpPr txBox="1"/>
          <p:nvPr/>
        </p:nvSpPr>
        <p:spPr>
          <a:xfrm>
            <a:off x="4875836" y="3336672"/>
            <a:ext cx="3714726" cy="1018268"/>
          </a:xfrm>
          <a:prstGeom prst="rect">
            <a:avLst/>
          </a:prstGeom>
          <a:noFill/>
        </p:spPr>
        <p:txBody>
          <a:bodyPr wrap="square" lIns="0" tIns="0" rIns="0" bIns="0" anchor="t">
            <a:spAutoFit/>
          </a:bodyPr>
          <a:lstStyle/>
          <a:p>
            <a:r>
              <a:rPr sz="1300" b="0">
                <a:solidFill>
                  <a:schemeClr val="tx1"/>
                </a:solidFill>
              </a:rPr>
              <a:t>Jarvis traps errors in endpoints, but nothing traps errors in a thread you start with &amp;. Put Work's body in :Trap 0, so one bad job can't stop the server.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Web hook or polling?</a:t>
            </a:r>
          </a:p>
        </p:txBody>
      </p:sp>
      <p:graphicFrame>
        <p:nvGraphicFramePr>
          <p:cNvPr id="3" name="table"/>
          <p:cNvGraphicFramePr>
            <a:graphicFrameLocks noGrp="1"/>
          </p:cNvGraphicFramePr>
          <p:nvPr/>
        </p:nvGraphicFramePr>
        <p:xfrm>
          <a:off x="320040" y="1267287"/>
          <a:ext cx="8501815" cy="1970842"/>
        </p:xfrm>
        <a:graphic>
          <a:graphicData uri="http://schemas.openxmlformats.org/drawingml/2006/table">
            <a:tbl>
              <a:tblPr firstRow="1">
                <a:tableStyleId>{5C22544A-7EE6-4342-B048-85BDC9FD1C3A}</a:tableStyleId>
              </a:tblPr>
              <a:tblGrid>
                <a:gridCol w="1822318">
                  <a:extLst>
                    <a:ext uri="{9D8B030D-6E8A-4147-A177-3AD203B41FA5}">
                      <a16:colId xmlns:a16="http://schemas.microsoft.com/office/drawing/2014/main" val="20000"/>
                    </a:ext>
                  </a:extLst>
                </a:gridCol>
                <a:gridCol w="3329235">
                  <a:extLst>
                    <a:ext uri="{9D8B030D-6E8A-4147-A177-3AD203B41FA5}">
                      <a16:colId xmlns:a16="http://schemas.microsoft.com/office/drawing/2014/main" val="20001"/>
                    </a:ext>
                  </a:extLst>
                </a:gridCol>
                <a:gridCol w="3350262">
                  <a:extLst>
                    <a:ext uri="{9D8B030D-6E8A-4147-A177-3AD203B41FA5}">
                      <a16:colId xmlns:a16="http://schemas.microsoft.com/office/drawing/2014/main" val="20002"/>
                    </a:ext>
                  </a:extLst>
                </a:gridCol>
              </a:tblGrid>
              <a:tr h="328473">
                <a:tc>
                  <a:txBody>
                    <a:bodyPr/>
                    <a:lstStyle/>
                    <a:p>
                      <a:endParaRPr/>
                    </a:p>
                  </a:txBody>
                  <a:tcPr marL="73152" marR="73152" marT="65694" marB="65694" anchor="ctr">
                    <a:solidFill>
                      <a:schemeClr val="accent3"/>
                    </a:solidFill>
                  </a:tcPr>
                </a:tc>
                <a:tc>
                  <a:txBody>
                    <a:bodyPr/>
                    <a:lstStyle/>
                    <a:p>
                      <a:r>
                        <a:rPr sz="1300" b="1">
                          <a:solidFill>
                            <a:schemeClr val="bg1"/>
                          </a:solidFill>
                        </a:rPr>
                        <a:t>Polling</a:t>
                      </a:r>
                    </a:p>
                  </a:txBody>
                  <a:tcPr marL="73152" marR="73152" marT="65694" marB="65694" anchor="ctr">
                    <a:solidFill>
                      <a:schemeClr val="accent3"/>
                    </a:solidFill>
                  </a:tcPr>
                </a:tc>
                <a:tc>
                  <a:txBody>
                    <a:bodyPr/>
                    <a:lstStyle/>
                    <a:p>
                      <a:r>
                        <a:rPr sz="1300" b="1">
                          <a:solidFill>
                            <a:schemeClr val="bg1"/>
                          </a:solidFill>
                        </a:rPr>
                        <a:t>Web hook</a:t>
                      </a:r>
                    </a:p>
                  </a:txBody>
                  <a:tcPr marL="73152" marR="73152" marT="65694" marB="65694" anchor="ctr">
                    <a:solidFill>
                      <a:schemeClr val="accent3"/>
                    </a:solidFill>
                  </a:tcPr>
                </a:tc>
                <a:extLst>
                  <a:ext uri="{0D108BD9-81ED-4DB2-BD59-A6C34878D82A}">
                    <a16:rowId xmlns:a16="http://schemas.microsoft.com/office/drawing/2014/main" val="10000"/>
                  </a:ext>
                </a:extLst>
              </a:tr>
              <a:tr h="328473">
                <a:tc>
                  <a:txBody>
                    <a:bodyPr/>
                    <a:lstStyle/>
                    <a:p>
                      <a:r>
                        <a:rPr sz="1300" b="1">
                          <a:solidFill>
                            <a:schemeClr val="tx1"/>
                          </a:solidFill>
                        </a:rPr>
                        <a:t>Who starts</a:t>
                      </a:r>
                    </a:p>
                  </a:txBody>
                  <a:tcPr marL="73152" marR="73152" marT="65694" marB="65694" anchor="ctr">
                    <a:solidFill>
                      <a:schemeClr val="bg2"/>
                    </a:solidFill>
                  </a:tcPr>
                </a:tc>
                <a:tc>
                  <a:txBody>
                    <a:bodyPr/>
                    <a:lstStyle/>
                    <a:p>
                      <a:r>
                        <a:rPr sz="1300" b="0">
                          <a:solidFill>
                            <a:schemeClr val="tx1"/>
                          </a:solidFill>
                        </a:rPr>
                        <a:t>The client, again and again</a:t>
                      </a:r>
                    </a:p>
                  </a:txBody>
                  <a:tcPr marL="73152" marR="73152" marT="65694" marB="65694" anchor="ctr">
                    <a:solidFill>
                      <a:schemeClr val="bg2"/>
                    </a:solidFill>
                  </a:tcPr>
                </a:tc>
                <a:tc>
                  <a:txBody>
                    <a:bodyPr/>
                    <a:lstStyle/>
                    <a:p>
                      <a:r>
                        <a:rPr sz="1300" b="0">
                          <a:solidFill>
                            <a:schemeClr val="tx1"/>
                          </a:solidFill>
                        </a:rPr>
                        <a:t>The server, once, when the result is ready</a:t>
                      </a:r>
                    </a:p>
                  </a:txBody>
                  <a:tcPr marL="73152" marR="73152" marT="65694" marB="65694" anchor="ctr">
                    <a:solidFill>
                      <a:schemeClr val="bg2"/>
                    </a:solidFill>
                  </a:tcPr>
                </a:tc>
                <a:extLst>
                  <a:ext uri="{0D108BD9-81ED-4DB2-BD59-A6C34878D82A}">
                    <a16:rowId xmlns:a16="http://schemas.microsoft.com/office/drawing/2014/main" val="10001"/>
                  </a:ext>
                </a:extLst>
              </a:tr>
              <a:tr h="328473">
                <a:tc>
                  <a:txBody>
                    <a:bodyPr/>
                    <a:lstStyle/>
                    <a:p>
                      <a:r>
                        <a:rPr sz="1300" b="1">
                          <a:solidFill>
                            <a:schemeClr val="tx1"/>
                          </a:solidFill>
                        </a:rPr>
                        <a:t>Wasted requests</a:t>
                      </a:r>
                    </a:p>
                  </a:txBody>
                  <a:tcPr marL="73152" marR="73152" marT="65694" marB="65694" anchor="ctr">
                    <a:solidFill>
                      <a:schemeClr val="bg1"/>
                    </a:solidFill>
                  </a:tcPr>
                </a:tc>
                <a:tc>
                  <a:txBody>
                    <a:bodyPr/>
                    <a:lstStyle/>
                    <a:p>
                      <a:r>
                        <a:rPr sz="1300" b="0">
                          <a:solidFill>
                            <a:schemeClr val="tx1"/>
                          </a:solidFill>
                        </a:rPr>
                        <a:t>Most of them</a:t>
                      </a:r>
                    </a:p>
                  </a:txBody>
                  <a:tcPr marL="73152" marR="73152" marT="65694" marB="65694" anchor="ctr">
                    <a:solidFill>
                      <a:schemeClr val="bg1"/>
                    </a:solidFill>
                  </a:tcPr>
                </a:tc>
                <a:tc>
                  <a:txBody>
                    <a:bodyPr/>
                    <a:lstStyle/>
                    <a:p>
                      <a:r>
                        <a:rPr sz="1300" b="0">
                          <a:solidFill>
                            <a:schemeClr val="tx1"/>
                          </a:solidFill>
                        </a:rPr>
                        <a:t>None</a:t>
                      </a:r>
                    </a:p>
                  </a:txBody>
                  <a:tcPr marL="73152" marR="73152" marT="65694" marB="65694" anchor="ctr">
                    <a:solidFill>
                      <a:schemeClr val="bg1"/>
                    </a:solidFill>
                  </a:tcPr>
                </a:tc>
                <a:extLst>
                  <a:ext uri="{0D108BD9-81ED-4DB2-BD59-A6C34878D82A}">
                    <a16:rowId xmlns:a16="http://schemas.microsoft.com/office/drawing/2014/main" val="10002"/>
                  </a:ext>
                </a:extLst>
              </a:tr>
              <a:tr h="328473">
                <a:tc>
                  <a:txBody>
                    <a:bodyPr/>
                    <a:lstStyle/>
                    <a:p>
                      <a:r>
                        <a:rPr sz="1300" b="1">
                          <a:solidFill>
                            <a:schemeClr val="tx1"/>
                          </a:solidFill>
                        </a:rPr>
                        <a:t>The client needs</a:t>
                      </a:r>
                    </a:p>
                  </a:txBody>
                  <a:tcPr marL="73152" marR="73152" marT="65694" marB="65694" anchor="ctr">
                    <a:solidFill>
                      <a:schemeClr val="bg2"/>
                    </a:solidFill>
                  </a:tcPr>
                </a:tc>
                <a:tc>
                  <a:txBody>
                    <a:bodyPr/>
                    <a:lstStyle/>
                    <a:p>
                      <a:r>
                        <a:rPr sz="1300" b="0">
                          <a:solidFill>
                            <a:schemeClr val="tx1"/>
                          </a:solidFill>
                        </a:rPr>
                        <a:t>Nothing special</a:t>
                      </a:r>
                    </a:p>
                  </a:txBody>
                  <a:tcPr marL="73152" marR="73152" marT="65694" marB="65694" anchor="ctr">
                    <a:solidFill>
                      <a:schemeClr val="bg2"/>
                    </a:solidFill>
                  </a:tcPr>
                </a:tc>
                <a:tc>
                  <a:txBody>
                    <a:bodyPr/>
                    <a:lstStyle/>
                    <a:p>
                      <a:r>
                        <a:rPr sz="1300" b="0">
                          <a:solidFill>
                            <a:schemeClr val="tx1"/>
                          </a:solidFill>
                        </a:rPr>
                        <a:t>A URL the server can reach</a:t>
                      </a:r>
                    </a:p>
                  </a:txBody>
                  <a:tcPr marL="73152" marR="73152" marT="65694" marB="65694" anchor="ctr">
                    <a:solidFill>
                      <a:schemeClr val="bg2"/>
                    </a:solidFill>
                  </a:tcPr>
                </a:tc>
                <a:extLst>
                  <a:ext uri="{0D108BD9-81ED-4DB2-BD59-A6C34878D82A}">
                    <a16:rowId xmlns:a16="http://schemas.microsoft.com/office/drawing/2014/main" val="10003"/>
                  </a:ext>
                </a:extLst>
              </a:tr>
              <a:tr h="328473">
                <a:tc>
                  <a:txBody>
                    <a:bodyPr/>
                    <a:lstStyle/>
                    <a:p>
                      <a:r>
                        <a:rPr sz="1300" b="1">
                          <a:solidFill>
                            <a:schemeClr val="tx1"/>
                          </a:solidFill>
                        </a:rPr>
                        <a:t>If the callback is down</a:t>
                      </a:r>
                    </a:p>
                  </a:txBody>
                  <a:tcPr marL="73152" marR="73152" marT="65694" marB="65694" anchor="ctr">
                    <a:solidFill>
                      <a:schemeClr val="bg1"/>
                    </a:solidFill>
                  </a:tcPr>
                </a:tc>
                <a:tc>
                  <a:txBody>
                    <a:bodyPr/>
                    <a:lstStyle/>
                    <a:p>
                      <a:r>
                        <a:rPr sz="1300" b="0">
                          <a:solidFill>
                            <a:schemeClr val="tx1"/>
                          </a:solidFill>
                        </a:rPr>
                        <a:t>Not an issue</a:t>
                      </a:r>
                    </a:p>
                  </a:txBody>
                  <a:tcPr marL="73152" marR="73152" marT="65694" marB="65694" anchor="ctr">
                    <a:solidFill>
                      <a:schemeClr val="bg1"/>
                    </a:solidFill>
                  </a:tcPr>
                </a:tc>
                <a:tc>
                  <a:txBody>
                    <a:bodyPr/>
                    <a:lstStyle/>
                    <a:p>
                      <a:r>
                        <a:rPr sz="1300" b="0">
                          <a:solidFill>
                            <a:schemeClr val="tx1"/>
                          </a:solidFill>
                        </a:rPr>
                        <a:t>The result is lost unless the server retries</a:t>
                      </a:r>
                    </a:p>
                  </a:txBody>
                  <a:tcPr marL="73152" marR="73152" marT="65694" marB="65694" anchor="ctr">
                    <a:solidFill>
                      <a:schemeClr val="bg1"/>
                    </a:solidFill>
                  </a:tcPr>
                </a:tc>
                <a:extLst>
                  <a:ext uri="{0D108BD9-81ED-4DB2-BD59-A6C34878D82A}">
                    <a16:rowId xmlns:a16="http://schemas.microsoft.com/office/drawing/2014/main" val="10004"/>
                  </a:ext>
                </a:extLst>
              </a:tr>
              <a:tr h="328477">
                <a:tc>
                  <a:txBody>
                    <a:bodyPr/>
                    <a:lstStyle/>
                    <a:p>
                      <a:r>
                        <a:rPr sz="1300" b="1">
                          <a:solidFill>
                            <a:schemeClr val="tx1"/>
                          </a:solidFill>
                        </a:rPr>
                        <a:t>Often used together</a:t>
                      </a:r>
                    </a:p>
                  </a:txBody>
                  <a:tcPr marL="73152" marR="73152" marT="65694" marB="65694" anchor="ctr">
                    <a:solidFill>
                      <a:schemeClr val="bg2"/>
                    </a:solidFill>
                  </a:tcPr>
                </a:tc>
                <a:tc>
                  <a:txBody>
                    <a:bodyPr/>
                    <a:lstStyle/>
                    <a:p>
                      <a:r>
                        <a:rPr sz="1300" b="0">
                          <a:solidFill>
                            <a:schemeClr val="tx1"/>
                          </a:solidFill>
                        </a:rPr>
                        <a:t>As a fallback</a:t>
                      </a:r>
                    </a:p>
                  </a:txBody>
                  <a:tcPr marL="73152" marR="73152" marT="65694" marB="65694" anchor="ctr">
                    <a:solidFill>
                      <a:schemeClr val="bg2"/>
                    </a:solidFill>
                  </a:tcPr>
                </a:tc>
                <a:tc>
                  <a:txBody>
                    <a:bodyPr/>
                    <a:lstStyle/>
                    <a:p>
                      <a:r>
                        <a:rPr sz="1300" b="0">
                          <a:solidFill>
                            <a:schemeClr val="tx1"/>
                          </a:solidFill>
                        </a:rPr>
                        <a:t>With a Status endpoint for polling</a:t>
                      </a:r>
                    </a:p>
                  </a:txBody>
                  <a:tcPr marL="73152" marR="73152" marT="65694" marB="65694" anchor="ctr">
                    <a:solidFill>
                      <a:schemeClr val="bg2"/>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Exercise 2: Web hook</a:t>
            </a:r>
          </a:p>
        </p:txBody>
      </p:sp>
      <p:sp>
        <p:nvSpPr>
          <p:cNvPr id="3" name="time"/>
          <p:cNvSpPr txBox="1"/>
          <p:nvPr/>
        </p:nvSpPr>
        <p:spPr>
          <a:xfrm>
            <a:off x="320040" y="1234440"/>
            <a:ext cx="3931920" cy="274320"/>
          </a:xfrm>
          <a:prstGeom prst="rect">
            <a:avLst/>
          </a:prstGeom>
          <a:noFill/>
        </p:spPr>
        <p:txBody>
          <a:bodyPr wrap="square" lIns="0" tIns="0" rIns="0" bIns="0" anchor="t">
            <a:spAutoFit/>
          </a:bodyPr>
          <a:lstStyle/>
          <a:p>
            <a:r>
              <a:rPr sz="1400" b="1">
                <a:solidFill>
                  <a:schemeClr val="accent1"/>
                </a:solidFill>
              </a:rPr>
              <a:t>30 minutes</a:t>
            </a:r>
          </a:p>
        </p:txBody>
      </p:sp>
      <p:sp>
        <p:nvSpPr>
          <p:cNvPr id="4" name="goal"/>
          <p:cNvSpPr txBox="1"/>
          <p:nvPr/>
        </p:nvSpPr>
        <p:spPr>
          <a:xfrm>
            <a:off x="320040" y="1554480"/>
            <a:ext cx="3931920" cy="1280160"/>
          </a:xfrm>
          <a:prstGeom prst="rect">
            <a:avLst/>
          </a:prstGeom>
          <a:noFill/>
        </p:spPr>
        <p:txBody>
          <a:bodyPr wrap="square" lIns="0" tIns="0" rIns="0" bIns="0" anchor="t">
            <a:spAutoFit/>
          </a:bodyPr>
          <a:lstStyle/>
          <a:p>
            <a:r>
              <a:rPr sz="1500" b="0">
                <a:solidFill>
                  <a:schemeClr val="tx1"/>
                </a:solidFill>
              </a:rPr>
              <a:t>Give out tickets at once, do the work in a separate thread, and deliver each result by calling the client back.</a:t>
            </a:r>
          </a:p>
        </p:txBody>
      </p:sp>
      <p:sp>
        <p:nvSpPr>
          <p:cNvPr id="5" name="steps head"/>
          <p:cNvSpPr txBox="1"/>
          <p:nvPr/>
        </p:nvSpPr>
        <p:spPr>
          <a:xfrm>
            <a:off x="4572000" y="1234440"/>
            <a:ext cx="4251960" cy="274320"/>
          </a:xfrm>
          <a:prstGeom prst="rect">
            <a:avLst/>
          </a:prstGeom>
          <a:noFill/>
        </p:spPr>
        <p:txBody>
          <a:bodyPr wrap="square" lIns="0" tIns="0" rIns="0" bIns="0" anchor="t">
            <a:spAutoFit/>
          </a:bodyPr>
          <a:lstStyle/>
          <a:p>
            <a:r>
              <a:rPr sz="1300" b="1">
                <a:solidFill>
                  <a:schemeClr val="accent2"/>
                </a:solidFill>
              </a:rPr>
              <a:t>Core steps</a:t>
            </a:r>
          </a:p>
        </p:txBody>
      </p:sp>
      <p:sp>
        <p:nvSpPr>
          <p:cNvPr id="6" name="steps"/>
          <p:cNvSpPr txBox="1"/>
          <p:nvPr/>
        </p:nvSpPr>
        <p:spPr>
          <a:xfrm>
            <a:off x="4572000" y="1554480"/>
            <a:ext cx="4251960" cy="1600200"/>
          </a:xfrm>
          <a:prstGeom prst="rect">
            <a:avLst/>
          </a:prstGeom>
          <a:noFill/>
        </p:spPr>
        <p:txBody>
          <a:bodyPr wrap="square" lIns="0" tIns="0" rIns="0" bIns="0" anchor="t">
            <a:spAutoFit/>
          </a:bodyPr>
          <a:lstStyle/>
          <a:p>
            <a:pPr>
              <a:spcAft>
                <a:spcPts val="200"/>
              </a:spcAft>
            </a:pPr>
            <a:r>
              <a:rPr sz="1200" b="0">
                <a:solidFill>
                  <a:schemeClr val="tx1"/>
                </a:solidFill>
              </a:rPr>
              <a:t>C1  Start both servers</a:t>
            </a:r>
          </a:p>
          <a:p>
            <a:pPr>
              <a:spcAft>
                <a:spcPts val="200"/>
              </a:spcAft>
            </a:pPr>
            <a:r>
              <a:rPr sz="1200" b="0">
                <a:solidFill>
                  <a:schemeClr val="tx1"/>
                </a:solidFill>
              </a:rPr>
              <a:t>C2  Result: receive and keep a result</a:t>
            </a:r>
          </a:p>
          <a:p>
            <a:pPr>
              <a:spcAft>
                <a:spcPts val="200"/>
              </a:spcAft>
            </a:pPr>
            <a:r>
              <a:rPr sz="1200" b="0">
                <a:solidFill>
                  <a:schemeClr val="tx1"/>
                </a:solidFill>
              </a:rPr>
              <a:t>C3  Submit: check the job, give a ticket, start Work</a:t>
            </a:r>
          </a:p>
          <a:p>
            <a:pPr>
              <a:spcAft>
                <a:spcPts val="200"/>
              </a:spcAft>
            </a:pPr>
            <a:r>
              <a:rPr sz="1200" b="0">
                <a:solidFill>
                  <a:schemeClr val="tx1"/>
                </a:solidFill>
              </a:rPr>
              <a:t>C4  Work: factor, then call back (inside :Trap)</a:t>
            </a:r>
          </a:p>
          <a:p>
            <a:pPr>
              <a:spcAft>
                <a:spcPts val="200"/>
              </a:spcAft>
            </a:pPr>
            <a:r>
              <a:rPr sz="1200" b="0">
                <a:solidFill>
                  <a:schemeClr val="tx1"/>
                </a:solidFill>
              </a:rPr>
              <a:t>C5  Client 5: tickets at once, results out of order</a:t>
            </a:r>
          </a:p>
          <a:p>
            <a:pPr>
              <a:spcAft>
                <a:spcPts val="200"/>
              </a:spcAft>
            </a:pPr>
            <a:r>
              <a:rPr sz="1200" b="0">
                <a:solidFill>
                  <a:schemeClr val="tx1"/>
                </a:solidFill>
              </a:rPr>
              <a:t>C6  Stop</a:t>
            </a:r>
          </a:p>
        </p:txBody>
      </p:sp>
      <p:sp>
        <p:nvSpPr>
          <p:cNvPr id="7" name="first head"/>
          <p:cNvSpPr txBox="1"/>
          <p:nvPr/>
        </p:nvSpPr>
        <p:spPr>
          <a:xfrm>
            <a:off x="320040" y="3291840"/>
            <a:ext cx="5486400" cy="256032"/>
          </a:xfrm>
          <a:prstGeom prst="rect">
            <a:avLst/>
          </a:prstGeom>
          <a:noFill/>
        </p:spPr>
        <p:txBody>
          <a:bodyPr wrap="square" lIns="0" tIns="0" rIns="0" bIns="0" anchor="t">
            <a:spAutoFit/>
          </a:bodyPr>
          <a:lstStyle/>
          <a:p>
            <a:r>
              <a:rPr sz="1200" b="1">
                <a:solidFill>
                  <a:schemeClr val="accent2"/>
                </a:solidFill>
              </a:rPr>
              <a:t>Start here, after Setup</a:t>
            </a:r>
          </a:p>
        </p:txBody>
      </p:sp>
      <p:sp>
        <p:nvSpPr>
          <p:cNvPr id="8" name="code panel"/>
          <p:cNvSpPr/>
          <p:nvPr/>
        </p:nvSpPr>
        <p:spPr>
          <a:xfrm>
            <a:off x="320040" y="3584448"/>
            <a:ext cx="8503920" cy="676656"/>
          </a:xfrm>
          <a:prstGeom prst="roundRect">
            <a:avLst>
              <a:gd name="adj" fmla="val 8000"/>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code"/>
          <p:cNvSpPr txBox="1"/>
          <p:nvPr/>
        </p:nvSpPr>
        <p:spPr>
          <a:xfrm>
            <a:off x="457200" y="3694176"/>
            <a:ext cx="8229600" cy="493776"/>
          </a:xfrm>
          <a:prstGeom prst="rect">
            <a:avLst/>
          </a:prstGeom>
          <a:noFill/>
        </p:spPr>
        <p:txBody>
          <a:bodyPr wrap="square" lIns="0" tIns="0" rIns="0" bIns="0" anchor="t">
            <a:spAutoFit/>
          </a:bodyPr>
          <a:lstStyle/>
          <a:p>
            <a:r>
              <a:rPr sz="1100" b="0">
                <a:solidFill>
                  <a:schemeClr val="bg1"/>
                </a:solidFill>
                <a:latin typeface="APL385 Unicode"/>
              </a:rPr>
              <a:t>2 ⎕FIX 'file://',#.WorkshopRoot,'/Exercises/Ex2-WebHook/Run.aplf'</a:t>
            </a:r>
          </a:p>
          <a:p>
            <a:r>
              <a:rPr sz="1100" b="0">
                <a:solidFill>
                  <a:schemeClr val="bg1"/>
                </a:solidFill>
                <a:latin typeface="APL385 Unicode"/>
              </a:rPr>
              <a:t>2 ⎕FIX 'file://',#.WorkshopRoot,'/Exercises/Ex2-WebHook/Client.aplf'</a:t>
            </a:r>
          </a:p>
        </p:txBody>
      </p:sp>
      <p:sp>
        <p:nvSpPr>
          <p:cNvPr id="10" name="readme"/>
          <p:cNvSpPr txBox="1"/>
          <p:nvPr/>
        </p:nvSpPr>
        <p:spPr>
          <a:xfrm>
            <a:off x="320040" y="4325112"/>
            <a:ext cx="8503920" cy="228600"/>
          </a:xfrm>
          <a:prstGeom prst="rect">
            <a:avLst/>
          </a:prstGeom>
          <a:noFill/>
        </p:spPr>
        <p:txBody>
          <a:bodyPr wrap="square" lIns="0" tIns="0" rIns="0" bIns="0" anchor="t">
            <a:spAutoFit/>
          </a:bodyPr>
          <a:lstStyle/>
          <a:p>
            <a:r>
              <a:rPr sz="1200" b="0">
                <a:solidFill>
                  <a:schemeClr val="tx2"/>
                </a:solidFill>
              </a:rPr>
              <a:t>Exercises/Ex2-WebHook/README.md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Server-Sent Events</a:t>
            </a:r>
          </a:p>
        </p:txBody>
      </p:sp>
      <p:sp>
        <p:nvSpPr>
          <p:cNvPr id="3" name="Text Placeholder 2"/>
          <p:cNvSpPr>
            <a:spLocks noGrp="1"/>
          </p:cNvSpPr>
          <p:nvPr>
            <p:ph type="body" sz="quarter" idx="10"/>
          </p:nvPr>
        </p:nvSpPr>
        <p:spPr/>
        <p:txBody>
          <a:bodyPr/>
          <a:lstStyle/>
          <a:p>
            <a:r>
              <a:rPr sz="1800" b="0">
                <a:solidFill>
                  <a:schemeClr val="tx1"/>
                </a:solidFill>
              </a:rPr>
              <a:t>One request, then the server keeps talking</a:t>
            </a:r>
          </a:p>
          <a:p>
            <a:r>
              <a:rPr sz="1400" b="0">
                <a:solidFill>
                  <a:schemeClr val="accent1"/>
                </a:solidFill>
              </a:rPr>
              <a:t>10 minutes, then Exercise 3</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One request, many events</a:t>
            </a:r>
          </a:p>
        </p:txBody>
      </p:sp>
      <p:cxnSp>
        <p:nvCxnSpPr>
          <p:cNvPr id="3" name="lane"/>
          <p:cNvCxnSpPr/>
          <p:nvPr/>
        </p:nvCxnSpPr>
        <p:spPr>
          <a:xfrm>
            <a:off x="1599167" y="1595761"/>
            <a:ext cx="0" cy="2890569"/>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4" name="lane head"/>
          <p:cNvSpPr/>
          <p:nvPr/>
        </p:nvSpPr>
        <p:spPr>
          <a:xfrm>
            <a:off x="688008" y="1234440"/>
            <a:ext cx="1822318"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lane name"/>
          <p:cNvSpPr txBox="1"/>
          <p:nvPr/>
        </p:nvSpPr>
        <p:spPr>
          <a:xfrm>
            <a:off x="688008" y="1234440"/>
            <a:ext cx="1822318" cy="361321"/>
          </a:xfrm>
          <a:prstGeom prst="rect">
            <a:avLst/>
          </a:prstGeom>
          <a:noFill/>
        </p:spPr>
        <p:txBody>
          <a:bodyPr wrap="square" lIns="0" tIns="0" rIns="0" bIns="0" anchor="ctr">
            <a:spAutoFit/>
          </a:bodyPr>
          <a:lstStyle/>
          <a:p>
            <a:pPr algn="ctr"/>
            <a:r>
              <a:rPr sz="1200" b="1">
                <a:solidFill>
                  <a:schemeClr val="tx1"/>
                </a:solidFill>
              </a:rPr>
              <a:t>Browser</a:t>
            </a:r>
          </a:p>
        </p:txBody>
      </p:sp>
      <p:cxnSp>
        <p:nvCxnSpPr>
          <p:cNvPr id="6" name="lane"/>
          <p:cNvCxnSpPr/>
          <p:nvPr/>
        </p:nvCxnSpPr>
        <p:spPr>
          <a:xfrm>
            <a:off x="4157422" y="1595761"/>
            <a:ext cx="0" cy="2890569"/>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7" name="lane head"/>
          <p:cNvSpPr/>
          <p:nvPr/>
        </p:nvSpPr>
        <p:spPr>
          <a:xfrm>
            <a:off x="3246263" y="1234440"/>
            <a:ext cx="1822318"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lane name"/>
          <p:cNvSpPr txBox="1"/>
          <p:nvPr/>
        </p:nvSpPr>
        <p:spPr>
          <a:xfrm>
            <a:off x="3246263" y="1234440"/>
            <a:ext cx="1822318" cy="361321"/>
          </a:xfrm>
          <a:prstGeom prst="rect">
            <a:avLst/>
          </a:prstGeom>
          <a:noFill/>
        </p:spPr>
        <p:txBody>
          <a:bodyPr wrap="square" lIns="0" tIns="0" rIns="0" bIns="0" anchor="ctr">
            <a:spAutoFit/>
          </a:bodyPr>
          <a:lstStyle/>
          <a:p>
            <a:pPr algn="ctr"/>
            <a:r>
              <a:rPr sz="1200" b="1">
                <a:solidFill>
                  <a:schemeClr val="tx1"/>
                </a:solidFill>
              </a:rPr>
              <a:t>Jarvis :8083</a:t>
            </a:r>
          </a:p>
        </p:txBody>
      </p:sp>
      <p:cxnSp>
        <p:nvCxnSpPr>
          <p:cNvPr id="9" name="message"/>
          <p:cNvCxnSpPr/>
          <p:nvPr/>
        </p:nvCxnSpPr>
        <p:spPr>
          <a:xfrm>
            <a:off x="1599167" y="1957082"/>
            <a:ext cx="2558255"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10" name="message label"/>
          <p:cNvSpPr txBox="1"/>
          <p:nvPr/>
        </p:nvSpPr>
        <p:spPr>
          <a:xfrm>
            <a:off x="1634212" y="1674594"/>
            <a:ext cx="2488165" cy="236501"/>
          </a:xfrm>
          <a:prstGeom prst="rect">
            <a:avLst/>
          </a:prstGeom>
          <a:noFill/>
        </p:spPr>
        <p:txBody>
          <a:bodyPr wrap="square" lIns="0" tIns="0" rIns="0" bIns="0" anchor="b">
            <a:spAutoFit/>
          </a:bodyPr>
          <a:lstStyle/>
          <a:p>
            <a:pPr algn="ctr"/>
            <a:r>
              <a:rPr sz="1000" b="0">
                <a:solidFill>
                  <a:schemeClr val="tx1"/>
                </a:solidFill>
                <a:latin typeface="APL385 Unicode"/>
              </a:rPr>
              <a:t>GET /Ticker</a:t>
            </a:r>
          </a:p>
        </p:txBody>
      </p:sp>
      <p:cxnSp>
        <p:nvCxnSpPr>
          <p:cNvPr id="11" name="message"/>
          <p:cNvCxnSpPr/>
          <p:nvPr/>
        </p:nvCxnSpPr>
        <p:spPr>
          <a:xfrm flipH="1">
            <a:off x="1599167" y="2384098"/>
            <a:ext cx="2558255"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2" name="message label"/>
          <p:cNvSpPr txBox="1"/>
          <p:nvPr/>
        </p:nvSpPr>
        <p:spPr>
          <a:xfrm>
            <a:off x="1634212" y="2127888"/>
            <a:ext cx="2488165" cy="210223"/>
          </a:xfrm>
          <a:prstGeom prst="rect">
            <a:avLst/>
          </a:prstGeom>
          <a:noFill/>
        </p:spPr>
        <p:txBody>
          <a:bodyPr wrap="square" lIns="0" tIns="0" rIns="0" bIns="0" anchor="b">
            <a:spAutoFit/>
          </a:bodyPr>
          <a:lstStyle/>
          <a:p>
            <a:pPr algn="ctr"/>
            <a:r>
              <a:rPr sz="1000" b="0">
                <a:solidFill>
                  <a:schemeClr val="tx1"/>
                </a:solidFill>
                <a:latin typeface="APL385 Unicode"/>
              </a:rPr>
              <a:t>event: welcome</a:t>
            </a:r>
          </a:p>
        </p:txBody>
      </p:sp>
      <p:cxnSp>
        <p:nvCxnSpPr>
          <p:cNvPr id="13" name="message"/>
          <p:cNvCxnSpPr/>
          <p:nvPr/>
        </p:nvCxnSpPr>
        <p:spPr>
          <a:xfrm flipH="1">
            <a:off x="1599167" y="2791405"/>
            <a:ext cx="2558255"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4" name="message label"/>
          <p:cNvSpPr txBox="1"/>
          <p:nvPr/>
        </p:nvSpPr>
        <p:spPr>
          <a:xfrm>
            <a:off x="1634212" y="2535196"/>
            <a:ext cx="2488165" cy="210223"/>
          </a:xfrm>
          <a:prstGeom prst="rect">
            <a:avLst/>
          </a:prstGeom>
          <a:noFill/>
        </p:spPr>
        <p:txBody>
          <a:bodyPr wrap="square" lIns="0" tIns="0" rIns="0" bIns="0" anchor="b">
            <a:spAutoFit/>
          </a:bodyPr>
          <a:lstStyle/>
          <a:p>
            <a:pPr algn="ctr"/>
            <a:r>
              <a:rPr sz="1000" b="0">
                <a:solidFill>
                  <a:schemeClr val="tx1"/>
                </a:solidFill>
                <a:latin typeface="APL385 Unicode"/>
              </a:rPr>
              <a:t>event: price</a:t>
            </a:r>
          </a:p>
        </p:txBody>
      </p:sp>
      <p:cxnSp>
        <p:nvCxnSpPr>
          <p:cNvPr id="15" name="message"/>
          <p:cNvCxnSpPr/>
          <p:nvPr/>
        </p:nvCxnSpPr>
        <p:spPr>
          <a:xfrm flipH="1">
            <a:off x="1599167" y="3198713"/>
            <a:ext cx="2558255"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6" name="message label"/>
          <p:cNvSpPr txBox="1"/>
          <p:nvPr/>
        </p:nvSpPr>
        <p:spPr>
          <a:xfrm>
            <a:off x="1634212" y="2942503"/>
            <a:ext cx="2488165" cy="210223"/>
          </a:xfrm>
          <a:prstGeom prst="rect">
            <a:avLst/>
          </a:prstGeom>
          <a:noFill/>
        </p:spPr>
        <p:txBody>
          <a:bodyPr wrap="square" lIns="0" tIns="0" rIns="0" bIns="0" anchor="b">
            <a:spAutoFit/>
          </a:bodyPr>
          <a:lstStyle/>
          <a:p>
            <a:pPr algn="ctr"/>
            <a:r>
              <a:rPr sz="1000" b="0">
                <a:solidFill>
                  <a:schemeClr val="tx1"/>
                </a:solidFill>
                <a:latin typeface="APL385 Unicode"/>
              </a:rPr>
              <a:t>event: price</a:t>
            </a:r>
          </a:p>
        </p:txBody>
      </p:sp>
      <p:cxnSp>
        <p:nvCxnSpPr>
          <p:cNvPr id="17" name="message"/>
          <p:cNvCxnSpPr/>
          <p:nvPr/>
        </p:nvCxnSpPr>
        <p:spPr>
          <a:xfrm flipH="1">
            <a:off x="1599167" y="3606020"/>
            <a:ext cx="2558255"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8" name="message label"/>
          <p:cNvSpPr txBox="1"/>
          <p:nvPr/>
        </p:nvSpPr>
        <p:spPr>
          <a:xfrm>
            <a:off x="1634212" y="3349811"/>
            <a:ext cx="2488165" cy="210223"/>
          </a:xfrm>
          <a:prstGeom prst="rect">
            <a:avLst/>
          </a:prstGeom>
          <a:noFill/>
        </p:spPr>
        <p:txBody>
          <a:bodyPr wrap="square" lIns="0" tIns="0" rIns="0" bIns="0" anchor="b">
            <a:spAutoFit/>
          </a:bodyPr>
          <a:lstStyle/>
          <a:p>
            <a:pPr algn="ctr"/>
            <a:r>
              <a:rPr sz="1000" b="0">
                <a:solidFill>
                  <a:schemeClr val="tx1"/>
                </a:solidFill>
                <a:latin typeface="APL385 Unicode"/>
              </a:rPr>
              <a:t>event: price</a:t>
            </a:r>
          </a:p>
        </p:txBody>
      </p:sp>
      <p:cxnSp>
        <p:nvCxnSpPr>
          <p:cNvPr id="19" name="message"/>
          <p:cNvCxnSpPr/>
          <p:nvPr/>
        </p:nvCxnSpPr>
        <p:spPr>
          <a:xfrm flipH="1">
            <a:off x="1599167" y="4013328"/>
            <a:ext cx="2558255"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20" name="message label"/>
          <p:cNvSpPr txBox="1"/>
          <p:nvPr/>
        </p:nvSpPr>
        <p:spPr>
          <a:xfrm>
            <a:off x="1634212" y="3757118"/>
            <a:ext cx="2488165" cy="210223"/>
          </a:xfrm>
          <a:prstGeom prst="rect">
            <a:avLst/>
          </a:prstGeom>
          <a:noFill/>
        </p:spPr>
        <p:txBody>
          <a:bodyPr wrap="square" lIns="0" tIns="0" rIns="0" bIns="0" anchor="b">
            <a:spAutoFit/>
          </a:bodyPr>
          <a:lstStyle/>
          <a:p>
            <a:pPr algn="ctr"/>
            <a:r>
              <a:rPr sz="1000" b="0">
                <a:solidFill>
                  <a:schemeClr val="tx1"/>
                </a:solidFill>
                <a:latin typeface="APL385 Unicode"/>
              </a:rPr>
              <a:t>event: news</a:t>
            </a:r>
          </a:p>
        </p:txBody>
      </p:sp>
      <p:sp>
        <p:nvSpPr>
          <p:cNvPr id="21" name="card"/>
          <p:cNvSpPr/>
          <p:nvPr/>
        </p:nvSpPr>
        <p:spPr>
          <a:xfrm>
            <a:off x="5716906" y="1234440"/>
            <a:ext cx="3083923"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card head"/>
          <p:cNvSpPr txBox="1"/>
          <p:nvPr/>
        </p:nvSpPr>
        <p:spPr>
          <a:xfrm>
            <a:off x="5927174" y="1378968"/>
            <a:ext cx="2663388" cy="328473"/>
          </a:xfrm>
          <a:prstGeom prst="rect">
            <a:avLst/>
          </a:prstGeom>
          <a:noFill/>
        </p:spPr>
        <p:txBody>
          <a:bodyPr wrap="square" lIns="0" tIns="0" rIns="0" bIns="0" anchor="t">
            <a:spAutoFit/>
          </a:bodyPr>
          <a:lstStyle/>
          <a:p>
            <a:r>
              <a:rPr sz="1500" b="1">
                <a:solidFill>
                  <a:schemeClr val="tx1"/>
                </a:solidFill>
              </a:rPr>
              <a:t>One way</a:t>
            </a:r>
          </a:p>
        </p:txBody>
      </p:sp>
      <p:sp>
        <p:nvSpPr>
          <p:cNvPr id="23" name="card body"/>
          <p:cNvSpPr txBox="1"/>
          <p:nvPr/>
        </p:nvSpPr>
        <p:spPr>
          <a:xfrm>
            <a:off x="5927174" y="1759998"/>
            <a:ext cx="2663388" cy="427015"/>
          </a:xfrm>
          <a:prstGeom prst="rect">
            <a:avLst/>
          </a:prstGeom>
          <a:noFill/>
        </p:spPr>
        <p:txBody>
          <a:bodyPr wrap="square" lIns="0" tIns="0" rIns="0" bIns="0" anchor="t">
            <a:spAutoFit/>
          </a:bodyPr>
          <a:lstStyle/>
          <a:p>
            <a:r>
              <a:rPr sz="1200" b="0">
                <a:solidFill>
                  <a:schemeClr val="tx1"/>
                </a:solidFill>
              </a:rPr>
              <a:t>Only the server sends. The browser asked once.</a:t>
            </a:r>
          </a:p>
        </p:txBody>
      </p:sp>
      <p:sp>
        <p:nvSpPr>
          <p:cNvPr id="24" name="card"/>
          <p:cNvSpPr/>
          <p:nvPr/>
        </p:nvSpPr>
        <p:spPr>
          <a:xfrm>
            <a:off x="5716906" y="2384098"/>
            <a:ext cx="3083923"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card head"/>
          <p:cNvSpPr txBox="1"/>
          <p:nvPr/>
        </p:nvSpPr>
        <p:spPr>
          <a:xfrm>
            <a:off x="5927174" y="2528626"/>
            <a:ext cx="2663388" cy="328473"/>
          </a:xfrm>
          <a:prstGeom prst="rect">
            <a:avLst/>
          </a:prstGeom>
          <a:noFill/>
        </p:spPr>
        <p:txBody>
          <a:bodyPr wrap="square" lIns="0" tIns="0" rIns="0" bIns="0" anchor="t">
            <a:spAutoFit/>
          </a:bodyPr>
          <a:lstStyle/>
          <a:p>
            <a:r>
              <a:rPr sz="1500" b="1">
                <a:solidFill>
                  <a:schemeClr val="tx1"/>
                </a:solidFill>
              </a:rPr>
              <a:t>Plain HTTP</a:t>
            </a:r>
          </a:p>
        </p:txBody>
      </p:sp>
      <p:sp>
        <p:nvSpPr>
          <p:cNvPr id="26" name="card body"/>
          <p:cNvSpPr txBox="1"/>
          <p:nvPr/>
        </p:nvSpPr>
        <p:spPr>
          <a:xfrm>
            <a:off x="5927174" y="2909656"/>
            <a:ext cx="2663388" cy="427015"/>
          </a:xfrm>
          <a:prstGeom prst="rect">
            <a:avLst/>
          </a:prstGeom>
          <a:noFill/>
        </p:spPr>
        <p:txBody>
          <a:bodyPr wrap="square" lIns="0" tIns="0" rIns="0" bIns="0" anchor="t">
            <a:spAutoFit/>
          </a:bodyPr>
          <a:lstStyle/>
          <a:p>
            <a:r>
              <a:rPr sz="1200" b="0">
                <a:solidFill>
                  <a:schemeClr val="tx1"/>
                </a:solidFill>
              </a:rPr>
              <a:t>A normal GET whose response never ends.</a:t>
            </a:r>
          </a:p>
        </p:txBody>
      </p:sp>
      <p:sp>
        <p:nvSpPr>
          <p:cNvPr id="27" name="card"/>
          <p:cNvSpPr/>
          <p:nvPr/>
        </p:nvSpPr>
        <p:spPr>
          <a:xfrm>
            <a:off x="5716906" y="3533756"/>
            <a:ext cx="3083923"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card head"/>
          <p:cNvSpPr txBox="1"/>
          <p:nvPr/>
        </p:nvSpPr>
        <p:spPr>
          <a:xfrm>
            <a:off x="5927174" y="3678284"/>
            <a:ext cx="2663388" cy="328473"/>
          </a:xfrm>
          <a:prstGeom prst="rect">
            <a:avLst/>
          </a:prstGeom>
          <a:noFill/>
        </p:spPr>
        <p:txBody>
          <a:bodyPr wrap="square" lIns="0" tIns="0" rIns="0" bIns="0" anchor="t">
            <a:spAutoFit/>
          </a:bodyPr>
          <a:lstStyle/>
          <a:p>
            <a:r>
              <a:rPr sz="1500" b="1">
                <a:solidFill>
                  <a:schemeClr val="tx1"/>
                </a:solidFill>
              </a:rPr>
              <a:t>Reconnects</a:t>
            </a:r>
          </a:p>
        </p:txBody>
      </p:sp>
      <p:sp>
        <p:nvSpPr>
          <p:cNvPr id="29" name="card body"/>
          <p:cNvSpPr txBox="1"/>
          <p:nvPr/>
        </p:nvSpPr>
        <p:spPr>
          <a:xfrm>
            <a:off x="5927174" y="4059314"/>
            <a:ext cx="2663388" cy="427015"/>
          </a:xfrm>
          <a:prstGeom prst="rect">
            <a:avLst/>
          </a:prstGeom>
          <a:noFill/>
        </p:spPr>
        <p:txBody>
          <a:bodyPr wrap="square" lIns="0" tIns="0" rIns="0" bIns="0" anchor="t">
            <a:spAutoFit/>
          </a:bodyPr>
          <a:lstStyle/>
          <a:p>
            <a:r>
              <a:rPr sz="1200" b="0">
                <a:solidFill>
                  <a:schemeClr val="tx1"/>
                </a:solidFill>
              </a:rPr>
              <a:t>If the line drops, the browser reconnects by itself.</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An event on the wire</a:t>
            </a:r>
          </a:p>
        </p:txBody>
      </p:sp>
      <p:sp>
        <p:nvSpPr>
          <p:cNvPr id="3" name="code panel"/>
          <p:cNvSpPr/>
          <p:nvPr/>
        </p:nvSpPr>
        <p:spPr>
          <a:xfrm>
            <a:off x="320040" y="1267287"/>
            <a:ext cx="5116510" cy="1708063"/>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code"/>
          <p:cNvSpPr txBox="1"/>
          <p:nvPr/>
        </p:nvSpPr>
        <p:spPr>
          <a:xfrm>
            <a:off x="460218" y="1346121"/>
            <a:ext cx="4836153" cy="1550396"/>
          </a:xfrm>
          <a:prstGeom prst="rect">
            <a:avLst/>
          </a:prstGeom>
          <a:noFill/>
        </p:spPr>
        <p:txBody>
          <a:bodyPr wrap="square" lIns="0" tIns="0" rIns="0" bIns="0" anchor="t">
            <a:spAutoFit/>
          </a:bodyPr>
          <a:lstStyle/>
          <a:p>
            <a:r>
              <a:rPr sz="1200" b="0">
                <a:solidFill>
                  <a:schemeClr val="tx1"/>
                </a:solidFill>
                <a:latin typeface="APL385 Unicode"/>
              </a:rPr>
              <a:t>event: price</a:t>
            </a:r>
          </a:p>
          <a:p>
            <a:r>
              <a:rPr sz="1200" b="0">
                <a:solidFill>
                  <a:schemeClr val="tx1"/>
                </a:solidFill>
                <a:latin typeface="APL385 Unicode"/>
              </a:rPr>
              <a:t>data: {"change":0.1,"price":85.6,"symbol":"IOTA"}</a:t>
            </a:r>
          </a:p>
          <a:p>
            <a:endParaRPr sz="1200" b="0">
              <a:solidFill>
                <a:schemeClr val="tx1"/>
              </a:solidFill>
              <a:latin typeface="APL385 Unicode"/>
            </a:endParaRPr>
          </a:p>
          <a:p>
            <a:r>
              <a:rPr sz="1200" b="0">
                <a:solidFill>
                  <a:schemeClr val="tx1"/>
                </a:solidFill>
                <a:latin typeface="APL385 Unicode"/>
              </a:rPr>
              <a:t>:</a:t>
            </a:r>
          </a:p>
        </p:txBody>
      </p:sp>
      <p:sp>
        <p:nvSpPr>
          <p:cNvPr id="5" name="part"/>
          <p:cNvSpPr txBox="1"/>
          <p:nvPr/>
        </p:nvSpPr>
        <p:spPr>
          <a:xfrm>
            <a:off x="5646817" y="1267287"/>
            <a:ext cx="1296649" cy="394168"/>
          </a:xfrm>
          <a:prstGeom prst="rect">
            <a:avLst/>
          </a:prstGeom>
          <a:noFill/>
        </p:spPr>
        <p:txBody>
          <a:bodyPr wrap="square" lIns="0" tIns="0" rIns="0" bIns="0" anchor="t">
            <a:spAutoFit/>
          </a:bodyPr>
          <a:lstStyle/>
          <a:p>
            <a:r>
              <a:rPr sz="1300" b="0">
                <a:solidFill>
                  <a:schemeClr val="accent2"/>
                </a:solidFill>
                <a:latin typeface="APL385 Unicode"/>
              </a:rPr>
              <a:t>event:</a:t>
            </a:r>
          </a:p>
        </p:txBody>
      </p:sp>
      <p:sp>
        <p:nvSpPr>
          <p:cNvPr id="6" name="text"/>
          <p:cNvSpPr txBox="1"/>
          <p:nvPr/>
        </p:nvSpPr>
        <p:spPr>
          <a:xfrm>
            <a:off x="6978511" y="1267287"/>
            <a:ext cx="1822318" cy="459863"/>
          </a:xfrm>
          <a:prstGeom prst="rect">
            <a:avLst/>
          </a:prstGeom>
          <a:noFill/>
        </p:spPr>
        <p:txBody>
          <a:bodyPr wrap="square" lIns="0" tIns="0" rIns="0" bIns="0" anchor="t">
            <a:spAutoFit/>
          </a:bodyPr>
          <a:lstStyle/>
          <a:p>
            <a:r>
              <a:rPr sz="1200" b="0">
                <a:solidFill>
                  <a:schemeClr val="tx1"/>
                </a:solidFill>
              </a:rPr>
              <a:t>the event's type</a:t>
            </a:r>
          </a:p>
        </p:txBody>
      </p:sp>
      <p:sp>
        <p:nvSpPr>
          <p:cNvPr id="7" name="part"/>
          <p:cNvSpPr txBox="1"/>
          <p:nvPr/>
        </p:nvSpPr>
        <p:spPr>
          <a:xfrm>
            <a:off x="5646817" y="1759998"/>
            <a:ext cx="1296649" cy="394168"/>
          </a:xfrm>
          <a:prstGeom prst="rect">
            <a:avLst/>
          </a:prstGeom>
          <a:noFill/>
        </p:spPr>
        <p:txBody>
          <a:bodyPr wrap="square" lIns="0" tIns="0" rIns="0" bIns="0" anchor="t">
            <a:spAutoFit/>
          </a:bodyPr>
          <a:lstStyle/>
          <a:p>
            <a:r>
              <a:rPr sz="1300" b="0">
                <a:solidFill>
                  <a:schemeClr val="accent2"/>
                </a:solidFill>
                <a:latin typeface="APL385 Unicode"/>
              </a:rPr>
              <a:t>data:</a:t>
            </a:r>
          </a:p>
        </p:txBody>
      </p:sp>
      <p:sp>
        <p:nvSpPr>
          <p:cNvPr id="8" name="text"/>
          <p:cNvSpPr txBox="1"/>
          <p:nvPr/>
        </p:nvSpPr>
        <p:spPr>
          <a:xfrm>
            <a:off x="6978511" y="1759998"/>
            <a:ext cx="1822318" cy="459863"/>
          </a:xfrm>
          <a:prstGeom prst="rect">
            <a:avLst/>
          </a:prstGeom>
          <a:noFill/>
        </p:spPr>
        <p:txBody>
          <a:bodyPr wrap="square" lIns="0" tIns="0" rIns="0" bIns="0" anchor="t">
            <a:spAutoFit/>
          </a:bodyPr>
          <a:lstStyle/>
          <a:p>
            <a:r>
              <a:rPr sz="1200" b="0">
                <a:solidFill>
                  <a:schemeClr val="tx1"/>
                </a:solidFill>
              </a:rPr>
              <a:t>its content; here, JSON</a:t>
            </a:r>
          </a:p>
        </p:txBody>
      </p:sp>
      <p:sp>
        <p:nvSpPr>
          <p:cNvPr id="9" name="part"/>
          <p:cNvSpPr txBox="1"/>
          <p:nvPr/>
        </p:nvSpPr>
        <p:spPr>
          <a:xfrm>
            <a:off x="5646817" y="2252708"/>
            <a:ext cx="1296649" cy="394168"/>
          </a:xfrm>
          <a:prstGeom prst="rect">
            <a:avLst/>
          </a:prstGeom>
          <a:noFill/>
        </p:spPr>
        <p:txBody>
          <a:bodyPr wrap="square" lIns="0" tIns="0" rIns="0" bIns="0" anchor="t">
            <a:spAutoFit/>
          </a:bodyPr>
          <a:lstStyle/>
          <a:p>
            <a:r>
              <a:rPr sz="1300" b="0">
                <a:solidFill>
                  <a:schemeClr val="accent2"/>
                </a:solidFill>
                <a:latin typeface="APL385 Unicode"/>
              </a:rPr>
              <a:t>blank line</a:t>
            </a:r>
          </a:p>
        </p:txBody>
      </p:sp>
      <p:sp>
        <p:nvSpPr>
          <p:cNvPr id="10" name="text"/>
          <p:cNvSpPr txBox="1"/>
          <p:nvPr/>
        </p:nvSpPr>
        <p:spPr>
          <a:xfrm>
            <a:off x="6978511" y="2252708"/>
            <a:ext cx="1822318" cy="459863"/>
          </a:xfrm>
          <a:prstGeom prst="rect">
            <a:avLst/>
          </a:prstGeom>
          <a:noFill/>
        </p:spPr>
        <p:txBody>
          <a:bodyPr wrap="square" lIns="0" tIns="0" rIns="0" bIns="0" anchor="t">
            <a:spAutoFit/>
          </a:bodyPr>
          <a:lstStyle/>
          <a:p>
            <a:r>
              <a:rPr sz="1200" b="0">
                <a:solidFill>
                  <a:schemeClr val="tx1"/>
                </a:solidFill>
              </a:rPr>
              <a:t>ends the event</a:t>
            </a:r>
          </a:p>
        </p:txBody>
      </p:sp>
      <p:sp>
        <p:nvSpPr>
          <p:cNvPr id="11" name="part"/>
          <p:cNvSpPr txBox="1"/>
          <p:nvPr/>
        </p:nvSpPr>
        <p:spPr>
          <a:xfrm>
            <a:off x="5646817" y="2745419"/>
            <a:ext cx="1296649" cy="394168"/>
          </a:xfrm>
          <a:prstGeom prst="rect">
            <a:avLst/>
          </a:prstGeom>
          <a:noFill/>
        </p:spPr>
        <p:txBody>
          <a:bodyPr wrap="square" lIns="0" tIns="0" rIns="0" bIns="0" anchor="t">
            <a:spAutoFit/>
          </a:bodyPr>
          <a:lstStyle/>
          <a:p>
            <a:r>
              <a:rPr sz="1300" b="0">
                <a:solidFill>
                  <a:schemeClr val="accent2"/>
                </a:solidFill>
                <a:latin typeface="APL385 Unicode"/>
              </a:rPr>
              <a:t>:</a:t>
            </a:r>
          </a:p>
        </p:txBody>
      </p:sp>
      <p:sp>
        <p:nvSpPr>
          <p:cNvPr id="12" name="text"/>
          <p:cNvSpPr txBox="1"/>
          <p:nvPr/>
        </p:nvSpPr>
        <p:spPr>
          <a:xfrm>
            <a:off x="6978511" y="2745419"/>
            <a:ext cx="1822318" cy="459863"/>
          </a:xfrm>
          <a:prstGeom prst="rect">
            <a:avLst/>
          </a:prstGeom>
          <a:noFill/>
        </p:spPr>
        <p:txBody>
          <a:bodyPr wrap="square" lIns="0" tIns="0" rIns="0" bIns="0" anchor="t">
            <a:spAutoFit/>
          </a:bodyPr>
          <a:lstStyle/>
          <a:p>
            <a:r>
              <a:rPr sz="1200" b="0">
                <a:solidFill>
                  <a:schemeClr val="tx1"/>
                </a:solidFill>
              </a:rPr>
              <a:t>a comment: Jarvis sends one every 30 seconds to keep the line alive</a:t>
            </a:r>
          </a:p>
        </p:txBody>
      </p:sp>
      <p:sp>
        <p:nvSpPr>
          <p:cNvPr id="13" name="text"/>
          <p:cNvSpPr txBox="1"/>
          <p:nvPr/>
        </p:nvSpPr>
        <p:spPr>
          <a:xfrm>
            <a:off x="320040" y="3402366"/>
            <a:ext cx="4205350" cy="262779"/>
          </a:xfrm>
          <a:prstGeom prst="rect">
            <a:avLst/>
          </a:prstGeom>
          <a:noFill/>
        </p:spPr>
        <p:txBody>
          <a:bodyPr wrap="square" lIns="0" tIns="0" rIns="0" bIns="0" anchor="t">
            <a:spAutoFit/>
          </a:bodyPr>
          <a:lstStyle/>
          <a:p>
            <a:r>
              <a:rPr sz="1300" b="1">
                <a:solidFill>
                  <a:schemeClr val="accent1"/>
                </a:solidFill>
              </a:rPr>
              <a:t>Making one in APL</a:t>
            </a:r>
          </a:p>
        </p:txBody>
      </p:sp>
      <p:sp>
        <p:nvSpPr>
          <p:cNvPr id="14" name="code panel"/>
          <p:cNvSpPr/>
          <p:nvPr/>
        </p:nvSpPr>
        <p:spPr>
          <a:xfrm>
            <a:off x="320040" y="3697993"/>
            <a:ext cx="8503920" cy="788337"/>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code"/>
          <p:cNvSpPr txBox="1"/>
          <p:nvPr/>
        </p:nvSpPr>
        <p:spPr>
          <a:xfrm>
            <a:off x="460218" y="3776827"/>
            <a:ext cx="8223563" cy="630669"/>
          </a:xfrm>
          <a:prstGeom prst="rect">
            <a:avLst/>
          </a:prstGeom>
          <a:noFill/>
        </p:spPr>
        <p:txBody>
          <a:bodyPr wrap="square" lIns="0" tIns="0" rIns="0" bIns="0" anchor="t">
            <a:spAutoFit/>
          </a:bodyPr>
          <a:lstStyle/>
          <a:p>
            <a:r>
              <a:rPr sz="1300" b="0">
                <a:solidFill>
                  <a:schemeClr val="tx1"/>
                </a:solidFill>
                <a:latin typeface="APL385 Unicode"/>
              </a:rPr>
              <a:t>d←⎕NS'' ⋄ d.(symbol price change)←'IOTA' 85.6 0.1</a:t>
            </a:r>
          </a:p>
          <a:p>
            <a:r>
              <a:rPr sz="1300" b="0">
                <a:solidFill>
                  <a:schemeClr val="tx1"/>
                </a:solidFill>
                <a:latin typeface="APL385 Unicode"/>
              </a:rPr>
              <a:t>'price' Jarvis.FormatSSE d</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In the browser: EventSource</a:t>
            </a:r>
          </a:p>
        </p:txBody>
      </p:sp>
      <p:sp>
        <p:nvSpPr>
          <p:cNvPr id="3" name="code panel"/>
          <p:cNvSpPr/>
          <p:nvPr/>
        </p:nvSpPr>
        <p:spPr>
          <a:xfrm>
            <a:off x="320040" y="1267287"/>
            <a:ext cx="5186599" cy="1970842"/>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code"/>
          <p:cNvSpPr txBox="1"/>
          <p:nvPr/>
        </p:nvSpPr>
        <p:spPr>
          <a:xfrm>
            <a:off x="460218" y="1346121"/>
            <a:ext cx="4906242" cy="1813175"/>
          </a:xfrm>
          <a:prstGeom prst="rect">
            <a:avLst/>
          </a:prstGeom>
          <a:noFill/>
        </p:spPr>
        <p:txBody>
          <a:bodyPr wrap="square" lIns="0" tIns="0" rIns="0" bIns="0" anchor="t">
            <a:spAutoFit/>
          </a:bodyPr>
          <a:lstStyle/>
          <a:p>
            <a:r>
              <a:rPr sz="1200" b="0">
                <a:solidFill>
                  <a:schemeClr val="tx1"/>
                </a:solidFill>
                <a:latin typeface="APL385 Unicode"/>
              </a:rPr>
              <a:t>const source = new EventSource("/Ticker");</a:t>
            </a:r>
          </a:p>
          <a:p>
            <a:r>
              <a:rPr sz="1200" b="0">
                <a:solidFill>
                  <a:schemeClr val="tx1"/>
                </a:solidFill>
                <a:latin typeface="APL385 Unicode"/>
              </a:rPr>
              <a:t>source.addEventListener("price", function (e) {</a:t>
            </a:r>
          </a:p>
          <a:p>
            <a:r>
              <a:rPr sz="1200" b="0">
                <a:solidFill>
                  <a:schemeClr val="tx1"/>
                </a:solidFill>
                <a:latin typeface="APL385 Unicode"/>
              </a:rPr>
              <a:t>  const data = JSON.parse(e.data);</a:t>
            </a:r>
          </a:p>
          <a:p>
            <a:r>
              <a:rPr sz="1200" b="0">
                <a:solidFill>
                  <a:schemeClr val="tx1"/>
                </a:solidFill>
                <a:latin typeface="APL385 Unicode"/>
              </a:rPr>
              <a:t>  updatePrice(data.symbol, data.price, data.change);</a:t>
            </a:r>
          </a:p>
          <a:p>
            <a:r>
              <a:rPr sz="1200" b="0">
                <a:solidFill>
                  <a:schemeClr val="tx1"/>
                </a:solidFill>
                <a:latin typeface="APL385 Unicode"/>
              </a:rPr>
              <a:t>});</a:t>
            </a:r>
          </a:p>
        </p:txBody>
      </p:sp>
      <p:sp>
        <p:nvSpPr>
          <p:cNvPr id="5" name="text"/>
          <p:cNvSpPr txBox="1"/>
          <p:nvPr/>
        </p:nvSpPr>
        <p:spPr>
          <a:xfrm>
            <a:off x="320040" y="3369519"/>
            <a:ext cx="5186599" cy="328473"/>
          </a:xfrm>
          <a:prstGeom prst="rect">
            <a:avLst/>
          </a:prstGeom>
          <a:noFill/>
        </p:spPr>
        <p:txBody>
          <a:bodyPr wrap="square" lIns="0" tIns="0" rIns="0" bIns="0" anchor="t">
            <a:spAutoFit/>
          </a:bodyPr>
          <a:lstStyle/>
          <a:p>
            <a:r>
              <a:rPr sz="1100" b="0">
                <a:solidFill>
                  <a:schemeClr val="tx2"/>
                </a:solidFill>
              </a:rPr>
              <a:t>From html/index.html, which is supplied</a:t>
            </a:r>
          </a:p>
        </p:txBody>
      </p:sp>
      <p:sp>
        <p:nvSpPr>
          <p:cNvPr id="6" name="points"/>
          <p:cNvSpPr txBox="1"/>
          <p:nvPr/>
        </p:nvSpPr>
        <p:spPr>
          <a:xfrm>
            <a:off x="5786995" y="1267287"/>
            <a:ext cx="3013834" cy="2956264"/>
          </a:xfrm>
          <a:prstGeom prst="rect">
            <a:avLst/>
          </a:prstGeom>
          <a:noFill/>
        </p:spPr>
        <p:txBody>
          <a:bodyPr wrap="square" lIns="0" tIns="0" rIns="0" bIns="0" anchor="t">
            <a:spAutoFit/>
          </a:bodyPr>
          <a:lstStyle/>
          <a:p>
            <a:pPr marL="182880" indent="-182880">
              <a:spcAft>
                <a:spcPts val="600"/>
              </a:spcAft>
              <a:buChar char="•"/>
            </a:pPr>
            <a:r>
              <a:rPr sz="1400" b="0">
                <a:solidFill>
                  <a:schemeClr val="tx1"/>
                </a:solidFill>
              </a:rPr>
              <a:t>One listener per event type</a:t>
            </a:r>
          </a:p>
          <a:p>
            <a:pPr marL="182880" indent="-182880">
              <a:spcAft>
                <a:spcPts val="600"/>
              </a:spcAft>
              <a:buChar char="•"/>
            </a:pPr>
            <a:r>
              <a:rPr sz="1400" b="0">
                <a:solidFill>
                  <a:schemeClr val="tx1"/>
                </a:solidFill>
              </a:rPr>
              <a:t>Reconnects by itself, and calls Ticker again</a:t>
            </a:r>
          </a:p>
          <a:p>
            <a:pPr marL="182880" indent="-182880">
              <a:spcAft>
                <a:spcPts val="600"/>
              </a:spcAft>
              <a:buChar char="•"/>
            </a:pPr>
            <a:r>
              <a:rPr sz="1400" b="0">
                <a:solidFill>
                  <a:schemeClr val="tx1"/>
                </a:solidFill>
              </a:rPr>
              <a:t>You don't need to change the page: only one marked EDIT HERE section, for a stretch goal</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Server-Sent Events in Jarvis</a:t>
            </a:r>
          </a:p>
        </p:txBody>
      </p:sp>
      <p:graphicFrame>
        <p:nvGraphicFramePr>
          <p:cNvPr id="3" name="table"/>
          <p:cNvGraphicFramePr>
            <a:graphicFrameLocks noGrp="1"/>
          </p:cNvGraphicFramePr>
          <p:nvPr/>
        </p:nvGraphicFramePr>
        <p:xfrm>
          <a:off x="320040" y="1267287"/>
          <a:ext cx="8501816" cy="1642368"/>
        </p:xfrm>
        <a:graphic>
          <a:graphicData uri="http://schemas.openxmlformats.org/drawingml/2006/table">
            <a:tbl>
              <a:tblPr firstRow="1">
                <a:tableStyleId>{5C22544A-7EE6-4342-B048-85BDC9FD1C3A}</a:tableStyleId>
              </a:tblPr>
              <a:tblGrid>
                <a:gridCol w="2943745">
                  <a:extLst>
                    <a:ext uri="{9D8B030D-6E8A-4147-A177-3AD203B41FA5}">
                      <a16:colId xmlns:a16="http://schemas.microsoft.com/office/drawing/2014/main" val="20000"/>
                    </a:ext>
                  </a:extLst>
                </a:gridCol>
                <a:gridCol w="5558071">
                  <a:extLst>
                    <a:ext uri="{9D8B030D-6E8A-4147-A177-3AD203B41FA5}">
                      <a16:colId xmlns:a16="http://schemas.microsoft.com/office/drawing/2014/main" val="20001"/>
                    </a:ext>
                  </a:extLst>
                </a:gridCol>
              </a:tblGrid>
              <a:tr h="328473">
                <a:tc>
                  <a:txBody>
                    <a:bodyPr/>
                    <a:lstStyle/>
                    <a:p>
                      <a:r>
                        <a:rPr sz="1200" b="1">
                          <a:solidFill>
                            <a:schemeClr val="bg1"/>
                          </a:solidFill>
                        </a:rPr>
                        <a:t>Jarvis</a:t>
                      </a:r>
                    </a:p>
                  </a:txBody>
                  <a:tcPr marL="73152" marR="73152" marT="52555" marB="52555" anchor="ctr">
                    <a:solidFill>
                      <a:schemeClr val="accent3"/>
                    </a:solidFill>
                  </a:tcPr>
                </a:tc>
                <a:tc>
                  <a:txBody>
                    <a:bodyPr/>
                    <a:lstStyle/>
                    <a:p>
                      <a:r>
                        <a:rPr sz="1200" b="1">
                          <a:solidFill>
                            <a:schemeClr val="bg1"/>
                          </a:solidFill>
                        </a:rPr>
                        <a:t>What it does</a:t>
                      </a:r>
                    </a:p>
                  </a:txBody>
                  <a:tcPr marL="73152" marR="73152" marT="52555" marB="52555" anchor="ctr">
                    <a:solidFill>
                      <a:schemeClr val="accent3"/>
                    </a:solidFill>
                  </a:tcPr>
                </a:tc>
                <a:extLst>
                  <a:ext uri="{0D108BD9-81ED-4DB2-BD59-A6C34878D82A}">
                    <a16:rowId xmlns:a16="http://schemas.microsoft.com/office/drawing/2014/main" val="10000"/>
                  </a:ext>
                </a:extLst>
              </a:tr>
              <a:tr h="328473">
                <a:tc>
                  <a:txBody>
                    <a:bodyPr/>
                    <a:lstStyle/>
                    <a:p>
                      <a:r>
                        <a:rPr sz="1200" b="1">
                          <a:solidFill>
                            <a:schemeClr val="tx1"/>
                          </a:solidFill>
                        </a:rPr>
                        <a:t>SSEEndpoints</a:t>
                      </a:r>
                      <a:r>
                        <a:rPr sz="1200" b="1">
                          <a:solidFill>
                            <a:schemeClr val="tx1"/>
                          </a:solidFill>
                          <a:latin typeface="APL385 Unicode"/>
                        </a:rPr>
                        <a:t>←</a:t>
                      </a:r>
                      <a:r>
                        <a:rPr sz="1200" b="1">
                          <a:solidFill>
                            <a:schemeClr val="tx1"/>
                          </a:solidFill>
                        </a:rPr>
                        <a:t>'Ticker'</a:t>
                      </a:r>
                    </a:p>
                  </a:txBody>
                  <a:tcPr marL="73152" marR="73152" marT="52555" marB="52555" anchor="ctr">
                    <a:solidFill>
                      <a:schemeClr val="bg2"/>
                    </a:solidFill>
                  </a:tcPr>
                </a:tc>
                <a:tc>
                  <a:txBody>
                    <a:bodyPr/>
                    <a:lstStyle/>
                    <a:p>
                      <a:r>
                        <a:rPr sz="1200" b="0">
                          <a:solidFill>
                            <a:schemeClr val="tx1"/>
                          </a:solidFill>
                        </a:rPr>
                        <a:t>GET /Ticker opens a stream; Jarvis calls your Ticker once when a client connects</a:t>
                      </a:r>
                    </a:p>
                  </a:txBody>
                  <a:tcPr marL="73152" marR="73152" marT="52555" marB="52555" anchor="ctr">
                    <a:solidFill>
                      <a:schemeClr val="bg2"/>
                    </a:solidFill>
                  </a:tcPr>
                </a:tc>
                <a:extLst>
                  <a:ext uri="{0D108BD9-81ED-4DB2-BD59-A6C34878D82A}">
                    <a16:rowId xmlns:a16="http://schemas.microsoft.com/office/drawing/2014/main" val="10001"/>
                  </a:ext>
                </a:extLst>
              </a:tr>
              <a:tr h="328473">
                <a:tc>
                  <a:txBody>
                    <a:bodyPr/>
                    <a:lstStyle/>
                    <a:p>
                      <a:r>
                        <a:rPr sz="1200" b="1">
                          <a:solidFill>
                            <a:schemeClr val="tx1"/>
                          </a:solidFill>
                        </a:rPr>
                        <a:t>server.SSEConnections 'Ticker'</a:t>
                      </a:r>
                    </a:p>
                  </a:txBody>
                  <a:tcPr marL="73152" marR="73152" marT="52555" marB="52555" anchor="ctr">
                    <a:solidFill>
                      <a:schemeClr val="bg1"/>
                    </a:solidFill>
                  </a:tcPr>
                </a:tc>
                <a:tc>
                  <a:txBody>
                    <a:bodyPr/>
                    <a:lstStyle/>
                    <a:p>
                      <a:r>
                        <a:rPr sz="1200" b="0">
                          <a:solidFill>
                            <a:schemeClr val="tx1"/>
                          </a:solidFill>
                        </a:rPr>
                        <a:t>The clients connected right now</a:t>
                      </a:r>
                    </a:p>
                  </a:txBody>
                  <a:tcPr marL="73152" marR="73152" marT="52555" marB="52555" anchor="ctr">
                    <a:solidFill>
                      <a:schemeClr val="bg1"/>
                    </a:solidFill>
                  </a:tcPr>
                </a:tc>
                <a:extLst>
                  <a:ext uri="{0D108BD9-81ED-4DB2-BD59-A6C34878D82A}">
                    <a16:rowId xmlns:a16="http://schemas.microsoft.com/office/drawing/2014/main" val="10002"/>
                  </a:ext>
                </a:extLst>
              </a:tr>
              <a:tr h="328473">
                <a:tc>
                  <a:txBody>
                    <a:bodyPr/>
                    <a:lstStyle/>
                    <a:p>
                      <a:r>
                        <a:rPr sz="1200" b="1">
                          <a:solidFill>
                            <a:schemeClr val="tx1"/>
                          </a:solidFill>
                        </a:rPr>
                        <a:t>'price' server.FormatSSE data</a:t>
                      </a:r>
                    </a:p>
                  </a:txBody>
                  <a:tcPr marL="73152" marR="73152" marT="52555" marB="52555" anchor="ctr">
                    <a:solidFill>
                      <a:schemeClr val="bg2"/>
                    </a:solidFill>
                  </a:tcPr>
                </a:tc>
                <a:tc>
                  <a:txBody>
                    <a:bodyPr/>
                    <a:lstStyle/>
                    <a:p>
                      <a:r>
                        <a:rPr sz="1200" b="0">
                          <a:solidFill>
                            <a:schemeClr val="tx1"/>
                          </a:solidFill>
                        </a:rPr>
                        <a:t>Formats an event; a namespace becomes JSON</a:t>
                      </a:r>
                    </a:p>
                  </a:txBody>
                  <a:tcPr marL="73152" marR="73152" marT="52555" marB="52555" anchor="ctr">
                    <a:solidFill>
                      <a:schemeClr val="bg2"/>
                    </a:solidFill>
                  </a:tcPr>
                </a:tc>
                <a:extLst>
                  <a:ext uri="{0D108BD9-81ED-4DB2-BD59-A6C34878D82A}">
                    <a16:rowId xmlns:a16="http://schemas.microsoft.com/office/drawing/2014/main" val="10003"/>
                  </a:ext>
                </a:extLst>
              </a:tr>
              <a:tr h="328476">
                <a:tc>
                  <a:txBody>
                    <a:bodyPr/>
                    <a:lstStyle/>
                    <a:p>
                      <a:r>
                        <a:rPr sz="1200" b="1">
                          <a:solidFill>
                            <a:schemeClr val="tx1"/>
                          </a:solidFill>
                        </a:rPr>
                        <a:t>clients server.SendSSE event</a:t>
                      </a:r>
                    </a:p>
                  </a:txBody>
                  <a:tcPr marL="73152" marR="73152" marT="52555" marB="52555" anchor="ctr">
                    <a:solidFill>
                      <a:schemeClr val="bg1"/>
                    </a:solidFill>
                  </a:tcPr>
                </a:tc>
                <a:tc>
                  <a:txBody>
                    <a:bodyPr/>
                    <a:lstStyle/>
                    <a:p>
                      <a:r>
                        <a:rPr sz="1200" b="0">
                          <a:solidFill>
                            <a:schemeClr val="tx1"/>
                          </a:solidFill>
                        </a:rPr>
                        <a:t>Sends an event to one client, or many</a:t>
                      </a:r>
                    </a:p>
                  </a:txBody>
                  <a:tcPr marL="73152" marR="73152" marT="52555" marB="52555" anchor="ctr">
                    <a:solidFill>
                      <a:schemeClr val="bg1"/>
                    </a:solidFill>
                  </a:tcPr>
                </a:tc>
                <a:extLst>
                  <a:ext uri="{0D108BD9-81ED-4DB2-BD59-A6C34878D82A}">
                    <a16:rowId xmlns:a16="http://schemas.microsoft.com/office/drawing/2014/main" val="10004"/>
                  </a:ext>
                </a:extLst>
              </a:tr>
            </a:tbl>
          </a:graphicData>
        </a:graphic>
      </p:graphicFrame>
      <p:sp>
        <p:nvSpPr>
          <p:cNvPr id="4" name="code panel"/>
          <p:cNvSpPr/>
          <p:nvPr/>
        </p:nvSpPr>
        <p:spPr>
          <a:xfrm>
            <a:off x="320040" y="3205282"/>
            <a:ext cx="8503920" cy="656947"/>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code"/>
          <p:cNvSpPr txBox="1"/>
          <p:nvPr/>
        </p:nvSpPr>
        <p:spPr>
          <a:xfrm>
            <a:off x="460218" y="3284116"/>
            <a:ext cx="8223563" cy="499280"/>
          </a:xfrm>
          <a:prstGeom prst="rect">
            <a:avLst/>
          </a:prstGeom>
          <a:noFill/>
        </p:spPr>
        <p:txBody>
          <a:bodyPr wrap="square" lIns="0" tIns="0" rIns="0" bIns="0" anchor="t">
            <a:spAutoFit/>
          </a:bodyPr>
          <a:lstStyle/>
          <a:p>
            <a:r>
              <a:rPr sz="1300" b="0">
                <a:solidFill>
                  <a:schemeClr val="tx1"/>
                </a:solidFill>
                <a:latin typeface="APL385 Unicode"/>
              </a:rPr>
              <a:t>clients←server.SSEConnections 'Ticker'</a:t>
            </a:r>
          </a:p>
          <a:p>
            <a:r>
              <a:rPr sz="1300" b="0">
                <a:solidFill>
                  <a:schemeClr val="tx1"/>
                </a:solidFill>
                <a:latin typeface="APL385 Unicode"/>
              </a:rPr>
              <a:t>clients server.SendSSE 'price' server.FormatSSE data</a:t>
            </a:r>
          </a:p>
        </p:txBody>
      </p:sp>
      <p:sp>
        <p:nvSpPr>
          <p:cNvPr id="6" name="text"/>
          <p:cNvSpPr txBox="1"/>
          <p:nvPr/>
        </p:nvSpPr>
        <p:spPr>
          <a:xfrm>
            <a:off x="320040" y="4026467"/>
            <a:ext cx="8503920" cy="591252"/>
          </a:xfrm>
          <a:prstGeom prst="rect">
            <a:avLst/>
          </a:prstGeom>
          <a:noFill/>
        </p:spPr>
        <p:txBody>
          <a:bodyPr wrap="square" lIns="0" tIns="0" rIns="0" bIns="0" anchor="t">
            <a:spAutoFit/>
          </a:bodyPr>
          <a:lstStyle/>
          <a:p>
            <a:r>
              <a:rPr sz="1300" b="0">
                <a:solidFill>
                  <a:schemeClr val="tx1"/>
                </a:solidFill>
              </a:rPr>
              <a:t>In Exercise 3, Broadcast loops in its own thread and sends prices every second. After editing it, run Restart, not Run: Run reloads the files and loses your edits.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Exercise 3: Server-Sent Events</a:t>
            </a:r>
          </a:p>
        </p:txBody>
      </p:sp>
      <p:sp>
        <p:nvSpPr>
          <p:cNvPr id="3" name="time"/>
          <p:cNvSpPr txBox="1"/>
          <p:nvPr/>
        </p:nvSpPr>
        <p:spPr>
          <a:xfrm>
            <a:off x="320040" y="1234440"/>
            <a:ext cx="3931920" cy="274320"/>
          </a:xfrm>
          <a:prstGeom prst="rect">
            <a:avLst/>
          </a:prstGeom>
          <a:noFill/>
        </p:spPr>
        <p:txBody>
          <a:bodyPr wrap="square" lIns="0" tIns="0" rIns="0" bIns="0" anchor="t">
            <a:spAutoFit/>
          </a:bodyPr>
          <a:lstStyle/>
          <a:p>
            <a:r>
              <a:rPr sz="1400" b="1">
                <a:solidFill>
                  <a:schemeClr val="accent1"/>
                </a:solidFill>
              </a:rPr>
              <a:t>30 minutes</a:t>
            </a:r>
          </a:p>
        </p:txBody>
      </p:sp>
      <p:sp>
        <p:nvSpPr>
          <p:cNvPr id="4" name="goal"/>
          <p:cNvSpPr txBox="1"/>
          <p:nvPr/>
        </p:nvSpPr>
        <p:spPr>
          <a:xfrm>
            <a:off x="320040" y="1554480"/>
            <a:ext cx="3931920" cy="1280160"/>
          </a:xfrm>
          <a:prstGeom prst="rect">
            <a:avLst/>
          </a:prstGeom>
          <a:noFill/>
        </p:spPr>
        <p:txBody>
          <a:bodyPr wrap="square" lIns="0" tIns="0" rIns="0" bIns="0" anchor="t">
            <a:spAutoFit/>
          </a:bodyPr>
          <a:lstStyle/>
          <a:p>
            <a:r>
              <a:rPr sz="1500" b="0">
                <a:solidFill>
                  <a:schemeClr val="tx1"/>
                </a:solidFill>
              </a:rPr>
              <a:t>Push live prices and news from APL to a web page, to every browser that's connected.</a:t>
            </a:r>
          </a:p>
        </p:txBody>
      </p:sp>
      <p:sp>
        <p:nvSpPr>
          <p:cNvPr id="5" name="steps head"/>
          <p:cNvSpPr txBox="1"/>
          <p:nvPr/>
        </p:nvSpPr>
        <p:spPr>
          <a:xfrm>
            <a:off x="4572000" y="1234440"/>
            <a:ext cx="4251960" cy="274320"/>
          </a:xfrm>
          <a:prstGeom prst="rect">
            <a:avLst/>
          </a:prstGeom>
          <a:noFill/>
        </p:spPr>
        <p:txBody>
          <a:bodyPr wrap="square" lIns="0" tIns="0" rIns="0" bIns="0" anchor="t">
            <a:spAutoFit/>
          </a:bodyPr>
          <a:lstStyle/>
          <a:p>
            <a:r>
              <a:rPr sz="1300" b="1">
                <a:solidFill>
                  <a:schemeClr val="accent2"/>
                </a:solidFill>
              </a:rPr>
              <a:t>Core steps</a:t>
            </a:r>
          </a:p>
        </p:txBody>
      </p:sp>
      <p:sp>
        <p:nvSpPr>
          <p:cNvPr id="6" name="steps"/>
          <p:cNvSpPr txBox="1"/>
          <p:nvPr/>
        </p:nvSpPr>
        <p:spPr>
          <a:xfrm>
            <a:off x="4572000" y="1554480"/>
            <a:ext cx="4251960" cy="1600200"/>
          </a:xfrm>
          <a:prstGeom prst="rect">
            <a:avLst/>
          </a:prstGeom>
          <a:noFill/>
        </p:spPr>
        <p:txBody>
          <a:bodyPr wrap="square" lIns="0" tIns="0" rIns="0" bIns="0" anchor="t">
            <a:spAutoFit/>
          </a:bodyPr>
          <a:lstStyle/>
          <a:p>
            <a:pPr>
              <a:spcAft>
                <a:spcPts val="200"/>
              </a:spcAft>
            </a:pPr>
            <a:r>
              <a:rPr sz="1200" b="0">
                <a:solidFill>
                  <a:schemeClr val="tx1"/>
                </a:solidFill>
              </a:rPr>
              <a:t>S1  Start the service, open the page</a:t>
            </a:r>
          </a:p>
          <a:p>
            <a:pPr>
              <a:spcAft>
                <a:spcPts val="200"/>
              </a:spcAft>
            </a:pPr>
            <a:r>
              <a:rPr sz="1200" b="0">
                <a:solidFill>
                  <a:schemeClr val="tx1"/>
                </a:solidFill>
              </a:rPr>
              <a:t>S2  Ticker: welcome each new client</a:t>
            </a:r>
          </a:p>
          <a:p>
            <a:pPr>
              <a:spcAft>
                <a:spcPts val="200"/>
              </a:spcAft>
            </a:pPr>
            <a:r>
              <a:rPr sz="1200" b="0">
                <a:solidFill>
                  <a:schemeClr val="tx1"/>
                </a:solidFill>
              </a:rPr>
              <a:t>S3  Broadcast: send to everyone, then Restart</a:t>
            </a:r>
          </a:p>
          <a:p>
            <a:pPr>
              <a:spcAft>
                <a:spcPts val="200"/>
              </a:spcAft>
            </a:pPr>
            <a:r>
              <a:rPr sz="1200" b="0">
                <a:solidFill>
                  <a:schemeClr val="tx1"/>
                </a:solidFill>
              </a:rPr>
              <a:t>S4  Two tabs; server.Stop and server.Start</a:t>
            </a:r>
          </a:p>
          <a:p>
            <a:pPr>
              <a:spcAft>
                <a:spcPts val="200"/>
              </a:spcAft>
            </a:pPr>
            <a:r>
              <a:rPr sz="1200" b="0">
                <a:solidFill>
                  <a:schemeClr val="tx1"/>
                </a:solidFill>
              </a:rPr>
              <a:t>S5  Stop</a:t>
            </a:r>
          </a:p>
        </p:txBody>
      </p:sp>
      <p:sp>
        <p:nvSpPr>
          <p:cNvPr id="7" name="first head"/>
          <p:cNvSpPr txBox="1"/>
          <p:nvPr/>
        </p:nvSpPr>
        <p:spPr>
          <a:xfrm>
            <a:off x="320040" y="3291840"/>
            <a:ext cx="5486400" cy="256032"/>
          </a:xfrm>
          <a:prstGeom prst="rect">
            <a:avLst/>
          </a:prstGeom>
          <a:noFill/>
        </p:spPr>
        <p:txBody>
          <a:bodyPr wrap="square" lIns="0" tIns="0" rIns="0" bIns="0" anchor="t">
            <a:spAutoFit/>
          </a:bodyPr>
          <a:lstStyle/>
          <a:p>
            <a:r>
              <a:rPr sz="1200" b="1">
                <a:solidFill>
                  <a:schemeClr val="accent2"/>
                </a:solidFill>
              </a:rPr>
              <a:t>Start here, after Setup</a:t>
            </a:r>
          </a:p>
        </p:txBody>
      </p:sp>
      <p:sp>
        <p:nvSpPr>
          <p:cNvPr id="8" name="code panel"/>
          <p:cNvSpPr/>
          <p:nvPr/>
        </p:nvSpPr>
        <p:spPr>
          <a:xfrm>
            <a:off x="320040" y="3584448"/>
            <a:ext cx="8503920" cy="475488"/>
          </a:xfrm>
          <a:prstGeom prst="roundRect">
            <a:avLst>
              <a:gd name="adj" fmla="val 8000"/>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code"/>
          <p:cNvSpPr txBox="1"/>
          <p:nvPr/>
        </p:nvSpPr>
        <p:spPr>
          <a:xfrm>
            <a:off x="457200" y="3694176"/>
            <a:ext cx="8229600" cy="292608"/>
          </a:xfrm>
          <a:prstGeom prst="rect">
            <a:avLst/>
          </a:prstGeom>
          <a:noFill/>
        </p:spPr>
        <p:txBody>
          <a:bodyPr wrap="square" lIns="0" tIns="0" rIns="0" bIns="0" anchor="t">
            <a:spAutoFit/>
          </a:bodyPr>
          <a:lstStyle/>
          <a:p>
            <a:r>
              <a:rPr sz="1100" b="0">
                <a:solidFill>
                  <a:schemeClr val="bg1"/>
                </a:solidFill>
                <a:latin typeface="APL385 Unicode"/>
              </a:rPr>
              <a:t>2 ⎕FIX 'file://',#.WorkshopRoot,'/Exercises/Ex3-SSE/Run.aplf'</a:t>
            </a:r>
          </a:p>
        </p:txBody>
      </p:sp>
      <p:sp>
        <p:nvSpPr>
          <p:cNvPr id="10" name="readme"/>
          <p:cNvSpPr txBox="1"/>
          <p:nvPr/>
        </p:nvSpPr>
        <p:spPr>
          <a:xfrm>
            <a:off x="320040" y="4123944"/>
            <a:ext cx="8503920" cy="228600"/>
          </a:xfrm>
          <a:prstGeom prst="rect">
            <a:avLst/>
          </a:prstGeom>
          <a:noFill/>
        </p:spPr>
        <p:txBody>
          <a:bodyPr wrap="square" lIns="0" tIns="0" rIns="0" bIns="0" anchor="t">
            <a:spAutoFit/>
          </a:bodyPr>
          <a:lstStyle/>
          <a:p>
            <a:r>
              <a:rPr sz="1200" b="0">
                <a:solidFill>
                  <a:schemeClr val="tx2"/>
                </a:solidFill>
              </a:rPr>
              <a:t>Exercises/Ex3-SSE/README.md    After editing Broadcast: Restart, not Run.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WebSockets</a:t>
            </a:r>
          </a:p>
        </p:txBody>
      </p:sp>
      <p:sp>
        <p:nvSpPr>
          <p:cNvPr id="3" name="Text Placeholder 2"/>
          <p:cNvSpPr>
            <a:spLocks noGrp="1"/>
          </p:cNvSpPr>
          <p:nvPr>
            <p:ph type="body" sz="quarter" idx="10"/>
          </p:nvPr>
        </p:nvSpPr>
        <p:spPr/>
        <p:txBody>
          <a:bodyPr/>
          <a:lstStyle/>
          <a:p>
            <a:r>
              <a:rPr sz="1800" b="0">
                <a:solidFill>
                  <a:schemeClr val="tx1"/>
                </a:solidFill>
              </a:rPr>
              <a:t>One connection, and both sides talk whenever they like</a:t>
            </a:r>
          </a:p>
          <a:p>
            <a:r>
              <a:rPr sz="1400" b="0">
                <a:solidFill>
                  <a:schemeClr val="accent1"/>
                </a:solidFill>
              </a:rPr>
              <a:t>10 minutes, then Exercise 4 after the break</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Upgrade, then talk both ways</a:t>
            </a:r>
          </a:p>
        </p:txBody>
      </p:sp>
      <p:cxnSp>
        <p:nvCxnSpPr>
          <p:cNvPr id="3" name="lane"/>
          <p:cNvCxnSpPr/>
          <p:nvPr/>
        </p:nvCxnSpPr>
        <p:spPr>
          <a:xfrm>
            <a:off x="1599167" y="1595761"/>
            <a:ext cx="0" cy="2890569"/>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4" name="lane head"/>
          <p:cNvSpPr/>
          <p:nvPr/>
        </p:nvSpPr>
        <p:spPr>
          <a:xfrm>
            <a:off x="688008" y="1234440"/>
            <a:ext cx="1822318"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lane name"/>
          <p:cNvSpPr txBox="1"/>
          <p:nvPr/>
        </p:nvSpPr>
        <p:spPr>
          <a:xfrm>
            <a:off x="688008" y="1234440"/>
            <a:ext cx="1822318" cy="361321"/>
          </a:xfrm>
          <a:prstGeom prst="rect">
            <a:avLst/>
          </a:prstGeom>
          <a:noFill/>
        </p:spPr>
        <p:txBody>
          <a:bodyPr wrap="square" lIns="0" tIns="0" rIns="0" bIns="0" anchor="ctr">
            <a:spAutoFit/>
          </a:bodyPr>
          <a:lstStyle/>
          <a:p>
            <a:pPr algn="ctr"/>
            <a:r>
              <a:rPr sz="1200" b="1">
                <a:solidFill>
                  <a:schemeClr val="tx1"/>
                </a:solidFill>
              </a:rPr>
              <a:t>Browser</a:t>
            </a:r>
          </a:p>
        </p:txBody>
      </p:sp>
      <p:cxnSp>
        <p:nvCxnSpPr>
          <p:cNvPr id="6" name="lane"/>
          <p:cNvCxnSpPr/>
          <p:nvPr/>
        </p:nvCxnSpPr>
        <p:spPr>
          <a:xfrm>
            <a:off x="4157422" y="1595761"/>
            <a:ext cx="0" cy="2890569"/>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7" name="lane head"/>
          <p:cNvSpPr/>
          <p:nvPr/>
        </p:nvSpPr>
        <p:spPr>
          <a:xfrm>
            <a:off x="3246263" y="1234440"/>
            <a:ext cx="1822318"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lane name"/>
          <p:cNvSpPr txBox="1"/>
          <p:nvPr/>
        </p:nvSpPr>
        <p:spPr>
          <a:xfrm>
            <a:off x="3246263" y="1234440"/>
            <a:ext cx="1822318" cy="361321"/>
          </a:xfrm>
          <a:prstGeom prst="rect">
            <a:avLst/>
          </a:prstGeom>
          <a:noFill/>
        </p:spPr>
        <p:txBody>
          <a:bodyPr wrap="square" lIns="0" tIns="0" rIns="0" bIns="0" anchor="ctr">
            <a:spAutoFit/>
          </a:bodyPr>
          <a:lstStyle/>
          <a:p>
            <a:pPr algn="ctr"/>
            <a:r>
              <a:rPr sz="1200" b="1">
                <a:solidFill>
                  <a:schemeClr val="tx1"/>
                </a:solidFill>
              </a:rPr>
              <a:t>Jarvis :8084</a:t>
            </a:r>
          </a:p>
        </p:txBody>
      </p:sp>
      <p:cxnSp>
        <p:nvCxnSpPr>
          <p:cNvPr id="9" name="message"/>
          <p:cNvCxnSpPr/>
          <p:nvPr/>
        </p:nvCxnSpPr>
        <p:spPr>
          <a:xfrm>
            <a:off x="1599167" y="1957082"/>
            <a:ext cx="2558255"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10" name="message label"/>
          <p:cNvSpPr txBox="1"/>
          <p:nvPr/>
        </p:nvSpPr>
        <p:spPr>
          <a:xfrm>
            <a:off x="1634212" y="1674594"/>
            <a:ext cx="2488165" cy="236501"/>
          </a:xfrm>
          <a:prstGeom prst="rect">
            <a:avLst/>
          </a:prstGeom>
          <a:noFill/>
        </p:spPr>
        <p:txBody>
          <a:bodyPr wrap="square" lIns="0" tIns="0" rIns="0" bIns="0" anchor="b">
            <a:spAutoFit/>
          </a:bodyPr>
          <a:lstStyle/>
          <a:p>
            <a:pPr algn="ctr"/>
            <a:r>
              <a:rPr sz="1000" b="0">
                <a:solidFill>
                  <a:schemeClr val="tx1"/>
                </a:solidFill>
                <a:latin typeface="APL385 Unicode"/>
              </a:rPr>
              <a:t>GET /chat  Upgrade: websocket</a:t>
            </a:r>
          </a:p>
        </p:txBody>
      </p:sp>
      <p:cxnSp>
        <p:nvCxnSpPr>
          <p:cNvPr id="11" name="message"/>
          <p:cNvCxnSpPr/>
          <p:nvPr/>
        </p:nvCxnSpPr>
        <p:spPr>
          <a:xfrm flipH="1">
            <a:off x="1599167" y="2351250"/>
            <a:ext cx="2558255"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2" name="message label"/>
          <p:cNvSpPr txBox="1"/>
          <p:nvPr/>
        </p:nvSpPr>
        <p:spPr>
          <a:xfrm>
            <a:off x="1634212" y="2068763"/>
            <a:ext cx="2488165" cy="236501"/>
          </a:xfrm>
          <a:prstGeom prst="rect">
            <a:avLst/>
          </a:prstGeom>
          <a:noFill/>
        </p:spPr>
        <p:txBody>
          <a:bodyPr wrap="square" lIns="0" tIns="0" rIns="0" bIns="0" anchor="b">
            <a:spAutoFit/>
          </a:bodyPr>
          <a:lstStyle/>
          <a:p>
            <a:pPr algn="ctr"/>
            <a:r>
              <a:rPr sz="1000" b="0">
                <a:solidFill>
                  <a:schemeClr val="tx1"/>
                </a:solidFill>
                <a:latin typeface="APL385 Unicode"/>
              </a:rPr>
              <a:t>101 Switching Protocols</a:t>
            </a:r>
          </a:p>
        </p:txBody>
      </p:sp>
      <p:cxnSp>
        <p:nvCxnSpPr>
          <p:cNvPr id="13" name="message"/>
          <p:cNvCxnSpPr/>
          <p:nvPr/>
        </p:nvCxnSpPr>
        <p:spPr>
          <a:xfrm>
            <a:off x="1599167" y="2843961"/>
            <a:ext cx="2558255"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14" name="message label"/>
          <p:cNvSpPr txBox="1"/>
          <p:nvPr/>
        </p:nvSpPr>
        <p:spPr>
          <a:xfrm>
            <a:off x="1634212" y="2561474"/>
            <a:ext cx="2488165" cy="236501"/>
          </a:xfrm>
          <a:prstGeom prst="rect">
            <a:avLst/>
          </a:prstGeom>
          <a:noFill/>
        </p:spPr>
        <p:txBody>
          <a:bodyPr wrap="square" lIns="0" tIns="0" rIns="0" bIns="0" anchor="b">
            <a:spAutoFit/>
          </a:bodyPr>
          <a:lstStyle/>
          <a:p>
            <a:pPr algn="ctr"/>
            <a:r>
              <a:rPr sz="1000" b="0">
                <a:solidFill>
                  <a:schemeClr val="tx1"/>
                </a:solidFill>
                <a:latin typeface="APL385 Unicode"/>
              </a:rPr>
              <a:t>{"type":"join","user":"Ada"}</a:t>
            </a:r>
          </a:p>
        </p:txBody>
      </p:sp>
      <p:cxnSp>
        <p:nvCxnSpPr>
          <p:cNvPr id="15" name="message"/>
          <p:cNvCxnSpPr/>
          <p:nvPr/>
        </p:nvCxnSpPr>
        <p:spPr>
          <a:xfrm flipH="1">
            <a:off x="1599167" y="3238130"/>
            <a:ext cx="2558255"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6" name="message label"/>
          <p:cNvSpPr txBox="1"/>
          <p:nvPr/>
        </p:nvSpPr>
        <p:spPr>
          <a:xfrm>
            <a:off x="1634212" y="2955642"/>
            <a:ext cx="2488165" cy="236501"/>
          </a:xfrm>
          <a:prstGeom prst="rect">
            <a:avLst/>
          </a:prstGeom>
          <a:noFill/>
        </p:spPr>
        <p:txBody>
          <a:bodyPr wrap="square" lIns="0" tIns="0" rIns="0" bIns="0" anchor="b">
            <a:spAutoFit/>
          </a:bodyPr>
          <a:lstStyle/>
          <a:p>
            <a:pPr algn="ctr"/>
            <a:r>
              <a:rPr sz="1000" b="0">
                <a:solidFill>
                  <a:schemeClr val="tx1"/>
                </a:solidFill>
                <a:latin typeface="APL385 Unicode"/>
              </a:rPr>
              <a:t>{"type":"join","user":"Ada",…}</a:t>
            </a:r>
          </a:p>
        </p:txBody>
      </p:sp>
      <p:cxnSp>
        <p:nvCxnSpPr>
          <p:cNvPr id="17" name="message"/>
          <p:cNvCxnSpPr/>
          <p:nvPr/>
        </p:nvCxnSpPr>
        <p:spPr>
          <a:xfrm>
            <a:off x="1599167" y="3665146"/>
            <a:ext cx="2558255"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18" name="message label"/>
          <p:cNvSpPr txBox="1"/>
          <p:nvPr/>
        </p:nvSpPr>
        <p:spPr>
          <a:xfrm>
            <a:off x="1634212" y="3382658"/>
            <a:ext cx="2488165" cy="236501"/>
          </a:xfrm>
          <a:prstGeom prst="rect">
            <a:avLst/>
          </a:prstGeom>
          <a:noFill/>
        </p:spPr>
        <p:txBody>
          <a:bodyPr wrap="square" lIns="0" tIns="0" rIns="0" bIns="0" anchor="b">
            <a:spAutoFit/>
          </a:bodyPr>
          <a:lstStyle/>
          <a:p>
            <a:pPr algn="ctr"/>
            <a:r>
              <a:rPr sz="1000" b="0">
                <a:solidFill>
                  <a:schemeClr val="tx1"/>
                </a:solidFill>
                <a:latin typeface="APL385 Unicode"/>
              </a:rPr>
              <a:t>{"type":"msg","text":"Hello"}</a:t>
            </a:r>
          </a:p>
        </p:txBody>
      </p:sp>
      <p:cxnSp>
        <p:nvCxnSpPr>
          <p:cNvPr id="19" name="message"/>
          <p:cNvCxnSpPr/>
          <p:nvPr/>
        </p:nvCxnSpPr>
        <p:spPr>
          <a:xfrm flipH="1">
            <a:off x="1599167" y="4059314"/>
            <a:ext cx="2558255"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20" name="message label"/>
          <p:cNvSpPr txBox="1"/>
          <p:nvPr/>
        </p:nvSpPr>
        <p:spPr>
          <a:xfrm>
            <a:off x="1634212" y="3776827"/>
            <a:ext cx="2488165" cy="236501"/>
          </a:xfrm>
          <a:prstGeom prst="rect">
            <a:avLst/>
          </a:prstGeom>
          <a:noFill/>
        </p:spPr>
        <p:txBody>
          <a:bodyPr wrap="square" lIns="0" tIns="0" rIns="0" bIns="0" anchor="b">
            <a:spAutoFit/>
          </a:bodyPr>
          <a:lstStyle/>
          <a:p>
            <a:pPr algn="ctr"/>
            <a:r>
              <a:rPr sz="1000" b="0">
                <a:solidFill>
                  <a:schemeClr val="tx1"/>
                </a:solidFill>
                <a:latin typeface="APL385 Unicode"/>
              </a:rPr>
              <a:t>{"type":"msg","user":"Ada",…}</a:t>
            </a:r>
          </a:p>
        </p:txBody>
      </p:sp>
      <p:sp>
        <p:nvSpPr>
          <p:cNvPr id="21" name="card"/>
          <p:cNvSpPr/>
          <p:nvPr/>
        </p:nvSpPr>
        <p:spPr>
          <a:xfrm>
            <a:off x="5716906" y="1234440"/>
            <a:ext cx="3083923"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card head"/>
          <p:cNvSpPr txBox="1"/>
          <p:nvPr/>
        </p:nvSpPr>
        <p:spPr>
          <a:xfrm>
            <a:off x="5927174" y="1378968"/>
            <a:ext cx="2663388" cy="328473"/>
          </a:xfrm>
          <a:prstGeom prst="rect">
            <a:avLst/>
          </a:prstGeom>
          <a:noFill/>
        </p:spPr>
        <p:txBody>
          <a:bodyPr wrap="square" lIns="0" tIns="0" rIns="0" bIns="0" anchor="t">
            <a:spAutoFit/>
          </a:bodyPr>
          <a:lstStyle/>
          <a:p>
            <a:r>
              <a:rPr sz="1500" b="1">
                <a:solidFill>
                  <a:schemeClr val="tx1"/>
                </a:solidFill>
              </a:rPr>
              <a:t>Starts as HTTP</a:t>
            </a:r>
          </a:p>
        </p:txBody>
      </p:sp>
      <p:sp>
        <p:nvSpPr>
          <p:cNvPr id="23" name="card body"/>
          <p:cNvSpPr txBox="1"/>
          <p:nvPr/>
        </p:nvSpPr>
        <p:spPr>
          <a:xfrm>
            <a:off x="5927174" y="1759998"/>
            <a:ext cx="2663388" cy="427015"/>
          </a:xfrm>
          <a:prstGeom prst="rect">
            <a:avLst/>
          </a:prstGeom>
          <a:noFill/>
        </p:spPr>
        <p:txBody>
          <a:bodyPr wrap="square" lIns="0" tIns="0" rIns="0" bIns="0" anchor="t">
            <a:spAutoFit/>
          </a:bodyPr>
          <a:lstStyle/>
          <a:p>
            <a:r>
              <a:rPr sz="1200" b="0">
                <a:solidFill>
                  <a:schemeClr val="tx1"/>
                </a:solidFill>
              </a:rPr>
              <a:t>The browser asks to upgrade; the server agrees.</a:t>
            </a:r>
          </a:p>
        </p:txBody>
      </p:sp>
      <p:sp>
        <p:nvSpPr>
          <p:cNvPr id="24" name="card"/>
          <p:cNvSpPr/>
          <p:nvPr/>
        </p:nvSpPr>
        <p:spPr>
          <a:xfrm>
            <a:off x="5716906" y="2384098"/>
            <a:ext cx="3083923"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card head"/>
          <p:cNvSpPr txBox="1"/>
          <p:nvPr/>
        </p:nvSpPr>
        <p:spPr>
          <a:xfrm>
            <a:off x="5927174" y="2528626"/>
            <a:ext cx="2663388" cy="328473"/>
          </a:xfrm>
          <a:prstGeom prst="rect">
            <a:avLst/>
          </a:prstGeom>
          <a:noFill/>
        </p:spPr>
        <p:txBody>
          <a:bodyPr wrap="square" lIns="0" tIns="0" rIns="0" bIns="0" anchor="t">
            <a:spAutoFit/>
          </a:bodyPr>
          <a:lstStyle/>
          <a:p>
            <a:r>
              <a:rPr sz="1500" b="1">
                <a:solidFill>
                  <a:schemeClr val="tx1"/>
                </a:solidFill>
              </a:rPr>
              <a:t>Then two-way</a:t>
            </a:r>
          </a:p>
        </p:txBody>
      </p:sp>
      <p:sp>
        <p:nvSpPr>
          <p:cNvPr id="26" name="card body"/>
          <p:cNvSpPr txBox="1"/>
          <p:nvPr/>
        </p:nvSpPr>
        <p:spPr>
          <a:xfrm>
            <a:off x="5927174" y="2909656"/>
            <a:ext cx="2663388" cy="427015"/>
          </a:xfrm>
          <a:prstGeom prst="rect">
            <a:avLst/>
          </a:prstGeom>
          <a:noFill/>
        </p:spPr>
        <p:txBody>
          <a:bodyPr wrap="square" lIns="0" tIns="0" rIns="0" bIns="0" anchor="t">
            <a:spAutoFit/>
          </a:bodyPr>
          <a:lstStyle/>
          <a:p>
            <a:r>
              <a:rPr sz="1200" b="0">
                <a:solidFill>
                  <a:schemeClr val="tx1"/>
                </a:solidFill>
              </a:rPr>
              <a:t>Either side sends a message at any time.</a:t>
            </a:r>
          </a:p>
        </p:txBody>
      </p:sp>
      <p:sp>
        <p:nvSpPr>
          <p:cNvPr id="27" name="card"/>
          <p:cNvSpPr/>
          <p:nvPr/>
        </p:nvSpPr>
        <p:spPr>
          <a:xfrm>
            <a:off x="5716906" y="3533756"/>
            <a:ext cx="3083923"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card head"/>
          <p:cNvSpPr txBox="1"/>
          <p:nvPr/>
        </p:nvSpPr>
        <p:spPr>
          <a:xfrm>
            <a:off x="5927174" y="3678284"/>
            <a:ext cx="2663388" cy="328473"/>
          </a:xfrm>
          <a:prstGeom prst="rect">
            <a:avLst/>
          </a:prstGeom>
          <a:noFill/>
        </p:spPr>
        <p:txBody>
          <a:bodyPr wrap="square" lIns="0" tIns="0" rIns="0" bIns="0" anchor="t">
            <a:spAutoFit/>
          </a:bodyPr>
          <a:lstStyle/>
          <a:p>
            <a:r>
              <a:rPr sz="1500" b="1">
                <a:solidFill>
                  <a:schemeClr val="tx1"/>
                </a:solidFill>
              </a:rPr>
              <a:t>No reconnecting</a:t>
            </a:r>
          </a:p>
        </p:txBody>
      </p:sp>
      <p:sp>
        <p:nvSpPr>
          <p:cNvPr id="29" name="card body"/>
          <p:cNvSpPr txBox="1"/>
          <p:nvPr/>
        </p:nvSpPr>
        <p:spPr>
          <a:xfrm>
            <a:off x="5927174" y="4059314"/>
            <a:ext cx="2663388" cy="427015"/>
          </a:xfrm>
          <a:prstGeom prst="rect">
            <a:avLst/>
          </a:prstGeom>
          <a:noFill/>
        </p:spPr>
        <p:txBody>
          <a:bodyPr wrap="square" lIns="0" tIns="0" rIns="0" bIns="0" anchor="t">
            <a:spAutoFit/>
          </a:bodyPr>
          <a:lstStyle/>
          <a:p>
            <a:r>
              <a:rPr sz="1200" b="0">
                <a:solidFill>
                  <a:schemeClr val="tx1"/>
                </a:solidFill>
              </a:rPr>
              <a:t>If it closes, it stays closed.</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Three hooks, written by you</a:t>
            </a:r>
          </a:p>
        </p:txBody>
      </p:sp>
      <p:graphicFrame>
        <p:nvGraphicFramePr>
          <p:cNvPr id="3" name="table"/>
          <p:cNvGraphicFramePr>
            <a:graphicFrameLocks noGrp="1"/>
          </p:cNvGraphicFramePr>
          <p:nvPr/>
        </p:nvGraphicFramePr>
        <p:xfrm>
          <a:off x="320040" y="1267287"/>
          <a:ext cx="8501815" cy="1313895"/>
        </p:xfrm>
        <a:graphic>
          <a:graphicData uri="http://schemas.openxmlformats.org/drawingml/2006/table">
            <a:tbl>
              <a:tblPr firstRow="1">
                <a:tableStyleId>{5C22544A-7EE6-4342-B048-85BDC9FD1C3A}</a:tableStyleId>
              </a:tblPr>
              <a:tblGrid>
                <a:gridCol w="2312942">
                  <a:extLst>
                    <a:ext uri="{9D8B030D-6E8A-4147-A177-3AD203B41FA5}">
                      <a16:colId xmlns:a16="http://schemas.microsoft.com/office/drawing/2014/main" val="20000"/>
                    </a:ext>
                  </a:extLst>
                </a:gridCol>
                <a:gridCol w="2242853">
                  <a:extLst>
                    <a:ext uri="{9D8B030D-6E8A-4147-A177-3AD203B41FA5}">
                      <a16:colId xmlns:a16="http://schemas.microsoft.com/office/drawing/2014/main" val="20001"/>
                    </a:ext>
                  </a:extLst>
                </a:gridCol>
                <a:gridCol w="3946020">
                  <a:extLst>
                    <a:ext uri="{9D8B030D-6E8A-4147-A177-3AD203B41FA5}">
                      <a16:colId xmlns:a16="http://schemas.microsoft.com/office/drawing/2014/main" val="20002"/>
                    </a:ext>
                  </a:extLst>
                </a:gridCol>
              </a:tblGrid>
              <a:tr h="328473">
                <a:tc>
                  <a:txBody>
                    <a:bodyPr/>
                    <a:lstStyle/>
                    <a:p>
                      <a:r>
                        <a:rPr sz="1200" b="1">
                          <a:solidFill>
                            <a:schemeClr val="bg1"/>
                          </a:solidFill>
                        </a:rPr>
                        <a:t>Your function</a:t>
                      </a:r>
                    </a:p>
                  </a:txBody>
                  <a:tcPr marL="73152" marR="73152" marT="52555" marB="52555" anchor="ctr">
                    <a:solidFill>
                      <a:schemeClr val="accent3"/>
                    </a:solidFill>
                  </a:tcPr>
                </a:tc>
                <a:tc>
                  <a:txBody>
                    <a:bodyPr/>
                    <a:lstStyle/>
                    <a:p>
                      <a:r>
                        <a:rPr sz="1200" b="1">
                          <a:solidFill>
                            <a:schemeClr val="bg1"/>
                          </a:solidFill>
                        </a:rPr>
                        <a:t>Jarvis calls it when</a:t>
                      </a:r>
                    </a:p>
                  </a:txBody>
                  <a:tcPr marL="73152" marR="73152" marT="52555" marB="52555" anchor="ctr">
                    <a:solidFill>
                      <a:schemeClr val="accent3"/>
                    </a:solidFill>
                  </a:tcPr>
                </a:tc>
                <a:tc>
                  <a:txBody>
                    <a:bodyPr/>
                    <a:lstStyle/>
                    <a:p>
                      <a:r>
                        <a:rPr sz="1200" b="1">
                          <a:solidFill>
                            <a:schemeClr val="bg1"/>
                          </a:solidFill>
                        </a:rPr>
                        <a:t>In the chat</a:t>
                      </a:r>
                    </a:p>
                  </a:txBody>
                  <a:tcPr marL="73152" marR="73152" marT="52555" marB="52555" anchor="ctr">
                    <a:solidFill>
                      <a:schemeClr val="accent3"/>
                    </a:solidFill>
                  </a:tcPr>
                </a:tc>
                <a:extLst>
                  <a:ext uri="{0D108BD9-81ED-4DB2-BD59-A6C34878D82A}">
                    <a16:rowId xmlns:a16="http://schemas.microsoft.com/office/drawing/2014/main" val="10000"/>
                  </a:ext>
                </a:extLst>
              </a:tr>
              <a:tr h="328473">
                <a:tc>
                  <a:txBody>
                    <a:bodyPr/>
                    <a:lstStyle/>
                    <a:p>
                      <a:r>
                        <a:rPr sz="1200" b="1">
                          <a:solidFill>
                            <a:schemeClr val="tx1"/>
                          </a:solidFill>
                        </a:rPr>
                        <a:t>Connect ns</a:t>
                      </a:r>
                    </a:p>
                  </a:txBody>
                  <a:tcPr marL="73152" marR="73152" marT="52555" marB="52555" anchor="ctr">
                    <a:solidFill>
                      <a:schemeClr val="bg2"/>
                    </a:solidFill>
                  </a:tcPr>
                </a:tc>
                <a:tc>
                  <a:txBody>
                    <a:bodyPr/>
                    <a:lstStyle/>
                    <a:p>
                      <a:r>
                        <a:rPr sz="1200" b="0">
                          <a:solidFill>
                            <a:schemeClr val="tx1"/>
                          </a:solidFill>
                        </a:rPr>
                        <a:t>a client connects</a:t>
                      </a:r>
                    </a:p>
                  </a:txBody>
                  <a:tcPr marL="73152" marR="73152" marT="52555" marB="52555" anchor="ctr">
                    <a:solidFill>
                      <a:schemeClr val="bg2"/>
                    </a:solidFill>
                  </a:tcPr>
                </a:tc>
                <a:tc>
                  <a:txBody>
                    <a:bodyPr/>
                    <a:lstStyle/>
                    <a:p>
                      <a:r>
                        <a:rPr sz="1200" b="0">
                          <a:solidFill>
                            <a:schemeClr val="tx1"/>
                          </a:solidFill>
                        </a:rPr>
                        <a:t>Remember the connection's name: Clients,</a:t>
                      </a:r>
                      <a:r>
                        <a:rPr sz="1200" b="0">
                          <a:solidFill>
                            <a:schemeClr val="tx1"/>
                          </a:solidFill>
                          <a:latin typeface="APL385 Unicode"/>
                        </a:rPr>
                        <a:t>←⊂</a:t>
                      </a:r>
                      <a:r>
                        <a:rPr sz="1200" b="0">
                          <a:solidFill>
                            <a:schemeClr val="tx1"/>
                          </a:solidFill>
                        </a:rPr>
                        <a:t>ns.conx</a:t>
                      </a:r>
                    </a:p>
                  </a:txBody>
                  <a:tcPr marL="73152" marR="73152" marT="52555" marB="52555" anchor="ctr">
                    <a:solidFill>
                      <a:schemeClr val="bg2"/>
                    </a:solidFill>
                  </a:tcPr>
                </a:tc>
                <a:extLst>
                  <a:ext uri="{0D108BD9-81ED-4DB2-BD59-A6C34878D82A}">
                    <a16:rowId xmlns:a16="http://schemas.microsoft.com/office/drawing/2014/main" val="10001"/>
                  </a:ext>
                </a:extLst>
              </a:tr>
              <a:tr h="328473">
                <a:tc>
                  <a:txBody>
                    <a:bodyPr/>
                    <a:lstStyle/>
                    <a:p>
                      <a:r>
                        <a:rPr sz="1200" b="1">
                          <a:solidFill>
                            <a:schemeClr val="tx1"/>
                          </a:solidFill>
                        </a:rPr>
                        <a:t>Receive msg</a:t>
                      </a:r>
                    </a:p>
                  </a:txBody>
                  <a:tcPr marL="73152" marR="73152" marT="52555" marB="52555" anchor="ctr">
                    <a:solidFill>
                      <a:schemeClr val="bg1"/>
                    </a:solidFill>
                  </a:tcPr>
                </a:tc>
                <a:tc>
                  <a:txBody>
                    <a:bodyPr/>
                    <a:lstStyle/>
                    <a:p>
                      <a:r>
                        <a:rPr sz="1200" b="0">
                          <a:solidFill>
                            <a:schemeClr val="tx1"/>
                          </a:solidFill>
                        </a:rPr>
                        <a:t>a message arrives</a:t>
                      </a:r>
                    </a:p>
                  </a:txBody>
                  <a:tcPr marL="73152" marR="73152" marT="52555" marB="52555" anchor="ctr">
                    <a:solidFill>
                      <a:schemeClr val="bg1"/>
                    </a:solidFill>
                  </a:tcPr>
                </a:tc>
                <a:tc>
                  <a:txBody>
                    <a:bodyPr/>
                    <a:lstStyle/>
                    <a:p>
                      <a:r>
                        <a:rPr sz="1200" b="0">
                          <a:solidFill>
                            <a:schemeClr val="tx1"/>
                          </a:solidFill>
                        </a:rPr>
                        <a:t>Read the JSON, add the name and time, send it to everyone</a:t>
                      </a:r>
                    </a:p>
                  </a:txBody>
                  <a:tcPr marL="73152" marR="73152" marT="52555" marB="52555" anchor="ctr">
                    <a:solidFill>
                      <a:schemeClr val="bg1"/>
                    </a:solidFill>
                  </a:tcPr>
                </a:tc>
                <a:extLst>
                  <a:ext uri="{0D108BD9-81ED-4DB2-BD59-A6C34878D82A}">
                    <a16:rowId xmlns:a16="http://schemas.microsoft.com/office/drawing/2014/main" val="10002"/>
                  </a:ext>
                </a:extLst>
              </a:tr>
              <a:tr h="328476">
                <a:tc>
                  <a:txBody>
                    <a:bodyPr/>
                    <a:lstStyle/>
                    <a:p>
                      <a:r>
                        <a:rPr sz="1200" b="1">
                          <a:solidFill>
                            <a:schemeClr val="tx1"/>
                          </a:solidFill>
                        </a:rPr>
                        <a:t>Disconnect ns</a:t>
                      </a:r>
                    </a:p>
                  </a:txBody>
                  <a:tcPr marL="73152" marR="73152" marT="52555" marB="52555" anchor="ctr">
                    <a:solidFill>
                      <a:schemeClr val="bg2"/>
                    </a:solidFill>
                  </a:tcPr>
                </a:tc>
                <a:tc>
                  <a:txBody>
                    <a:bodyPr/>
                    <a:lstStyle/>
                    <a:p>
                      <a:r>
                        <a:rPr sz="1200" b="0">
                          <a:solidFill>
                            <a:schemeClr val="tx1"/>
                          </a:solidFill>
                        </a:rPr>
                        <a:t>a connection closes</a:t>
                      </a:r>
                    </a:p>
                  </a:txBody>
                  <a:tcPr marL="73152" marR="73152" marT="52555" marB="52555" anchor="ctr">
                    <a:solidFill>
                      <a:schemeClr val="bg2"/>
                    </a:solidFill>
                  </a:tcPr>
                </a:tc>
                <a:tc>
                  <a:txBody>
                    <a:bodyPr/>
                    <a:lstStyle/>
                    <a:p>
                      <a:r>
                        <a:rPr sz="1200" b="0">
                          <a:solidFill>
                            <a:schemeClr val="tx1"/>
                          </a:solidFill>
                        </a:rPr>
                        <a:t>Forget it, and tell everyone who left</a:t>
                      </a:r>
                    </a:p>
                  </a:txBody>
                  <a:tcPr marL="73152" marR="73152" marT="52555" marB="52555" anchor="ctr">
                    <a:solidFill>
                      <a:schemeClr val="bg2"/>
                    </a:solidFill>
                  </a:tcPr>
                </a:tc>
                <a:extLst>
                  <a:ext uri="{0D108BD9-81ED-4DB2-BD59-A6C34878D82A}">
                    <a16:rowId xmlns:a16="http://schemas.microsoft.com/office/drawing/2014/main" val="10003"/>
                  </a:ext>
                </a:extLst>
              </a:tr>
            </a:tbl>
          </a:graphicData>
        </a:graphic>
      </p:graphicFrame>
      <p:sp>
        <p:nvSpPr>
          <p:cNvPr id="4" name="code panel"/>
          <p:cNvSpPr/>
          <p:nvPr/>
        </p:nvSpPr>
        <p:spPr>
          <a:xfrm>
            <a:off x="320040" y="3008198"/>
            <a:ext cx="8503920" cy="49271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code"/>
          <p:cNvSpPr txBox="1"/>
          <p:nvPr/>
        </p:nvSpPr>
        <p:spPr>
          <a:xfrm>
            <a:off x="460218" y="3087032"/>
            <a:ext cx="8223563" cy="335043"/>
          </a:xfrm>
          <a:prstGeom prst="rect">
            <a:avLst/>
          </a:prstGeom>
          <a:noFill/>
        </p:spPr>
        <p:txBody>
          <a:bodyPr wrap="square" lIns="0" tIns="0" rIns="0" bIns="0" anchor="t">
            <a:spAutoFit/>
          </a:bodyPr>
          <a:lstStyle/>
          <a:p>
            <a:r>
              <a:rPr sz="1300" b="0">
                <a:solidFill>
                  <a:schemeClr val="tx1"/>
                </a:solidFill>
                <a:latin typeface="APL385 Unicode"/>
              </a:rPr>
              <a:t>Clients ns.Server.WsSend out   ⍝ send to connection names, not namespaces</a:t>
            </a:r>
          </a:p>
        </p:txBody>
      </p:sp>
      <p:sp>
        <p:nvSpPr>
          <p:cNvPr id="6" name="card"/>
          <p:cNvSpPr/>
          <p:nvPr/>
        </p:nvSpPr>
        <p:spPr>
          <a:xfrm>
            <a:off x="320040" y="3632298"/>
            <a:ext cx="4135261" cy="985421"/>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card head"/>
          <p:cNvSpPr txBox="1"/>
          <p:nvPr/>
        </p:nvSpPr>
        <p:spPr>
          <a:xfrm>
            <a:off x="530307" y="3776827"/>
            <a:ext cx="3714726" cy="328473"/>
          </a:xfrm>
          <a:prstGeom prst="rect">
            <a:avLst/>
          </a:prstGeom>
          <a:noFill/>
        </p:spPr>
        <p:txBody>
          <a:bodyPr wrap="square" lIns="0" tIns="0" rIns="0" bIns="0" anchor="t">
            <a:spAutoFit/>
          </a:bodyPr>
          <a:lstStyle/>
          <a:p>
            <a:r>
              <a:rPr sz="1400" b="1">
                <a:solidFill>
                  <a:schemeClr val="tx1"/>
                </a:solidFill>
              </a:rPr>
              <a:t>Every hook returns a result</a:t>
            </a:r>
          </a:p>
        </p:txBody>
      </p:sp>
      <p:sp>
        <p:nvSpPr>
          <p:cNvPr id="8" name="card body"/>
          <p:cNvSpPr txBox="1"/>
          <p:nvPr/>
        </p:nvSpPr>
        <p:spPr>
          <a:xfrm>
            <a:off x="530307" y="4157856"/>
            <a:ext cx="3714726" cy="361321"/>
          </a:xfrm>
          <a:prstGeom prst="rect">
            <a:avLst/>
          </a:prstGeom>
          <a:noFill/>
        </p:spPr>
        <p:txBody>
          <a:bodyPr wrap="square" lIns="0" tIns="0" rIns="0" bIns="0" anchor="t">
            <a:spAutoFit/>
          </a:bodyPr>
          <a:lstStyle/>
          <a:p>
            <a:r>
              <a:rPr sz="1200" b="0">
                <a:solidFill>
                  <a:schemeClr val="tx1"/>
                </a:solidFill>
              </a:rPr>
              <a:t>0 carries on. Anything else from Connect or Receive closes the connection.</a:t>
            </a:r>
          </a:p>
        </p:txBody>
      </p:sp>
      <p:sp>
        <p:nvSpPr>
          <p:cNvPr id="9" name="card"/>
          <p:cNvSpPr/>
          <p:nvPr/>
        </p:nvSpPr>
        <p:spPr>
          <a:xfrm>
            <a:off x="4665569" y="3632298"/>
            <a:ext cx="4135261" cy="985421"/>
          </a:xfrm>
          <a:prstGeom prst="roundRect">
            <a:avLst>
              <a:gd name="adj" fmla="val 6000"/>
            </a:avLst>
          </a:prstGeom>
          <a:solidFill>
            <a:schemeClr val="accent4">
              <a:lumMod val="30000"/>
              <a:lumOff val="7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card head"/>
          <p:cNvSpPr txBox="1"/>
          <p:nvPr/>
        </p:nvSpPr>
        <p:spPr>
          <a:xfrm>
            <a:off x="4875836" y="3776827"/>
            <a:ext cx="3714726" cy="328473"/>
          </a:xfrm>
          <a:prstGeom prst="rect">
            <a:avLst/>
          </a:prstGeom>
          <a:noFill/>
        </p:spPr>
        <p:txBody>
          <a:bodyPr wrap="square" lIns="0" tIns="0" rIns="0" bIns="0" anchor="t">
            <a:spAutoFit/>
          </a:bodyPr>
          <a:lstStyle/>
          <a:p>
            <a:r>
              <a:rPr sz="1400" b="1">
                <a:solidFill>
                  <a:schemeClr val="tx1"/>
                </a:solidFill>
              </a:rPr>
              <a:t>Jarvis 1.23.1</a:t>
            </a:r>
          </a:p>
        </p:txBody>
      </p:sp>
      <p:sp>
        <p:nvSpPr>
          <p:cNvPr id="11" name="card body"/>
          <p:cNvSpPr txBox="1"/>
          <p:nvPr/>
        </p:nvSpPr>
        <p:spPr>
          <a:xfrm>
            <a:off x="4875836" y="4157856"/>
            <a:ext cx="3714726" cy="361321"/>
          </a:xfrm>
          <a:prstGeom prst="rect">
            <a:avLst/>
          </a:prstGeom>
          <a:noFill/>
        </p:spPr>
        <p:txBody>
          <a:bodyPr wrap="square" lIns="0" tIns="0" rIns="0" bIns="0" anchor="t">
            <a:spAutoFit/>
          </a:bodyPr>
          <a:lstStyle/>
          <a:p>
            <a:r>
              <a:rPr sz="1200" b="0">
                <a:solidFill>
                  <a:schemeClr val="tx1"/>
                </a:solidFill>
              </a:rPr>
              <a:t>Calls Disconnect when a connection closes; 1.23.0 didn't.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From APL: WebSocketClient</a:t>
            </a:r>
          </a:p>
        </p:txBody>
      </p:sp>
      <p:sp>
        <p:nvSpPr>
          <p:cNvPr id="3" name="code panel"/>
          <p:cNvSpPr/>
          <p:nvPr/>
        </p:nvSpPr>
        <p:spPr>
          <a:xfrm>
            <a:off x="320040" y="1234440"/>
            <a:ext cx="8503920" cy="1313895"/>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code"/>
          <p:cNvSpPr txBox="1"/>
          <p:nvPr/>
        </p:nvSpPr>
        <p:spPr>
          <a:xfrm>
            <a:off x="460218" y="1313273"/>
            <a:ext cx="8223563" cy="1156227"/>
          </a:xfrm>
          <a:prstGeom prst="rect">
            <a:avLst/>
          </a:prstGeom>
          <a:noFill/>
        </p:spPr>
        <p:txBody>
          <a:bodyPr wrap="square" lIns="0" tIns="0" rIns="0" bIns="0" anchor="t">
            <a:spAutoFit/>
          </a:bodyPr>
          <a:lstStyle/>
          <a:p>
            <a:r>
              <a:rPr sz="1200" b="0">
                <a:solidFill>
                  <a:schemeClr val="tx1"/>
                </a:solidFill>
                <a:latin typeface="APL385 Unicode"/>
              </a:rPr>
              <a:t>s←⎕NS''</a:t>
            </a:r>
          </a:p>
          <a:p>
            <a:r>
              <a:rPr sz="1200" b="0">
                <a:solidFill>
                  <a:schemeClr val="tx1"/>
                </a:solidFill>
                <a:latin typeface="APL385 Unicode"/>
              </a:rPr>
              <a:t>s.(URL OnWSReceive)←'ws://localhost:8084/chat' '#.Chat.ShowMessage'</a:t>
            </a:r>
          </a:p>
          <a:p>
            <a:r>
              <a:rPr sz="1200" b="0">
                <a:solidFill>
                  <a:schemeClr val="tx1"/>
                </a:solidFill>
                <a:latin typeface="APL385 Unicode"/>
              </a:rPr>
              <a:t>c←WebSocketClient.New s</a:t>
            </a:r>
          </a:p>
          <a:p>
            <a:r>
              <a:rPr sz="1200" b="0">
                <a:solidFill>
                  <a:schemeClr val="tx1"/>
                </a:solidFill>
                <a:latin typeface="APL385 Unicode"/>
              </a:rPr>
              <a:t>c.Connect</a:t>
            </a:r>
          </a:p>
          <a:p>
            <a:endParaRPr sz="1200" b="0">
              <a:solidFill>
                <a:schemeClr val="tx1"/>
              </a:solidFill>
              <a:latin typeface="APL385 Unicode"/>
            </a:endParaRPr>
          </a:p>
          <a:p>
            <a:r>
              <a:rPr sz="1200" b="0">
                <a:solidFill>
                  <a:schemeClr val="tx1"/>
                </a:solidFill>
                <a:latin typeface="APL385 Unicode"/>
              </a:rPr>
              <a:t>client ShowMessage message   ⍝ message.buffer is the text</a:t>
            </a:r>
          </a:p>
        </p:txBody>
      </p:sp>
      <p:sp>
        <p:nvSpPr>
          <p:cNvPr id="5" name="card"/>
          <p:cNvSpPr/>
          <p:nvPr/>
        </p:nvSpPr>
        <p:spPr>
          <a:xfrm>
            <a:off x="320040" y="2745419"/>
            <a:ext cx="4275439" cy="1708063"/>
          </a:xfrm>
          <a:prstGeom prst="roundRect">
            <a:avLst>
              <a:gd name="adj" fmla="val 6000"/>
            </a:avLst>
          </a:prstGeom>
          <a:solidFill>
            <a:schemeClr val="accent4">
              <a:lumMod val="30000"/>
              <a:lumOff val="7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card head"/>
          <p:cNvSpPr txBox="1"/>
          <p:nvPr/>
        </p:nvSpPr>
        <p:spPr>
          <a:xfrm>
            <a:off x="530307" y="2889947"/>
            <a:ext cx="3854904" cy="328473"/>
          </a:xfrm>
          <a:prstGeom prst="rect">
            <a:avLst/>
          </a:prstGeom>
          <a:noFill/>
        </p:spPr>
        <p:txBody>
          <a:bodyPr wrap="square" lIns="0" tIns="0" rIns="0" bIns="0" anchor="t">
            <a:spAutoFit/>
          </a:bodyPr>
          <a:lstStyle/>
          <a:p>
            <a:r>
              <a:rPr sz="1500" b="1">
                <a:solidFill>
                  <a:schemeClr val="tx1"/>
                </a:solidFill>
              </a:rPr>
              <a:t>Dyadic, always</a:t>
            </a:r>
          </a:p>
        </p:txBody>
      </p:sp>
      <p:sp>
        <p:nvSpPr>
          <p:cNvPr id="7" name="card body"/>
          <p:cNvSpPr txBox="1"/>
          <p:nvPr/>
        </p:nvSpPr>
        <p:spPr>
          <a:xfrm>
            <a:off x="530307" y="3270977"/>
            <a:ext cx="3854904" cy="1083963"/>
          </a:xfrm>
          <a:prstGeom prst="rect">
            <a:avLst/>
          </a:prstGeom>
          <a:noFill/>
        </p:spPr>
        <p:txBody>
          <a:bodyPr wrap="square" lIns="0" tIns="0" rIns="0" bIns="0" anchor="t">
            <a:spAutoFit/>
          </a:bodyPr>
          <a:lstStyle/>
          <a:p>
            <a:r>
              <a:rPr sz="1200" b="0">
                <a:solidFill>
                  <a:schemeClr val="tx1"/>
                </a:solidFill>
              </a:rPr>
              <a:t>WebSocketClient calls the receive function as client ShowMessage message. A monadic function fails inside the listener thread, and the connection closes with no error in your session.</a:t>
            </a:r>
          </a:p>
        </p:txBody>
      </p:sp>
      <p:sp>
        <p:nvSpPr>
          <p:cNvPr id="8" name="text"/>
          <p:cNvSpPr txBox="1"/>
          <p:nvPr/>
        </p:nvSpPr>
        <p:spPr>
          <a:xfrm>
            <a:off x="4840791" y="2745419"/>
            <a:ext cx="3960038" cy="295626"/>
          </a:xfrm>
          <a:prstGeom prst="rect">
            <a:avLst/>
          </a:prstGeom>
          <a:noFill/>
        </p:spPr>
        <p:txBody>
          <a:bodyPr wrap="square" lIns="0" tIns="0" rIns="0" bIns="0" anchor="t">
            <a:spAutoFit/>
          </a:bodyPr>
          <a:lstStyle/>
          <a:p>
            <a:r>
              <a:rPr sz="1400" b="0">
                <a:solidFill>
                  <a:schemeClr val="tx1"/>
                </a:solidFill>
              </a:rPr>
              <a:t>In Exercise 4 this is supplied, as Chat:</a:t>
            </a:r>
          </a:p>
        </p:txBody>
      </p:sp>
      <p:sp>
        <p:nvSpPr>
          <p:cNvPr id="9" name="code panel"/>
          <p:cNvSpPr/>
          <p:nvPr/>
        </p:nvSpPr>
        <p:spPr>
          <a:xfrm>
            <a:off x="4840791" y="3106740"/>
            <a:ext cx="3981065" cy="85403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code"/>
          <p:cNvSpPr txBox="1"/>
          <p:nvPr/>
        </p:nvSpPr>
        <p:spPr>
          <a:xfrm>
            <a:off x="4980970" y="3185574"/>
            <a:ext cx="3700708" cy="696364"/>
          </a:xfrm>
          <a:prstGeom prst="rect">
            <a:avLst/>
          </a:prstGeom>
          <a:noFill/>
        </p:spPr>
        <p:txBody>
          <a:bodyPr wrap="square" lIns="0" tIns="0" rIns="0" bIns="0" anchor="t">
            <a:spAutoFit/>
          </a:bodyPr>
          <a:lstStyle/>
          <a:p>
            <a:r>
              <a:rPr sz="1200" b="0">
                <a:solidFill>
                  <a:schemeClr val="tx1"/>
                </a:solidFill>
                <a:latin typeface="APL385 Unicode"/>
              </a:rPr>
              <a:t>Chat.Join 'APL'</a:t>
            </a:r>
          </a:p>
          <a:p>
            <a:r>
              <a:rPr sz="1200" b="0">
                <a:solidFill>
                  <a:schemeClr val="tx1"/>
                </a:solidFill>
                <a:latin typeface="APL385 Unicode"/>
              </a:rPr>
              <a:t>Chat.Say 'Hello from APL'</a:t>
            </a:r>
          </a:p>
          <a:p>
            <a:r>
              <a:rPr sz="1200" b="0">
                <a:solidFill>
                  <a:schemeClr val="tx1"/>
                </a:solidFill>
                <a:latin typeface="APL385 Unicode"/>
              </a:rPr>
              <a:t>Chat.Leave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Server-Sent Events or WebSockets?</a:t>
            </a:r>
          </a:p>
        </p:txBody>
      </p:sp>
      <p:graphicFrame>
        <p:nvGraphicFramePr>
          <p:cNvPr id="3" name="table"/>
          <p:cNvGraphicFramePr>
            <a:graphicFrameLocks noGrp="1"/>
          </p:cNvGraphicFramePr>
          <p:nvPr/>
        </p:nvGraphicFramePr>
        <p:xfrm>
          <a:off x="320040" y="1267287"/>
          <a:ext cx="8501816" cy="1970842"/>
        </p:xfrm>
        <a:graphic>
          <a:graphicData uri="http://schemas.openxmlformats.org/drawingml/2006/table">
            <a:tbl>
              <a:tblPr firstRow="1">
                <a:tableStyleId>{5C22544A-7EE6-4342-B048-85BDC9FD1C3A}</a:tableStyleId>
              </a:tblPr>
              <a:tblGrid>
                <a:gridCol w="2102675">
                  <a:extLst>
                    <a:ext uri="{9D8B030D-6E8A-4147-A177-3AD203B41FA5}">
                      <a16:colId xmlns:a16="http://schemas.microsoft.com/office/drawing/2014/main" val="20000"/>
                    </a:ext>
                  </a:extLst>
                </a:gridCol>
                <a:gridCol w="3196066">
                  <a:extLst>
                    <a:ext uri="{9D8B030D-6E8A-4147-A177-3AD203B41FA5}">
                      <a16:colId xmlns:a16="http://schemas.microsoft.com/office/drawing/2014/main" val="20001"/>
                    </a:ext>
                  </a:extLst>
                </a:gridCol>
                <a:gridCol w="3203075">
                  <a:extLst>
                    <a:ext uri="{9D8B030D-6E8A-4147-A177-3AD203B41FA5}">
                      <a16:colId xmlns:a16="http://schemas.microsoft.com/office/drawing/2014/main" val="20002"/>
                    </a:ext>
                  </a:extLst>
                </a:gridCol>
              </a:tblGrid>
              <a:tr h="328473">
                <a:tc>
                  <a:txBody>
                    <a:bodyPr/>
                    <a:lstStyle/>
                    <a:p>
                      <a:endParaRPr/>
                    </a:p>
                  </a:txBody>
                  <a:tcPr marL="73152" marR="73152" marT="65694" marB="65694" anchor="ctr">
                    <a:solidFill>
                      <a:schemeClr val="accent3"/>
                    </a:solidFill>
                  </a:tcPr>
                </a:tc>
                <a:tc>
                  <a:txBody>
                    <a:bodyPr/>
                    <a:lstStyle/>
                    <a:p>
                      <a:r>
                        <a:rPr sz="1300" b="1">
                          <a:solidFill>
                            <a:schemeClr val="bg1"/>
                          </a:solidFill>
                        </a:rPr>
                        <a:t>Server-Sent Events</a:t>
                      </a:r>
                    </a:p>
                  </a:txBody>
                  <a:tcPr marL="73152" marR="73152" marT="65694" marB="65694" anchor="ctr">
                    <a:solidFill>
                      <a:schemeClr val="accent3"/>
                    </a:solidFill>
                  </a:tcPr>
                </a:tc>
                <a:tc>
                  <a:txBody>
                    <a:bodyPr/>
                    <a:lstStyle/>
                    <a:p>
                      <a:r>
                        <a:rPr sz="1300" b="1">
                          <a:solidFill>
                            <a:schemeClr val="bg1"/>
                          </a:solidFill>
                        </a:rPr>
                        <a:t>WebSockets</a:t>
                      </a:r>
                    </a:p>
                  </a:txBody>
                  <a:tcPr marL="73152" marR="73152" marT="65694" marB="65694" anchor="ctr">
                    <a:solidFill>
                      <a:schemeClr val="accent3"/>
                    </a:solidFill>
                  </a:tcPr>
                </a:tc>
                <a:extLst>
                  <a:ext uri="{0D108BD9-81ED-4DB2-BD59-A6C34878D82A}">
                    <a16:rowId xmlns:a16="http://schemas.microsoft.com/office/drawing/2014/main" val="10000"/>
                  </a:ext>
                </a:extLst>
              </a:tr>
              <a:tr h="328473">
                <a:tc>
                  <a:txBody>
                    <a:bodyPr/>
                    <a:lstStyle/>
                    <a:p>
                      <a:r>
                        <a:rPr sz="1300" b="1">
                          <a:solidFill>
                            <a:schemeClr val="tx1"/>
                          </a:solidFill>
                        </a:rPr>
                        <a:t>Direction</a:t>
                      </a:r>
                    </a:p>
                  </a:txBody>
                  <a:tcPr marL="73152" marR="73152" marT="65694" marB="65694" anchor="ctr">
                    <a:solidFill>
                      <a:schemeClr val="bg2"/>
                    </a:solidFill>
                  </a:tcPr>
                </a:tc>
                <a:tc>
                  <a:txBody>
                    <a:bodyPr/>
                    <a:lstStyle/>
                    <a:p>
                      <a:r>
                        <a:rPr sz="1300" b="0">
                          <a:solidFill>
                            <a:schemeClr val="tx1"/>
                          </a:solidFill>
                        </a:rPr>
                        <a:t>Server to client only</a:t>
                      </a:r>
                    </a:p>
                  </a:txBody>
                  <a:tcPr marL="73152" marR="73152" marT="65694" marB="65694" anchor="ctr">
                    <a:solidFill>
                      <a:schemeClr val="bg2"/>
                    </a:solidFill>
                  </a:tcPr>
                </a:tc>
                <a:tc>
                  <a:txBody>
                    <a:bodyPr/>
                    <a:lstStyle/>
                    <a:p>
                      <a:r>
                        <a:rPr sz="1300" b="0">
                          <a:solidFill>
                            <a:schemeClr val="tx1"/>
                          </a:solidFill>
                        </a:rPr>
                        <a:t>Both ways</a:t>
                      </a:r>
                    </a:p>
                  </a:txBody>
                  <a:tcPr marL="73152" marR="73152" marT="65694" marB="65694" anchor="ctr">
                    <a:solidFill>
                      <a:schemeClr val="bg2"/>
                    </a:solidFill>
                  </a:tcPr>
                </a:tc>
                <a:extLst>
                  <a:ext uri="{0D108BD9-81ED-4DB2-BD59-A6C34878D82A}">
                    <a16:rowId xmlns:a16="http://schemas.microsoft.com/office/drawing/2014/main" val="10001"/>
                  </a:ext>
                </a:extLst>
              </a:tr>
              <a:tr h="328473">
                <a:tc>
                  <a:txBody>
                    <a:bodyPr/>
                    <a:lstStyle/>
                    <a:p>
                      <a:r>
                        <a:rPr sz="1300" b="1">
                          <a:solidFill>
                            <a:schemeClr val="tx1"/>
                          </a:solidFill>
                        </a:rPr>
                        <a:t>Connection</a:t>
                      </a:r>
                    </a:p>
                  </a:txBody>
                  <a:tcPr marL="73152" marR="73152" marT="65694" marB="65694" anchor="ctr">
                    <a:solidFill>
                      <a:schemeClr val="bg1"/>
                    </a:solidFill>
                  </a:tcPr>
                </a:tc>
                <a:tc>
                  <a:txBody>
                    <a:bodyPr/>
                    <a:lstStyle/>
                    <a:p>
                      <a:r>
                        <a:rPr sz="1300" b="0">
                          <a:solidFill>
                            <a:schemeClr val="tx1"/>
                          </a:solidFill>
                        </a:rPr>
                        <a:t>Plain HTTP, a response that never ends</a:t>
                      </a:r>
                    </a:p>
                  </a:txBody>
                  <a:tcPr marL="73152" marR="73152" marT="65694" marB="65694" anchor="ctr">
                    <a:solidFill>
                      <a:schemeClr val="bg1"/>
                    </a:solidFill>
                  </a:tcPr>
                </a:tc>
                <a:tc>
                  <a:txBody>
                    <a:bodyPr/>
                    <a:lstStyle/>
                    <a:p>
                      <a:r>
                        <a:rPr sz="1300" b="0">
                          <a:solidFill>
                            <a:schemeClr val="tx1"/>
                          </a:solidFill>
                        </a:rPr>
                        <a:t>Upgraded from HTTP</a:t>
                      </a:r>
                    </a:p>
                  </a:txBody>
                  <a:tcPr marL="73152" marR="73152" marT="65694" marB="65694" anchor="ctr">
                    <a:solidFill>
                      <a:schemeClr val="bg1"/>
                    </a:solidFill>
                  </a:tcPr>
                </a:tc>
                <a:extLst>
                  <a:ext uri="{0D108BD9-81ED-4DB2-BD59-A6C34878D82A}">
                    <a16:rowId xmlns:a16="http://schemas.microsoft.com/office/drawing/2014/main" val="10002"/>
                  </a:ext>
                </a:extLst>
              </a:tr>
              <a:tr h="328473">
                <a:tc>
                  <a:txBody>
                    <a:bodyPr/>
                    <a:lstStyle/>
                    <a:p>
                      <a:r>
                        <a:rPr sz="1300" b="1">
                          <a:solidFill>
                            <a:schemeClr val="tx1"/>
                          </a:solidFill>
                        </a:rPr>
                        <a:t>Dropped connection</a:t>
                      </a:r>
                    </a:p>
                  </a:txBody>
                  <a:tcPr marL="73152" marR="73152" marT="65694" marB="65694" anchor="ctr">
                    <a:solidFill>
                      <a:schemeClr val="bg2"/>
                    </a:solidFill>
                  </a:tcPr>
                </a:tc>
                <a:tc>
                  <a:txBody>
                    <a:bodyPr/>
                    <a:lstStyle/>
                    <a:p>
                      <a:r>
                        <a:rPr sz="1300" b="0">
                          <a:solidFill>
                            <a:schemeClr val="tx1"/>
                          </a:solidFill>
                        </a:rPr>
                        <a:t>The browser reconnects by itself</a:t>
                      </a:r>
                    </a:p>
                  </a:txBody>
                  <a:tcPr marL="73152" marR="73152" marT="65694" marB="65694" anchor="ctr">
                    <a:solidFill>
                      <a:schemeClr val="bg2"/>
                    </a:solidFill>
                  </a:tcPr>
                </a:tc>
                <a:tc>
                  <a:txBody>
                    <a:bodyPr/>
                    <a:lstStyle/>
                    <a:p>
                      <a:r>
                        <a:rPr sz="1300" b="0">
                          <a:solidFill>
                            <a:schemeClr val="tx1"/>
                          </a:solidFill>
                        </a:rPr>
                        <a:t>Your code reconnects, if it wants to</a:t>
                      </a:r>
                    </a:p>
                  </a:txBody>
                  <a:tcPr marL="73152" marR="73152" marT="65694" marB="65694" anchor="ctr">
                    <a:solidFill>
                      <a:schemeClr val="bg2"/>
                    </a:solidFill>
                  </a:tcPr>
                </a:tc>
                <a:extLst>
                  <a:ext uri="{0D108BD9-81ED-4DB2-BD59-A6C34878D82A}">
                    <a16:rowId xmlns:a16="http://schemas.microsoft.com/office/drawing/2014/main" val="10003"/>
                  </a:ext>
                </a:extLst>
              </a:tr>
              <a:tr h="328473">
                <a:tc>
                  <a:txBody>
                    <a:bodyPr/>
                    <a:lstStyle/>
                    <a:p>
                      <a:r>
                        <a:rPr sz="1300" b="1">
                          <a:solidFill>
                            <a:schemeClr val="tx1"/>
                          </a:solidFill>
                        </a:rPr>
                        <a:t>Messages</a:t>
                      </a:r>
                    </a:p>
                  </a:txBody>
                  <a:tcPr marL="73152" marR="73152" marT="65694" marB="65694" anchor="ctr">
                    <a:solidFill>
                      <a:schemeClr val="bg1"/>
                    </a:solidFill>
                  </a:tcPr>
                </a:tc>
                <a:tc>
                  <a:txBody>
                    <a:bodyPr/>
                    <a:lstStyle/>
                    <a:p>
                      <a:r>
                        <a:rPr sz="1300" b="0">
                          <a:solidFill>
                            <a:schemeClr val="tx1"/>
                          </a:solidFill>
                        </a:rPr>
                        <a:t>Text events with a type</a:t>
                      </a:r>
                    </a:p>
                  </a:txBody>
                  <a:tcPr marL="73152" marR="73152" marT="65694" marB="65694" anchor="ctr">
                    <a:solidFill>
                      <a:schemeClr val="bg1"/>
                    </a:solidFill>
                  </a:tcPr>
                </a:tc>
                <a:tc>
                  <a:txBody>
                    <a:bodyPr/>
                    <a:lstStyle/>
                    <a:p>
                      <a:r>
                        <a:rPr sz="1300" b="0">
                          <a:solidFill>
                            <a:schemeClr val="tx1"/>
                          </a:solidFill>
                        </a:rPr>
                        <a:t>Any text or binary</a:t>
                      </a:r>
                    </a:p>
                  </a:txBody>
                  <a:tcPr marL="73152" marR="73152" marT="65694" marB="65694" anchor="ctr">
                    <a:solidFill>
                      <a:schemeClr val="bg1"/>
                    </a:solidFill>
                  </a:tcPr>
                </a:tc>
                <a:extLst>
                  <a:ext uri="{0D108BD9-81ED-4DB2-BD59-A6C34878D82A}">
                    <a16:rowId xmlns:a16="http://schemas.microsoft.com/office/drawing/2014/main" val="10004"/>
                  </a:ext>
                </a:extLst>
              </a:tr>
              <a:tr h="328477">
                <a:tc>
                  <a:txBody>
                    <a:bodyPr/>
                    <a:lstStyle/>
                    <a:p>
                      <a:r>
                        <a:rPr sz="1300" b="1">
                          <a:solidFill>
                            <a:schemeClr val="tx1"/>
                          </a:solidFill>
                        </a:rPr>
                        <a:t>Use it for</a:t>
                      </a:r>
                    </a:p>
                  </a:txBody>
                  <a:tcPr marL="73152" marR="73152" marT="65694" marB="65694" anchor="ctr">
                    <a:solidFill>
                      <a:schemeClr val="bg2"/>
                    </a:solidFill>
                  </a:tcPr>
                </a:tc>
                <a:tc>
                  <a:txBody>
                    <a:bodyPr/>
                    <a:lstStyle/>
                    <a:p>
                      <a:r>
                        <a:rPr sz="1300" b="0">
                          <a:solidFill>
                            <a:schemeClr val="tx1"/>
                          </a:solidFill>
                        </a:rPr>
                        <a:t>Live updates: prices, progress, notifications</a:t>
                      </a:r>
                    </a:p>
                  </a:txBody>
                  <a:tcPr marL="73152" marR="73152" marT="65694" marB="65694" anchor="ctr">
                    <a:solidFill>
                      <a:schemeClr val="bg2"/>
                    </a:solidFill>
                  </a:tcPr>
                </a:tc>
                <a:tc>
                  <a:txBody>
                    <a:bodyPr/>
                    <a:lstStyle/>
                    <a:p>
                      <a:r>
                        <a:rPr sz="1300" b="0">
                          <a:solidFill>
                            <a:schemeClr val="tx1"/>
                          </a:solidFill>
                        </a:rPr>
                        <a:t>Conversations: chat, games, collaboration</a:t>
                      </a:r>
                    </a:p>
                  </a:txBody>
                  <a:tcPr marL="73152" marR="73152" marT="65694" marB="65694" anchor="ctr">
                    <a:solidFill>
                      <a:schemeClr val="bg2"/>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Exercise 4: WebSockets</a:t>
            </a:r>
          </a:p>
        </p:txBody>
      </p:sp>
      <p:sp>
        <p:nvSpPr>
          <p:cNvPr id="3" name="time"/>
          <p:cNvSpPr txBox="1"/>
          <p:nvPr/>
        </p:nvSpPr>
        <p:spPr>
          <a:xfrm>
            <a:off x="320040" y="1234440"/>
            <a:ext cx="3931920" cy="274320"/>
          </a:xfrm>
          <a:prstGeom prst="rect">
            <a:avLst/>
          </a:prstGeom>
          <a:noFill/>
        </p:spPr>
        <p:txBody>
          <a:bodyPr wrap="square" lIns="0" tIns="0" rIns="0" bIns="0" anchor="t">
            <a:spAutoFit/>
          </a:bodyPr>
          <a:lstStyle/>
          <a:p>
            <a:r>
              <a:rPr sz="1400" b="1">
                <a:solidFill>
                  <a:schemeClr val="accent1"/>
                </a:solidFill>
              </a:rPr>
              <a:t>30 minutes</a:t>
            </a:r>
          </a:p>
        </p:txBody>
      </p:sp>
      <p:sp>
        <p:nvSpPr>
          <p:cNvPr id="4" name="goal"/>
          <p:cNvSpPr txBox="1"/>
          <p:nvPr/>
        </p:nvSpPr>
        <p:spPr>
          <a:xfrm>
            <a:off x="320040" y="1554480"/>
            <a:ext cx="3931920" cy="1280160"/>
          </a:xfrm>
          <a:prstGeom prst="rect">
            <a:avLst/>
          </a:prstGeom>
          <a:noFill/>
        </p:spPr>
        <p:txBody>
          <a:bodyPr wrap="square" lIns="0" tIns="0" rIns="0" bIns="0" anchor="t">
            <a:spAutoFit/>
          </a:bodyPr>
          <a:lstStyle/>
          <a:p>
            <a:r>
              <a:rPr sz="1500" b="0">
                <a:solidFill>
                  <a:schemeClr val="tx1"/>
                </a:solidFill>
              </a:rPr>
              <a:t>Build a chat server with three hooks, chat from two browser tabs, then join the same chat from APL.</a:t>
            </a:r>
          </a:p>
        </p:txBody>
      </p:sp>
      <p:sp>
        <p:nvSpPr>
          <p:cNvPr id="5" name="steps head"/>
          <p:cNvSpPr txBox="1"/>
          <p:nvPr/>
        </p:nvSpPr>
        <p:spPr>
          <a:xfrm>
            <a:off x="4572000" y="1234440"/>
            <a:ext cx="4251960" cy="274320"/>
          </a:xfrm>
          <a:prstGeom prst="rect">
            <a:avLst/>
          </a:prstGeom>
          <a:noFill/>
        </p:spPr>
        <p:txBody>
          <a:bodyPr wrap="square" lIns="0" tIns="0" rIns="0" bIns="0" anchor="t">
            <a:spAutoFit/>
          </a:bodyPr>
          <a:lstStyle/>
          <a:p>
            <a:r>
              <a:rPr sz="1300" b="1">
                <a:solidFill>
                  <a:schemeClr val="accent2"/>
                </a:solidFill>
              </a:rPr>
              <a:t>Core steps</a:t>
            </a:r>
          </a:p>
        </p:txBody>
      </p:sp>
      <p:sp>
        <p:nvSpPr>
          <p:cNvPr id="6" name="steps"/>
          <p:cNvSpPr txBox="1"/>
          <p:nvPr/>
        </p:nvSpPr>
        <p:spPr>
          <a:xfrm>
            <a:off x="4572000" y="1554480"/>
            <a:ext cx="4251960" cy="1600200"/>
          </a:xfrm>
          <a:prstGeom prst="rect">
            <a:avLst/>
          </a:prstGeom>
          <a:noFill/>
        </p:spPr>
        <p:txBody>
          <a:bodyPr wrap="square" lIns="0" tIns="0" rIns="0" bIns="0" anchor="t">
            <a:spAutoFit/>
          </a:bodyPr>
          <a:lstStyle/>
          <a:p>
            <a:pPr>
              <a:spcAft>
                <a:spcPts val="200"/>
              </a:spcAft>
            </a:pPr>
            <a:r>
              <a:rPr sz="1200" b="0">
                <a:solidFill>
                  <a:schemeClr val="tx1"/>
                </a:solidFill>
              </a:rPr>
              <a:t>W1  Start the server, join from the page</a:t>
            </a:r>
          </a:p>
          <a:p>
            <a:pPr>
              <a:spcAft>
                <a:spcPts val="200"/>
              </a:spcAft>
            </a:pPr>
            <a:r>
              <a:rPr sz="1200" b="0">
                <a:solidFill>
                  <a:schemeClr val="tx1"/>
                </a:solidFill>
              </a:rPr>
              <a:t>W2  Connect: remember the connection</a:t>
            </a:r>
          </a:p>
          <a:p>
            <a:pPr>
              <a:spcAft>
                <a:spcPts val="200"/>
              </a:spcAft>
            </a:pPr>
            <a:r>
              <a:rPr sz="1200" b="0">
                <a:solidFill>
                  <a:schemeClr val="tx1"/>
                </a:solidFill>
              </a:rPr>
              <a:t>W3  Receive: send messages on to everyone</a:t>
            </a:r>
          </a:p>
          <a:p>
            <a:pPr>
              <a:spcAft>
                <a:spcPts val="200"/>
              </a:spcAft>
            </a:pPr>
            <a:r>
              <a:rPr sz="1200" b="0">
                <a:solidFill>
                  <a:schemeClr val="tx1"/>
                </a:solidFill>
              </a:rPr>
              <a:t>W4  Disconnect: announce who left</a:t>
            </a:r>
          </a:p>
          <a:p>
            <a:pPr>
              <a:spcAft>
                <a:spcPts val="200"/>
              </a:spcAft>
            </a:pPr>
            <a:r>
              <a:rPr sz="1200" b="0">
                <a:solidFill>
                  <a:schemeClr val="tx1"/>
                </a:solidFill>
              </a:rPr>
              <a:t>W5  Join from APL with Chat</a:t>
            </a:r>
          </a:p>
          <a:p>
            <a:pPr>
              <a:spcAft>
                <a:spcPts val="200"/>
              </a:spcAft>
            </a:pPr>
            <a:r>
              <a:rPr sz="1200" b="0">
                <a:solidFill>
                  <a:schemeClr val="tx1"/>
                </a:solidFill>
              </a:rPr>
              <a:t>W6  Stop</a:t>
            </a:r>
          </a:p>
        </p:txBody>
      </p:sp>
      <p:sp>
        <p:nvSpPr>
          <p:cNvPr id="7" name="first head"/>
          <p:cNvSpPr txBox="1"/>
          <p:nvPr/>
        </p:nvSpPr>
        <p:spPr>
          <a:xfrm>
            <a:off x="320040" y="3291840"/>
            <a:ext cx="5486400" cy="256032"/>
          </a:xfrm>
          <a:prstGeom prst="rect">
            <a:avLst/>
          </a:prstGeom>
          <a:noFill/>
        </p:spPr>
        <p:txBody>
          <a:bodyPr wrap="square" lIns="0" tIns="0" rIns="0" bIns="0" anchor="t">
            <a:spAutoFit/>
          </a:bodyPr>
          <a:lstStyle/>
          <a:p>
            <a:r>
              <a:rPr sz="1200" b="1">
                <a:solidFill>
                  <a:schemeClr val="accent2"/>
                </a:solidFill>
              </a:rPr>
              <a:t>Start here, after Setup</a:t>
            </a:r>
          </a:p>
        </p:txBody>
      </p:sp>
      <p:sp>
        <p:nvSpPr>
          <p:cNvPr id="8" name="code panel"/>
          <p:cNvSpPr/>
          <p:nvPr/>
        </p:nvSpPr>
        <p:spPr>
          <a:xfrm>
            <a:off x="320040" y="3584448"/>
            <a:ext cx="8503920" cy="475488"/>
          </a:xfrm>
          <a:prstGeom prst="roundRect">
            <a:avLst>
              <a:gd name="adj" fmla="val 8000"/>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code"/>
          <p:cNvSpPr txBox="1"/>
          <p:nvPr/>
        </p:nvSpPr>
        <p:spPr>
          <a:xfrm>
            <a:off x="457200" y="3694176"/>
            <a:ext cx="8229600" cy="292608"/>
          </a:xfrm>
          <a:prstGeom prst="rect">
            <a:avLst/>
          </a:prstGeom>
          <a:noFill/>
        </p:spPr>
        <p:txBody>
          <a:bodyPr wrap="square" lIns="0" tIns="0" rIns="0" bIns="0" anchor="t">
            <a:spAutoFit/>
          </a:bodyPr>
          <a:lstStyle/>
          <a:p>
            <a:r>
              <a:rPr sz="1100" b="0">
                <a:solidFill>
                  <a:schemeClr val="bg1"/>
                </a:solidFill>
                <a:latin typeface="APL385 Unicode"/>
              </a:rPr>
              <a:t>2 ⎕FIX 'file://',#.WorkshopRoot,'/Exercises/Ex4-WebSockets/Run.aplf'</a:t>
            </a:r>
          </a:p>
        </p:txBody>
      </p:sp>
      <p:sp>
        <p:nvSpPr>
          <p:cNvPr id="10" name="readme"/>
          <p:cNvSpPr txBox="1"/>
          <p:nvPr/>
        </p:nvSpPr>
        <p:spPr>
          <a:xfrm>
            <a:off x="320040" y="4123944"/>
            <a:ext cx="8503920" cy="228600"/>
          </a:xfrm>
          <a:prstGeom prst="rect">
            <a:avLst/>
          </a:prstGeom>
          <a:noFill/>
        </p:spPr>
        <p:txBody>
          <a:bodyPr wrap="square" lIns="0" tIns="0" rIns="0" bIns="0" anchor="t">
            <a:spAutoFit/>
          </a:bodyPr>
          <a:lstStyle/>
          <a:p>
            <a:r>
              <a:rPr sz="1200" b="0">
                <a:solidFill>
                  <a:schemeClr val="tx2"/>
                </a:solidFill>
              </a:rPr>
              <a:t>Exercises/Ex4-WebSockets/README.md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Choosing an approach</a:t>
            </a:r>
          </a:p>
        </p:txBody>
      </p:sp>
      <p:graphicFrame>
        <p:nvGraphicFramePr>
          <p:cNvPr id="3" name="table"/>
          <p:cNvGraphicFramePr>
            <a:graphicFrameLocks noGrp="1"/>
          </p:cNvGraphicFramePr>
          <p:nvPr/>
        </p:nvGraphicFramePr>
        <p:xfrm>
          <a:off x="320040" y="1267287"/>
          <a:ext cx="8501815" cy="1970842"/>
        </p:xfrm>
        <a:graphic>
          <a:graphicData uri="http://schemas.openxmlformats.org/drawingml/2006/table">
            <a:tbl>
              <a:tblPr firstRow="1">
                <a:tableStyleId>{5C22544A-7EE6-4342-B048-85BDC9FD1C3A}</a:tableStyleId>
              </a:tblPr>
              <a:tblGrid>
                <a:gridCol w="1822318">
                  <a:extLst>
                    <a:ext uri="{9D8B030D-6E8A-4147-A177-3AD203B41FA5}">
                      <a16:colId xmlns:a16="http://schemas.microsoft.com/office/drawing/2014/main" val="20000"/>
                    </a:ext>
                  </a:extLst>
                </a:gridCol>
                <a:gridCol w="1682140">
                  <a:extLst>
                    <a:ext uri="{9D8B030D-6E8A-4147-A177-3AD203B41FA5}">
                      <a16:colId xmlns:a16="http://schemas.microsoft.com/office/drawing/2014/main" val="20001"/>
                    </a:ext>
                  </a:extLst>
                </a:gridCol>
                <a:gridCol w="1822318">
                  <a:extLst>
                    <a:ext uri="{9D8B030D-6E8A-4147-A177-3AD203B41FA5}">
                      <a16:colId xmlns:a16="http://schemas.microsoft.com/office/drawing/2014/main" val="20002"/>
                    </a:ext>
                  </a:extLst>
                </a:gridCol>
                <a:gridCol w="3175039">
                  <a:extLst>
                    <a:ext uri="{9D8B030D-6E8A-4147-A177-3AD203B41FA5}">
                      <a16:colId xmlns:a16="http://schemas.microsoft.com/office/drawing/2014/main" val="20003"/>
                    </a:ext>
                  </a:extLst>
                </a:gridCol>
              </a:tblGrid>
              <a:tr h="328473">
                <a:tc>
                  <a:txBody>
                    <a:bodyPr/>
                    <a:lstStyle/>
                    <a:p>
                      <a:endParaRPr/>
                    </a:p>
                  </a:txBody>
                  <a:tcPr marL="73152" marR="73152" marT="65694" marB="65694" anchor="ctr">
                    <a:solidFill>
                      <a:schemeClr val="accent3"/>
                    </a:solidFill>
                  </a:tcPr>
                </a:tc>
                <a:tc>
                  <a:txBody>
                    <a:bodyPr/>
                    <a:lstStyle/>
                    <a:p>
                      <a:r>
                        <a:rPr sz="1300" b="1">
                          <a:solidFill>
                            <a:schemeClr val="bg1"/>
                          </a:solidFill>
                        </a:rPr>
                        <a:t>Who starts</a:t>
                      </a:r>
                    </a:p>
                  </a:txBody>
                  <a:tcPr marL="73152" marR="73152" marT="65694" marB="65694" anchor="ctr">
                    <a:solidFill>
                      <a:schemeClr val="accent3"/>
                    </a:solidFill>
                  </a:tcPr>
                </a:tc>
                <a:tc>
                  <a:txBody>
                    <a:bodyPr/>
                    <a:lstStyle/>
                    <a:p>
                      <a:r>
                        <a:rPr sz="1300" b="1">
                          <a:solidFill>
                            <a:schemeClr val="bg1"/>
                          </a:solidFill>
                        </a:rPr>
                        <a:t>Direction</a:t>
                      </a:r>
                    </a:p>
                  </a:txBody>
                  <a:tcPr marL="73152" marR="73152" marT="65694" marB="65694" anchor="ctr">
                    <a:solidFill>
                      <a:schemeClr val="accent3"/>
                    </a:solidFill>
                  </a:tcPr>
                </a:tc>
                <a:tc>
                  <a:txBody>
                    <a:bodyPr/>
                    <a:lstStyle/>
                    <a:p>
                      <a:r>
                        <a:rPr sz="1300" b="1">
                          <a:solidFill>
                            <a:schemeClr val="bg1"/>
                          </a:solidFill>
                        </a:rPr>
                        <a:t>Use it when</a:t>
                      </a:r>
                    </a:p>
                  </a:txBody>
                  <a:tcPr marL="73152" marR="73152" marT="65694" marB="65694" anchor="ctr">
                    <a:solidFill>
                      <a:schemeClr val="accent3"/>
                    </a:solidFill>
                  </a:tcPr>
                </a:tc>
                <a:extLst>
                  <a:ext uri="{0D108BD9-81ED-4DB2-BD59-A6C34878D82A}">
                    <a16:rowId xmlns:a16="http://schemas.microsoft.com/office/drawing/2014/main" val="10000"/>
                  </a:ext>
                </a:extLst>
              </a:tr>
              <a:tr h="328473">
                <a:tc>
                  <a:txBody>
                    <a:bodyPr/>
                    <a:lstStyle/>
                    <a:p>
                      <a:r>
                        <a:rPr sz="1300" b="1">
                          <a:solidFill>
                            <a:schemeClr val="tx1"/>
                          </a:solidFill>
                        </a:rPr>
                        <a:t>Request and response</a:t>
                      </a:r>
                    </a:p>
                  </a:txBody>
                  <a:tcPr marL="73152" marR="73152" marT="65694" marB="65694" anchor="ctr">
                    <a:solidFill>
                      <a:schemeClr val="bg2"/>
                    </a:solidFill>
                  </a:tcPr>
                </a:tc>
                <a:tc>
                  <a:txBody>
                    <a:bodyPr/>
                    <a:lstStyle/>
                    <a:p>
                      <a:r>
                        <a:rPr sz="1300" b="0">
                          <a:solidFill>
                            <a:schemeClr val="tx1"/>
                          </a:solidFill>
                        </a:rPr>
                        <a:t>Client</a:t>
                      </a:r>
                    </a:p>
                  </a:txBody>
                  <a:tcPr marL="73152" marR="73152" marT="65694" marB="65694" anchor="ctr">
                    <a:solidFill>
                      <a:schemeClr val="bg2"/>
                    </a:solidFill>
                  </a:tcPr>
                </a:tc>
                <a:tc>
                  <a:txBody>
                    <a:bodyPr/>
                    <a:lstStyle/>
                    <a:p>
                      <a:r>
                        <a:rPr sz="1300" b="0">
                          <a:solidFill>
                            <a:schemeClr val="tx1"/>
                          </a:solidFill>
                        </a:rPr>
                        <a:t>Ask, then answer</a:t>
                      </a:r>
                    </a:p>
                  </a:txBody>
                  <a:tcPr marL="73152" marR="73152" marT="65694" marB="65694" anchor="ctr">
                    <a:solidFill>
                      <a:schemeClr val="bg2"/>
                    </a:solidFill>
                  </a:tcPr>
                </a:tc>
                <a:tc>
                  <a:txBody>
                    <a:bodyPr/>
                    <a:lstStyle/>
                    <a:p>
                      <a:r>
                        <a:rPr sz="1300" b="0">
                          <a:solidFill>
                            <a:schemeClr val="tx1"/>
                          </a:solidFill>
                        </a:rPr>
                        <a:t>The answer is quick</a:t>
                      </a:r>
                    </a:p>
                  </a:txBody>
                  <a:tcPr marL="73152" marR="73152" marT="65694" marB="65694" anchor="ctr">
                    <a:solidFill>
                      <a:schemeClr val="bg2"/>
                    </a:solidFill>
                  </a:tcPr>
                </a:tc>
                <a:extLst>
                  <a:ext uri="{0D108BD9-81ED-4DB2-BD59-A6C34878D82A}">
                    <a16:rowId xmlns:a16="http://schemas.microsoft.com/office/drawing/2014/main" val="10001"/>
                  </a:ext>
                </a:extLst>
              </a:tr>
              <a:tr h="328473">
                <a:tc>
                  <a:txBody>
                    <a:bodyPr/>
                    <a:lstStyle/>
                    <a:p>
                      <a:r>
                        <a:rPr sz="1300" b="1">
                          <a:solidFill>
                            <a:schemeClr val="tx1"/>
                          </a:solidFill>
                        </a:rPr>
                        <a:t>Polling</a:t>
                      </a:r>
                    </a:p>
                  </a:txBody>
                  <a:tcPr marL="73152" marR="73152" marT="65694" marB="65694" anchor="ctr">
                    <a:solidFill>
                      <a:schemeClr val="bg1"/>
                    </a:solidFill>
                  </a:tcPr>
                </a:tc>
                <a:tc>
                  <a:txBody>
                    <a:bodyPr/>
                    <a:lstStyle/>
                    <a:p>
                      <a:r>
                        <a:rPr sz="1300" b="0">
                          <a:solidFill>
                            <a:schemeClr val="tx1"/>
                          </a:solidFill>
                        </a:rPr>
                        <a:t>Client, repeatedly</a:t>
                      </a:r>
                    </a:p>
                  </a:txBody>
                  <a:tcPr marL="73152" marR="73152" marT="65694" marB="65694" anchor="ctr">
                    <a:solidFill>
                      <a:schemeClr val="bg1"/>
                    </a:solidFill>
                  </a:tcPr>
                </a:tc>
                <a:tc>
                  <a:txBody>
                    <a:bodyPr/>
                    <a:lstStyle/>
                    <a:p>
                      <a:r>
                        <a:rPr sz="1300" b="0">
                          <a:solidFill>
                            <a:schemeClr val="tx1"/>
                          </a:solidFill>
                        </a:rPr>
                        <a:t>Ask, then answer</a:t>
                      </a:r>
                    </a:p>
                  </a:txBody>
                  <a:tcPr marL="73152" marR="73152" marT="65694" marB="65694" anchor="ctr">
                    <a:solidFill>
                      <a:schemeClr val="bg1"/>
                    </a:solidFill>
                  </a:tcPr>
                </a:tc>
                <a:tc>
                  <a:txBody>
                    <a:bodyPr/>
                    <a:lstStyle/>
                    <a:p>
                      <a:r>
                        <a:rPr sz="1300" b="0">
                          <a:solidFill>
                            <a:schemeClr val="tx1"/>
                          </a:solidFill>
                        </a:rPr>
                        <a:t>Nothing else is possible</a:t>
                      </a:r>
                    </a:p>
                  </a:txBody>
                  <a:tcPr marL="73152" marR="73152" marT="65694" marB="65694" anchor="ctr">
                    <a:solidFill>
                      <a:schemeClr val="bg1"/>
                    </a:solidFill>
                  </a:tcPr>
                </a:tc>
                <a:extLst>
                  <a:ext uri="{0D108BD9-81ED-4DB2-BD59-A6C34878D82A}">
                    <a16:rowId xmlns:a16="http://schemas.microsoft.com/office/drawing/2014/main" val="10002"/>
                  </a:ext>
                </a:extLst>
              </a:tr>
              <a:tr h="328473">
                <a:tc>
                  <a:txBody>
                    <a:bodyPr/>
                    <a:lstStyle/>
                    <a:p>
                      <a:r>
                        <a:rPr sz="1300" b="1">
                          <a:solidFill>
                            <a:schemeClr val="tx1"/>
                          </a:solidFill>
                        </a:rPr>
                        <a:t>Web hook</a:t>
                      </a:r>
                    </a:p>
                  </a:txBody>
                  <a:tcPr marL="73152" marR="73152" marT="65694" marB="65694" anchor="ctr">
                    <a:solidFill>
                      <a:schemeClr val="bg2"/>
                    </a:solidFill>
                  </a:tcPr>
                </a:tc>
                <a:tc>
                  <a:txBody>
                    <a:bodyPr/>
                    <a:lstStyle/>
                    <a:p>
                      <a:r>
                        <a:rPr sz="1300" b="0">
                          <a:solidFill>
                            <a:schemeClr val="tx1"/>
                          </a:solidFill>
                        </a:rPr>
                        <a:t>Server calls back</a:t>
                      </a:r>
                    </a:p>
                  </a:txBody>
                  <a:tcPr marL="73152" marR="73152" marT="65694" marB="65694" anchor="ctr">
                    <a:solidFill>
                      <a:schemeClr val="bg2"/>
                    </a:solidFill>
                  </a:tcPr>
                </a:tc>
                <a:tc>
                  <a:txBody>
                    <a:bodyPr/>
                    <a:lstStyle/>
                    <a:p>
                      <a:r>
                        <a:rPr sz="1300" b="0">
                          <a:solidFill>
                            <a:schemeClr val="tx1"/>
                          </a:solidFill>
                        </a:rPr>
                        <a:t>One result, later</a:t>
                      </a:r>
                    </a:p>
                  </a:txBody>
                  <a:tcPr marL="73152" marR="73152" marT="65694" marB="65694" anchor="ctr">
                    <a:solidFill>
                      <a:schemeClr val="bg2"/>
                    </a:solidFill>
                  </a:tcPr>
                </a:tc>
                <a:tc>
                  <a:txBody>
                    <a:bodyPr/>
                    <a:lstStyle/>
                    <a:p>
                      <a:r>
                        <a:rPr sz="1300" b="0">
                          <a:solidFill>
                            <a:schemeClr val="tx1"/>
                          </a:solidFill>
                        </a:rPr>
                        <a:t>Work is slow and the client can be reached</a:t>
                      </a:r>
                    </a:p>
                  </a:txBody>
                  <a:tcPr marL="73152" marR="73152" marT="65694" marB="65694" anchor="ctr">
                    <a:solidFill>
                      <a:schemeClr val="bg2"/>
                    </a:solidFill>
                  </a:tcPr>
                </a:tc>
                <a:extLst>
                  <a:ext uri="{0D108BD9-81ED-4DB2-BD59-A6C34878D82A}">
                    <a16:rowId xmlns:a16="http://schemas.microsoft.com/office/drawing/2014/main" val="10003"/>
                  </a:ext>
                </a:extLst>
              </a:tr>
              <a:tr h="328473">
                <a:tc>
                  <a:txBody>
                    <a:bodyPr/>
                    <a:lstStyle/>
                    <a:p>
                      <a:r>
                        <a:rPr sz="1300" b="1">
                          <a:solidFill>
                            <a:schemeClr val="tx1"/>
                          </a:solidFill>
                        </a:rPr>
                        <a:t>Server-Sent Events</a:t>
                      </a:r>
                    </a:p>
                  </a:txBody>
                  <a:tcPr marL="73152" marR="73152" marT="65694" marB="65694" anchor="ctr">
                    <a:solidFill>
                      <a:schemeClr val="bg1"/>
                    </a:solidFill>
                  </a:tcPr>
                </a:tc>
                <a:tc>
                  <a:txBody>
                    <a:bodyPr/>
                    <a:lstStyle/>
                    <a:p>
                      <a:r>
                        <a:rPr sz="1300" b="0">
                          <a:solidFill>
                            <a:schemeClr val="tx1"/>
                          </a:solidFill>
                        </a:rPr>
                        <a:t>Client, once</a:t>
                      </a:r>
                    </a:p>
                  </a:txBody>
                  <a:tcPr marL="73152" marR="73152" marT="65694" marB="65694" anchor="ctr">
                    <a:solidFill>
                      <a:schemeClr val="bg1"/>
                    </a:solidFill>
                  </a:tcPr>
                </a:tc>
                <a:tc>
                  <a:txBody>
                    <a:bodyPr/>
                    <a:lstStyle/>
                    <a:p>
                      <a:r>
                        <a:rPr sz="1300" b="0">
                          <a:solidFill>
                            <a:schemeClr val="tx1"/>
                          </a:solidFill>
                        </a:rPr>
                        <a:t>Server to client</a:t>
                      </a:r>
                    </a:p>
                  </a:txBody>
                  <a:tcPr marL="73152" marR="73152" marT="65694" marB="65694" anchor="ctr">
                    <a:solidFill>
                      <a:schemeClr val="bg1"/>
                    </a:solidFill>
                  </a:tcPr>
                </a:tc>
                <a:tc>
                  <a:txBody>
                    <a:bodyPr/>
                    <a:lstStyle/>
                    <a:p>
                      <a:r>
                        <a:rPr sz="1300" b="0">
                          <a:solidFill>
                            <a:schemeClr val="tx1"/>
                          </a:solidFill>
                        </a:rPr>
                        <a:t>The server pushes updates</a:t>
                      </a:r>
                    </a:p>
                  </a:txBody>
                  <a:tcPr marL="73152" marR="73152" marT="65694" marB="65694" anchor="ctr">
                    <a:solidFill>
                      <a:schemeClr val="bg1"/>
                    </a:solidFill>
                  </a:tcPr>
                </a:tc>
                <a:extLst>
                  <a:ext uri="{0D108BD9-81ED-4DB2-BD59-A6C34878D82A}">
                    <a16:rowId xmlns:a16="http://schemas.microsoft.com/office/drawing/2014/main" val="10004"/>
                  </a:ext>
                </a:extLst>
              </a:tr>
              <a:tr h="328477">
                <a:tc>
                  <a:txBody>
                    <a:bodyPr/>
                    <a:lstStyle/>
                    <a:p>
                      <a:r>
                        <a:rPr sz="1300" b="1">
                          <a:solidFill>
                            <a:schemeClr val="tx1"/>
                          </a:solidFill>
                        </a:rPr>
                        <a:t>WebSockets</a:t>
                      </a:r>
                    </a:p>
                  </a:txBody>
                  <a:tcPr marL="73152" marR="73152" marT="65694" marB="65694" anchor="ctr">
                    <a:solidFill>
                      <a:schemeClr val="bg2"/>
                    </a:solidFill>
                  </a:tcPr>
                </a:tc>
                <a:tc>
                  <a:txBody>
                    <a:bodyPr/>
                    <a:lstStyle/>
                    <a:p>
                      <a:r>
                        <a:rPr sz="1300" b="0">
                          <a:solidFill>
                            <a:schemeClr val="tx1"/>
                          </a:solidFill>
                        </a:rPr>
                        <a:t>Either side</a:t>
                      </a:r>
                    </a:p>
                  </a:txBody>
                  <a:tcPr marL="73152" marR="73152" marT="65694" marB="65694" anchor="ctr">
                    <a:solidFill>
                      <a:schemeClr val="bg2"/>
                    </a:solidFill>
                  </a:tcPr>
                </a:tc>
                <a:tc>
                  <a:txBody>
                    <a:bodyPr/>
                    <a:lstStyle/>
                    <a:p>
                      <a:r>
                        <a:rPr sz="1300" b="0">
                          <a:solidFill>
                            <a:schemeClr val="tx1"/>
                          </a:solidFill>
                        </a:rPr>
                        <a:t>Both ways</a:t>
                      </a:r>
                    </a:p>
                  </a:txBody>
                  <a:tcPr marL="73152" marR="73152" marT="65694" marB="65694" anchor="ctr">
                    <a:solidFill>
                      <a:schemeClr val="bg2"/>
                    </a:solidFill>
                  </a:tcPr>
                </a:tc>
                <a:tc>
                  <a:txBody>
                    <a:bodyPr/>
                    <a:lstStyle/>
                    <a:p>
                      <a:r>
                        <a:rPr sz="1300" b="0">
                          <a:solidFill>
                            <a:schemeClr val="tx1"/>
                          </a:solidFill>
                        </a:rPr>
                        <a:t>Both sides talk, any time</a:t>
                      </a:r>
                    </a:p>
                  </a:txBody>
                  <a:tcPr marL="73152" marR="73152" marT="65694" marB="65694" anchor="ctr">
                    <a:solidFill>
                      <a:schemeClr val="bg2"/>
                    </a:solidFill>
                  </a:tcPr>
                </a:tc>
                <a:extLst>
                  <a:ext uri="{0D108BD9-81ED-4DB2-BD59-A6C34878D82A}">
                    <a16:rowId xmlns:a16="http://schemas.microsoft.com/office/drawing/2014/main" val="10005"/>
                  </a:ext>
                </a:extLst>
              </a:tr>
            </a:tbl>
          </a:graphicData>
        </a:graphic>
      </p:graphicFrame>
      <p:sp>
        <p:nvSpPr>
          <p:cNvPr id="4" name="text"/>
          <p:cNvSpPr txBox="1"/>
          <p:nvPr/>
        </p:nvSpPr>
        <p:spPr>
          <a:xfrm>
            <a:off x="320040" y="4256398"/>
            <a:ext cx="8503920" cy="328473"/>
          </a:xfrm>
          <a:prstGeom prst="rect">
            <a:avLst/>
          </a:prstGeom>
          <a:noFill/>
        </p:spPr>
        <p:txBody>
          <a:bodyPr wrap="square" lIns="0" tIns="0" rIns="0" bIns="0" anchor="t">
            <a:spAutoFit/>
          </a:bodyPr>
          <a:lstStyle/>
          <a:p>
            <a:r>
              <a:rPr sz="1500" b="0">
                <a:solidFill>
                  <a:schemeClr val="tx1"/>
                </a:solidFill>
              </a:rPr>
              <a:t>All of them in APL: HttpCommand to call, Jarvis to serve, WebSocketClient to talk both ways.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Questions?</a:t>
            </a:r>
          </a:p>
        </p:txBody>
      </p:sp>
      <p:sp>
        <p:nvSpPr>
          <p:cNvPr id="3" name="Text Placeholder 2"/>
          <p:cNvSpPr>
            <a:spLocks noGrp="1"/>
          </p:cNvSpPr>
          <p:nvPr>
            <p:ph type="body" sz="quarter" idx="10"/>
          </p:nvPr>
        </p:nvSpPr>
        <p:spPr/>
        <p:txBody>
          <a:bodyPr/>
          <a:lstStyle/>
          <a:p>
            <a:r>
              <a:rPr sz="1800" b="0">
                <a:solidFill>
                  <a:schemeClr val="tx1"/>
                </a:solidFill>
              </a:rPr>
              <a:t>Thank you</a:t>
            </a:r>
          </a:p>
          <a:p>
            <a:r>
              <a:rPr sz="1200" b="0">
                <a:solidFill>
                  <a:schemeClr val="accent1"/>
                </a:solidFill>
                <a:hlinkClick r:id="rId3"/>
              </a:rPr>
              <a:t>Workshop materials: github.com/dyalog-training/2026-MP2</a:t>
            </a:r>
          </a:p>
          <a:p>
            <a:r>
              <a:rPr sz="1200" b="0">
                <a:solidFill>
                  <a:schemeClr val="tx1"/>
                </a:solidFill>
              </a:rPr>
              <a:t>Documentation: </a:t>
            </a:r>
            <a:r>
              <a:rPr sz="1200">
                <a:solidFill>
                  <a:schemeClr val="accent1"/>
                </a:solidFill>
                <a:hlinkClick r:id="rId4"/>
              </a:rPr>
              <a:t>HttpCommand</a:t>
            </a:r>
            <a:r>
              <a:rPr sz="1200">
                <a:solidFill>
                  <a:schemeClr val="tx1"/>
                </a:solidFill>
              </a:rPr>
              <a:t>, </a:t>
            </a:r>
            <a:r>
              <a:rPr sz="1200">
                <a:solidFill>
                  <a:schemeClr val="accent1"/>
                </a:solidFill>
                <a:hlinkClick r:id="rId5"/>
              </a:rPr>
              <a:t>Jarvis</a:t>
            </a:r>
            <a:r>
              <a:rPr sz="1200">
                <a:solidFill>
                  <a:schemeClr val="tx1"/>
                </a:solidFill>
              </a:rPr>
              <a:t>, </a:t>
            </a:r>
            <a:r>
              <a:rPr sz="1200">
                <a:solidFill>
                  <a:schemeClr val="accent1"/>
                </a:solidFill>
                <a:hlinkClick r:id="rId6"/>
              </a:rPr>
              <a:t>WebSocketClient</a:t>
            </a:r>
          </a:p>
        </p:txBody>
      </p:sp>
    </p:spTree>
  </p:cSld>
  <p:clrMapOvr>
    <a:masterClrMapping/>
  </p:clrMapOvr>
</p:sld>
</file>

<file path=ppt/theme/theme1.xml><?xml version="1.0" encoding="utf-8"?>
<a:theme xmlns:a="http://schemas.openxmlformats.org/drawingml/2006/main" name="Office Theme">
  <a:themeElements>
    <a:clrScheme name="Dyalog 2025.6">
      <a:dk1>
        <a:srgbClr val="232222"/>
      </a:dk1>
      <a:lt1>
        <a:sysClr val="window" lastClr="FFFFFF"/>
      </a:lt1>
      <a:dk2>
        <a:srgbClr val="2A3244"/>
      </a:dk2>
      <a:lt2>
        <a:srgbClr val="F2F1F0"/>
      </a:lt2>
      <a:accent1>
        <a:srgbClr val="FF6A13"/>
      </a:accent1>
      <a:accent2>
        <a:srgbClr val="8986CA"/>
      </a:accent2>
      <a:accent3>
        <a:srgbClr val="003B5C"/>
      </a:accent3>
      <a:accent4>
        <a:srgbClr val="FFA300"/>
      </a:accent4>
      <a:accent5>
        <a:srgbClr val="CA2E51"/>
      </a:accent5>
      <a:accent6>
        <a:srgbClr val="FF6A13"/>
      </a:accent6>
      <a:hlink>
        <a:srgbClr val="FF6A13"/>
      </a:hlink>
      <a:folHlink>
        <a:srgbClr val="FF6A13"/>
      </a:folHlink>
    </a:clrScheme>
    <a:fontScheme name="Sarabun">
      <a:majorFont>
        <a:latin typeface="Sarabun"/>
        <a:ea typeface=""/>
        <a:cs typeface=""/>
      </a:majorFont>
      <a:minorFont>
        <a:latin typeface="Sarabu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Dyalog19_template_bold_calibri.potx" id="{F0C38D23-3AC9-47E9-8D0D-BEDB5EAFCAD2}" vid="{35320D08-F00A-4224-9D94-CDC48BBB4D0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1803</TotalTime>
  <Words>4221</Words>
  <Application>Microsoft Office PowerPoint</Application>
  <PresentationFormat>On-screen Show (16:9)</PresentationFormat>
  <Paragraphs>455</Paragraphs>
  <Slides>28</Slides>
  <Notes>28</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28</vt:i4>
      </vt:variant>
    </vt:vector>
  </HeadingPairs>
  <TitlesOfParts>
    <vt:vector size="36" baseType="lpstr">
      <vt:lpstr>Courier New</vt:lpstr>
      <vt:lpstr>Calibri</vt:lpstr>
      <vt:lpstr>Wingdings</vt:lpstr>
      <vt:lpstr>Arial</vt:lpstr>
      <vt:lpstr>Wingdings 2</vt:lpstr>
      <vt:lpstr>APL385 Unicode</vt:lpstr>
      <vt:lpstr>Sarabun</vt:lpstr>
      <vt:lpstr>Office Theme</vt:lpstr>
      <vt:lpstr>Asynchronous Services Web hooks, Server-Sent Events and WebSockets in Dyalog APL </vt:lpstr>
      <vt:lpstr>This afternoon</vt:lpstr>
      <vt:lpstr>Request and response: ask, then wait</vt:lpstr>
      <vt:lpstr>Four ways to get the answer</vt:lpstr>
      <vt:lpstr>Three tools, one APL session</vt:lpstr>
      <vt:lpstr>How each exercise works</vt:lpstr>
      <vt:lpstr>Dyalog 19 and Dyalog 20</vt:lpstr>
      <vt:lpstr>Exercise 1: Introducing the tools</vt:lpstr>
      <vt:lpstr>Web hooks</vt:lpstr>
      <vt:lpstr>The ticket pattern</vt:lpstr>
      <vt:lpstr>Answer now, work later</vt:lpstr>
      <vt:lpstr>When the call back fails</vt:lpstr>
      <vt:lpstr>Web hook or polling?</vt:lpstr>
      <vt:lpstr>Exercise 2: Web hook</vt:lpstr>
      <vt:lpstr>Server-Sent Events</vt:lpstr>
      <vt:lpstr>One request, many events</vt:lpstr>
      <vt:lpstr>An event on the wire</vt:lpstr>
      <vt:lpstr>In the browser: EventSource</vt:lpstr>
      <vt:lpstr>Server-Sent Events in Jarvis</vt:lpstr>
      <vt:lpstr>Exercise 3: Server-Sent Events</vt:lpstr>
      <vt:lpstr>WebSockets</vt:lpstr>
      <vt:lpstr>Upgrade, then talk both ways</vt:lpstr>
      <vt:lpstr>Three hooks, written by you</vt:lpstr>
      <vt:lpstr>From APL: WebSocketClient</vt:lpstr>
      <vt:lpstr>Server-Sent Events or WebSockets?</vt:lpstr>
      <vt:lpstr>Exercise 4: WebSockets</vt:lpstr>
      <vt:lpstr>Choosing an approach</vt:lpstr>
      <vt:lpstr>Questions?</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Asynchronous Services</dc:title>
  <dc:subject>Dyalog26 User Meeting workshop: web hooks, Server-Sent Events and WebSockets in Dyalog APL</dc:subject>
  <dc:creator>Fiona Smith</dc:creator>
  <cp:lastModifiedBy>Brian Becker</cp:lastModifiedBy>
  <cp:revision>250</cp:revision>
  <dcterms:created xsi:type="dcterms:W3CDTF">2019-07-25T11:46:05Z</dcterms:created>
  <dcterms:modified xsi:type="dcterms:W3CDTF">2026-10-04T15:48:54Z</dcterms:modified>
</cp:coreProperties>
</file>