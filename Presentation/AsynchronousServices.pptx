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0014acc-5fe0-8c7f-92bd-191ef7da4b41}">
          <p14:sldIdLst>
            <p14:sldId id="256"/>
          </p14:sldIdLst>
        </p14:section>
        <p14:section name="Asynchronous services and the tools" id="{d7be848b-e9a9-249e-a0cc-448e42f13cfc}">
          <p14:sldIdLst>
            <p14:sldId id="257"/>
            <p14:sldId id="258"/>
            <p14:sldId id="259"/>
            <p14:sldId id="260"/>
            <p14:sldId id="261"/>
            <p14:sldId id="262"/>
            <p14:sldId id="263"/>
          </p14:sldIdLst>
        </p14:section>
        <p14:section name="Web hooks" id="{0c38f86c-3cde-72de-3b48-73b1c2a0f02d}">
          <p14:sldIdLst>
            <p14:sldId id="264"/>
            <p14:sldId id="265"/>
            <p14:sldId id="266"/>
            <p14:sldId id="267"/>
            <p14:sldId id="268"/>
            <p14:sldId id="269"/>
          </p14:sldIdLst>
        </p14:section>
        <p14:section name="Server-Sent Events" id="{6f670f67-90e4-ee42-ee49-31fb8f032553}">
          <p14:sldIdLst>
            <p14:sldId id="270"/>
            <p14:sldId id="271"/>
            <p14:sldId id="272"/>
            <p14:sldId id="273"/>
            <p14:sldId id="274"/>
            <p14:sldId id="275"/>
          </p14:sldIdLst>
        </p14:section>
        <p14:section name="WebSockets" id="{5b616e70-9446-7b95-afed-01d8091c8134}">
          <p14:sldIdLst>
            <p14:sldId id="276"/>
            <p14:sldId id="277"/>
            <p14:sldId id="278"/>
            <p14:sldId id="279"/>
            <p14:sldId id="280"/>
            <p14:sldId id="281"/>
          </p14:sldIdLst>
        </p14:section>
        <p14:section name="Wrap-up" id="{017a7d8f-3277-8417-2666-2a82969ba141}">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afternoon is about services that don't make the client wait for an answer.
Before starting: the APL code on these slides uses the APL385 Unicode font, which must be installed on the presenting machine, or the APL symbols will not display correctly.
Check that everyone has run Setup and seen Ready (Exercises/README.md). Use the first ten minutes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10 minutes of setup, then talk 1 (15 minutes) and Exercise 1; talk 2 on web hooks just before the first break, so people can start Exercise 2 straight after it; talks 3 and 4 each lead into their exercise. Five minutes of wrap-up at the end.
Stress that falling behind is fine: every exercise has a Solution folder, and 'Solution' Run loads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Exercise 1 builds: the client asks, and waits for the answer on the same connection. That's fine for quick answers. For slow work it causes three problems: connections held open, timeouts, and a client that can't get on with anything else.
The rest of the afternoon is three ways around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patterns. Amber arrows go from the client, teal arrows from the server.
Polling: the client keeps asking. Simple, but most requests are wasted.
Web hook: the client gives the server a URL; the server replies at once with a ticket and calls that URL when the work is done. Exercise 2.
Server-Sent Events: the client asks once, and the server keeps the response open and sends events whenever it likes, one way only. Exercise 3.
WebSockets: an HTTP request that upgrades to a two-way connection; either side sends at any time. Exercise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tools, all open source from Dyalog, all in the Source folder of the workshop materials (Jarvis 1.23.1, HttpCommand 5.11.2, WebSocketClient 1.0.1).
HttpCommand is the client side: Exercises 1 and 2, and the worker in Exercise 2 uses it to call the web hook.
Jarvis is the server side in every exercise: plain JSON endpoints, Server-Sent Events, and WebSockets.
WebSocketClient joins the Exercise 4 chat from APL.
All three sit on Conga. Setup copies Conga into # before loading them, which is why there's nothing to configure.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exercise works the same way. Setup once per session. Each exercise has a Run function that starts its servers from the Start folder, where a few short functions are left for you to write.
You edit with )ED, and Jarvis uses the new definition on the next request, so there's no restart. Exercise 3 has one exception: its broadcast loop, which the README explains (Restart).
If you fall behind, 'Solution' Run loads the finished version. Run stops any server it started before, so running it twice can't leave an old server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Attendees may be on Dyalog 19 or 20. All the supplied code is Dyalog 19 style, so it runs everywhere. Where 20 is clearly neater, the READMEs show the 20 version too, and the solutions carry it as a ⍝ v20: comment.
Only three 20 features are used: array notation (shown here), ⎕VGET with a fallback value, and ⎕VSET.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for the 30 minutes.
Key points to watch for: rc is 0 when the request worked even if HttpStatus says 404; Jarvis passes '' rather than a namespace when a request has no body; GET with a query string needs AllowGETs←1.
If the venue network is down, Part A has an offline fallback against the attendee's own Part B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2, before the first break, so people can start Exercise 2 as soon as they're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in Exercise 2. The client posts a job with a callback URL. The ticket server answers immediately with a ticket number, and starts the work in a separate thread. When the work is done, the ticket server posts the result to the callback URL: that call is the web hook.
In real life the callback server belongs to someone else, on another machine. In the exercise both servers run in your session, so you can see everything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Submit. &amp; is the key: it starts Work in its own thread and Submit carries on and returns the ticket.
:Hold protects the ticket counter. Strictly, a one-line update can't be interleaved in Dyalog, but :Hold is the right habit.
The solution also checks that n is a whole number from 2 to 1E12 and that callback is text, replying 400 otherwise. Without that, a job with n of 'abc' gets a ticket and then fails inside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lessons from building Exercise 2.
First, from Exercise 1: rc and HttpStatus mean different things. rc is about the request (did anyone answer?), HttpStatus is the server's answer.
Second: Jarvis catches errors in your endpoints and replies 500. A thread started with &amp; has no such protection. Untrapped, an error suspends that thread in a session, or stops APL altogether when the service runs as a script. So Work's whole body is inside :Trap 0, and failures are printed with the ticket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hooks aren't free: the client has to be reachable, and if it isn't when the result is ready, the result is lost unless the server retries. That's why services often offer both: a web hook, and a status endpoint to poll if a call back was missed. Both are stretch goals in Exercise 2 (S2 retry, S3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on screen after the break.
Watch for: Submit is dyadic (it needs req for req.Fail); Work's results arriving in a different order from the tickets is the point; with the callback server stopped (stretch S1), Work prints 'could not reach' and Client gives up after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Server-Sent Events: the browser makes one GET, and Jarvis keeps the response open, sending events whenever it likes. Only the server sends. It's ordinary HTTP, so it works through most proxies, and the browser's EventSource reconnects automatically if the connection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everything on the wire. Each event is a few lines and a blank line. event: names the type, data: carries the content, here JSON. A line that starts with a colon is a comment; Jarvis sends one every 30 seconds (SSEHeartbeatInterval) so idle connections stay open.
FormatSSE builds the text for you: a namespace is converted to JSON. In Exercise 3 attendees try this in the session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side is supplied: attendees don't need to write JavaScript. EventSource opens the stream; each event type gets its own listener. When the connection drops, EventSource reconnects on its own, and Jarvis calls Ticker again for the new connection, so the welcome event is sent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Jarvis pieces. SSEEndpoints names the stream; Ticker is called once per new client, so it's where you welcome that client. SSEConnections lists who's connected, and SendSSE sends to them.
One trap, found while building the exercise: Broadcast runs as one long call in its own thread, so editing it doesn't change the running loop. Restart stops the loop and starts it again with the current code. Don't use Run for this: it reloads the functions from the files and throws the attendee's edits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on screen.
Watch for: Ticker must return no result or 0 (anything else closes the connection); after editing Broadcast, Restart (Run would reload the files); the table fills within a couple of seconds of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4, after the second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WebSocket starts as an HTTP GET asking to upgrade. Once the server answers 101, the same connection carries messages both ways, whenever either side likes. That's what a chat needs.
Unlike EventSource, a WebSocket does not reconnect by itself: when it closes, the page shows 'not connected' and you Join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hooks attendees write in Exercise 4: Connect, Receive, Disconnect, named by OnWsUpgradeFn, OnWsReceiveFn and OnWsCloseFn.
Two things found while building it. WsSend accepts one connection namespace, or a list of connection names, but not a list of namespaces, so the chat keeps names in Clients. And Jarvis 1.23.0 never called the close hook, because Conga reports only 'Closed' when a client disconnects; 1.23.1, in the workshop materials, fixes that.
Every hook must return a result, or Jarvis won't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WebSocketClient creates its client from a namespace of settings, like HttpCommand.New. OnWSReceive names the function called for each message, and it must be dyadic. A monadic function there fails in WebSocketClient's own thread, and the connection just closes: no error in the session, which is very confusing if you don't know.
Like HttpCommand.New, a misspelled setting doesn't signal; New returns a result with rc ¯11. Chat.Join checks rc after New and after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only the server needs to talk, Server-Sent Events are simpler: plain HTTP, and the browser reconnects for you. If both sides talk, use WebSockets.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on screen.
Watch for: hooks must return a result (r←0); WsSend needs Clients to hold connection names; after changing Connect, Leave and Join again on the page so the new code sees the connection; the S3 stretch (an /apl bot) comes with a warning never to execute text received from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to take away. The quick question to ask: who needs to start the conversation, and which way do messages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Pointers to the documentation for each tool, and the workshop repository, which keeps the exercises, solutions, and READMEs.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0" y="0"/>
            <a:ext cx="12237415" cy="6903720"/>
          </a:xfrm>
          <a:prstGeom prst="rect">
            <a:avLst/>
          </a:prstGeom>
          <a:solidFill>
            <a:schemeClr val="tx1"/>
          </a:solidFill>
          <a:ln w="12700">
            <a:solidFill>
              <a:schemeClr val="tx1"/>
            </a:solidFill>
            <a:prstDash val="solid"/>
          </a:ln>
        </p:spPr>
      </p:sp>
      <p:sp>
        <p:nvSpPr>
          <p:cNvPr id="3" name="Text 1"/>
          <p:cNvSpPr/>
          <p:nvPr>
            <p:ph idx="101" type="title" hasCustomPrompt="1"/>
          </p:nvPr>
        </p:nvSpPr>
        <p:spPr>
          <a:xfrm>
            <a:off x="731520" y="1920240"/>
            <a:ext cx="749808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1"/>
          <p:cNvSpPr/>
          <p:nvPr>
            <p:ph idx="102" type="body" hasCustomPrompt="1"/>
          </p:nvPr>
        </p:nvSpPr>
        <p:spPr>
          <a:xfrm>
            <a:off x="731520" y="3429000"/>
            <a:ext cx="7498080" cy="914400"/>
          </a:xfrm>
          <a:prstGeom prst="rect">
            <a:avLst/>
          </a:prstGeom>
          <a:noFill/>
          <a:ln/>
        </p:spPr>
        <p:txBody>
          <a:bodyPr wrap="square" rtlCol="0"/>
          <a:lstStyle>
            <a:lvl1pPr indent="0" marL="0">
              <a:buNone/>
              <a:defRPr lang="en-US" sz="2200" dirty="0">
                <a:solidFill>
                  <a:schemeClr val="accent4"/>
                </a:solidFill>
              </a:defRPr>
            </a:lvl1pPr>
          </a:lstStyle>
          <a:p>
            <a:pPr indent="0" marL="0">
              <a:buNone/>
            </a:pPr>
            <a:endParaRPr lang="en-US" sz="2200" dirty="0"/>
          </a:p>
        </p:txBody>
      </p:sp>
      <p:sp>
        <p:nvSpPr>
          <p:cNvPr id="5" name="Text 1"/>
          <p:cNvSpPr/>
          <p:nvPr>
            <p:ph idx="103" type="body" hasCustomPrompt="1"/>
          </p:nvPr>
        </p:nvSpPr>
        <p:spPr>
          <a:xfrm>
            <a:off x="731520" y="5303520"/>
            <a:ext cx="7498080" cy="45720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0" y="0"/>
            <a:ext cx="12237415" cy="6903720"/>
          </a:xfrm>
          <a:prstGeom prst="rect">
            <a:avLst/>
          </a:prstGeom>
          <a:solidFill>
            <a:schemeClr val="tx2"/>
          </a:solidFill>
          <a:ln w="12700">
            <a:solidFill>
              <a:schemeClr val="tx2"/>
            </a:solidFill>
            <a:prstDash val="solid"/>
          </a:ln>
        </p:spPr>
      </p:sp>
      <p:sp>
        <p:nvSpPr>
          <p:cNvPr id="3" name="Text 1"/>
          <p:cNvSpPr/>
          <p:nvPr>
            <p:ph idx="101" type="title" hasCustomPrompt="1"/>
          </p:nvPr>
        </p:nvSpPr>
        <p:spPr>
          <a:xfrm>
            <a:off x="731520" y="2103120"/>
            <a:ext cx="10515600" cy="118872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4" name="Text 1"/>
          <p:cNvSpPr/>
          <p:nvPr>
            <p:ph idx="102" type="body" hasCustomPrompt="1"/>
          </p:nvPr>
        </p:nvSpPr>
        <p:spPr>
          <a:xfrm>
            <a:off x="731520" y="3429000"/>
            <a:ext cx="10515600" cy="731520"/>
          </a:xfrm>
          <a:prstGeom prst="rect">
            <a:avLst/>
          </a:prstGeom>
          <a:noFill/>
          <a:ln/>
        </p:spPr>
        <p:txBody>
          <a:bodyPr wrap="square" rtlCol="0"/>
          <a:lstStyle>
            <a:lvl1pPr indent="0" marL="0">
              <a:buNone/>
              <a:defRPr lang="en-US" sz="2400" dirty="0">
                <a:solidFill>
                  <a:schemeClr val="accent4"/>
                </a:solidFill>
              </a:defRPr>
            </a:lvl1pPr>
          </a:lstStyle>
          <a:p>
            <a:pPr indent="0" marL="0">
              <a:buNone/>
            </a:pPr>
            <a:endParaRPr lang="en-US" sz="2400" dirty="0"/>
          </a:p>
        </p:txBody>
      </p:sp>
      <p:sp>
        <p:nvSpPr>
          <p:cNvPr id="5" name="Text 1"/>
          <p:cNvSpPr/>
          <p:nvPr>
            <p:ph idx="103" type="body" hasCustomPrompt="1"/>
          </p:nvPr>
        </p:nvSpPr>
        <p:spPr>
          <a:xfrm>
            <a:off x="731520" y="5303520"/>
            <a:ext cx="10515600" cy="45720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Asynchronous Services · Dyalog26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xercis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0" y="0"/>
            <a:ext cx="12237415" cy="6903720"/>
          </a:xfrm>
          <a:prstGeom prst="rect">
            <a:avLst/>
          </a:prstGeom>
          <a:solidFill>
            <a:schemeClr val="tx1"/>
          </a:solidFill>
          <a:ln w="12700">
            <a:solidFill>
              <a:schemeClr val="tx1"/>
            </a:solidFill>
            <a:prstDash val="solid"/>
          </a:ln>
        </p:spPr>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dyalog.github.io/HttpCommand" TargetMode="External"/><Relationship Id="rId2" Type="http://schemas.openxmlformats.org/officeDocument/2006/relationships/hyperlink" Target="https://dyalog.github.io/Jarvis" TargetMode="External"/><Relationship Id="rId3" Type="http://schemas.openxmlformats.org/officeDocument/2006/relationships/hyperlink" Target="https://dyalog.github.io/WebSocketClient" TargetMode="External"/><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1920240"/>
            <a:ext cx="7498080" cy="1371600"/>
          </a:xfrm>
          <a:prstGeom prst="rect">
            <a:avLst/>
          </a:prstGeom>
          <a:noFill/>
          <a:ln/>
        </p:spPr>
        <p:txBody>
          <a:bodyPr wrap="square" lIns="0" tIns="0" rIns="0" bIns="0" rtlCol="0" anchor="b"/>
          <a:lstStyle/>
          <a:p>
            <a:pPr algn="l" indent="0" marL="0">
              <a:buNone/>
            </a:pPr>
            <a:r>
              <a:rPr lang="en-US" sz="5400" b="1" dirty="0">
                <a:solidFill>
                  <a:schemeClr val="bg1"/>
                </a:solidFill>
              </a:rPr>
              <a:t>Asynchronous Services</a:t>
            </a:r>
            <a:endParaRPr lang="en-US" sz="5400" dirty="0"/>
          </a:p>
        </p:txBody>
      </p:sp>
      <p:sp>
        <p:nvSpPr>
          <p:cNvPr id="3" name="Text 1"/>
          <p:cNvSpPr/>
          <p:nvPr>
            <p:ph idx="102" type="body" hasCustomPrompt="1"/>
          </p:nvPr>
        </p:nvSpPr>
        <p:spPr>
          <a:xfrm>
            <a:off x="731520" y="3429000"/>
            <a:ext cx="7498080" cy="914400"/>
          </a:xfrm>
          <a:prstGeom prst="rect">
            <a:avLst/>
          </a:prstGeom>
          <a:noFill/>
          <a:ln/>
        </p:spPr>
        <p:txBody>
          <a:bodyPr wrap="square" lIns="0" tIns="0" rIns="0" bIns="0" rtlCol="0" anchor="t"/>
          <a:lstStyle/>
          <a:p>
            <a:pPr indent="0" marL="0">
              <a:buNone/>
            </a:pPr>
            <a:r>
              <a:rPr lang="en-US" sz="2200" dirty="0">
                <a:solidFill>
                  <a:schemeClr val="accent4"/>
                </a:solidFill>
              </a:rPr>
              <a:t>Web hooks, Server-Sent Events and WebSockets in Dyalog APL</a:t>
            </a:r>
            <a:endParaRPr lang="en-US" sz="2200" dirty="0"/>
          </a:p>
        </p:txBody>
      </p:sp>
      <p:sp>
        <p:nvSpPr>
          <p:cNvPr id="4" name="Text 1"/>
          <p:cNvSpPr/>
          <p:nvPr>
            <p:ph idx="103" type="body" hasCustomPrompt="1"/>
          </p:nvPr>
        </p:nvSpPr>
        <p:spPr>
          <a:xfrm>
            <a:off x="731520" y="5303520"/>
            <a:ext cx="7498080" cy="457200"/>
          </a:xfrm>
          <a:prstGeom prst="rect">
            <a:avLst/>
          </a:prstGeom>
          <a:noFill/>
          <a:ln/>
        </p:spPr>
        <p:txBody>
          <a:bodyPr wrap="square" lIns="0" tIns="0" rIns="0" bIns="0" rtlCol="0"/>
          <a:lstStyle/>
          <a:p>
            <a:pPr indent="0" marL="0">
              <a:buNone/>
            </a:pPr>
            <a:r>
              <a:rPr lang="en-US" sz="1600" dirty="0">
                <a:solidFill>
                  <a:schemeClr val="accent5"/>
                </a:solidFill>
              </a:rPr>
              <a:t>Dyalog26 User Meeting · 12 October 2026</a:t>
            </a:r>
            <a:endParaRPr lang="en-US" sz="1600" dirty="0"/>
          </a:p>
        </p:txBody>
      </p:sp>
      <p:sp>
        <p:nvSpPr>
          <p:cNvPr id="5" name="motif lane-1"/>
          <p:cNvSpPr/>
          <p:nvPr/>
        </p:nvSpPr>
        <p:spPr>
          <a:xfrm>
            <a:off x="9052560" y="1463040"/>
            <a:ext cx="0" cy="3931920"/>
          </a:xfrm>
          <a:prstGeom prst="line">
            <a:avLst/>
          </a:prstGeom>
          <a:noFill/>
          <a:ln w="19050">
            <a:solidFill>
              <a:schemeClr val="accent3"/>
            </a:solidFill>
            <a:prstDash val="dash"/>
          </a:ln>
        </p:spPr>
      </p:sp>
      <p:sp>
        <p:nvSpPr>
          <p:cNvPr id="6" name="motif lane-2"/>
          <p:cNvSpPr/>
          <p:nvPr/>
        </p:nvSpPr>
        <p:spPr>
          <a:xfrm>
            <a:off x="11155680" y="1463040"/>
            <a:ext cx="0" cy="3931920"/>
          </a:xfrm>
          <a:prstGeom prst="line">
            <a:avLst/>
          </a:prstGeom>
          <a:noFill/>
          <a:ln w="19050">
            <a:solidFill>
              <a:schemeClr val="accent3"/>
            </a:solidFill>
            <a:prstDash val="dash"/>
          </a:ln>
        </p:spPr>
      </p:sp>
      <p:sp>
        <p:nvSpPr>
          <p:cNvPr id="7" name="motif arrow-3"/>
          <p:cNvSpPr/>
          <p:nvPr/>
        </p:nvSpPr>
        <p:spPr>
          <a:xfrm>
            <a:off x="9052560" y="2011680"/>
            <a:ext cx="2103120" cy="0"/>
          </a:xfrm>
          <a:prstGeom prst="line">
            <a:avLst/>
          </a:prstGeom>
          <a:noFill/>
          <a:ln w="38100">
            <a:solidFill>
              <a:schemeClr val="accent1"/>
            </a:solidFill>
            <a:prstDash val="solid"/>
            <a:tailEnd type="triangle"/>
          </a:ln>
        </p:spPr>
      </p:sp>
      <p:sp>
        <p:nvSpPr>
          <p:cNvPr id="8" name="motif arrow-4"/>
          <p:cNvSpPr/>
          <p:nvPr/>
        </p:nvSpPr>
        <p:spPr>
          <a:xfrm>
            <a:off x="9052560" y="2651760"/>
            <a:ext cx="2103120" cy="0"/>
          </a:xfrm>
          <a:prstGeom prst="line">
            <a:avLst/>
          </a:prstGeom>
          <a:noFill/>
          <a:ln w="38100">
            <a:solidFill>
              <a:schemeClr val="accent2"/>
            </a:solidFill>
            <a:prstDash val="solid"/>
            <a:headEnd type="triangle"/>
          </a:ln>
        </p:spPr>
      </p:sp>
      <p:sp>
        <p:nvSpPr>
          <p:cNvPr id="9" name="motif arrow-5"/>
          <p:cNvSpPr/>
          <p:nvPr/>
        </p:nvSpPr>
        <p:spPr>
          <a:xfrm>
            <a:off x="9052560" y="3291840"/>
            <a:ext cx="2103120" cy="0"/>
          </a:xfrm>
          <a:prstGeom prst="line">
            <a:avLst/>
          </a:prstGeom>
          <a:noFill/>
          <a:ln w="38100">
            <a:solidFill>
              <a:schemeClr val="accent2"/>
            </a:solidFill>
            <a:prstDash val="solid"/>
            <a:headEnd type="triangle"/>
          </a:ln>
        </p:spPr>
      </p:sp>
      <p:sp>
        <p:nvSpPr>
          <p:cNvPr id="10" name="motif arrow-6"/>
          <p:cNvSpPr/>
          <p:nvPr/>
        </p:nvSpPr>
        <p:spPr>
          <a:xfrm>
            <a:off x="9052560" y="3931920"/>
            <a:ext cx="2103120" cy="0"/>
          </a:xfrm>
          <a:prstGeom prst="line">
            <a:avLst/>
          </a:prstGeom>
          <a:noFill/>
          <a:ln w="38100">
            <a:solidFill>
              <a:schemeClr val="accent1"/>
            </a:solidFill>
            <a:prstDash val="solid"/>
            <a:tailEnd type="triangle"/>
          </a:ln>
        </p:spPr>
      </p:sp>
      <p:sp>
        <p:nvSpPr>
          <p:cNvPr id="11" name="motif arrow-7"/>
          <p:cNvSpPr/>
          <p:nvPr/>
        </p:nvSpPr>
        <p:spPr>
          <a:xfrm>
            <a:off x="9052560" y="4572000"/>
            <a:ext cx="2103120" cy="0"/>
          </a:xfrm>
          <a:prstGeom prst="line">
            <a:avLst/>
          </a:prstGeom>
          <a:noFill/>
          <a:ln w="38100">
            <a:solidFill>
              <a:schemeClr val="accent2"/>
            </a:solidFill>
            <a:prstDash val="solid"/>
            <a:head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This afternoon</a:t>
            </a:r>
            <a:endParaRPr lang="en-US" sz="3400" dirty="0"/>
          </a:p>
        </p:txBody>
      </p:sp>
      <p:sp>
        <p:nvSpPr>
          <p:cNvPr id="3" name="schedule block-8"/>
          <p:cNvSpPr/>
          <p:nvPr/>
        </p:nvSpPr>
        <p:spPr>
          <a:xfrm>
            <a:off x="566928" y="2377440"/>
            <a:ext cx="491729" cy="914400"/>
          </a:xfrm>
          <a:prstGeom prst="rect">
            <a:avLst/>
          </a:prstGeom>
          <a:solidFill>
            <a:schemeClr val="accent3"/>
          </a:solidFill>
          <a:ln w="12700">
            <a:solidFill>
              <a:schemeClr val="accent3"/>
            </a:solidFill>
            <a:prstDash val="solid"/>
          </a:ln>
        </p:spPr>
      </p:sp>
      <p:sp>
        <p:nvSpPr>
          <p:cNvPr id="4" name="schedule block-9"/>
          <p:cNvSpPr/>
          <p:nvPr/>
        </p:nvSpPr>
        <p:spPr>
          <a:xfrm>
            <a:off x="1095233" y="2377440"/>
            <a:ext cx="755882" cy="914400"/>
          </a:xfrm>
          <a:prstGeom prst="rect">
            <a:avLst/>
          </a:prstGeom>
          <a:solidFill>
            <a:schemeClr val="accent3"/>
          </a:solidFill>
          <a:ln w="12700">
            <a:solidFill>
              <a:schemeClr val="accent3"/>
            </a:solidFill>
            <a:prstDash val="solid"/>
          </a:ln>
        </p:spPr>
      </p:sp>
      <p:sp>
        <p:nvSpPr>
          <p:cNvPr id="5" name="schedule block-10"/>
          <p:cNvSpPr/>
          <p:nvPr/>
        </p:nvSpPr>
        <p:spPr>
          <a:xfrm>
            <a:off x="1887692" y="2377440"/>
            <a:ext cx="1548340" cy="914400"/>
          </a:xfrm>
          <a:prstGeom prst="rect">
            <a:avLst/>
          </a:prstGeom>
          <a:solidFill>
            <a:schemeClr val="accent2"/>
          </a:solidFill>
          <a:ln w="12700">
            <a:solidFill>
              <a:schemeClr val="accent2"/>
            </a:solidFill>
            <a:prstDash val="solid"/>
          </a:ln>
        </p:spPr>
      </p:sp>
      <p:sp>
        <p:nvSpPr>
          <p:cNvPr id="6" name="schedule label-11"/>
          <p:cNvSpPr txBox="1"/>
          <p:nvPr/>
        </p:nvSpPr>
        <p:spPr>
          <a:xfrm>
            <a:off x="1869404" y="2377440"/>
            <a:ext cx="1584916" cy="914400"/>
          </a:xfrm>
          <a:prstGeom prst="rect">
            <a:avLst/>
          </a:prstGeom>
          <a:noFill/>
          <a:ln/>
        </p:spPr>
        <p:txBody>
          <a:bodyPr wrap="square" lIns="0" tIns="0" rIns="0" bIns="0" rtlCol="0" anchor="ctr"/>
          <a:lstStyle/>
          <a:p>
            <a:pPr algn="ctr" indent="0" marL="0">
              <a:buNone/>
            </a:pPr>
            <a:r>
              <a:rPr lang="en-US" sz="1600" b="1" dirty="0">
                <a:solidFill>
                  <a:schemeClr val="bg1"/>
                </a:solidFill>
              </a:rPr>
              <a:t>Ex 1</a:t>
            </a:r>
            <a:endParaRPr lang="en-US" sz="1600" dirty="0"/>
          </a:p>
        </p:txBody>
      </p:sp>
      <p:sp>
        <p:nvSpPr>
          <p:cNvPr id="7" name="schedule block-12"/>
          <p:cNvSpPr/>
          <p:nvPr/>
        </p:nvSpPr>
        <p:spPr>
          <a:xfrm>
            <a:off x="3472608" y="2377440"/>
            <a:ext cx="491729" cy="914400"/>
          </a:xfrm>
          <a:prstGeom prst="rect">
            <a:avLst/>
          </a:prstGeom>
          <a:solidFill>
            <a:schemeClr val="accent3"/>
          </a:solidFill>
          <a:ln w="12700">
            <a:solidFill>
              <a:schemeClr val="accent3"/>
            </a:solidFill>
            <a:prstDash val="solid"/>
          </a:ln>
        </p:spPr>
      </p:sp>
      <p:sp>
        <p:nvSpPr>
          <p:cNvPr id="8" name="schedule block-13"/>
          <p:cNvSpPr/>
          <p:nvPr/>
        </p:nvSpPr>
        <p:spPr>
          <a:xfrm>
            <a:off x="4000914" y="2377440"/>
            <a:ext cx="755882" cy="914400"/>
          </a:xfrm>
          <a:prstGeom prst="rect">
            <a:avLst/>
          </a:prstGeom>
          <a:solidFill>
            <a:schemeClr val="bg2"/>
          </a:solidFill>
          <a:ln w="12700">
            <a:solidFill>
              <a:schemeClr val="bg2"/>
            </a:solidFill>
            <a:prstDash val="solid"/>
          </a:ln>
        </p:spPr>
      </p:sp>
      <p:sp>
        <p:nvSpPr>
          <p:cNvPr id="9" name="schedule block-14"/>
          <p:cNvSpPr/>
          <p:nvPr/>
        </p:nvSpPr>
        <p:spPr>
          <a:xfrm>
            <a:off x="4793372" y="2377440"/>
            <a:ext cx="1548340" cy="914400"/>
          </a:xfrm>
          <a:prstGeom prst="rect">
            <a:avLst/>
          </a:prstGeom>
          <a:solidFill>
            <a:schemeClr val="accent2"/>
          </a:solidFill>
          <a:ln w="12700">
            <a:solidFill>
              <a:schemeClr val="accent2"/>
            </a:solidFill>
            <a:prstDash val="solid"/>
          </a:ln>
        </p:spPr>
      </p:sp>
      <p:sp>
        <p:nvSpPr>
          <p:cNvPr id="10" name="schedule label-15"/>
          <p:cNvSpPr txBox="1"/>
          <p:nvPr/>
        </p:nvSpPr>
        <p:spPr>
          <a:xfrm>
            <a:off x="4775084" y="2377440"/>
            <a:ext cx="1584916" cy="914400"/>
          </a:xfrm>
          <a:prstGeom prst="rect">
            <a:avLst/>
          </a:prstGeom>
          <a:noFill/>
          <a:ln/>
        </p:spPr>
        <p:txBody>
          <a:bodyPr wrap="square" lIns="0" tIns="0" rIns="0" bIns="0" rtlCol="0" anchor="ctr"/>
          <a:lstStyle/>
          <a:p>
            <a:pPr algn="ctr" indent="0" marL="0">
              <a:buNone/>
            </a:pPr>
            <a:r>
              <a:rPr lang="en-US" sz="1600" b="1" dirty="0">
                <a:solidFill>
                  <a:schemeClr val="bg1"/>
                </a:solidFill>
              </a:rPr>
              <a:t>Ex 2</a:t>
            </a:r>
            <a:endParaRPr lang="en-US" sz="1600" dirty="0"/>
          </a:p>
        </p:txBody>
      </p:sp>
      <p:sp>
        <p:nvSpPr>
          <p:cNvPr id="11" name="schedule block-16"/>
          <p:cNvSpPr/>
          <p:nvPr/>
        </p:nvSpPr>
        <p:spPr>
          <a:xfrm>
            <a:off x="6378288" y="2377440"/>
            <a:ext cx="491729" cy="914400"/>
          </a:xfrm>
          <a:prstGeom prst="rect">
            <a:avLst/>
          </a:prstGeom>
          <a:solidFill>
            <a:schemeClr val="accent3"/>
          </a:solidFill>
          <a:ln w="12700">
            <a:solidFill>
              <a:schemeClr val="accent3"/>
            </a:solidFill>
            <a:prstDash val="solid"/>
          </a:ln>
        </p:spPr>
      </p:sp>
      <p:sp>
        <p:nvSpPr>
          <p:cNvPr id="12" name="schedule block-17"/>
          <p:cNvSpPr/>
          <p:nvPr/>
        </p:nvSpPr>
        <p:spPr>
          <a:xfrm>
            <a:off x="6906594" y="2377440"/>
            <a:ext cx="1548340" cy="914400"/>
          </a:xfrm>
          <a:prstGeom prst="rect">
            <a:avLst/>
          </a:prstGeom>
          <a:solidFill>
            <a:schemeClr val="accent2"/>
          </a:solidFill>
          <a:ln w="12700">
            <a:solidFill>
              <a:schemeClr val="accent2"/>
            </a:solidFill>
            <a:prstDash val="solid"/>
          </a:ln>
        </p:spPr>
      </p:sp>
      <p:sp>
        <p:nvSpPr>
          <p:cNvPr id="13" name="schedule label-18"/>
          <p:cNvSpPr txBox="1"/>
          <p:nvPr/>
        </p:nvSpPr>
        <p:spPr>
          <a:xfrm>
            <a:off x="6888306" y="2377440"/>
            <a:ext cx="1584916" cy="914400"/>
          </a:xfrm>
          <a:prstGeom prst="rect">
            <a:avLst/>
          </a:prstGeom>
          <a:noFill/>
          <a:ln/>
        </p:spPr>
        <p:txBody>
          <a:bodyPr wrap="square" lIns="0" tIns="0" rIns="0" bIns="0" rtlCol="0" anchor="ctr"/>
          <a:lstStyle/>
          <a:p>
            <a:pPr algn="ctr" indent="0" marL="0">
              <a:buNone/>
            </a:pPr>
            <a:r>
              <a:rPr lang="en-US" sz="1600" b="1" dirty="0">
                <a:solidFill>
                  <a:schemeClr val="bg1"/>
                </a:solidFill>
              </a:rPr>
              <a:t>Ex 3</a:t>
            </a:r>
            <a:endParaRPr lang="en-US" sz="1600" dirty="0"/>
          </a:p>
        </p:txBody>
      </p:sp>
      <p:sp>
        <p:nvSpPr>
          <p:cNvPr id="14" name="schedule block-19"/>
          <p:cNvSpPr/>
          <p:nvPr/>
        </p:nvSpPr>
        <p:spPr>
          <a:xfrm>
            <a:off x="8491510" y="2377440"/>
            <a:ext cx="755882" cy="914400"/>
          </a:xfrm>
          <a:prstGeom prst="rect">
            <a:avLst/>
          </a:prstGeom>
          <a:solidFill>
            <a:schemeClr val="bg2"/>
          </a:solidFill>
          <a:ln w="12700">
            <a:solidFill>
              <a:schemeClr val="bg2"/>
            </a:solidFill>
            <a:prstDash val="solid"/>
          </a:ln>
        </p:spPr>
      </p:sp>
      <p:sp>
        <p:nvSpPr>
          <p:cNvPr id="15" name="schedule block-20"/>
          <p:cNvSpPr/>
          <p:nvPr/>
        </p:nvSpPr>
        <p:spPr>
          <a:xfrm>
            <a:off x="9283969" y="2377440"/>
            <a:ext cx="491729" cy="914400"/>
          </a:xfrm>
          <a:prstGeom prst="rect">
            <a:avLst/>
          </a:prstGeom>
          <a:solidFill>
            <a:schemeClr val="accent3"/>
          </a:solidFill>
          <a:ln w="12700">
            <a:solidFill>
              <a:schemeClr val="accent3"/>
            </a:solidFill>
            <a:prstDash val="solid"/>
          </a:ln>
        </p:spPr>
      </p:sp>
      <p:sp>
        <p:nvSpPr>
          <p:cNvPr id="16" name="schedule block-21"/>
          <p:cNvSpPr/>
          <p:nvPr/>
        </p:nvSpPr>
        <p:spPr>
          <a:xfrm>
            <a:off x="9812274" y="2377440"/>
            <a:ext cx="1548340" cy="914400"/>
          </a:xfrm>
          <a:prstGeom prst="rect">
            <a:avLst/>
          </a:prstGeom>
          <a:solidFill>
            <a:schemeClr val="accent2"/>
          </a:solidFill>
          <a:ln w="12700">
            <a:solidFill>
              <a:schemeClr val="accent2"/>
            </a:solidFill>
            <a:prstDash val="solid"/>
          </a:ln>
        </p:spPr>
      </p:sp>
      <p:sp>
        <p:nvSpPr>
          <p:cNvPr id="17" name="schedule label-22"/>
          <p:cNvSpPr txBox="1"/>
          <p:nvPr/>
        </p:nvSpPr>
        <p:spPr>
          <a:xfrm>
            <a:off x="9793986" y="2377440"/>
            <a:ext cx="1584916" cy="914400"/>
          </a:xfrm>
          <a:prstGeom prst="rect">
            <a:avLst/>
          </a:prstGeom>
          <a:noFill/>
          <a:ln/>
        </p:spPr>
        <p:txBody>
          <a:bodyPr wrap="square" lIns="0" tIns="0" rIns="0" bIns="0" rtlCol="0" anchor="ctr"/>
          <a:lstStyle/>
          <a:p>
            <a:pPr algn="ctr" indent="0" marL="0">
              <a:buNone/>
            </a:pPr>
            <a:r>
              <a:rPr lang="en-US" sz="1600" b="1" dirty="0">
                <a:solidFill>
                  <a:schemeClr val="bg1"/>
                </a:solidFill>
              </a:rPr>
              <a:t>Ex 4</a:t>
            </a:r>
            <a:endParaRPr lang="en-US" sz="1600" dirty="0"/>
          </a:p>
        </p:txBody>
      </p:sp>
      <p:sp>
        <p:nvSpPr>
          <p:cNvPr id="18" name="schedule block-23"/>
          <p:cNvSpPr/>
          <p:nvPr/>
        </p:nvSpPr>
        <p:spPr>
          <a:xfrm>
            <a:off x="11397190" y="2377440"/>
            <a:ext cx="227577" cy="914400"/>
          </a:xfrm>
          <a:prstGeom prst="rect">
            <a:avLst/>
          </a:prstGeom>
          <a:solidFill>
            <a:schemeClr val="accent3"/>
          </a:solidFill>
          <a:ln w="12700">
            <a:solidFill>
              <a:schemeClr val="accent3"/>
            </a:solidFill>
            <a:prstDash val="solid"/>
          </a:ln>
        </p:spPr>
      </p:sp>
      <p:sp>
        <p:nvSpPr>
          <p:cNvPr id="19" name="legend swatch-24"/>
          <p:cNvSpPr/>
          <p:nvPr/>
        </p:nvSpPr>
        <p:spPr>
          <a:xfrm>
            <a:off x="548640" y="3657600"/>
            <a:ext cx="320040" cy="320040"/>
          </a:xfrm>
          <a:prstGeom prst="rect">
            <a:avLst/>
          </a:prstGeom>
          <a:solidFill>
            <a:schemeClr val="accent3"/>
          </a:solidFill>
          <a:ln w="12700">
            <a:solidFill>
              <a:schemeClr val="accent3"/>
            </a:solidFill>
            <a:prstDash val="solid"/>
          </a:ln>
        </p:spPr>
      </p:sp>
      <p:sp>
        <p:nvSpPr>
          <p:cNvPr id="20" name="text-25"/>
          <p:cNvSpPr txBox="1"/>
          <p:nvPr/>
        </p:nvSpPr>
        <p:spPr>
          <a:xfrm>
            <a:off x="1005840" y="3657600"/>
            <a:ext cx="2743200" cy="320040"/>
          </a:xfrm>
          <a:prstGeom prst="rect">
            <a:avLst/>
          </a:prstGeom>
          <a:noFill/>
          <a:ln/>
        </p:spPr>
        <p:txBody>
          <a:bodyPr wrap="square" lIns="0" tIns="0" rIns="0" bIns="0" rtlCol="0" anchor="ctr"/>
          <a:lstStyle/>
          <a:p>
            <a:pPr indent="0" marL="0">
              <a:buNone/>
            </a:pPr>
            <a:r>
              <a:rPr lang="en-US" sz="1500" dirty="0">
                <a:solidFill>
                  <a:schemeClr val="tx1"/>
                </a:solidFill>
              </a:rPr>
              <a:t>Talk</a:t>
            </a:r>
            <a:endParaRPr lang="en-US" sz="1500" dirty="0"/>
          </a:p>
        </p:txBody>
      </p:sp>
      <p:sp>
        <p:nvSpPr>
          <p:cNvPr id="21" name="legend swatch-26"/>
          <p:cNvSpPr/>
          <p:nvPr/>
        </p:nvSpPr>
        <p:spPr>
          <a:xfrm>
            <a:off x="3840480" y="3657600"/>
            <a:ext cx="320040" cy="320040"/>
          </a:xfrm>
          <a:prstGeom prst="rect">
            <a:avLst/>
          </a:prstGeom>
          <a:solidFill>
            <a:schemeClr val="accent2"/>
          </a:solidFill>
          <a:ln w="12700">
            <a:solidFill>
              <a:schemeClr val="accent2"/>
            </a:solidFill>
            <a:prstDash val="solid"/>
          </a:ln>
        </p:spPr>
      </p:sp>
      <p:sp>
        <p:nvSpPr>
          <p:cNvPr id="22" name="text-27"/>
          <p:cNvSpPr txBox="1"/>
          <p:nvPr/>
        </p:nvSpPr>
        <p:spPr>
          <a:xfrm>
            <a:off x="4297680" y="3657600"/>
            <a:ext cx="2743200" cy="320040"/>
          </a:xfrm>
          <a:prstGeom prst="rect">
            <a:avLst/>
          </a:prstGeom>
          <a:noFill/>
          <a:ln/>
        </p:spPr>
        <p:txBody>
          <a:bodyPr wrap="square" lIns="0" tIns="0" rIns="0" bIns="0" rtlCol="0" anchor="ctr"/>
          <a:lstStyle/>
          <a:p>
            <a:pPr indent="0" marL="0">
              <a:buNone/>
            </a:pPr>
            <a:r>
              <a:rPr lang="en-US" sz="1500" dirty="0">
                <a:solidFill>
                  <a:schemeClr val="tx1"/>
                </a:solidFill>
              </a:rPr>
              <a:t>Exercise, 30 minutes each</a:t>
            </a:r>
            <a:endParaRPr lang="en-US" sz="1500" dirty="0"/>
          </a:p>
        </p:txBody>
      </p:sp>
      <p:sp>
        <p:nvSpPr>
          <p:cNvPr id="23" name="legend swatch-28"/>
          <p:cNvSpPr/>
          <p:nvPr/>
        </p:nvSpPr>
        <p:spPr>
          <a:xfrm>
            <a:off x="7132320" y="3657600"/>
            <a:ext cx="320040" cy="320040"/>
          </a:xfrm>
          <a:prstGeom prst="rect">
            <a:avLst/>
          </a:prstGeom>
          <a:solidFill>
            <a:schemeClr val="bg2"/>
          </a:solidFill>
          <a:ln w="12700">
            <a:solidFill>
              <a:schemeClr val="accent3"/>
            </a:solidFill>
            <a:prstDash val="solid"/>
          </a:ln>
        </p:spPr>
      </p:sp>
      <p:sp>
        <p:nvSpPr>
          <p:cNvPr id="24" name="text-29"/>
          <p:cNvSpPr txBox="1"/>
          <p:nvPr/>
        </p:nvSpPr>
        <p:spPr>
          <a:xfrm>
            <a:off x="7589520" y="3657600"/>
            <a:ext cx="2743200" cy="320040"/>
          </a:xfrm>
          <a:prstGeom prst="rect">
            <a:avLst/>
          </a:prstGeom>
          <a:noFill/>
          <a:ln/>
        </p:spPr>
        <p:txBody>
          <a:bodyPr wrap="square" lIns="0" tIns="0" rIns="0" bIns="0" rtlCol="0" anchor="ctr"/>
          <a:lstStyle/>
          <a:p>
            <a:pPr indent="0" marL="0">
              <a:buNone/>
            </a:pPr>
            <a:r>
              <a:rPr lang="en-US" sz="1500" dirty="0">
                <a:solidFill>
                  <a:schemeClr val="tx1"/>
                </a:solidFill>
              </a:rPr>
              <a:t>Break, 15 minutes</a:t>
            </a:r>
            <a:endParaRPr lang="en-US" sz="1500" dirty="0"/>
          </a:p>
        </p:txBody>
      </p:sp>
      <p:sp>
        <p:nvSpPr>
          <p:cNvPr id="25" name="text-30"/>
          <p:cNvSpPr txBox="1"/>
          <p:nvPr/>
        </p:nvSpPr>
        <p:spPr>
          <a:xfrm>
            <a:off x="548640" y="1417320"/>
            <a:ext cx="10515600" cy="731520"/>
          </a:xfrm>
          <a:prstGeom prst="rect">
            <a:avLst/>
          </a:prstGeom>
          <a:noFill/>
          <a:ln/>
        </p:spPr>
        <p:txBody>
          <a:bodyPr wrap="square" lIns="0" tIns="0" rIns="0" bIns="0" rtlCol="0" anchor="t"/>
          <a:lstStyle/>
          <a:p>
            <a:pPr indent="0" marL="0">
              <a:buNone/>
            </a:pPr>
            <a:r>
              <a:rPr lang="en-US" sz="2000" dirty="0">
                <a:solidFill>
                  <a:schemeClr val="tx1"/>
                </a:solidFill>
              </a:rPr>
              <a:t>3 hours 30 minutes: four short talks, four 30-minute exercises, two breaks. Each talk sets up the exercise that follows it.</a:t>
            </a:r>
            <a:endParaRPr lang="en-US" sz="2000" dirty="0"/>
          </a:p>
        </p:txBody>
      </p:sp>
      <p:sp>
        <p:nvSpPr>
          <p:cNvPr id="26" name="card-31"/>
          <p:cNvSpPr/>
          <p:nvPr/>
        </p:nvSpPr>
        <p:spPr>
          <a:xfrm>
            <a:off x="548640" y="4389120"/>
            <a:ext cx="3474720" cy="1645920"/>
          </a:xfrm>
          <a:prstGeom prst="roundRect">
            <a:avLst>
              <a:gd name="adj" fmla="val 5556"/>
            </a:avLst>
          </a:prstGeom>
          <a:solidFill>
            <a:schemeClr val="bg2"/>
          </a:solidFill>
          <a:ln w="12700">
            <a:solidFill>
              <a:schemeClr val="bg2"/>
            </a:solidFill>
            <a:prstDash val="solid"/>
          </a:ln>
        </p:spPr>
      </p:sp>
      <p:sp>
        <p:nvSpPr>
          <p:cNvPr id="27" name="card head-32"/>
          <p:cNvSpPr txBox="1"/>
          <p:nvPr/>
        </p:nvSpPr>
        <p:spPr>
          <a:xfrm>
            <a:off x="822960" y="4617720"/>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Behind?</a:t>
            </a:r>
            <a:endParaRPr lang="en-US" sz="2000" dirty="0"/>
          </a:p>
        </p:txBody>
      </p:sp>
      <p:sp>
        <p:nvSpPr>
          <p:cNvPr id="28" name="card body-33"/>
          <p:cNvSpPr txBox="1"/>
          <p:nvPr/>
        </p:nvSpPr>
        <p:spPr>
          <a:xfrm>
            <a:off x="822960" y="5166360"/>
            <a:ext cx="2926080" cy="685800"/>
          </a:xfrm>
          <a:prstGeom prst="rect">
            <a:avLst/>
          </a:prstGeom>
          <a:noFill/>
          <a:ln/>
        </p:spPr>
        <p:txBody>
          <a:bodyPr wrap="square" lIns="0" tIns="0" rIns="0" bIns="0" rtlCol="0" anchor="t"/>
          <a:lstStyle/>
          <a:p>
            <a:pPr indent="0" marL="0">
              <a:buNone/>
            </a:pPr>
            <a:r>
              <a:rPr lang="en-US" sz="1600" dirty="0">
                <a:solidFill>
                  <a:schemeClr val="tx1"/>
                </a:solidFill>
              </a:rPr>
              <a:t>Load the exercise's Solution and carry on. No exercise depends on your own earlier code.</a:t>
            </a:r>
            <a:endParaRPr lang="en-US" sz="1600" dirty="0"/>
          </a:p>
        </p:txBody>
      </p:sp>
      <p:sp>
        <p:nvSpPr>
          <p:cNvPr id="29" name="card-34"/>
          <p:cNvSpPr/>
          <p:nvPr/>
        </p:nvSpPr>
        <p:spPr>
          <a:xfrm>
            <a:off x="4343400" y="4389120"/>
            <a:ext cx="3474720" cy="1645920"/>
          </a:xfrm>
          <a:prstGeom prst="roundRect">
            <a:avLst>
              <a:gd name="adj" fmla="val 5556"/>
            </a:avLst>
          </a:prstGeom>
          <a:solidFill>
            <a:schemeClr val="bg2"/>
          </a:solidFill>
          <a:ln w="12700">
            <a:solidFill>
              <a:schemeClr val="bg2"/>
            </a:solidFill>
            <a:prstDash val="solid"/>
          </a:ln>
        </p:spPr>
      </p:sp>
      <p:sp>
        <p:nvSpPr>
          <p:cNvPr id="30" name="card head-35"/>
          <p:cNvSpPr txBox="1"/>
          <p:nvPr/>
        </p:nvSpPr>
        <p:spPr>
          <a:xfrm>
            <a:off x="4617720" y="4617720"/>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Ahead?</a:t>
            </a:r>
            <a:endParaRPr lang="en-US" sz="2000" dirty="0"/>
          </a:p>
        </p:txBody>
      </p:sp>
      <p:sp>
        <p:nvSpPr>
          <p:cNvPr id="31" name="card body-36"/>
          <p:cNvSpPr txBox="1"/>
          <p:nvPr/>
        </p:nvSpPr>
        <p:spPr>
          <a:xfrm>
            <a:off x="4617720" y="5166360"/>
            <a:ext cx="2926080" cy="685800"/>
          </a:xfrm>
          <a:prstGeom prst="rect">
            <a:avLst/>
          </a:prstGeom>
          <a:noFill/>
          <a:ln/>
        </p:spPr>
        <p:txBody>
          <a:bodyPr wrap="square" lIns="0" tIns="0" rIns="0" bIns="0" rtlCol="0" anchor="t"/>
          <a:lstStyle/>
          <a:p>
            <a:pPr indent="0" marL="0">
              <a:buNone/>
            </a:pPr>
            <a:r>
              <a:rPr lang="en-US" sz="1600" dirty="0">
                <a:solidFill>
                  <a:schemeClr val="tx1"/>
                </a:solidFill>
              </a:rPr>
              <a:t>Each README has stretch goals, marked as optional.</a:t>
            </a:r>
            <a:endParaRPr lang="en-US" sz="1600" dirty="0"/>
          </a:p>
        </p:txBody>
      </p:sp>
      <p:sp>
        <p:nvSpPr>
          <p:cNvPr id="32" name="card-37"/>
          <p:cNvSpPr/>
          <p:nvPr/>
        </p:nvSpPr>
        <p:spPr>
          <a:xfrm>
            <a:off x="8138160" y="4389120"/>
            <a:ext cx="3474720" cy="1645920"/>
          </a:xfrm>
          <a:prstGeom prst="roundRect">
            <a:avLst>
              <a:gd name="adj" fmla="val 5556"/>
            </a:avLst>
          </a:prstGeom>
          <a:solidFill>
            <a:schemeClr val="bg2"/>
          </a:solidFill>
          <a:ln w="12700">
            <a:solidFill>
              <a:schemeClr val="bg2"/>
            </a:solidFill>
            <a:prstDash val="solid"/>
          </a:ln>
        </p:spPr>
      </p:sp>
      <p:sp>
        <p:nvSpPr>
          <p:cNvPr id="33" name="card head-38"/>
          <p:cNvSpPr txBox="1"/>
          <p:nvPr/>
        </p:nvSpPr>
        <p:spPr>
          <a:xfrm>
            <a:off x="8412480" y="4617720"/>
            <a:ext cx="29260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Stuck?</a:t>
            </a:r>
            <a:endParaRPr lang="en-US" sz="2000" dirty="0"/>
          </a:p>
        </p:txBody>
      </p:sp>
      <p:sp>
        <p:nvSpPr>
          <p:cNvPr id="34" name="card body-39"/>
          <p:cNvSpPr txBox="1"/>
          <p:nvPr/>
        </p:nvSpPr>
        <p:spPr>
          <a:xfrm>
            <a:off x="8412480" y="5166360"/>
            <a:ext cx="2926080" cy="685800"/>
          </a:xfrm>
          <a:prstGeom prst="rect">
            <a:avLst/>
          </a:prstGeom>
          <a:noFill/>
          <a:ln/>
        </p:spPr>
        <p:txBody>
          <a:bodyPr wrap="square" lIns="0" tIns="0" rIns="0" bIns="0" rtlCol="0" anchor="t"/>
          <a:lstStyle/>
          <a:p>
            <a:pPr indent="0" marL="0">
              <a:buNone/>
            </a:pPr>
            <a:r>
              <a:rPr lang="en-US" sz="1600" dirty="0">
                <a:solidFill>
                  <a:schemeClr val="tx1"/>
                </a:solidFill>
              </a:rPr>
              <a:t>Ask. The breaks are also for catching up.</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Request and response: ask, then wait</a:t>
            </a:r>
            <a:endParaRPr lang="en-US" sz="3400" dirty="0"/>
          </a:p>
        </p:txBody>
      </p:sp>
      <p:sp>
        <p:nvSpPr>
          <p:cNvPr id="3" name="lane-40"/>
          <p:cNvSpPr/>
          <p:nvPr/>
        </p:nvSpPr>
        <p:spPr>
          <a:xfrm>
            <a:off x="1965960" y="1965960"/>
            <a:ext cx="0" cy="3977640"/>
          </a:xfrm>
          <a:prstGeom prst="line">
            <a:avLst/>
          </a:prstGeom>
          <a:noFill/>
          <a:ln w="15875">
            <a:solidFill>
              <a:schemeClr val="accent3"/>
            </a:solidFill>
            <a:prstDash val="dash"/>
          </a:ln>
        </p:spPr>
      </p:sp>
      <p:sp>
        <p:nvSpPr>
          <p:cNvPr id="4" name="lane head-41"/>
          <p:cNvSpPr/>
          <p:nvPr/>
        </p:nvSpPr>
        <p:spPr>
          <a:xfrm>
            <a:off x="777240" y="1463040"/>
            <a:ext cx="2377440" cy="502920"/>
          </a:xfrm>
          <a:prstGeom prst="roundRect">
            <a:avLst>
              <a:gd name="adj" fmla="val 14545"/>
            </a:avLst>
          </a:prstGeom>
          <a:solidFill>
            <a:schemeClr val="accent4"/>
          </a:solidFill>
          <a:ln w="12700">
            <a:solidFill>
              <a:schemeClr val="accent4"/>
            </a:solidFill>
            <a:prstDash val="solid"/>
          </a:ln>
        </p:spPr>
      </p:sp>
      <p:sp>
        <p:nvSpPr>
          <p:cNvPr id="5" name="lane name-42"/>
          <p:cNvSpPr txBox="1"/>
          <p:nvPr/>
        </p:nvSpPr>
        <p:spPr>
          <a:xfrm>
            <a:off x="777240" y="146304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Client</a:t>
            </a:r>
            <a:endParaRPr lang="en-US" sz="1500" dirty="0"/>
          </a:p>
        </p:txBody>
      </p:sp>
      <p:sp>
        <p:nvSpPr>
          <p:cNvPr id="6" name="lane-43"/>
          <p:cNvSpPr/>
          <p:nvPr/>
        </p:nvSpPr>
        <p:spPr>
          <a:xfrm>
            <a:off x="4800600" y="1965960"/>
            <a:ext cx="0" cy="3977640"/>
          </a:xfrm>
          <a:prstGeom prst="line">
            <a:avLst/>
          </a:prstGeom>
          <a:noFill/>
          <a:ln w="15875">
            <a:solidFill>
              <a:schemeClr val="accent3"/>
            </a:solidFill>
            <a:prstDash val="dash"/>
          </a:ln>
        </p:spPr>
      </p:sp>
      <p:sp>
        <p:nvSpPr>
          <p:cNvPr id="7" name="lane head-44"/>
          <p:cNvSpPr/>
          <p:nvPr/>
        </p:nvSpPr>
        <p:spPr>
          <a:xfrm>
            <a:off x="3611880" y="1463040"/>
            <a:ext cx="2377440" cy="502920"/>
          </a:xfrm>
          <a:prstGeom prst="roundRect">
            <a:avLst>
              <a:gd name="adj" fmla="val 14545"/>
            </a:avLst>
          </a:prstGeom>
          <a:solidFill>
            <a:schemeClr val="accent4"/>
          </a:solidFill>
          <a:ln w="12700">
            <a:solidFill>
              <a:schemeClr val="accent4"/>
            </a:solidFill>
            <a:prstDash val="solid"/>
          </a:ln>
        </p:spPr>
      </p:sp>
      <p:sp>
        <p:nvSpPr>
          <p:cNvPr id="8" name="lane name-45"/>
          <p:cNvSpPr txBox="1"/>
          <p:nvPr/>
        </p:nvSpPr>
        <p:spPr>
          <a:xfrm>
            <a:off x="3611880" y="146304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Server</a:t>
            </a:r>
            <a:endParaRPr lang="en-US" sz="1500" dirty="0"/>
          </a:p>
        </p:txBody>
      </p:sp>
      <p:sp>
        <p:nvSpPr>
          <p:cNvPr id="9" name="message-46"/>
          <p:cNvSpPr/>
          <p:nvPr/>
        </p:nvSpPr>
        <p:spPr>
          <a:xfrm>
            <a:off x="1965960" y="2468880"/>
            <a:ext cx="2834640" cy="0"/>
          </a:xfrm>
          <a:prstGeom prst="line">
            <a:avLst/>
          </a:prstGeom>
          <a:noFill/>
          <a:ln w="28575">
            <a:solidFill>
              <a:schemeClr val="accent1"/>
            </a:solidFill>
            <a:prstDash val="solid"/>
            <a:tailEnd type="triangle"/>
          </a:ln>
        </p:spPr>
      </p:sp>
      <p:sp>
        <p:nvSpPr>
          <p:cNvPr id="10" name="message label-47"/>
          <p:cNvSpPr txBox="1"/>
          <p:nvPr/>
        </p:nvSpPr>
        <p:spPr>
          <a:xfrm>
            <a:off x="2011680" y="2075688"/>
            <a:ext cx="274320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POST /SlowWork {…}</a:t>
            </a:r>
            <a:endParaRPr lang="en-US" sz="1200" dirty="0"/>
          </a:p>
        </p:txBody>
      </p:sp>
      <p:sp>
        <p:nvSpPr>
          <p:cNvPr id="11" name="lane note-48"/>
          <p:cNvSpPr/>
          <p:nvPr/>
        </p:nvSpPr>
        <p:spPr>
          <a:xfrm>
            <a:off x="3794760" y="2834640"/>
            <a:ext cx="2011680" cy="1463040"/>
          </a:xfrm>
          <a:prstGeom prst="roundRect">
            <a:avLst>
              <a:gd name="adj" fmla="val 3750"/>
            </a:avLst>
          </a:prstGeom>
          <a:solidFill>
            <a:schemeClr val="accent5"/>
          </a:solidFill>
          <a:ln w="12700">
            <a:solidFill>
              <a:schemeClr val="accent5"/>
            </a:solidFill>
            <a:prstDash val="solid"/>
          </a:ln>
        </p:spPr>
      </p:sp>
      <p:sp>
        <p:nvSpPr>
          <p:cNvPr id="12" name="lane note text-49"/>
          <p:cNvSpPr txBox="1"/>
          <p:nvPr/>
        </p:nvSpPr>
        <p:spPr>
          <a:xfrm>
            <a:off x="3867912" y="2834640"/>
            <a:ext cx="1865376" cy="1463040"/>
          </a:xfrm>
          <a:prstGeom prst="rect">
            <a:avLst/>
          </a:prstGeom>
          <a:noFill/>
          <a:ln/>
        </p:spPr>
        <p:txBody>
          <a:bodyPr wrap="square" lIns="0" tIns="0" rIns="0" bIns="0" rtlCol="0" anchor="ctr"/>
          <a:lstStyle/>
          <a:p>
            <a:pPr algn="ctr" indent="0" marL="0">
              <a:buNone/>
            </a:pPr>
            <a:r>
              <a:rPr lang="en-US" sz="1300" dirty="0">
                <a:solidFill>
                  <a:schemeClr val="tx1"/>
                </a:solidFill>
              </a:rPr>
              <a:t>working…</a:t>
            </a:r>
            <a:endParaRPr lang="en-US" sz="1300" dirty="0"/>
          </a:p>
          <a:p>
            <a:pPr algn="ctr" indent="0" marL="0">
              <a:buNone/>
            </a:pPr>
            <a:r>
              <a:rPr lang="en-US" sz="1300" dirty="0">
                <a:solidFill>
                  <a:schemeClr val="tx1"/>
                </a:solidFill>
              </a:rPr>
              <a:t>(seconds or minutes)</a:t>
            </a:r>
            <a:endParaRPr lang="en-US" sz="1300" dirty="0"/>
          </a:p>
        </p:txBody>
      </p:sp>
      <p:sp>
        <p:nvSpPr>
          <p:cNvPr id="13" name="lane note-50"/>
          <p:cNvSpPr/>
          <p:nvPr/>
        </p:nvSpPr>
        <p:spPr>
          <a:xfrm>
            <a:off x="960120" y="2834640"/>
            <a:ext cx="2011680" cy="1463040"/>
          </a:xfrm>
          <a:prstGeom prst="roundRect">
            <a:avLst>
              <a:gd name="adj" fmla="val 3750"/>
            </a:avLst>
          </a:prstGeom>
          <a:solidFill>
            <a:schemeClr val="bg2"/>
          </a:solidFill>
          <a:ln w="12700">
            <a:solidFill>
              <a:schemeClr val="bg2"/>
            </a:solidFill>
            <a:prstDash val="solid"/>
          </a:ln>
        </p:spPr>
      </p:sp>
      <p:sp>
        <p:nvSpPr>
          <p:cNvPr id="14" name="lane note text-51"/>
          <p:cNvSpPr txBox="1"/>
          <p:nvPr/>
        </p:nvSpPr>
        <p:spPr>
          <a:xfrm>
            <a:off x="1033272" y="2834640"/>
            <a:ext cx="1865376" cy="1463040"/>
          </a:xfrm>
          <a:prstGeom prst="rect">
            <a:avLst/>
          </a:prstGeom>
          <a:noFill/>
          <a:ln/>
        </p:spPr>
        <p:txBody>
          <a:bodyPr wrap="square" lIns="0" tIns="0" rIns="0" bIns="0" rtlCol="0" anchor="ctr"/>
          <a:lstStyle/>
          <a:p>
            <a:pPr algn="ctr" indent="0" marL="0">
              <a:buNone/>
            </a:pPr>
            <a:r>
              <a:rPr lang="en-US" sz="1300" dirty="0">
                <a:solidFill>
                  <a:schemeClr val="tx1"/>
                </a:solidFill>
              </a:rPr>
              <a:t>waiting…</a:t>
            </a:r>
            <a:endParaRPr lang="en-US" sz="1300" dirty="0"/>
          </a:p>
          <a:p>
            <a:pPr algn="ctr" indent="0" marL="0">
              <a:buNone/>
            </a:pPr>
            <a:r>
              <a:rPr lang="en-US" sz="1300" dirty="0">
                <a:solidFill>
                  <a:schemeClr val="tx1"/>
                </a:solidFill>
              </a:rPr>
              <a:t>connection held open</a:t>
            </a:r>
            <a:endParaRPr lang="en-US" sz="1300" dirty="0"/>
          </a:p>
        </p:txBody>
      </p:sp>
      <p:sp>
        <p:nvSpPr>
          <p:cNvPr id="15" name="message-52"/>
          <p:cNvSpPr/>
          <p:nvPr/>
        </p:nvSpPr>
        <p:spPr>
          <a:xfrm>
            <a:off x="1965960" y="5120640"/>
            <a:ext cx="2834640" cy="0"/>
          </a:xfrm>
          <a:prstGeom prst="line">
            <a:avLst/>
          </a:prstGeom>
          <a:noFill/>
          <a:ln w="28575">
            <a:solidFill>
              <a:schemeClr val="accent2"/>
            </a:solidFill>
            <a:prstDash val="solid"/>
            <a:headEnd type="triangle"/>
          </a:ln>
        </p:spPr>
      </p:sp>
      <p:sp>
        <p:nvSpPr>
          <p:cNvPr id="16" name="message label-53"/>
          <p:cNvSpPr txBox="1"/>
          <p:nvPr/>
        </p:nvSpPr>
        <p:spPr>
          <a:xfrm>
            <a:off x="2011680" y="4727448"/>
            <a:ext cx="274320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{"result":…}</a:t>
            </a:r>
            <a:endParaRPr lang="en-US" sz="1200" dirty="0"/>
          </a:p>
        </p:txBody>
      </p:sp>
      <p:sp>
        <p:nvSpPr>
          <p:cNvPr id="17" name="card-54"/>
          <p:cNvSpPr/>
          <p:nvPr/>
        </p:nvSpPr>
        <p:spPr>
          <a:xfrm>
            <a:off x="6766560" y="1463040"/>
            <a:ext cx="4846320" cy="1463040"/>
          </a:xfrm>
          <a:prstGeom prst="roundRect">
            <a:avLst>
              <a:gd name="adj" fmla="val 6250"/>
            </a:avLst>
          </a:prstGeom>
          <a:solidFill>
            <a:schemeClr val="bg2"/>
          </a:solidFill>
          <a:ln w="12700">
            <a:solidFill>
              <a:schemeClr val="bg2"/>
            </a:solidFill>
            <a:prstDash val="solid"/>
          </a:ln>
        </p:spPr>
      </p:sp>
      <p:sp>
        <p:nvSpPr>
          <p:cNvPr id="18" name="card head-55"/>
          <p:cNvSpPr txBox="1"/>
          <p:nvPr/>
        </p:nvSpPr>
        <p:spPr>
          <a:xfrm>
            <a:off x="7040880" y="1691640"/>
            <a:ext cx="429768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connection stays open</a:t>
            </a:r>
            <a:endParaRPr lang="en-US" sz="1900" dirty="0"/>
          </a:p>
        </p:txBody>
      </p:sp>
      <p:sp>
        <p:nvSpPr>
          <p:cNvPr id="19" name="card body-56"/>
          <p:cNvSpPr txBox="1"/>
          <p:nvPr/>
        </p:nvSpPr>
        <p:spPr>
          <a:xfrm>
            <a:off x="7040880" y="2240280"/>
            <a:ext cx="4297680" cy="502920"/>
          </a:xfrm>
          <a:prstGeom prst="rect">
            <a:avLst/>
          </a:prstGeom>
          <a:noFill/>
          <a:ln/>
        </p:spPr>
        <p:txBody>
          <a:bodyPr wrap="square" lIns="0" tIns="0" rIns="0" bIns="0" rtlCol="0" anchor="t"/>
          <a:lstStyle/>
          <a:p>
            <a:pPr indent="0" marL="0">
              <a:buNone/>
            </a:pPr>
            <a:r>
              <a:rPr lang="en-US" sz="1500" dirty="0">
                <a:solidFill>
                  <a:schemeClr val="tx1"/>
                </a:solidFill>
              </a:rPr>
              <a:t>Every waiting client holds a connection on the server.</a:t>
            </a:r>
            <a:endParaRPr lang="en-US" sz="1500" dirty="0"/>
          </a:p>
        </p:txBody>
      </p:sp>
      <p:sp>
        <p:nvSpPr>
          <p:cNvPr id="20" name="card-57"/>
          <p:cNvSpPr/>
          <p:nvPr/>
        </p:nvSpPr>
        <p:spPr>
          <a:xfrm>
            <a:off x="6766560" y="3063240"/>
            <a:ext cx="4846320" cy="1463040"/>
          </a:xfrm>
          <a:prstGeom prst="roundRect">
            <a:avLst>
              <a:gd name="adj" fmla="val 6250"/>
            </a:avLst>
          </a:prstGeom>
          <a:solidFill>
            <a:schemeClr val="bg2"/>
          </a:solidFill>
          <a:ln w="12700">
            <a:solidFill>
              <a:schemeClr val="bg2"/>
            </a:solidFill>
            <a:prstDash val="solid"/>
          </a:ln>
        </p:spPr>
      </p:sp>
      <p:sp>
        <p:nvSpPr>
          <p:cNvPr id="21" name="card head-58"/>
          <p:cNvSpPr txBox="1"/>
          <p:nvPr/>
        </p:nvSpPr>
        <p:spPr>
          <a:xfrm>
            <a:off x="7040880" y="3291840"/>
            <a:ext cx="429768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Timeouts</a:t>
            </a:r>
            <a:endParaRPr lang="en-US" sz="1900" dirty="0"/>
          </a:p>
        </p:txBody>
      </p:sp>
      <p:sp>
        <p:nvSpPr>
          <p:cNvPr id="22" name="card body-59"/>
          <p:cNvSpPr txBox="1"/>
          <p:nvPr/>
        </p:nvSpPr>
        <p:spPr>
          <a:xfrm>
            <a:off x="7040880" y="3840480"/>
            <a:ext cx="4297680" cy="502920"/>
          </a:xfrm>
          <a:prstGeom prst="rect">
            <a:avLst/>
          </a:prstGeom>
          <a:noFill/>
          <a:ln/>
        </p:spPr>
        <p:txBody>
          <a:bodyPr wrap="square" lIns="0" tIns="0" rIns="0" bIns="0" rtlCol="0" anchor="t"/>
          <a:lstStyle/>
          <a:p>
            <a:pPr indent="0" marL="0">
              <a:buNone/>
            </a:pPr>
            <a:r>
              <a:rPr lang="en-US" sz="1500" dirty="0">
                <a:solidFill>
                  <a:schemeClr val="tx1"/>
                </a:solidFill>
              </a:rPr>
              <a:t>Proxies, browsers and HttpCommand give up after a while.</a:t>
            </a:r>
            <a:endParaRPr lang="en-US" sz="1500" dirty="0"/>
          </a:p>
        </p:txBody>
      </p:sp>
      <p:sp>
        <p:nvSpPr>
          <p:cNvPr id="23" name="card-60"/>
          <p:cNvSpPr/>
          <p:nvPr/>
        </p:nvSpPr>
        <p:spPr>
          <a:xfrm>
            <a:off x="6766560" y="4663440"/>
            <a:ext cx="4846320" cy="1463040"/>
          </a:xfrm>
          <a:prstGeom prst="roundRect">
            <a:avLst>
              <a:gd name="adj" fmla="val 6250"/>
            </a:avLst>
          </a:prstGeom>
          <a:solidFill>
            <a:schemeClr val="bg2"/>
          </a:solidFill>
          <a:ln w="12700">
            <a:solidFill>
              <a:schemeClr val="bg2"/>
            </a:solidFill>
            <a:prstDash val="solid"/>
          </a:ln>
        </p:spPr>
      </p:sp>
      <p:sp>
        <p:nvSpPr>
          <p:cNvPr id="24" name="card head-61"/>
          <p:cNvSpPr txBox="1"/>
          <p:nvPr/>
        </p:nvSpPr>
        <p:spPr>
          <a:xfrm>
            <a:off x="7040880" y="4892040"/>
            <a:ext cx="429768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client is stuck</a:t>
            </a:r>
            <a:endParaRPr lang="en-US" sz="1900" dirty="0"/>
          </a:p>
        </p:txBody>
      </p:sp>
      <p:sp>
        <p:nvSpPr>
          <p:cNvPr id="25" name="card body-62"/>
          <p:cNvSpPr txBox="1"/>
          <p:nvPr/>
        </p:nvSpPr>
        <p:spPr>
          <a:xfrm>
            <a:off x="7040880" y="5440680"/>
            <a:ext cx="4297680" cy="502920"/>
          </a:xfrm>
          <a:prstGeom prst="rect">
            <a:avLst/>
          </a:prstGeom>
          <a:noFill/>
          <a:ln/>
        </p:spPr>
        <p:txBody>
          <a:bodyPr wrap="square" lIns="0" tIns="0" rIns="0" bIns="0" rtlCol="0" anchor="t"/>
          <a:lstStyle/>
          <a:p>
            <a:pPr indent="0" marL="0">
              <a:buNone/>
            </a:pPr>
            <a:r>
              <a:rPr lang="en-US" sz="1500" dirty="0">
                <a:solidFill>
                  <a:schemeClr val="tx1"/>
                </a:solidFill>
              </a:rPr>
              <a:t>It can't do anything else with that request until the answer comes.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Four ways to get the answer</a:t>
            </a:r>
            <a:endParaRPr lang="en-US" sz="3400" dirty="0"/>
          </a:p>
        </p:txBody>
      </p:sp>
      <p:sp>
        <p:nvSpPr>
          <p:cNvPr id="3" name="panel name-63"/>
          <p:cNvSpPr txBox="1"/>
          <p:nvPr/>
        </p:nvSpPr>
        <p:spPr>
          <a:xfrm>
            <a:off x="548640" y="1417320"/>
            <a:ext cx="2606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Polling</a:t>
            </a:r>
            <a:endParaRPr lang="en-US" sz="2000" dirty="0"/>
          </a:p>
        </p:txBody>
      </p:sp>
      <p:sp>
        <p:nvSpPr>
          <p:cNvPr id="4" name="panel what-64"/>
          <p:cNvSpPr txBox="1"/>
          <p:nvPr/>
        </p:nvSpPr>
        <p:spPr>
          <a:xfrm>
            <a:off x="548640" y="1828800"/>
            <a:ext cx="2606040" cy="365760"/>
          </a:xfrm>
          <a:prstGeom prst="rect">
            <a:avLst/>
          </a:prstGeom>
          <a:noFill/>
          <a:ln/>
        </p:spPr>
        <p:txBody>
          <a:bodyPr wrap="square" lIns="0" tIns="0" rIns="0" bIns="0" rtlCol="0" anchor="ctr"/>
          <a:lstStyle/>
          <a:p>
            <a:pPr indent="0" marL="0">
              <a:buNone/>
            </a:pPr>
            <a:r>
              <a:rPr lang="en-US" sz="1500" dirty="0">
                <a:solidFill>
                  <a:schemeClr val="tx1"/>
                </a:solidFill>
              </a:rPr>
              <a:t>Client asks again and again</a:t>
            </a:r>
            <a:endParaRPr lang="en-US" sz="1500" dirty="0"/>
          </a:p>
        </p:txBody>
      </p:sp>
      <p:sp>
        <p:nvSpPr>
          <p:cNvPr id="5" name="lane-65"/>
          <p:cNvSpPr/>
          <p:nvPr/>
        </p:nvSpPr>
        <p:spPr>
          <a:xfrm>
            <a:off x="1200150" y="2834640"/>
            <a:ext cx="0" cy="2880360"/>
          </a:xfrm>
          <a:prstGeom prst="line">
            <a:avLst/>
          </a:prstGeom>
          <a:noFill/>
          <a:ln w="15875">
            <a:solidFill>
              <a:schemeClr val="accent3"/>
            </a:solidFill>
            <a:prstDash val="dash"/>
          </a:ln>
        </p:spPr>
      </p:sp>
      <p:sp>
        <p:nvSpPr>
          <p:cNvPr id="6" name="lane head-66"/>
          <p:cNvSpPr/>
          <p:nvPr/>
        </p:nvSpPr>
        <p:spPr>
          <a:xfrm>
            <a:off x="685800" y="2331720"/>
            <a:ext cx="1028700" cy="502920"/>
          </a:xfrm>
          <a:prstGeom prst="roundRect">
            <a:avLst>
              <a:gd name="adj" fmla="val 14545"/>
            </a:avLst>
          </a:prstGeom>
          <a:solidFill>
            <a:schemeClr val="accent4"/>
          </a:solidFill>
          <a:ln w="12700">
            <a:solidFill>
              <a:schemeClr val="accent4"/>
            </a:solidFill>
            <a:prstDash val="solid"/>
          </a:ln>
        </p:spPr>
      </p:sp>
      <p:sp>
        <p:nvSpPr>
          <p:cNvPr id="7" name="lane name-67"/>
          <p:cNvSpPr txBox="1"/>
          <p:nvPr/>
        </p:nvSpPr>
        <p:spPr>
          <a:xfrm>
            <a:off x="685800"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C</a:t>
            </a:r>
            <a:endParaRPr lang="en-US" sz="1400" dirty="0"/>
          </a:p>
        </p:txBody>
      </p:sp>
      <p:sp>
        <p:nvSpPr>
          <p:cNvPr id="8" name="lane-68"/>
          <p:cNvSpPr/>
          <p:nvPr/>
        </p:nvSpPr>
        <p:spPr>
          <a:xfrm>
            <a:off x="2503170" y="2834640"/>
            <a:ext cx="0" cy="2880360"/>
          </a:xfrm>
          <a:prstGeom prst="line">
            <a:avLst/>
          </a:prstGeom>
          <a:noFill/>
          <a:ln w="15875">
            <a:solidFill>
              <a:schemeClr val="accent3"/>
            </a:solidFill>
            <a:prstDash val="dash"/>
          </a:ln>
        </p:spPr>
      </p:sp>
      <p:sp>
        <p:nvSpPr>
          <p:cNvPr id="9" name="lane head-69"/>
          <p:cNvSpPr/>
          <p:nvPr/>
        </p:nvSpPr>
        <p:spPr>
          <a:xfrm>
            <a:off x="1988820" y="2331720"/>
            <a:ext cx="1028700" cy="502920"/>
          </a:xfrm>
          <a:prstGeom prst="roundRect">
            <a:avLst>
              <a:gd name="adj" fmla="val 14545"/>
            </a:avLst>
          </a:prstGeom>
          <a:solidFill>
            <a:schemeClr val="accent4"/>
          </a:solidFill>
          <a:ln w="12700">
            <a:solidFill>
              <a:schemeClr val="accent4"/>
            </a:solidFill>
            <a:prstDash val="solid"/>
          </a:ln>
        </p:spPr>
      </p:sp>
      <p:sp>
        <p:nvSpPr>
          <p:cNvPr id="10" name="lane name-70"/>
          <p:cNvSpPr txBox="1"/>
          <p:nvPr/>
        </p:nvSpPr>
        <p:spPr>
          <a:xfrm>
            <a:off x="1988820"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S</a:t>
            </a:r>
            <a:endParaRPr lang="en-US" sz="1400" dirty="0"/>
          </a:p>
        </p:txBody>
      </p:sp>
      <p:sp>
        <p:nvSpPr>
          <p:cNvPr id="11" name="message-71"/>
          <p:cNvSpPr/>
          <p:nvPr/>
        </p:nvSpPr>
        <p:spPr>
          <a:xfrm>
            <a:off x="1200150" y="3200400"/>
            <a:ext cx="1303020" cy="0"/>
          </a:xfrm>
          <a:prstGeom prst="line">
            <a:avLst/>
          </a:prstGeom>
          <a:noFill/>
          <a:ln w="28575">
            <a:solidFill>
              <a:schemeClr val="accent1"/>
            </a:solidFill>
            <a:prstDash val="solid"/>
            <a:tailEnd type="triangle"/>
          </a:ln>
        </p:spPr>
      </p:sp>
      <p:sp>
        <p:nvSpPr>
          <p:cNvPr id="12" name="message label-72"/>
          <p:cNvSpPr txBox="1"/>
          <p:nvPr/>
        </p:nvSpPr>
        <p:spPr>
          <a:xfrm>
            <a:off x="1245870" y="2807208"/>
            <a:ext cx="1211580" cy="329184"/>
          </a:xfrm>
          <a:prstGeom prst="rect">
            <a:avLst/>
          </a:prstGeom>
          <a:noFill/>
          <a:ln/>
        </p:spPr>
        <p:txBody>
          <a:bodyPr wrap="square" lIns="0" tIns="0" rIns="0" bIns="0" rtlCol="0" anchor="b"/>
          <a:lstStyle/>
          <a:p>
            <a:pPr algn="ctr" indent="0" marL="0">
              <a:buNone/>
            </a:pPr>
            <a:r>
              <a:rPr lang="en-US" sz="1100" dirty="0">
                <a:solidFill>
                  <a:schemeClr val="tx1"/>
                </a:solidFill>
              </a:rPr>
              <a:t>done?</a:t>
            </a:r>
            <a:endParaRPr lang="en-US" sz="1100" dirty="0"/>
          </a:p>
        </p:txBody>
      </p:sp>
      <p:sp>
        <p:nvSpPr>
          <p:cNvPr id="13" name="message-73"/>
          <p:cNvSpPr/>
          <p:nvPr/>
        </p:nvSpPr>
        <p:spPr>
          <a:xfrm>
            <a:off x="1200150" y="3566160"/>
            <a:ext cx="1303020" cy="0"/>
          </a:xfrm>
          <a:prstGeom prst="line">
            <a:avLst/>
          </a:prstGeom>
          <a:noFill/>
          <a:ln w="28575">
            <a:solidFill>
              <a:schemeClr val="accent2"/>
            </a:solidFill>
            <a:prstDash val="solid"/>
            <a:headEnd type="triangle"/>
          </a:ln>
        </p:spPr>
      </p:sp>
      <p:sp>
        <p:nvSpPr>
          <p:cNvPr id="14" name="message label-74"/>
          <p:cNvSpPr txBox="1"/>
          <p:nvPr/>
        </p:nvSpPr>
        <p:spPr>
          <a:xfrm>
            <a:off x="1245870" y="3227832"/>
            <a:ext cx="1211580" cy="274320"/>
          </a:xfrm>
          <a:prstGeom prst="rect">
            <a:avLst/>
          </a:prstGeom>
          <a:noFill/>
          <a:ln/>
        </p:spPr>
        <p:txBody>
          <a:bodyPr wrap="square" lIns="0" tIns="0" rIns="0" bIns="0" rtlCol="0" anchor="b"/>
          <a:lstStyle/>
          <a:p>
            <a:pPr algn="ctr" indent="0" marL="0">
              <a:buNone/>
            </a:pPr>
            <a:r>
              <a:rPr lang="en-US" sz="1100" dirty="0">
                <a:solidFill>
                  <a:schemeClr val="tx1"/>
                </a:solidFill>
              </a:rPr>
              <a:t>no</a:t>
            </a:r>
            <a:endParaRPr lang="en-US" sz="1100" dirty="0"/>
          </a:p>
        </p:txBody>
      </p:sp>
      <p:sp>
        <p:nvSpPr>
          <p:cNvPr id="15" name="message-75"/>
          <p:cNvSpPr/>
          <p:nvPr/>
        </p:nvSpPr>
        <p:spPr>
          <a:xfrm>
            <a:off x="1200150" y="4069080"/>
            <a:ext cx="1303020" cy="0"/>
          </a:xfrm>
          <a:prstGeom prst="line">
            <a:avLst/>
          </a:prstGeom>
          <a:noFill/>
          <a:ln w="28575">
            <a:solidFill>
              <a:schemeClr val="accent1"/>
            </a:solidFill>
            <a:prstDash val="solid"/>
            <a:tailEnd type="triangle"/>
          </a:ln>
        </p:spPr>
      </p:sp>
      <p:sp>
        <p:nvSpPr>
          <p:cNvPr id="16" name="message label-76"/>
          <p:cNvSpPr txBox="1"/>
          <p:nvPr/>
        </p:nvSpPr>
        <p:spPr>
          <a:xfrm>
            <a:off x="1245870" y="3675888"/>
            <a:ext cx="1211580" cy="329184"/>
          </a:xfrm>
          <a:prstGeom prst="rect">
            <a:avLst/>
          </a:prstGeom>
          <a:noFill/>
          <a:ln/>
        </p:spPr>
        <p:txBody>
          <a:bodyPr wrap="square" lIns="0" tIns="0" rIns="0" bIns="0" rtlCol="0" anchor="b"/>
          <a:lstStyle/>
          <a:p>
            <a:pPr algn="ctr" indent="0" marL="0">
              <a:buNone/>
            </a:pPr>
            <a:r>
              <a:rPr lang="en-US" sz="1100" dirty="0">
                <a:solidFill>
                  <a:schemeClr val="tx1"/>
                </a:solidFill>
              </a:rPr>
              <a:t>done?</a:t>
            </a:r>
            <a:endParaRPr lang="en-US" sz="1100" dirty="0"/>
          </a:p>
        </p:txBody>
      </p:sp>
      <p:sp>
        <p:nvSpPr>
          <p:cNvPr id="17" name="message-77"/>
          <p:cNvSpPr/>
          <p:nvPr/>
        </p:nvSpPr>
        <p:spPr>
          <a:xfrm>
            <a:off x="1200150" y="4434840"/>
            <a:ext cx="1303020" cy="0"/>
          </a:xfrm>
          <a:prstGeom prst="line">
            <a:avLst/>
          </a:prstGeom>
          <a:noFill/>
          <a:ln w="28575">
            <a:solidFill>
              <a:schemeClr val="accent2"/>
            </a:solidFill>
            <a:prstDash val="solid"/>
            <a:headEnd type="triangle"/>
          </a:ln>
        </p:spPr>
      </p:sp>
      <p:sp>
        <p:nvSpPr>
          <p:cNvPr id="18" name="message label-78"/>
          <p:cNvSpPr txBox="1"/>
          <p:nvPr/>
        </p:nvSpPr>
        <p:spPr>
          <a:xfrm>
            <a:off x="1245870" y="4096512"/>
            <a:ext cx="1211580" cy="274320"/>
          </a:xfrm>
          <a:prstGeom prst="rect">
            <a:avLst/>
          </a:prstGeom>
          <a:noFill/>
          <a:ln/>
        </p:spPr>
        <p:txBody>
          <a:bodyPr wrap="square" lIns="0" tIns="0" rIns="0" bIns="0" rtlCol="0" anchor="b"/>
          <a:lstStyle/>
          <a:p>
            <a:pPr algn="ctr" indent="0" marL="0">
              <a:buNone/>
            </a:pPr>
            <a:r>
              <a:rPr lang="en-US" sz="1100" dirty="0">
                <a:solidFill>
                  <a:schemeClr val="tx1"/>
                </a:solidFill>
              </a:rPr>
              <a:t>no</a:t>
            </a:r>
            <a:endParaRPr lang="en-US" sz="1100" dirty="0"/>
          </a:p>
        </p:txBody>
      </p:sp>
      <p:sp>
        <p:nvSpPr>
          <p:cNvPr id="19" name="message-79"/>
          <p:cNvSpPr/>
          <p:nvPr/>
        </p:nvSpPr>
        <p:spPr>
          <a:xfrm>
            <a:off x="1200150" y="4937760"/>
            <a:ext cx="1303020" cy="0"/>
          </a:xfrm>
          <a:prstGeom prst="line">
            <a:avLst/>
          </a:prstGeom>
          <a:noFill/>
          <a:ln w="28575">
            <a:solidFill>
              <a:schemeClr val="accent1"/>
            </a:solidFill>
            <a:prstDash val="solid"/>
            <a:tailEnd type="triangle"/>
          </a:ln>
        </p:spPr>
      </p:sp>
      <p:sp>
        <p:nvSpPr>
          <p:cNvPr id="20" name="message label-80"/>
          <p:cNvSpPr txBox="1"/>
          <p:nvPr/>
        </p:nvSpPr>
        <p:spPr>
          <a:xfrm>
            <a:off x="1245870" y="4544568"/>
            <a:ext cx="1211580" cy="329184"/>
          </a:xfrm>
          <a:prstGeom prst="rect">
            <a:avLst/>
          </a:prstGeom>
          <a:noFill/>
          <a:ln/>
        </p:spPr>
        <p:txBody>
          <a:bodyPr wrap="square" lIns="0" tIns="0" rIns="0" bIns="0" rtlCol="0" anchor="b"/>
          <a:lstStyle/>
          <a:p>
            <a:pPr algn="ctr" indent="0" marL="0">
              <a:buNone/>
            </a:pPr>
            <a:r>
              <a:rPr lang="en-US" sz="1100" dirty="0">
                <a:solidFill>
                  <a:schemeClr val="tx1"/>
                </a:solidFill>
              </a:rPr>
              <a:t>done?</a:t>
            </a:r>
            <a:endParaRPr lang="en-US" sz="1100" dirty="0"/>
          </a:p>
        </p:txBody>
      </p:sp>
      <p:sp>
        <p:nvSpPr>
          <p:cNvPr id="21" name="message-81"/>
          <p:cNvSpPr/>
          <p:nvPr/>
        </p:nvSpPr>
        <p:spPr>
          <a:xfrm>
            <a:off x="1200150" y="5303520"/>
            <a:ext cx="1303020" cy="0"/>
          </a:xfrm>
          <a:prstGeom prst="line">
            <a:avLst/>
          </a:prstGeom>
          <a:noFill/>
          <a:ln w="28575">
            <a:solidFill>
              <a:schemeClr val="accent2"/>
            </a:solidFill>
            <a:prstDash val="solid"/>
            <a:headEnd type="triangle"/>
          </a:ln>
        </p:spPr>
      </p:sp>
      <p:sp>
        <p:nvSpPr>
          <p:cNvPr id="22" name="message label-82"/>
          <p:cNvSpPr txBox="1"/>
          <p:nvPr/>
        </p:nvSpPr>
        <p:spPr>
          <a:xfrm>
            <a:off x="1245870" y="4965192"/>
            <a:ext cx="1211580" cy="274320"/>
          </a:xfrm>
          <a:prstGeom prst="rect">
            <a:avLst/>
          </a:prstGeom>
          <a:noFill/>
          <a:ln/>
        </p:spPr>
        <p:txBody>
          <a:bodyPr wrap="square" lIns="0" tIns="0" rIns="0" bIns="0" rtlCol="0" anchor="b"/>
          <a:lstStyle/>
          <a:p>
            <a:pPr algn="ctr" indent="0" marL="0">
              <a:buNone/>
            </a:pPr>
            <a:r>
              <a:rPr lang="en-US" sz="1100" dirty="0">
                <a:solidFill>
                  <a:schemeClr val="tx1"/>
                </a:solidFill>
              </a:rPr>
              <a:t>yes</a:t>
            </a:r>
            <a:endParaRPr lang="en-US" sz="1100" dirty="0"/>
          </a:p>
        </p:txBody>
      </p:sp>
      <p:sp>
        <p:nvSpPr>
          <p:cNvPr id="23" name="panel exercise-83"/>
          <p:cNvSpPr txBox="1"/>
          <p:nvPr/>
        </p:nvSpPr>
        <p:spPr>
          <a:xfrm>
            <a:off x="548640" y="5897880"/>
            <a:ext cx="2606040" cy="320040"/>
          </a:xfrm>
          <a:prstGeom prst="rect">
            <a:avLst/>
          </a:prstGeom>
          <a:noFill/>
          <a:ln/>
        </p:spPr>
        <p:txBody>
          <a:bodyPr wrap="square" lIns="0" tIns="0" rIns="0" bIns="0" rtlCol="0" anchor="ctr"/>
          <a:lstStyle/>
          <a:p>
            <a:pPr indent="0" marL="0">
              <a:buNone/>
            </a:pPr>
            <a:r>
              <a:rPr lang="en-US" sz="1400" b="1" dirty="0">
                <a:solidFill>
                  <a:schemeClr val="accent2"/>
                </a:solidFill>
              </a:rPr>
              <a:t>Exercise 1 style, repeated</a:t>
            </a:r>
            <a:endParaRPr lang="en-US" sz="1400" dirty="0"/>
          </a:p>
        </p:txBody>
      </p:sp>
      <p:sp>
        <p:nvSpPr>
          <p:cNvPr id="24" name="panel name-84"/>
          <p:cNvSpPr txBox="1"/>
          <p:nvPr/>
        </p:nvSpPr>
        <p:spPr>
          <a:xfrm>
            <a:off x="3401568" y="1417320"/>
            <a:ext cx="2606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Web hook</a:t>
            </a:r>
            <a:endParaRPr lang="en-US" sz="2000" dirty="0"/>
          </a:p>
        </p:txBody>
      </p:sp>
      <p:sp>
        <p:nvSpPr>
          <p:cNvPr id="25" name="panel what-85"/>
          <p:cNvSpPr txBox="1"/>
          <p:nvPr/>
        </p:nvSpPr>
        <p:spPr>
          <a:xfrm>
            <a:off x="3401568" y="1828800"/>
            <a:ext cx="2606040" cy="365760"/>
          </a:xfrm>
          <a:prstGeom prst="rect">
            <a:avLst/>
          </a:prstGeom>
          <a:noFill/>
          <a:ln/>
        </p:spPr>
        <p:txBody>
          <a:bodyPr wrap="square" lIns="0" tIns="0" rIns="0" bIns="0" rtlCol="0" anchor="ctr"/>
          <a:lstStyle/>
          <a:p>
            <a:pPr indent="0" marL="0">
              <a:buNone/>
            </a:pPr>
            <a:r>
              <a:rPr lang="en-US" sz="1500" dirty="0">
                <a:solidFill>
                  <a:schemeClr val="tx1"/>
                </a:solidFill>
              </a:rPr>
              <a:t>Server calls you back</a:t>
            </a:r>
            <a:endParaRPr lang="en-US" sz="1500" dirty="0"/>
          </a:p>
        </p:txBody>
      </p:sp>
      <p:sp>
        <p:nvSpPr>
          <p:cNvPr id="26" name="lane-86"/>
          <p:cNvSpPr/>
          <p:nvPr/>
        </p:nvSpPr>
        <p:spPr>
          <a:xfrm>
            <a:off x="4053078" y="2834640"/>
            <a:ext cx="0" cy="2880360"/>
          </a:xfrm>
          <a:prstGeom prst="line">
            <a:avLst/>
          </a:prstGeom>
          <a:noFill/>
          <a:ln w="15875">
            <a:solidFill>
              <a:schemeClr val="accent3"/>
            </a:solidFill>
            <a:prstDash val="dash"/>
          </a:ln>
        </p:spPr>
      </p:sp>
      <p:sp>
        <p:nvSpPr>
          <p:cNvPr id="27" name="lane head-87"/>
          <p:cNvSpPr/>
          <p:nvPr/>
        </p:nvSpPr>
        <p:spPr>
          <a:xfrm>
            <a:off x="3538728" y="2331720"/>
            <a:ext cx="1028700" cy="502920"/>
          </a:xfrm>
          <a:prstGeom prst="roundRect">
            <a:avLst>
              <a:gd name="adj" fmla="val 14545"/>
            </a:avLst>
          </a:prstGeom>
          <a:solidFill>
            <a:schemeClr val="accent4"/>
          </a:solidFill>
          <a:ln w="12700">
            <a:solidFill>
              <a:schemeClr val="accent4"/>
            </a:solidFill>
            <a:prstDash val="solid"/>
          </a:ln>
        </p:spPr>
      </p:sp>
      <p:sp>
        <p:nvSpPr>
          <p:cNvPr id="28" name="lane name-88"/>
          <p:cNvSpPr txBox="1"/>
          <p:nvPr/>
        </p:nvSpPr>
        <p:spPr>
          <a:xfrm>
            <a:off x="3538728"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C</a:t>
            </a:r>
            <a:endParaRPr lang="en-US" sz="1400" dirty="0"/>
          </a:p>
        </p:txBody>
      </p:sp>
      <p:sp>
        <p:nvSpPr>
          <p:cNvPr id="29" name="lane-89"/>
          <p:cNvSpPr/>
          <p:nvPr/>
        </p:nvSpPr>
        <p:spPr>
          <a:xfrm>
            <a:off x="5356098" y="2834640"/>
            <a:ext cx="0" cy="2880360"/>
          </a:xfrm>
          <a:prstGeom prst="line">
            <a:avLst/>
          </a:prstGeom>
          <a:noFill/>
          <a:ln w="15875">
            <a:solidFill>
              <a:schemeClr val="accent3"/>
            </a:solidFill>
            <a:prstDash val="dash"/>
          </a:ln>
        </p:spPr>
      </p:sp>
      <p:sp>
        <p:nvSpPr>
          <p:cNvPr id="30" name="lane head-90"/>
          <p:cNvSpPr/>
          <p:nvPr/>
        </p:nvSpPr>
        <p:spPr>
          <a:xfrm>
            <a:off x="4841748" y="2331720"/>
            <a:ext cx="1028700" cy="502920"/>
          </a:xfrm>
          <a:prstGeom prst="roundRect">
            <a:avLst>
              <a:gd name="adj" fmla="val 14545"/>
            </a:avLst>
          </a:prstGeom>
          <a:solidFill>
            <a:schemeClr val="accent4"/>
          </a:solidFill>
          <a:ln w="12700">
            <a:solidFill>
              <a:schemeClr val="accent4"/>
            </a:solidFill>
            <a:prstDash val="solid"/>
          </a:ln>
        </p:spPr>
      </p:sp>
      <p:sp>
        <p:nvSpPr>
          <p:cNvPr id="31" name="lane name-91"/>
          <p:cNvSpPr txBox="1"/>
          <p:nvPr/>
        </p:nvSpPr>
        <p:spPr>
          <a:xfrm>
            <a:off x="4841748"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S</a:t>
            </a:r>
            <a:endParaRPr lang="en-US" sz="1400" dirty="0"/>
          </a:p>
        </p:txBody>
      </p:sp>
      <p:sp>
        <p:nvSpPr>
          <p:cNvPr id="32" name="message-92"/>
          <p:cNvSpPr/>
          <p:nvPr/>
        </p:nvSpPr>
        <p:spPr>
          <a:xfrm>
            <a:off x="4053078" y="3246120"/>
            <a:ext cx="1303020" cy="0"/>
          </a:xfrm>
          <a:prstGeom prst="line">
            <a:avLst/>
          </a:prstGeom>
          <a:noFill/>
          <a:ln w="28575">
            <a:solidFill>
              <a:schemeClr val="accent1"/>
            </a:solidFill>
            <a:prstDash val="solid"/>
            <a:tailEnd type="triangle"/>
          </a:ln>
        </p:spPr>
      </p:sp>
      <p:sp>
        <p:nvSpPr>
          <p:cNvPr id="33" name="message label-93"/>
          <p:cNvSpPr txBox="1"/>
          <p:nvPr/>
        </p:nvSpPr>
        <p:spPr>
          <a:xfrm>
            <a:off x="4098798" y="2852928"/>
            <a:ext cx="1211580" cy="329184"/>
          </a:xfrm>
          <a:prstGeom prst="rect">
            <a:avLst/>
          </a:prstGeom>
          <a:noFill/>
          <a:ln/>
        </p:spPr>
        <p:txBody>
          <a:bodyPr wrap="square" lIns="0" tIns="0" rIns="0" bIns="0" rtlCol="0" anchor="b"/>
          <a:lstStyle/>
          <a:p>
            <a:pPr algn="ctr" indent="0" marL="0">
              <a:buNone/>
            </a:pPr>
            <a:r>
              <a:rPr lang="en-US" sz="1100" dirty="0">
                <a:solidFill>
                  <a:schemeClr val="tx1"/>
                </a:solidFill>
              </a:rPr>
              <a:t>job + URL</a:t>
            </a:r>
            <a:endParaRPr lang="en-US" sz="1100" dirty="0"/>
          </a:p>
        </p:txBody>
      </p:sp>
      <p:sp>
        <p:nvSpPr>
          <p:cNvPr id="34" name="message-94"/>
          <p:cNvSpPr/>
          <p:nvPr/>
        </p:nvSpPr>
        <p:spPr>
          <a:xfrm>
            <a:off x="4053078" y="3703320"/>
            <a:ext cx="1303020" cy="0"/>
          </a:xfrm>
          <a:prstGeom prst="line">
            <a:avLst/>
          </a:prstGeom>
          <a:noFill/>
          <a:ln w="28575">
            <a:solidFill>
              <a:schemeClr val="accent2"/>
            </a:solidFill>
            <a:prstDash val="solid"/>
            <a:headEnd type="triangle"/>
          </a:ln>
        </p:spPr>
      </p:sp>
      <p:sp>
        <p:nvSpPr>
          <p:cNvPr id="35" name="message label-95"/>
          <p:cNvSpPr txBox="1"/>
          <p:nvPr/>
        </p:nvSpPr>
        <p:spPr>
          <a:xfrm>
            <a:off x="4098798" y="3364992"/>
            <a:ext cx="1211580" cy="274320"/>
          </a:xfrm>
          <a:prstGeom prst="rect">
            <a:avLst/>
          </a:prstGeom>
          <a:noFill/>
          <a:ln/>
        </p:spPr>
        <p:txBody>
          <a:bodyPr wrap="square" lIns="0" tIns="0" rIns="0" bIns="0" rtlCol="0" anchor="b"/>
          <a:lstStyle/>
          <a:p>
            <a:pPr algn="ctr" indent="0" marL="0">
              <a:buNone/>
            </a:pPr>
            <a:r>
              <a:rPr lang="en-US" sz="1100" dirty="0">
                <a:solidFill>
                  <a:schemeClr val="tx1"/>
                </a:solidFill>
              </a:rPr>
              <a:t>ticket</a:t>
            </a:r>
            <a:endParaRPr lang="en-US" sz="1100" dirty="0"/>
          </a:p>
        </p:txBody>
      </p:sp>
      <p:sp>
        <p:nvSpPr>
          <p:cNvPr id="36" name="message-96"/>
          <p:cNvSpPr/>
          <p:nvPr/>
        </p:nvSpPr>
        <p:spPr>
          <a:xfrm>
            <a:off x="4053078" y="5257800"/>
            <a:ext cx="1303020" cy="0"/>
          </a:xfrm>
          <a:prstGeom prst="line">
            <a:avLst/>
          </a:prstGeom>
          <a:noFill/>
          <a:ln w="28575">
            <a:solidFill>
              <a:schemeClr val="accent2"/>
            </a:solidFill>
            <a:prstDash val="solid"/>
            <a:headEnd type="triangle"/>
          </a:ln>
        </p:spPr>
      </p:sp>
      <p:sp>
        <p:nvSpPr>
          <p:cNvPr id="37" name="message label-97"/>
          <p:cNvSpPr txBox="1"/>
          <p:nvPr/>
        </p:nvSpPr>
        <p:spPr>
          <a:xfrm>
            <a:off x="4098798" y="4864608"/>
            <a:ext cx="1211580" cy="329184"/>
          </a:xfrm>
          <a:prstGeom prst="rect">
            <a:avLst/>
          </a:prstGeom>
          <a:noFill/>
          <a:ln/>
        </p:spPr>
        <p:txBody>
          <a:bodyPr wrap="square" lIns="0" tIns="0" rIns="0" bIns="0" rtlCol="0" anchor="b"/>
          <a:lstStyle/>
          <a:p>
            <a:pPr algn="ctr" indent="0" marL="0">
              <a:buNone/>
            </a:pPr>
            <a:r>
              <a:rPr lang="en-US" sz="1100" dirty="0">
                <a:solidFill>
                  <a:schemeClr val="tx1"/>
                </a:solidFill>
              </a:rPr>
              <a:t>POST result</a:t>
            </a:r>
            <a:endParaRPr lang="en-US" sz="1100" dirty="0"/>
          </a:p>
        </p:txBody>
      </p:sp>
      <p:sp>
        <p:nvSpPr>
          <p:cNvPr id="38" name="panel exercise-98"/>
          <p:cNvSpPr txBox="1"/>
          <p:nvPr/>
        </p:nvSpPr>
        <p:spPr>
          <a:xfrm>
            <a:off x="3401568" y="5897880"/>
            <a:ext cx="2606040" cy="320040"/>
          </a:xfrm>
          <a:prstGeom prst="rect">
            <a:avLst/>
          </a:prstGeom>
          <a:noFill/>
          <a:ln/>
        </p:spPr>
        <p:txBody>
          <a:bodyPr wrap="square" lIns="0" tIns="0" rIns="0" bIns="0" rtlCol="0" anchor="ctr"/>
          <a:lstStyle/>
          <a:p>
            <a:pPr indent="0" marL="0">
              <a:buNone/>
            </a:pPr>
            <a:r>
              <a:rPr lang="en-US" sz="1400" b="1" dirty="0">
                <a:solidFill>
                  <a:schemeClr val="accent2"/>
                </a:solidFill>
              </a:rPr>
              <a:t>Exercise 2</a:t>
            </a:r>
            <a:endParaRPr lang="en-US" sz="1400" dirty="0"/>
          </a:p>
        </p:txBody>
      </p:sp>
      <p:sp>
        <p:nvSpPr>
          <p:cNvPr id="39" name="panel name-99"/>
          <p:cNvSpPr txBox="1"/>
          <p:nvPr/>
        </p:nvSpPr>
        <p:spPr>
          <a:xfrm>
            <a:off x="6254496" y="1417320"/>
            <a:ext cx="2606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Server-Sent Events</a:t>
            </a:r>
            <a:endParaRPr lang="en-US" sz="2000" dirty="0"/>
          </a:p>
        </p:txBody>
      </p:sp>
      <p:sp>
        <p:nvSpPr>
          <p:cNvPr id="40" name="panel what-100"/>
          <p:cNvSpPr txBox="1"/>
          <p:nvPr/>
        </p:nvSpPr>
        <p:spPr>
          <a:xfrm>
            <a:off x="6254496" y="1828800"/>
            <a:ext cx="2606040" cy="365760"/>
          </a:xfrm>
          <a:prstGeom prst="rect">
            <a:avLst/>
          </a:prstGeom>
          <a:noFill/>
          <a:ln/>
        </p:spPr>
        <p:txBody>
          <a:bodyPr wrap="square" lIns="0" tIns="0" rIns="0" bIns="0" rtlCol="0" anchor="ctr"/>
          <a:lstStyle/>
          <a:p>
            <a:pPr indent="0" marL="0">
              <a:buNone/>
            </a:pPr>
            <a:r>
              <a:rPr lang="en-US" sz="1500" dirty="0">
                <a:solidFill>
                  <a:schemeClr val="tx1"/>
                </a:solidFill>
              </a:rPr>
              <a:t>One request, many events</a:t>
            </a:r>
            <a:endParaRPr lang="en-US" sz="1500" dirty="0"/>
          </a:p>
        </p:txBody>
      </p:sp>
      <p:sp>
        <p:nvSpPr>
          <p:cNvPr id="41" name="lane-101"/>
          <p:cNvSpPr/>
          <p:nvPr/>
        </p:nvSpPr>
        <p:spPr>
          <a:xfrm>
            <a:off x="6906006" y="2834640"/>
            <a:ext cx="0" cy="2880360"/>
          </a:xfrm>
          <a:prstGeom prst="line">
            <a:avLst/>
          </a:prstGeom>
          <a:noFill/>
          <a:ln w="15875">
            <a:solidFill>
              <a:schemeClr val="accent3"/>
            </a:solidFill>
            <a:prstDash val="dash"/>
          </a:ln>
        </p:spPr>
      </p:sp>
      <p:sp>
        <p:nvSpPr>
          <p:cNvPr id="42" name="lane head-102"/>
          <p:cNvSpPr/>
          <p:nvPr/>
        </p:nvSpPr>
        <p:spPr>
          <a:xfrm>
            <a:off x="6391656" y="2331720"/>
            <a:ext cx="1028700" cy="502920"/>
          </a:xfrm>
          <a:prstGeom prst="roundRect">
            <a:avLst>
              <a:gd name="adj" fmla="val 14545"/>
            </a:avLst>
          </a:prstGeom>
          <a:solidFill>
            <a:schemeClr val="accent4"/>
          </a:solidFill>
          <a:ln w="12700">
            <a:solidFill>
              <a:schemeClr val="accent4"/>
            </a:solidFill>
            <a:prstDash val="solid"/>
          </a:ln>
        </p:spPr>
      </p:sp>
      <p:sp>
        <p:nvSpPr>
          <p:cNvPr id="43" name="lane name-103"/>
          <p:cNvSpPr txBox="1"/>
          <p:nvPr/>
        </p:nvSpPr>
        <p:spPr>
          <a:xfrm>
            <a:off x="6391656"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C</a:t>
            </a:r>
            <a:endParaRPr lang="en-US" sz="1400" dirty="0"/>
          </a:p>
        </p:txBody>
      </p:sp>
      <p:sp>
        <p:nvSpPr>
          <p:cNvPr id="44" name="lane-104"/>
          <p:cNvSpPr/>
          <p:nvPr/>
        </p:nvSpPr>
        <p:spPr>
          <a:xfrm>
            <a:off x="8209026" y="2834640"/>
            <a:ext cx="0" cy="2880360"/>
          </a:xfrm>
          <a:prstGeom prst="line">
            <a:avLst/>
          </a:prstGeom>
          <a:noFill/>
          <a:ln w="15875">
            <a:solidFill>
              <a:schemeClr val="accent3"/>
            </a:solidFill>
            <a:prstDash val="dash"/>
          </a:ln>
        </p:spPr>
      </p:sp>
      <p:sp>
        <p:nvSpPr>
          <p:cNvPr id="45" name="lane head-105"/>
          <p:cNvSpPr/>
          <p:nvPr/>
        </p:nvSpPr>
        <p:spPr>
          <a:xfrm>
            <a:off x="7694676" y="2331720"/>
            <a:ext cx="1028700" cy="502920"/>
          </a:xfrm>
          <a:prstGeom prst="roundRect">
            <a:avLst>
              <a:gd name="adj" fmla="val 14545"/>
            </a:avLst>
          </a:prstGeom>
          <a:solidFill>
            <a:schemeClr val="accent4"/>
          </a:solidFill>
          <a:ln w="12700">
            <a:solidFill>
              <a:schemeClr val="accent4"/>
            </a:solidFill>
            <a:prstDash val="solid"/>
          </a:ln>
        </p:spPr>
      </p:sp>
      <p:sp>
        <p:nvSpPr>
          <p:cNvPr id="46" name="lane name-106"/>
          <p:cNvSpPr txBox="1"/>
          <p:nvPr/>
        </p:nvSpPr>
        <p:spPr>
          <a:xfrm>
            <a:off x="7694676"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S</a:t>
            </a:r>
            <a:endParaRPr lang="en-US" sz="1400" dirty="0"/>
          </a:p>
        </p:txBody>
      </p:sp>
      <p:sp>
        <p:nvSpPr>
          <p:cNvPr id="47" name="message-107"/>
          <p:cNvSpPr/>
          <p:nvPr/>
        </p:nvSpPr>
        <p:spPr>
          <a:xfrm>
            <a:off x="6906006" y="3246120"/>
            <a:ext cx="1303020" cy="0"/>
          </a:xfrm>
          <a:prstGeom prst="line">
            <a:avLst/>
          </a:prstGeom>
          <a:noFill/>
          <a:ln w="28575">
            <a:solidFill>
              <a:schemeClr val="accent1"/>
            </a:solidFill>
            <a:prstDash val="solid"/>
            <a:tailEnd type="triangle"/>
          </a:ln>
        </p:spPr>
      </p:sp>
      <p:sp>
        <p:nvSpPr>
          <p:cNvPr id="48" name="message label-108"/>
          <p:cNvSpPr txBox="1"/>
          <p:nvPr/>
        </p:nvSpPr>
        <p:spPr>
          <a:xfrm>
            <a:off x="6951726" y="2852928"/>
            <a:ext cx="1211580" cy="329184"/>
          </a:xfrm>
          <a:prstGeom prst="rect">
            <a:avLst/>
          </a:prstGeom>
          <a:noFill/>
          <a:ln/>
        </p:spPr>
        <p:txBody>
          <a:bodyPr wrap="square" lIns="0" tIns="0" rIns="0" bIns="0" rtlCol="0" anchor="b"/>
          <a:lstStyle/>
          <a:p>
            <a:pPr algn="ctr" indent="0" marL="0">
              <a:buNone/>
            </a:pPr>
            <a:r>
              <a:rPr lang="en-US" sz="1100" dirty="0">
                <a:solidFill>
                  <a:schemeClr val="tx1"/>
                </a:solidFill>
              </a:rPr>
              <a:t>GET /Ticker</a:t>
            </a:r>
            <a:endParaRPr lang="en-US" sz="1100" dirty="0"/>
          </a:p>
        </p:txBody>
      </p:sp>
      <p:sp>
        <p:nvSpPr>
          <p:cNvPr id="49" name="message-109"/>
          <p:cNvSpPr/>
          <p:nvPr/>
        </p:nvSpPr>
        <p:spPr>
          <a:xfrm>
            <a:off x="6906006" y="3794760"/>
            <a:ext cx="1303020" cy="0"/>
          </a:xfrm>
          <a:prstGeom prst="line">
            <a:avLst/>
          </a:prstGeom>
          <a:noFill/>
          <a:ln w="28575">
            <a:solidFill>
              <a:schemeClr val="accent2"/>
            </a:solidFill>
            <a:prstDash val="solid"/>
            <a:headEnd type="triangle"/>
          </a:ln>
        </p:spPr>
      </p:sp>
      <p:sp>
        <p:nvSpPr>
          <p:cNvPr id="50" name="message label-110"/>
          <p:cNvSpPr txBox="1"/>
          <p:nvPr/>
        </p:nvSpPr>
        <p:spPr>
          <a:xfrm>
            <a:off x="6951726" y="3456432"/>
            <a:ext cx="1211580" cy="274320"/>
          </a:xfrm>
          <a:prstGeom prst="rect">
            <a:avLst/>
          </a:prstGeom>
          <a:noFill/>
          <a:ln/>
        </p:spPr>
        <p:txBody>
          <a:bodyPr wrap="square" lIns="0" tIns="0" rIns="0" bIns="0" rtlCol="0" anchor="b"/>
          <a:lstStyle/>
          <a:p>
            <a:pPr algn="ctr" indent="0" marL="0">
              <a:buNone/>
            </a:pPr>
            <a:r>
              <a:rPr lang="en-US" sz="1100" dirty="0">
                <a:solidFill>
                  <a:schemeClr val="tx1"/>
                </a:solidFill>
              </a:rPr>
              <a:t>event</a:t>
            </a:r>
            <a:endParaRPr lang="en-US" sz="1100" dirty="0"/>
          </a:p>
        </p:txBody>
      </p:sp>
      <p:sp>
        <p:nvSpPr>
          <p:cNvPr id="51" name="message-111"/>
          <p:cNvSpPr/>
          <p:nvPr/>
        </p:nvSpPr>
        <p:spPr>
          <a:xfrm>
            <a:off x="6906006" y="4251960"/>
            <a:ext cx="1303020" cy="0"/>
          </a:xfrm>
          <a:prstGeom prst="line">
            <a:avLst/>
          </a:prstGeom>
          <a:noFill/>
          <a:ln w="28575">
            <a:solidFill>
              <a:schemeClr val="accent2"/>
            </a:solidFill>
            <a:prstDash val="solid"/>
            <a:headEnd type="triangle"/>
          </a:ln>
        </p:spPr>
      </p:sp>
      <p:sp>
        <p:nvSpPr>
          <p:cNvPr id="52" name="message-112"/>
          <p:cNvSpPr/>
          <p:nvPr/>
        </p:nvSpPr>
        <p:spPr>
          <a:xfrm>
            <a:off x="6906006" y="4709160"/>
            <a:ext cx="1303020" cy="0"/>
          </a:xfrm>
          <a:prstGeom prst="line">
            <a:avLst/>
          </a:prstGeom>
          <a:noFill/>
          <a:ln w="28575">
            <a:solidFill>
              <a:schemeClr val="accent2"/>
            </a:solidFill>
            <a:prstDash val="solid"/>
            <a:headEnd type="triangle"/>
          </a:ln>
        </p:spPr>
      </p:sp>
      <p:sp>
        <p:nvSpPr>
          <p:cNvPr id="53" name="message-113"/>
          <p:cNvSpPr/>
          <p:nvPr/>
        </p:nvSpPr>
        <p:spPr>
          <a:xfrm>
            <a:off x="6906006" y="5166360"/>
            <a:ext cx="1303020" cy="0"/>
          </a:xfrm>
          <a:prstGeom prst="line">
            <a:avLst/>
          </a:prstGeom>
          <a:noFill/>
          <a:ln w="28575">
            <a:solidFill>
              <a:schemeClr val="accent2"/>
            </a:solidFill>
            <a:prstDash val="solid"/>
            <a:headEnd type="triangle"/>
          </a:ln>
        </p:spPr>
      </p:sp>
      <p:sp>
        <p:nvSpPr>
          <p:cNvPr id="54" name="panel exercise-114"/>
          <p:cNvSpPr txBox="1"/>
          <p:nvPr/>
        </p:nvSpPr>
        <p:spPr>
          <a:xfrm>
            <a:off x="6254496" y="5897880"/>
            <a:ext cx="2606040" cy="320040"/>
          </a:xfrm>
          <a:prstGeom prst="rect">
            <a:avLst/>
          </a:prstGeom>
          <a:noFill/>
          <a:ln/>
        </p:spPr>
        <p:txBody>
          <a:bodyPr wrap="square" lIns="0" tIns="0" rIns="0" bIns="0" rtlCol="0" anchor="ctr"/>
          <a:lstStyle/>
          <a:p>
            <a:pPr indent="0" marL="0">
              <a:buNone/>
            </a:pPr>
            <a:r>
              <a:rPr lang="en-US" sz="1400" b="1" dirty="0">
                <a:solidFill>
                  <a:schemeClr val="accent2"/>
                </a:solidFill>
              </a:rPr>
              <a:t>Exercise 3</a:t>
            </a:r>
            <a:endParaRPr lang="en-US" sz="1400" dirty="0"/>
          </a:p>
        </p:txBody>
      </p:sp>
      <p:sp>
        <p:nvSpPr>
          <p:cNvPr id="55" name="panel name-115"/>
          <p:cNvSpPr txBox="1"/>
          <p:nvPr/>
        </p:nvSpPr>
        <p:spPr>
          <a:xfrm>
            <a:off x="9107424" y="1417320"/>
            <a:ext cx="2606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WebSockets</a:t>
            </a:r>
            <a:endParaRPr lang="en-US" sz="2000" dirty="0"/>
          </a:p>
        </p:txBody>
      </p:sp>
      <p:sp>
        <p:nvSpPr>
          <p:cNvPr id="56" name="panel what-116"/>
          <p:cNvSpPr txBox="1"/>
          <p:nvPr/>
        </p:nvSpPr>
        <p:spPr>
          <a:xfrm>
            <a:off x="9107424" y="1828800"/>
            <a:ext cx="2606040" cy="365760"/>
          </a:xfrm>
          <a:prstGeom prst="rect">
            <a:avLst/>
          </a:prstGeom>
          <a:noFill/>
          <a:ln/>
        </p:spPr>
        <p:txBody>
          <a:bodyPr wrap="square" lIns="0" tIns="0" rIns="0" bIns="0" rtlCol="0" anchor="ctr"/>
          <a:lstStyle/>
          <a:p>
            <a:pPr indent="0" marL="0">
              <a:buNone/>
            </a:pPr>
            <a:r>
              <a:rPr lang="en-US" sz="1500" dirty="0">
                <a:solidFill>
                  <a:schemeClr val="tx1"/>
                </a:solidFill>
              </a:rPr>
              <a:t>Both sides, any time</a:t>
            </a:r>
            <a:endParaRPr lang="en-US" sz="1500" dirty="0"/>
          </a:p>
        </p:txBody>
      </p:sp>
      <p:sp>
        <p:nvSpPr>
          <p:cNvPr id="57" name="lane-117"/>
          <p:cNvSpPr/>
          <p:nvPr/>
        </p:nvSpPr>
        <p:spPr>
          <a:xfrm>
            <a:off x="9758934" y="2834640"/>
            <a:ext cx="0" cy="2880360"/>
          </a:xfrm>
          <a:prstGeom prst="line">
            <a:avLst/>
          </a:prstGeom>
          <a:noFill/>
          <a:ln w="15875">
            <a:solidFill>
              <a:schemeClr val="accent3"/>
            </a:solidFill>
            <a:prstDash val="dash"/>
          </a:ln>
        </p:spPr>
      </p:sp>
      <p:sp>
        <p:nvSpPr>
          <p:cNvPr id="58" name="lane head-118"/>
          <p:cNvSpPr/>
          <p:nvPr/>
        </p:nvSpPr>
        <p:spPr>
          <a:xfrm>
            <a:off x="9244584" y="2331720"/>
            <a:ext cx="1028700" cy="502920"/>
          </a:xfrm>
          <a:prstGeom prst="roundRect">
            <a:avLst>
              <a:gd name="adj" fmla="val 14545"/>
            </a:avLst>
          </a:prstGeom>
          <a:solidFill>
            <a:schemeClr val="accent4"/>
          </a:solidFill>
          <a:ln w="12700">
            <a:solidFill>
              <a:schemeClr val="accent4"/>
            </a:solidFill>
            <a:prstDash val="solid"/>
          </a:ln>
        </p:spPr>
      </p:sp>
      <p:sp>
        <p:nvSpPr>
          <p:cNvPr id="59" name="lane name-119"/>
          <p:cNvSpPr txBox="1"/>
          <p:nvPr/>
        </p:nvSpPr>
        <p:spPr>
          <a:xfrm>
            <a:off x="9244584"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C</a:t>
            </a:r>
            <a:endParaRPr lang="en-US" sz="1400" dirty="0"/>
          </a:p>
        </p:txBody>
      </p:sp>
      <p:sp>
        <p:nvSpPr>
          <p:cNvPr id="60" name="lane-120"/>
          <p:cNvSpPr/>
          <p:nvPr/>
        </p:nvSpPr>
        <p:spPr>
          <a:xfrm>
            <a:off x="11061954" y="2834640"/>
            <a:ext cx="0" cy="2880360"/>
          </a:xfrm>
          <a:prstGeom prst="line">
            <a:avLst/>
          </a:prstGeom>
          <a:noFill/>
          <a:ln w="15875">
            <a:solidFill>
              <a:schemeClr val="accent3"/>
            </a:solidFill>
            <a:prstDash val="dash"/>
          </a:ln>
        </p:spPr>
      </p:sp>
      <p:sp>
        <p:nvSpPr>
          <p:cNvPr id="61" name="lane head-121"/>
          <p:cNvSpPr/>
          <p:nvPr/>
        </p:nvSpPr>
        <p:spPr>
          <a:xfrm>
            <a:off x="10547604" y="2331720"/>
            <a:ext cx="1028700" cy="502920"/>
          </a:xfrm>
          <a:prstGeom prst="roundRect">
            <a:avLst>
              <a:gd name="adj" fmla="val 14545"/>
            </a:avLst>
          </a:prstGeom>
          <a:solidFill>
            <a:schemeClr val="accent4"/>
          </a:solidFill>
          <a:ln w="12700">
            <a:solidFill>
              <a:schemeClr val="accent4"/>
            </a:solidFill>
            <a:prstDash val="solid"/>
          </a:ln>
        </p:spPr>
      </p:sp>
      <p:sp>
        <p:nvSpPr>
          <p:cNvPr id="62" name="lane name-122"/>
          <p:cNvSpPr txBox="1"/>
          <p:nvPr/>
        </p:nvSpPr>
        <p:spPr>
          <a:xfrm>
            <a:off x="10547604" y="2331720"/>
            <a:ext cx="1028700" cy="502920"/>
          </a:xfrm>
          <a:prstGeom prst="rect">
            <a:avLst/>
          </a:prstGeom>
          <a:noFill/>
          <a:ln/>
        </p:spPr>
        <p:txBody>
          <a:bodyPr wrap="square" lIns="0" tIns="0" rIns="0" bIns="0" rtlCol="0" anchor="ctr"/>
          <a:lstStyle/>
          <a:p>
            <a:pPr algn="ctr" indent="0" marL="0">
              <a:buNone/>
            </a:pPr>
            <a:r>
              <a:rPr lang="en-US" sz="1400" b="1" dirty="0">
                <a:solidFill>
                  <a:schemeClr val="tx1"/>
                </a:solidFill>
              </a:rPr>
              <a:t>S</a:t>
            </a:r>
            <a:endParaRPr lang="en-US" sz="1400" dirty="0"/>
          </a:p>
        </p:txBody>
      </p:sp>
      <p:sp>
        <p:nvSpPr>
          <p:cNvPr id="63" name="message-123"/>
          <p:cNvSpPr/>
          <p:nvPr/>
        </p:nvSpPr>
        <p:spPr>
          <a:xfrm>
            <a:off x="9758934" y="3246120"/>
            <a:ext cx="1303020" cy="0"/>
          </a:xfrm>
          <a:prstGeom prst="line">
            <a:avLst/>
          </a:prstGeom>
          <a:noFill/>
          <a:ln w="28575">
            <a:solidFill>
              <a:schemeClr val="accent1"/>
            </a:solidFill>
            <a:prstDash val="solid"/>
            <a:tailEnd type="triangle"/>
          </a:ln>
        </p:spPr>
      </p:sp>
      <p:sp>
        <p:nvSpPr>
          <p:cNvPr id="64" name="message label-124"/>
          <p:cNvSpPr txBox="1"/>
          <p:nvPr/>
        </p:nvSpPr>
        <p:spPr>
          <a:xfrm>
            <a:off x="9804654" y="2852928"/>
            <a:ext cx="1211580" cy="329184"/>
          </a:xfrm>
          <a:prstGeom prst="rect">
            <a:avLst/>
          </a:prstGeom>
          <a:noFill/>
          <a:ln/>
        </p:spPr>
        <p:txBody>
          <a:bodyPr wrap="square" lIns="0" tIns="0" rIns="0" bIns="0" rtlCol="0" anchor="b"/>
          <a:lstStyle/>
          <a:p>
            <a:pPr algn="ctr" indent="0" marL="0">
              <a:buNone/>
            </a:pPr>
            <a:r>
              <a:rPr lang="en-US" sz="1100" dirty="0">
                <a:solidFill>
                  <a:schemeClr val="tx1"/>
                </a:solidFill>
              </a:rPr>
              <a:t>upgrade</a:t>
            </a:r>
            <a:endParaRPr lang="en-US" sz="1100" dirty="0"/>
          </a:p>
        </p:txBody>
      </p:sp>
      <p:sp>
        <p:nvSpPr>
          <p:cNvPr id="65" name="message-125"/>
          <p:cNvSpPr/>
          <p:nvPr/>
        </p:nvSpPr>
        <p:spPr>
          <a:xfrm>
            <a:off x="9758934" y="3794760"/>
            <a:ext cx="1303020" cy="0"/>
          </a:xfrm>
          <a:prstGeom prst="line">
            <a:avLst/>
          </a:prstGeom>
          <a:noFill/>
          <a:ln w="28575">
            <a:solidFill>
              <a:schemeClr val="accent2"/>
            </a:solidFill>
            <a:prstDash val="solid"/>
            <a:headEnd type="triangle"/>
          </a:ln>
        </p:spPr>
      </p:sp>
      <p:sp>
        <p:nvSpPr>
          <p:cNvPr id="66" name="message-126"/>
          <p:cNvSpPr/>
          <p:nvPr/>
        </p:nvSpPr>
        <p:spPr>
          <a:xfrm>
            <a:off x="9758934" y="4251960"/>
            <a:ext cx="1303020" cy="0"/>
          </a:xfrm>
          <a:prstGeom prst="line">
            <a:avLst/>
          </a:prstGeom>
          <a:noFill/>
          <a:ln w="28575">
            <a:solidFill>
              <a:schemeClr val="accent1"/>
            </a:solidFill>
            <a:prstDash val="solid"/>
            <a:tailEnd type="triangle"/>
          </a:ln>
        </p:spPr>
      </p:sp>
      <p:sp>
        <p:nvSpPr>
          <p:cNvPr id="67" name="message-127"/>
          <p:cNvSpPr/>
          <p:nvPr/>
        </p:nvSpPr>
        <p:spPr>
          <a:xfrm>
            <a:off x="9758934" y="4709160"/>
            <a:ext cx="1303020" cy="0"/>
          </a:xfrm>
          <a:prstGeom prst="line">
            <a:avLst/>
          </a:prstGeom>
          <a:noFill/>
          <a:ln w="28575">
            <a:solidFill>
              <a:schemeClr val="accent2"/>
            </a:solidFill>
            <a:prstDash val="solid"/>
            <a:headEnd type="triangle"/>
          </a:ln>
        </p:spPr>
      </p:sp>
      <p:sp>
        <p:nvSpPr>
          <p:cNvPr id="68" name="message-128"/>
          <p:cNvSpPr/>
          <p:nvPr/>
        </p:nvSpPr>
        <p:spPr>
          <a:xfrm>
            <a:off x="9758934" y="5166360"/>
            <a:ext cx="1303020" cy="0"/>
          </a:xfrm>
          <a:prstGeom prst="line">
            <a:avLst/>
          </a:prstGeom>
          <a:noFill/>
          <a:ln w="28575">
            <a:solidFill>
              <a:schemeClr val="accent2"/>
            </a:solidFill>
            <a:prstDash val="solid"/>
            <a:headEnd type="triangle"/>
          </a:ln>
        </p:spPr>
      </p:sp>
      <p:sp>
        <p:nvSpPr>
          <p:cNvPr id="69" name="panel exercise-129"/>
          <p:cNvSpPr txBox="1"/>
          <p:nvPr/>
        </p:nvSpPr>
        <p:spPr>
          <a:xfrm>
            <a:off x="9107424" y="5897880"/>
            <a:ext cx="2606040" cy="320040"/>
          </a:xfrm>
          <a:prstGeom prst="rect">
            <a:avLst/>
          </a:prstGeom>
          <a:noFill/>
          <a:ln/>
        </p:spPr>
        <p:txBody>
          <a:bodyPr wrap="square" lIns="0" tIns="0" rIns="0" bIns="0" rtlCol="0" anchor="ctr"/>
          <a:lstStyle/>
          <a:p>
            <a:pPr indent="0" marL="0">
              <a:buNone/>
            </a:pPr>
            <a:r>
              <a:rPr lang="en-US" sz="1400" b="1" dirty="0">
                <a:solidFill>
                  <a:schemeClr val="accent2"/>
                </a:solidFill>
              </a:rPr>
              <a:t>Exercise 4</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Three tools, one APL session</a:t>
            </a:r>
            <a:endParaRPr lang="en-US" sz="3400" dirty="0"/>
          </a:p>
        </p:txBody>
      </p:sp>
      <p:sp>
        <p:nvSpPr>
          <p:cNvPr id="3" name="card-130"/>
          <p:cNvSpPr/>
          <p:nvPr/>
        </p:nvSpPr>
        <p:spPr>
          <a:xfrm>
            <a:off x="548640" y="1463040"/>
            <a:ext cx="3520440" cy="3291840"/>
          </a:xfrm>
          <a:prstGeom prst="roundRect">
            <a:avLst>
              <a:gd name="adj" fmla="val 2778"/>
            </a:avLst>
          </a:prstGeom>
          <a:solidFill>
            <a:schemeClr val="bg2"/>
          </a:solidFill>
          <a:ln w="12700">
            <a:solidFill>
              <a:schemeClr val="bg2"/>
            </a:solidFill>
            <a:prstDash val="solid"/>
          </a:ln>
        </p:spPr>
      </p:sp>
      <p:sp>
        <p:nvSpPr>
          <p:cNvPr id="4" name="card head-131"/>
          <p:cNvSpPr txBox="1"/>
          <p:nvPr/>
        </p:nvSpPr>
        <p:spPr>
          <a:xfrm>
            <a:off x="822960" y="1691640"/>
            <a:ext cx="29718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HttpCommand</a:t>
            </a:r>
            <a:endParaRPr lang="en-US" sz="2200" dirty="0"/>
          </a:p>
        </p:txBody>
      </p:sp>
      <p:sp>
        <p:nvSpPr>
          <p:cNvPr id="5" name="card body-132"/>
          <p:cNvSpPr txBox="1"/>
          <p:nvPr/>
        </p:nvSpPr>
        <p:spPr>
          <a:xfrm>
            <a:off x="822960" y="2240280"/>
            <a:ext cx="2971800" cy="2331720"/>
          </a:xfrm>
          <a:prstGeom prst="rect">
            <a:avLst/>
          </a:prstGeom>
          <a:noFill/>
          <a:ln/>
        </p:spPr>
        <p:txBody>
          <a:bodyPr wrap="square" lIns="0" tIns="0" rIns="0" bIns="0" rtlCol="0" anchor="t"/>
          <a:lstStyle/>
          <a:p>
            <a:pPr indent="0" marL="0">
              <a:buNone/>
            </a:pPr>
            <a:r>
              <a:rPr lang="en-US" sz="1700" dirty="0">
                <a:solidFill>
                  <a:schemeClr val="tx1"/>
                </a:solidFill>
              </a:rPr>
              <a:t>An HTTP client: call web services from APL.</a:t>
            </a:r>
            <a:endParaRPr lang="en-US" sz="1700" dirty="0"/>
          </a:p>
        </p:txBody>
      </p:sp>
      <p:sp>
        <p:nvSpPr>
          <p:cNvPr id="6" name="code panel-133"/>
          <p:cNvSpPr/>
          <p:nvPr/>
        </p:nvSpPr>
        <p:spPr>
          <a:xfrm>
            <a:off x="731520" y="3063240"/>
            <a:ext cx="3154680" cy="1325880"/>
          </a:xfrm>
          <a:prstGeom prst="roundRect">
            <a:avLst>
              <a:gd name="adj" fmla="val 5517"/>
            </a:avLst>
          </a:prstGeom>
          <a:solidFill>
            <a:schemeClr val="bg2"/>
          </a:solidFill>
          <a:ln w="12700">
            <a:solidFill>
              <a:schemeClr val="bg2"/>
            </a:solidFill>
            <a:prstDash val="solid"/>
          </a:ln>
        </p:spPr>
      </p:sp>
      <p:sp>
        <p:nvSpPr>
          <p:cNvPr id="7" name="code-134"/>
          <p:cNvSpPr txBox="1"/>
          <p:nvPr/>
        </p:nvSpPr>
        <p:spPr>
          <a:xfrm>
            <a:off x="914400" y="3172968"/>
            <a:ext cx="2788920" cy="1106424"/>
          </a:xfrm>
          <a:prstGeom prst="rect">
            <a:avLst/>
          </a:prstGeom>
          <a:noFill/>
          <a:ln/>
        </p:spPr>
        <p:txBody>
          <a:bodyPr wrap="square" lIns="0" tIns="0" rIns="0" bIns="0" rtlCol="0" anchor="t"/>
          <a:lstStyle/>
          <a:p>
            <a:pPr indent="0" marL="0">
              <a:buNone/>
            </a:pPr>
            <a:r>
              <a:rPr lang="en-US" sz="1200" dirty="0">
                <a:solidFill>
                  <a:schemeClr val="tx1"/>
                </a:solidFill>
                <a:latin typeface="APL385 Unicode" pitchFamily="34" charset="0"/>
                <a:ea typeface="APL385 Unicode" pitchFamily="34" charset="-122"/>
                <a:cs typeface="APL385 Unicode" pitchFamily="34" charset="-120"/>
              </a:rPr>
              <a:t>r←HttpCommand.Get url</a:t>
            </a:r>
            <a:endParaRPr lang="en-US" sz="1200" dirty="0"/>
          </a:p>
          <a:p>
            <a:pPr indent="0" marL="0">
              <a:buNone/>
            </a:pPr>
            <a:r>
              <a:rPr lang="en-US" sz="1200" dirty="0">
                <a:solidFill>
                  <a:schemeClr val="tx1"/>
                </a:solidFill>
                <a:latin typeface="APL385 Unicode" pitchFamily="34" charset="0"/>
                <a:ea typeface="APL385 Unicode" pitchFamily="34" charset="-122"/>
                <a:cs typeface="APL385 Unicode" pitchFamily="34" charset="-120"/>
              </a:rPr>
              <a:t>r.(rc HttpStatus Data)</a:t>
            </a:r>
            <a:endParaRPr lang="en-US" sz="1200" dirty="0"/>
          </a:p>
        </p:txBody>
      </p:sp>
      <p:sp>
        <p:nvSpPr>
          <p:cNvPr id="8" name="card-135"/>
          <p:cNvSpPr/>
          <p:nvPr/>
        </p:nvSpPr>
        <p:spPr>
          <a:xfrm>
            <a:off x="4315968" y="1463040"/>
            <a:ext cx="3520440" cy="3291840"/>
          </a:xfrm>
          <a:prstGeom prst="roundRect">
            <a:avLst>
              <a:gd name="adj" fmla="val 2778"/>
            </a:avLst>
          </a:prstGeom>
          <a:solidFill>
            <a:schemeClr val="bg2"/>
          </a:solidFill>
          <a:ln w="12700">
            <a:solidFill>
              <a:schemeClr val="bg2"/>
            </a:solidFill>
            <a:prstDash val="solid"/>
          </a:ln>
        </p:spPr>
      </p:sp>
      <p:sp>
        <p:nvSpPr>
          <p:cNvPr id="9" name="card head-136"/>
          <p:cNvSpPr txBox="1"/>
          <p:nvPr/>
        </p:nvSpPr>
        <p:spPr>
          <a:xfrm>
            <a:off x="4590288" y="1691640"/>
            <a:ext cx="29718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Jarvis</a:t>
            </a:r>
            <a:endParaRPr lang="en-US" sz="2200" dirty="0"/>
          </a:p>
        </p:txBody>
      </p:sp>
      <p:sp>
        <p:nvSpPr>
          <p:cNvPr id="10" name="card body-137"/>
          <p:cNvSpPr txBox="1"/>
          <p:nvPr/>
        </p:nvSpPr>
        <p:spPr>
          <a:xfrm>
            <a:off x="4590288" y="2240280"/>
            <a:ext cx="2971800" cy="2331720"/>
          </a:xfrm>
          <a:prstGeom prst="rect">
            <a:avLst/>
          </a:prstGeom>
          <a:noFill/>
          <a:ln/>
        </p:spPr>
        <p:txBody>
          <a:bodyPr wrap="square" lIns="0" tIns="0" rIns="0" bIns="0" rtlCol="0" anchor="t"/>
          <a:lstStyle/>
          <a:p>
            <a:pPr indent="0" marL="0">
              <a:buNone/>
            </a:pPr>
            <a:r>
              <a:rPr lang="en-US" sz="1700" dirty="0">
                <a:solidFill>
                  <a:schemeClr val="tx1"/>
                </a:solidFill>
              </a:rPr>
              <a:t>A web service framework: your APL functions become endpoints.</a:t>
            </a:r>
            <a:endParaRPr lang="en-US" sz="1700" dirty="0"/>
          </a:p>
        </p:txBody>
      </p:sp>
      <p:sp>
        <p:nvSpPr>
          <p:cNvPr id="11" name="code panel-138"/>
          <p:cNvSpPr/>
          <p:nvPr/>
        </p:nvSpPr>
        <p:spPr>
          <a:xfrm>
            <a:off x="4498848" y="3063240"/>
            <a:ext cx="3154680" cy="1325880"/>
          </a:xfrm>
          <a:prstGeom prst="roundRect">
            <a:avLst>
              <a:gd name="adj" fmla="val 5517"/>
            </a:avLst>
          </a:prstGeom>
          <a:solidFill>
            <a:schemeClr val="bg2"/>
          </a:solidFill>
          <a:ln w="12700">
            <a:solidFill>
              <a:schemeClr val="bg2"/>
            </a:solidFill>
            <a:prstDash val="solid"/>
          </a:ln>
        </p:spPr>
      </p:sp>
      <p:sp>
        <p:nvSpPr>
          <p:cNvPr id="12" name="code-139"/>
          <p:cNvSpPr txBox="1"/>
          <p:nvPr/>
        </p:nvSpPr>
        <p:spPr>
          <a:xfrm>
            <a:off x="4681728" y="3172968"/>
            <a:ext cx="2788920" cy="1106424"/>
          </a:xfrm>
          <a:prstGeom prst="rect">
            <a:avLst/>
          </a:prstGeom>
          <a:noFill/>
          <a:ln/>
        </p:spPr>
        <p:txBody>
          <a:bodyPr wrap="square" lIns="0" tIns="0" rIns="0" bIns="0" rtlCol="0" anchor="t"/>
          <a:lstStyle/>
          <a:p>
            <a:pPr indent="0" marL="0">
              <a:buNone/>
            </a:pPr>
            <a:r>
              <a:rPr lang="en-US" sz="1200" dirty="0">
                <a:solidFill>
                  <a:schemeClr val="tx1"/>
                </a:solidFill>
                <a:latin typeface="APL385 Unicode" pitchFamily="34" charset="0"/>
                <a:ea typeface="APL385 Unicode" pitchFamily="34" charset="-122"/>
                <a:cs typeface="APL385 Unicode" pitchFamily="34" charset="-120"/>
              </a:rPr>
              <a:t>s←Jarvis.New ''</a:t>
            </a:r>
            <a:endParaRPr lang="en-US" sz="1200" dirty="0"/>
          </a:p>
          <a:p>
            <a:pPr indent="0" marL="0">
              <a:buNone/>
            </a:pPr>
            <a:r>
              <a:rPr lang="en-US" sz="1200" dirty="0">
                <a:solidFill>
                  <a:schemeClr val="tx1"/>
                </a:solidFill>
                <a:latin typeface="APL385 Unicode" pitchFamily="34" charset="0"/>
                <a:ea typeface="APL385 Unicode" pitchFamily="34" charset="-122"/>
                <a:cs typeface="APL385 Unicode" pitchFamily="34" charset="-120"/>
              </a:rPr>
              <a:t>s.CodeLocation←#.MyApp</a:t>
            </a:r>
            <a:endParaRPr lang="en-US" sz="1200" dirty="0"/>
          </a:p>
          <a:p>
            <a:pPr indent="0" marL="0">
              <a:buNone/>
            </a:pPr>
            <a:r>
              <a:rPr lang="en-US" sz="1200" dirty="0">
                <a:solidFill>
                  <a:schemeClr val="tx1"/>
                </a:solidFill>
                <a:latin typeface="APL385 Unicode" pitchFamily="34" charset="0"/>
                <a:ea typeface="APL385 Unicode" pitchFamily="34" charset="-122"/>
                <a:cs typeface="APL385 Unicode" pitchFamily="34" charset="-120"/>
              </a:rPr>
              <a:t>s.Start</a:t>
            </a:r>
            <a:endParaRPr lang="en-US" sz="1200" dirty="0"/>
          </a:p>
        </p:txBody>
      </p:sp>
      <p:sp>
        <p:nvSpPr>
          <p:cNvPr id="13" name="card-140"/>
          <p:cNvSpPr/>
          <p:nvPr/>
        </p:nvSpPr>
        <p:spPr>
          <a:xfrm>
            <a:off x="8083296" y="1463040"/>
            <a:ext cx="3520440" cy="3291840"/>
          </a:xfrm>
          <a:prstGeom prst="roundRect">
            <a:avLst>
              <a:gd name="adj" fmla="val 2778"/>
            </a:avLst>
          </a:prstGeom>
          <a:solidFill>
            <a:schemeClr val="bg2"/>
          </a:solidFill>
          <a:ln w="12700">
            <a:solidFill>
              <a:schemeClr val="bg2"/>
            </a:solidFill>
            <a:prstDash val="solid"/>
          </a:ln>
        </p:spPr>
      </p:sp>
      <p:sp>
        <p:nvSpPr>
          <p:cNvPr id="14" name="card head-141"/>
          <p:cNvSpPr txBox="1"/>
          <p:nvPr/>
        </p:nvSpPr>
        <p:spPr>
          <a:xfrm>
            <a:off x="8357616" y="1691640"/>
            <a:ext cx="29718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WebSocketClient</a:t>
            </a:r>
            <a:endParaRPr lang="en-US" sz="2200" dirty="0"/>
          </a:p>
        </p:txBody>
      </p:sp>
      <p:sp>
        <p:nvSpPr>
          <p:cNvPr id="15" name="card body-142"/>
          <p:cNvSpPr txBox="1"/>
          <p:nvPr/>
        </p:nvSpPr>
        <p:spPr>
          <a:xfrm>
            <a:off x="8357616" y="2240280"/>
            <a:ext cx="2971800" cy="2331720"/>
          </a:xfrm>
          <a:prstGeom prst="rect">
            <a:avLst/>
          </a:prstGeom>
          <a:noFill/>
          <a:ln/>
        </p:spPr>
        <p:txBody>
          <a:bodyPr wrap="square" lIns="0" tIns="0" rIns="0" bIns="0" rtlCol="0" anchor="t"/>
          <a:lstStyle/>
          <a:p>
            <a:pPr indent="0" marL="0">
              <a:buNone/>
            </a:pPr>
            <a:r>
              <a:rPr lang="en-US" sz="1700" dirty="0">
                <a:solidFill>
                  <a:schemeClr val="tx1"/>
                </a:solidFill>
              </a:rPr>
              <a:t>Two-way messages from APL over a WebSocket.</a:t>
            </a:r>
            <a:endParaRPr lang="en-US" sz="1700" dirty="0"/>
          </a:p>
        </p:txBody>
      </p:sp>
      <p:sp>
        <p:nvSpPr>
          <p:cNvPr id="16" name="code panel-143"/>
          <p:cNvSpPr/>
          <p:nvPr/>
        </p:nvSpPr>
        <p:spPr>
          <a:xfrm>
            <a:off x="8266176" y="3063240"/>
            <a:ext cx="3154680" cy="1325880"/>
          </a:xfrm>
          <a:prstGeom prst="roundRect">
            <a:avLst>
              <a:gd name="adj" fmla="val 5517"/>
            </a:avLst>
          </a:prstGeom>
          <a:solidFill>
            <a:schemeClr val="bg2"/>
          </a:solidFill>
          <a:ln w="12700">
            <a:solidFill>
              <a:schemeClr val="bg2"/>
            </a:solidFill>
            <a:prstDash val="solid"/>
          </a:ln>
        </p:spPr>
      </p:sp>
      <p:sp>
        <p:nvSpPr>
          <p:cNvPr id="17" name="code-144"/>
          <p:cNvSpPr txBox="1"/>
          <p:nvPr/>
        </p:nvSpPr>
        <p:spPr>
          <a:xfrm>
            <a:off x="8449056" y="3172968"/>
            <a:ext cx="2788920" cy="1106424"/>
          </a:xfrm>
          <a:prstGeom prst="rect">
            <a:avLst/>
          </a:prstGeom>
          <a:noFill/>
          <a:ln/>
        </p:spPr>
        <p:txBody>
          <a:bodyPr wrap="square" lIns="0" tIns="0" rIns="0" bIns="0" rtlCol="0" anchor="t"/>
          <a:lstStyle/>
          <a:p>
            <a:pPr indent="0" marL="0">
              <a:buNone/>
            </a:pPr>
            <a:r>
              <a:rPr lang="en-US" sz="1200" dirty="0">
                <a:solidFill>
                  <a:schemeClr val="tx1"/>
                </a:solidFill>
                <a:latin typeface="APL385 Unicode" pitchFamily="34" charset="0"/>
                <a:ea typeface="APL385 Unicode" pitchFamily="34" charset="-122"/>
                <a:cs typeface="APL385 Unicode" pitchFamily="34" charset="-120"/>
              </a:rPr>
              <a:t>c←WebSocketClient.New s</a:t>
            </a:r>
            <a:endParaRPr lang="en-US" sz="1200" dirty="0"/>
          </a:p>
          <a:p>
            <a:pPr indent="0" marL="0">
              <a:buNone/>
            </a:pPr>
            <a:r>
              <a:rPr lang="en-US" sz="1200" dirty="0">
                <a:solidFill>
                  <a:schemeClr val="tx1"/>
                </a:solidFill>
                <a:latin typeface="APL385 Unicode" pitchFamily="34" charset="0"/>
                <a:ea typeface="APL385 Unicode" pitchFamily="34" charset="-122"/>
                <a:cs typeface="APL385 Unicode" pitchFamily="34" charset="-120"/>
              </a:rPr>
              <a:t>c.Connect</a:t>
            </a:r>
            <a:endParaRPr lang="en-US" sz="1200" dirty="0"/>
          </a:p>
          <a:p>
            <a:pPr indent="0" marL="0">
              <a:buNone/>
            </a:pPr>
            <a:r>
              <a:rPr lang="en-US" sz="1200" dirty="0">
                <a:solidFill>
                  <a:schemeClr val="tx1"/>
                </a:solidFill>
                <a:latin typeface="APL385 Unicode" pitchFamily="34" charset="0"/>
                <a:ea typeface="APL385 Unicode" pitchFamily="34" charset="-122"/>
                <a:cs typeface="APL385 Unicode" pitchFamily="34" charset="-120"/>
              </a:rPr>
              <a:t>m←'{"type":"msg","text":"Hi"}'</a:t>
            </a:r>
            <a:endParaRPr lang="en-US" sz="1200" dirty="0"/>
          </a:p>
          <a:p>
            <a:pPr indent="0" marL="0">
              <a:buNone/>
            </a:pPr>
            <a:r>
              <a:rPr lang="en-US" sz="1200" dirty="0">
                <a:solidFill>
                  <a:schemeClr val="tx1"/>
                </a:solidFill>
                <a:latin typeface="APL385 Unicode" pitchFamily="34" charset="0"/>
                <a:ea typeface="APL385 Unicode" pitchFamily="34" charset="-122"/>
                <a:cs typeface="APL385 Unicode" pitchFamily="34" charset="-120"/>
              </a:rPr>
              <a:t>c.Send m</a:t>
            </a:r>
            <a:endParaRPr lang="en-US" sz="1200" dirty="0"/>
          </a:p>
        </p:txBody>
      </p:sp>
      <p:sp>
        <p:nvSpPr>
          <p:cNvPr id="18" name="conga strip-145"/>
          <p:cNvSpPr/>
          <p:nvPr/>
        </p:nvSpPr>
        <p:spPr>
          <a:xfrm>
            <a:off x="548640" y="5029200"/>
            <a:ext cx="11094415" cy="777240"/>
          </a:xfrm>
          <a:prstGeom prst="roundRect">
            <a:avLst>
              <a:gd name="adj" fmla="val 9412"/>
            </a:avLst>
          </a:prstGeom>
          <a:solidFill>
            <a:schemeClr val="accent4"/>
          </a:solidFill>
          <a:ln w="12700">
            <a:solidFill>
              <a:schemeClr val="accent4"/>
            </a:solidFill>
            <a:prstDash val="solid"/>
          </a:ln>
        </p:spPr>
      </p:sp>
      <p:sp>
        <p:nvSpPr>
          <p:cNvPr id="19" name="text-146"/>
          <p:cNvSpPr txBox="1"/>
          <p:nvPr/>
        </p:nvSpPr>
        <p:spPr>
          <a:xfrm>
            <a:off x="822960" y="5029200"/>
            <a:ext cx="10545775" cy="777240"/>
          </a:xfrm>
          <a:prstGeom prst="rect">
            <a:avLst/>
          </a:prstGeom>
          <a:noFill/>
          <a:ln/>
        </p:spPr>
        <p:txBody>
          <a:bodyPr wrap="square" lIns="0" tIns="0" rIns="0" bIns="0" rtlCol="0" anchor="ctr"/>
          <a:lstStyle/>
          <a:p>
            <a:pPr indent="0" marL="0">
              <a:buNone/>
            </a:pPr>
            <a:r>
              <a:rPr lang="en-US" sz="1700" dirty="0">
                <a:solidFill>
                  <a:schemeClr val="tx1"/>
                </a:solidFill>
              </a:rPr>
              <a:t>All three use Conga, Dyalog's TCP/IP library. Setup copies Conga into # first, so every tool finds it with no extra configuration.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How each exercise works</a:t>
            </a:r>
            <a:endParaRPr lang="en-US" sz="3400" dirty="0"/>
          </a:p>
        </p:txBody>
      </p:sp>
      <p:sp>
        <p:nvSpPr>
          <p:cNvPr id="3" name="code panel-147"/>
          <p:cNvSpPr/>
          <p:nvPr/>
        </p:nvSpPr>
        <p:spPr>
          <a:xfrm>
            <a:off x="548640" y="1463040"/>
            <a:ext cx="7086600" cy="3108960"/>
          </a:xfrm>
          <a:prstGeom prst="roundRect">
            <a:avLst>
              <a:gd name="adj" fmla="val 2353"/>
            </a:avLst>
          </a:prstGeom>
          <a:solidFill>
            <a:schemeClr val="bg2"/>
          </a:solidFill>
          <a:ln w="12700">
            <a:solidFill>
              <a:schemeClr val="bg2"/>
            </a:solidFill>
            <a:prstDash val="solid"/>
          </a:ln>
        </p:spPr>
      </p:sp>
      <p:sp>
        <p:nvSpPr>
          <p:cNvPr id="4" name="code-148"/>
          <p:cNvSpPr txBox="1"/>
          <p:nvPr/>
        </p:nvSpPr>
        <p:spPr>
          <a:xfrm>
            <a:off x="731520" y="1572768"/>
            <a:ext cx="6720840" cy="2889504"/>
          </a:xfrm>
          <a:prstGeom prst="rect">
            <a:avLst/>
          </a:prstGeom>
          <a:noFill/>
          <a:ln/>
        </p:spPr>
        <p:txBody>
          <a:bodyPr wrap="square" lIns="0" tIns="0" rIns="0" bIns="0" rtlCol="0" anchor="t"/>
          <a:lstStyle/>
          <a:p>
            <a:pPr indent="0" marL="0">
              <a:buNone/>
            </a:pPr>
            <a:r>
              <a:rPr lang="en-US" sz="1300" dirty="0">
                <a:solidFill>
                  <a:schemeClr val="tx1"/>
                </a:solidFill>
                <a:latin typeface="APL385 Unicode" pitchFamily="34" charset="0"/>
                <a:ea typeface="APL385 Unicode" pitchFamily="34" charset="-122"/>
                <a:cs typeface="APL385 Unicode" pitchFamily="34" charset="-120"/>
              </a:rPr>
              <a:t>2 ⎕FIX 'file://&lt;repo&gt;/Exercises/Setup.aplf'</a:t>
            </a:r>
            <a:endParaRPr lang="en-US" sz="1300" dirty="0"/>
          </a:p>
          <a:p>
            <a:pPr indent="0" marL="0">
              <a:buNone/>
            </a:pPr>
            <a:r>
              <a:rPr lang="en-US" sz="1300" dirty="0">
                <a:solidFill>
                  <a:schemeClr val="tx1"/>
                </a:solidFill>
                <a:latin typeface="APL385 Unicode" pitchFamily="34" charset="0"/>
                <a:ea typeface="APL385 Unicode" pitchFamily="34" charset="-122"/>
                <a:cs typeface="APL385 Unicode" pitchFamily="34" charset="-120"/>
              </a:rPr>
              <a:t>Setup '&lt;repo&gt;'</a:t>
            </a:r>
            <a:endParaRPr lang="en-US" sz="1300" dirty="0"/>
          </a:p>
          <a:p>
            <a:pPr indent="0" marL="0">
              <a:buNone/>
            </a:pPr>
            <a:endParaRPr lang="en-US" sz="1300" dirty="0"/>
          </a:p>
          <a:p>
            <a:pPr indent="0" marL="0">
              <a:buNone/>
            </a:pPr>
            <a:r>
              <a:rPr lang="en-US" sz="1300" dirty="0">
                <a:solidFill>
                  <a:schemeClr val="tx1"/>
                </a:solidFill>
                <a:latin typeface="APL385 Unicode" pitchFamily="34" charset="0"/>
                <a:ea typeface="APL385 Unicode" pitchFamily="34" charset="-122"/>
                <a:cs typeface="APL385 Unicode" pitchFamily="34" charset="-120"/>
              </a:rPr>
              <a:t>2 ⎕FIX 'file://',#.WorkshopRoot,'/Exercises/Ex1-Tools/Run.aplf'</a:t>
            </a:r>
            <a:endParaRPr lang="en-US" sz="1300" dirty="0"/>
          </a:p>
          <a:p>
            <a:pPr indent="0" marL="0">
              <a:buNone/>
            </a:pPr>
            <a:r>
              <a:rPr lang="en-US" sz="1300" dirty="0">
                <a:solidFill>
                  <a:schemeClr val="tx1"/>
                </a:solidFill>
                <a:latin typeface="APL385 Unicode" pitchFamily="34" charset="0"/>
                <a:ea typeface="APL385 Unicode" pitchFamily="34" charset="-122"/>
                <a:cs typeface="APL385 Unicode" pitchFamily="34" charset="-120"/>
              </a:rPr>
              <a:t>server←Run 8080</a:t>
            </a:r>
            <a:endParaRPr lang="en-US" sz="1300" dirty="0"/>
          </a:p>
          <a:p>
            <a:pPr indent="0" marL="0">
              <a:buNone/>
            </a:pPr>
            <a:r>
              <a:rPr lang="en-US" sz="1300" dirty="0">
                <a:solidFill>
                  <a:schemeClr val="tx1"/>
                </a:solidFill>
                <a:latin typeface="APL385 Unicode" pitchFamily="34" charset="0"/>
                <a:ea typeface="APL385 Unicode" pitchFamily="34" charset="-122"/>
                <a:cs typeface="APL385 Unicode" pitchFamily="34" charset="-120"/>
              </a:rPr>
              <a:t>)ED #.Ex1.Hello</a:t>
            </a:r>
            <a:endParaRPr lang="en-US" sz="1300" dirty="0"/>
          </a:p>
          <a:p>
            <a:pPr indent="0" marL="0">
              <a:buNone/>
            </a:pPr>
            <a:endParaRPr lang="en-US" sz="1300" dirty="0"/>
          </a:p>
          <a:p>
            <a:pPr indent="0" marL="0">
              <a:buNone/>
            </a:pPr>
            <a:r>
              <a:rPr lang="en-US" sz="1300" dirty="0">
                <a:solidFill>
                  <a:schemeClr val="tx1"/>
                </a:solidFill>
                <a:latin typeface="APL385 Unicode" pitchFamily="34" charset="0"/>
                <a:ea typeface="APL385 Unicode" pitchFamily="34" charset="-122"/>
                <a:cs typeface="APL385 Unicode" pitchFamily="34" charset="-120"/>
              </a:rPr>
              <a:t>server←'Solution' Run 8080</a:t>
            </a:r>
            <a:endParaRPr lang="en-US" sz="1300" dirty="0"/>
          </a:p>
        </p:txBody>
      </p:sp>
      <p:sp>
        <p:nvSpPr>
          <p:cNvPr id="5" name="step head-149"/>
          <p:cNvSpPr txBox="1"/>
          <p:nvPr/>
        </p:nvSpPr>
        <p:spPr>
          <a:xfrm>
            <a:off x="7909560" y="1463040"/>
            <a:ext cx="3703320" cy="329184"/>
          </a:xfrm>
          <a:prstGeom prst="rect">
            <a:avLst/>
          </a:prstGeom>
          <a:noFill/>
          <a:ln/>
        </p:spPr>
        <p:txBody>
          <a:bodyPr wrap="square" lIns="0" tIns="0" rIns="0" bIns="0" rtlCol="0" anchor="ctr"/>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Setup</a:t>
            </a:r>
            <a:endParaRPr lang="en-US" sz="1600" dirty="0"/>
          </a:p>
        </p:txBody>
      </p:sp>
      <p:sp>
        <p:nvSpPr>
          <p:cNvPr id="6" name="text-150"/>
          <p:cNvSpPr txBox="1"/>
          <p:nvPr/>
        </p:nvSpPr>
        <p:spPr>
          <a:xfrm>
            <a:off x="7909560" y="1792224"/>
            <a:ext cx="3703320" cy="457200"/>
          </a:xfrm>
          <a:prstGeom prst="rect">
            <a:avLst/>
          </a:prstGeom>
          <a:noFill/>
          <a:ln/>
        </p:spPr>
        <p:txBody>
          <a:bodyPr wrap="square" lIns="0" tIns="0" rIns="0" bIns="0" rtlCol="0" anchor="t"/>
          <a:lstStyle/>
          <a:p>
            <a:pPr indent="0" marL="0">
              <a:buNone/>
            </a:pPr>
            <a:r>
              <a:rPr lang="en-US" sz="1400" dirty="0">
                <a:solidFill>
                  <a:schemeClr val="tx1"/>
                </a:solidFill>
              </a:rPr>
              <a:t>Loads the tools and checks a server can run. Once per session.</a:t>
            </a:r>
            <a:endParaRPr lang="en-US" sz="1400" dirty="0"/>
          </a:p>
        </p:txBody>
      </p:sp>
      <p:sp>
        <p:nvSpPr>
          <p:cNvPr id="7" name="step head-151"/>
          <p:cNvSpPr txBox="1"/>
          <p:nvPr/>
        </p:nvSpPr>
        <p:spPr>
          <a:xfrm>
            <a:off x="7909560" y="2267712"/>
            <a:ext cx="3703320" cy="329184"/>
          </a:xfrm>
          <a:prstGeom prst="rect">
            <a:avLst/>
          </a:prstGeom>
          <a:noFill/>
          <a:ln/>
        </p:spPr>
        <p:txBody>
          <a:bodyPr wrap="square" lIns="0" tIns="0" rIns="0" bIns="0" rtlCol="0" anchor="ctr"/>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Run</a:t>
            </a:r>
            <a:endParaRPr lang="en-US" sz="1600" dirty="0"/>
          </a:p>
        </p:txBody>
      </p:sp>
      <p:sp>
        <p:nvSpPr>
          <p:cNvPr id="8" name="text-152"/>
          <p:cNvSpPr txBox="1"/>
          <p:nvPr/>
        </p:nvSpPr>
        <p:spPr>
          <a:xfrm>
            <a:off x="7909560" y="2596896"/>
            <a:ext cx="3703320" cy="457200"/>
          </a:xfrm>
          <a:prstGeom prst="rect">
            <a:avLst/>
          </a:prstGeom>
          <a:noFill/>
          <a:ln/>
        </p:spPr>
        <p:txBody>
          <a:bodyPr wrap="square" lIns="0" tIns="0" rIns="0" bIns="0" rtlCol="0" anchor="t"/>
          <a:lstStyle/>
          <a:p>
            <a:pPr indent="0" marL="0">
              <a:buNone/>
            </a:pPr>
            <a:r>
              <a:rPr lang="en-US" sz="1400" dirty="0">
                <a:solidFill>
                  <a:schemeClr val="tx1"/>
                </a:solidFill>
              </a:rPr>
              <a:t>Starts the exercise's servers on localhost, from Start/.</a:t>
            </a:r>
            <a:endParaRPr lang="en-US" sz="1400" dirty="0"/>
          </a:p>
        </p:txBody>
      </p:sp>
      <p:sp>
        <p:nvSpPr>
          <p:cNvPr id="9" name="step head-153"/>
          <p:cNvSpPr txBox="1"/>
          <p:nvPr/>
        </p:nvSpPr>
        <p:spPr>
          <a:xfrm>
            <a:off x="7909560" y="3072384"/>
            <a:ext cx="3703320" cy="329184"/>
          </a:xfrm>
          <a:prstGeom prst="rect">
            <a:avLst/>
          </a:prstGeom>
          <a:noFill/>
          <a:ln/>
        </p:spPr>
        <p:txBody>
          <a:bodyPr wrap="square" lIns="0" tIns="0" rIns="0" bIns="0" rtlCol="0" anchor="ctr"/>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)ED</a:t>
            </a:r>
            <a:endParaRPr lang="en-US" sz="1600" dirty="0"/>
          </a:p>
        </p:txBody>
      </p:sp>
      <p:sp>
        <p:nvSpPr>
          <p:cNvPr id="10" name="text-154"/>
          <p:cNvSpPr txBox="1"/>
          <p:nvPr/>
        </p:nvSpPr>
        <p:spPr>
          <a:xfrm>
            <a:off x="7909560" y="3401568"/>
            <a:ext cx="3703320" cy="457200"/>
          </a:xfrm>
          <a:prstGeom prst="rect">
            <a:avLst/>
          </a:prstGeom>
          <a:noFill/>
          <a:ln/>
        </p:spPr>
        <p:txBody>
          <a:bodyPr wrap="square" lIns="0" tIns="0" rIns="0" bIns="0" rtlCol="0" anchor="t"/>
          <a:lstStyle/>
          <a:p>
            <a:pPr indent="0" marL="0">
              <a:buNone/>
            </a:pPr>
            <a:r>
              <a:rPr lang="en-US" sz="1400" dirty="0">
                <a:solidFill>
                  <a:schemeClr val="tx1"/>
                </a:solidFill>
              </a:rPr>
              <a:t>Edit a function; the running server uses it straight away.</a:t>
            </a:r>
            <a:endParaRPr lang="en-US" sz="1400" dirty="0"/>
          </a:p>
        </p:txBody>
      </p:sp>
      <p:sp>
        <p:nvSpPr>
          <p:cNvPr id="11" name="step head-155"/>
          <p:cNvSpPr txBox="1"/>
          <p:nvPr/>
        </p:nvSpPr>
        <p:spPr>
          <a:xfrm>
            <a:off x="7909560" y="3877056"/>
            <a:ext cx="3703320" cy="329184"/>
          </a:xfrm>
          <a:prstGeom prst="rect">
            <a:avLst/>
          </a:prstGeom>
          <a:noFill/>
          <a:ln/>
        </p:spPr>
        <p:txBody>
          <a:bodyPr wrap="square" lIns="0" tIns="0" rIns="0" bIns="0" rtlCol="0" anchor="ctr"/>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'Solution' Run</a:t>
            </a:r>
            <a:endParaRPr lang="en-US" sz="1600" dirty="0"/>
          </a:p>
        </p:txBody>
      </p:sp>
      <p:sp>
        <p:nvSpPr>
          <p:cNvPr id="12" name="text-156"/>
          <p:cNvSpPr txBox="1"/>
          <p:nvPr/>
        </p:nvSpPr>
        <p:spPr>
          <a:xfrm>
            <a:off x="7909560" y="4206240"/>
            <a:ext cx="3703320" cy="457200"/>
          </a:xfrm>
          <a:prstGeom prst="rect">
            <a:avLst/>
          </a:prstGeom>
          <a:noFill/>
          <a:ln/>
        </p:spPr>
        <p:txBody>
          <a:bodyPr wrap="square" lIns="0" tIns="0" rIns="0" bIns="0" rtlCol="0" anchor="t"/>
          <a:lstStyle/>
          <a:p>
            <a:pPr indent="0" marL="0">
              <a:buNone/>
            </a:pPr>
            <a:r>
              <a:rPr lang="en-US" sz="1400" dirty="0">
                <a:solidFill>
                  <a:schemeClr val="tx1"/>
                </a:solidFill>
              </a:rPr>
              <a:t>Catch up: loads the finished version.</a:t>
            </a:r>
            <a:endParaRPr lang="en-US" sz="1400" dirty="0"/>
          </a:p>
        </p:txBody>
      </p:sp>
      <p:sp>
        <p:nvSpPr>
          <p:cNvPr id="13" name="text-157"/>
          <p:cNvSpPr txBox="1"/>
          <p:nvPr/>
        </p:nvSpPr>
        <p:spPr>
          <a:xfrm>
            <a:off x="548640" y="4983480"/>
            <a:ext cx="11094415" cy="1097280"/>
          </a:xfrm>
          <a:prstGeom prst="rect">
            <a:avLst/>
          </a:prstGeom>
          <a:noFill/>
          <a:ln/>
        </p:spPr>
        <p:txBody>
          <a:bodyPr wrap="square" lIns="0" tIns="0" rIns="0" bIns="0" rtlCol="0" anchor="t"/>
          <a:lstStyle/>
          <a:p>
            <a:pPr indent="0" marL="0">
              <a:buNone/>
            </a:pPr>
            <a:r>
              <a:rPr lang="en-US" sz="1700" dirty="0">
                <a:solidFill>
                  <a:schemeClr val="tx1"/>
                </a:solidFill>
              </a:rPr>
              <a:t>Every line in the READMEs can be pasted into your session. Your edits live in the session; the files in Start/ don't change. Run stops any server it started earlier, so running it again is always safe.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Dyalog 19 and Dyalog 20</a:t>
            </a:r>
            <a:endParaRPr lang="en-US" sz="3400" dirty="0"/>
          </a:p>
        </p:txBody>
      </p:sp>
      <p:sp>
        <p:nvSpPr>
          <p:cNvPr id="3" name="text-158"/>
          <p:cNvSpPr txBox="1"/>
          <p:nvPr/>
        </p:nvSpPr>
        <p:spPr>
          <a:xfrm>
            <a:off x="548640" y="1371600"/>
            <a:ext cx="11094415" cy="685800"/>
          </a:xfrm>
          <a:prstGeom prst="rect">
            <a:avLst/>
          </a:prstGeom>
          <a:noFill/>
          <a:ln/>
        </p:spPr>
        <p:txBody>
          <a:bodyPr wrap="square" lIns="0" tIns="0" rIns="0" bIns="0" rtlCol="0" anchor="t"/>
          <a:lstStyle/>
          <a:p>
            <a:pPr indent="0" marL="0">
              <a:buNone/>
            </a:pPr>
            <a:r>
              <a:rPr lang="en-US" sz="1800" dirty="0">
                <a:solidFill>
                  <a:schemeClr val="tx1"/>
                </a:solidFill>
              </a:rPr>
              <a:t>All the supplied code runs on Dyalog 19.0 and later. Where Dyalog 20 is neater, the READMEs show both. For example, creating an HttpCommand instance from a namespace of settings:</a:t>
            </a:r>
            <a:endParaRPr lang="en-US" sz="1800" dirty="0"/>
          </a:p>
        </p:txBody>
      </p:sp>
      <p:sp>
        <p:nvSpPr>
          <p:cNvPr id="4" name="label-159"/>
          <p:cNvSpPr txBox="1"/>
          <p:nvPr/>
        </p:nvSpPr>
        <p:spPr>
          <a:xfrm>
            <a:off x="548640" y="2240280"/>
            <a:ext cx="3657600" cy="365760"/>
          </a:xfrm>
          <a:prstGeom prst="rect">
            <a:avLst/>
          </a:prstGeom>
          <a:noFill/>
          <a:ln/>
        </p:spPr>
        <p:txBody>
          <a:bodyPr wrap="square" lIns="0" tIns="0" rIns="0" bIns="0" rtlCol="0" anchor="ctr"/>
          <a:lstStyle/>
          <a:p>
            <a:pPr indent="0" marL="0">
              <a:buNone/>
            </a:pPr>
            <a:r>
              <a:rPr lang="en-US" sz="1600" b="1" dirty="0">
                <a:solidFill>
                  <a:schemeClr val="accent2"/>
                </a:solidFill>
              </a:rPr>
              <a:t>Dyalog 19</a:t>
            </a:r>
            <a:endParaRPr lang="en-US" sz="1600" dirty="0"/>
          </a:p>
        </p:txBody>
      </p:sp>
      <p:sp>
        <p:nvSpPr>
          <p:cNvPr id="5" name="code panel-160"/>
          <p:cNvSpPr/>
          <p:nvPr/>
        </p:nvSpPr>
        <p:spPr>
          <a:xfrm>
            <a:off x="548640" y="2651760"/>
            <a:ext cx="11094415" cy="1188720"/>
          </a:xfrm>
          <a:prstGeom prst="roundRect">
            <a:avLst>
              <a:gd name="adj" fmla="val 6154"/>
            </a:avLst>
          </a:prstGeom>
          <a:solidFill>
            <a:schemeClr val="bg2"/>
          </a:solidFill>
          <a:ln w="12700">
            <a:solidFill>
              <a:schemeClr val="bg2"/>
            </a:solidFill>
            <a:prstDash val="solid"/>
          </a:ln>
        </p:spPr>
      </p:sp>
      <p:sp>
        <p:nvSpPr>
          <p:cNvPr id="6" name="code-161"/>
          <p:cNvSpPr txBox="1"/>
          <p:nvPr/>
        </p:nvSpPr>
        <p:spPr>
          <a:xfrm>
            <a:off x="731520" y="2761488"/>
            <a:ext cx="10728655" cy="969264"/>
          </a:xfrm>
          <a:prstGeom prst="rect">
            <a:avLst/>
          </a:prstGeom>
          <a:noFill/>
          <a:ln/>
        </p:spPr>
        <p:txBody>
          <a:bodyPr wrap="square" lIns="0" tIns="0" rIns="0" bIns="0" rtlCol="0" anchor="t"/>
          <a:lstStyle/>
          <a:p>
            <a:pPr indent="0" marL="0">
              <a:buNone/>
            </a:pPr>
            <a:r>
              <a:rPr lang="en-US" sz="1300" dirty="0">
                <a:solidFill>
                  <a:schemeClr val="tx1"/>
                </a:solidFill>
                <a:latin typeface="APL385 Unicode" pitchFamily="34" charset="0"/>
                <a:ea typeface="APL385 Unicode" pitchFamily="34" charset="-122"/>
                <a:cs typeface="APL385 Unicode" pitchFamily="34" charset="-120"/>
              </a:rPr>
              <a:t>s←⎕NS''</a:t>
            </a:r>
            <a:endParaRPr lang="en-US" sz="1300" dirty="0"/>
          </a:p>
          <a:p>
            <a:pPr indent="0" marL="0">
              <a:buNone/>
            </a:pPr>
            <a:r>
              <a:rPr lang="en-US" sz="1300" dirty="0">
                <a:solidFill>
                  <a:schemeClr val="tx1"/>
                </a:solidFill>
                <a:latin typeface="APL385 Unicode" pitchFamily="34" charset="0"/>
                <a:ea typeface="APL385 Unicode" pitchFamily="34" charset="-122"/>
                <a:cs typeface="APL385 Unicode" pitchFamily="34" charset="-120"/>
              </a:rPr>
              <a:t>s.(Command BaseURL TranslateData)←'get' 'https://official-joke-api.appspot.com' 1</a:t>
            </a:r>
            <a:endParaRPr lang="en-US" sz="1300" dirty="0"/>
          </a:p>
          <a:p>
            <a:pPr indent="0" marL="0">
              <a:buNone/>
            </a:pPr>
            <a:r>
              <a:rPr lang="en-US" sz="1300" dirty="0">
                <a:solidFill>
                  <a:schemeClr val="tx1"/>
                </a:solidFill>
                <a:latin typeface="APL385 Unicode" pitchFamily="34" charset="0"/>
                <a:ea typeface="APL385 Unicode" pitchFamily="34" charset="-122"/>
                <a:cs typeface="APL385 Unicode" pitchFamily="34" charset="-120"/>
              </a:rPr>
              <a:t>h←HttpCommand.New s</a:t>
            </a:r>
            <a:endParaRPr lang="en-US" sz="1300" dirty="0"/>
          </a:p>
        </p:txBody>
      </p:sp>
      <p:sp>
        <p:nvSpPr>
          <p:cNvPr id="7" name="label-162"/>
          <p:cNvSpPr txBox="1"/>
          <p:nvPr/>
        </p:nvSpPr>
        <p:spPr>
          <a:xfrm>
            <a:off x="548640" y="4023360"/>
            <a:ext cx="7315200" cy="365760"/>
          </a:xfrm>
          <a:prstGeom prst="rect">
            <a:avLst/>
          </a:prstGeom>
          <a:noFill/>
          <a:ln/>
        </p:spPr>
        <p:txBody>
          <a:bodyPr wrap="square" lIns="0" tIns="0" rIns="0" bIns="0" rtlCol="0" anchor="ctr"/>
          <a:lstStyle/>
          <a:p>
            <a:pPr indent="0" marL="0">
              <a:buNone/>
            </a:pPr>
            <a:r>
              <a:rPr lang="en-US" sz="1600" b="1" dirty="0">
                <a:solidFill>
                  <a:schemeClr val="accent1"/>
                </a:solidFill>
              </a:rPr>
              <a:t>Dyalog 20 alternative, with array notation</a:t>
            </a:r>
            <a:endParaRPr lang="en-US" sz="1600" dirty="0"/>
          </a:p>
        </p:txBody>
      </p:sp>
      <p:sp>
        <p:nvSpPr>
          <p:cNvPr id="8" name="code panel-163"/>
          <p:cNvSpPr/>
          <p:nvPr/>
        </p:nvSpPr>
        <p:spPr>
          <a:xfrm>
            <a:off x="548640" y="4434840"/>
            <a:ext cx="11094415" cy="960120"/>
          </a:xfrm>
          <a:prstGeom prst="roundRect">
            <a:avLst>
              <a:gd name="adj" fmla="val 7619"/>
            </a:avLst>
          </a:prstGeom>
          <a:solidFill>
            <a:schemeClr val="bg2"/>
          </a:solidFill>
          <a:ln w="12700">
            <a:solidFill>
              <a:schemeClr val="bg2"/>
            </a:solidFill>
            <a:prstDash val="solid"/>
          </a:ln>
        </p:spPr>
      </p:sp>
      <p:sp>
        <p:nvSpPr>
          <p:cNvPr id="9" name="code-164"/>
          <p:cNvSpPr txBox="1"/>
          <p:nvPr/>
        </p:nvSpPr>
        <p:spPr>
          <a:xfrm>
            <a:off x="731520" y="4544568"/>
            <a:ext cx="10728655" cy="740664"/>
          </a:xfrm>
          <a:prstGeom prst="rect">
            <a:avLst/>
          </a:prstGeom>
          <a:noFill/>
          <a:ln/>
        </p:spPr>
        <p:txBody>
          <a:bodyPr wrap="square" lIns="0" tIns="0" rIns="0" bIns="0" rtlCol="0" anchor="t"/>
          <a:lstStyle/>
          <a:p>
            <a:pPr indent="0" marL="0">
              <a:buNone/>
            </a:pPr>
            <a:r>
              <a:rPr lang="en-US" sz="1300" dirty="0">
                <a:solidFill>
                  <a:schemeClr val="tx1"/>
                </a:solidFill>
                <a:latin typeface="APL385 Unicode" pitchFamily="34" charset="0"/>
                <a:ea typeface="APL385 Unicode" pitchFamily="34" charset="-122"/>
                <a:cs typeface="APL385 Unicode" pitchFamily="34" charset="-120"/>
              </a:rPr>
              <a:t>h←HttpCommand.New (Command: 'get' ⋄ BaseURL: 'https://official-joke-api.appspot.com' ⋄ TranslateData: 1)</a:t>
            </a:r>
            <a:endParaRPr lang="en-US" sz="1300" dirty="0"/>
          </a:p>
        </p:txBody>
      </p:sp>
      <p:sp>
        <p:nvSpPr>
          <p:cNvPr id="10" name="text-165"/>
          <p:cNvSpPr txBox="1"/>
          <p:nvPr/>
        </p:nvSpPr>
        <p:spPr>
          <a:xfrm>
            <a:off x="548640" y="5623560"/>
            <a:ext cx="11094415" cy="548640"/>
          </a:xfrm>
          <a:prstGeom prst="rect">
            <a:avLst/>
          </a:prstGeom>
          <a:noFill/>
          <a:ln/>
        </p:spPr>
        <p:txBody>
          <a:bodyPr wrap="square" lIns="0" tIns="0" rIns="0" bIns="0" rtlCol="0" anchor="t"/>
          <a:lstStyle/>
          <a:p>
            <a:pPr indent="0" marL="0">
              <a:buNone/>
            </a:pPr>
            <a:r>
              <a:rPr lang="en-US" sz="1600" dirty="0">
                <a:solidFill>
                  <a:schemeClr val="tx1"/>
                </a:solidFill>
              </a:rPr>
              <a:t>The other Dyalog 20 alternatives you'll see: ⎕VGET with a default (an optional field), and ⎕VSET (filling in a namespace).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bg1"/>
                </a:solidFill>
              </a:rPr>
              <a:t>Exercise 1: Introducing the tools</a:t>
            </a:r>
            <a:endParaRPr lang="en-US" sz="3400" dirty="0"/>
          </a:p>
        </p:txBody>
      </p:sp>
      <p:sp>
        <p:nvSpPr>
          <p:cNvPr id="3" name="time-166"/>
          <p:cNvSpPr txBox="1"/>
          <p:nvPr/>
        </p:nvSpPr>
        <p:spPr>
          <a:xfrm>
            <a:off x="548640" y="1234440"/>
            <a:ext cx="3657600" cy="411480"/>
          </a:xfrm>
          <a:prstGeom prst="rect">
            <a:avLst/>
          </a:prstGeom>
          <a:noFill/>
          <a:ln/>
        </p:spPr>
        <p:txBody>
          <a:bodyPr wrap="square" lIns="0" tIns="0" rIns="0" bIns="0" rtlCol="0" anchor="ctr"/>
          <a:lstStyle/>
          <a:p>
            <a:pPr indent="0" marL="0">
              <a:buNone/>
            </a:pPr>
            <a:r>
              <a:rPr lang="en-US" sz="1800" b="1" dirty="0">
                <a:solidFill>
                  <a:schemeClr val="accent1"/>
                </a:solidFill>
              </a:rPr>
              <a:t>30 minutes</a:t>
            </a:r>
            <a:endParaRPr lang="en-US" sz="1800" dirty="0"/>
          </a:p>
        </p:txBody>
      </p:sp>
      <p:sp>
        <p:nvSpPr>
          <p:cNvPr id="4" name="goal-167"/>
          <p:cNvSpPr txBox="1"/>
          <p:nvPr/>
        </p:nvSpPr>
        <p:spPr>
          <a:xfrm>
            <a:off x="548640" y="1691640"/>
            <a:ext cx="5486400" cy="1097280"/>
          </a:xfrm>
          <a:prstGeom prst="rect">
            <a:avLst/>
          </a:prstGeom>
          <a:noFill/>
          <a:ln/>
        </p:spPr>
        <p:txBody>
          <a:bodyPr wrap="square" lIns="0" tIns="0" rIns="0" bIns="0" rtlCol="0" anchor="t"/>
          <a:lstStyle/>
          <a:p>
            <a:pPr indent="0" marL="0">
              <a:buNone/>
            </a:pPr>
            <a:r>
              <a:rPr lang="en-US" sz="2200" dirty="0">
                <a:solidFill>
                  <a:schemeClr val="bg1"/>
                </a:solidFill>
              </a:rPr>
              <a:t>Call a public web service with HttpCommand, then write a Jarvis service and call it from your browser and from APL.</a:t>
            </a:r>
            <a:endParaRPr lang="en-US" sz="2200" dirty="0"/>
          </a:p>
        </p:txBody>
      </p:sp>
      <p:sp>
        <p:nvSpPr>
          <p:cNvPr id="5" name="steps head-168"/>
          <p:cNvSpPr txBox="1"/>
          <p:nvPr/>
        </p:nvSpPr>
        <p:spPr>
          <a:xfrm>
            <a:off x="6400800" y="1280160"/>
            <a:ext cx="5212080" cy="365760"/>
          </a:xfrm>
          <a:prstGeom prst="rect">
            <a:avLst/>
          </a:prstGeom>
          <a:noFill/>
          <a:ln/>
        </p:spPr>
        <p:txBody>
          <a:bodyPr wrap="square" lIns="0" tIns="0" rIns="0" bIns="0" rtlCol="0" anchor="ctr"/>
          <a:lstStyle/>
          <a:p>
            <a:pPr indent="0" marL="0">
              <a:buNone/>
            </a:pPr>
            <a:r>
              <a:rPr lang="en-US" sz="1600" b="1" dirty="0">
                <a:solidFill>
                  <a:schemeClr val="accent4"/>
                </a:solidFill>
              </a:rPr>
              <a:t>Core steps</a:t>
            </a:r>
            <a:endParaRPr lang="en-US" sz="1600" dirty="0"/>
          </a:p>
        </p:txBody>
      </p:sp>
      <p:sp>
        <p:nvSpPr>
          <p:cNvPr id="6" name="steps-169"/>
          <p:cNvSpPr txBox="1"/>
          <p:nvPr/>
        </p:nvSpPr>
        <p:spPr>
          <a:xfrm>
            <a:off x="6400800" y="1691640"/>
            <a:ext cx="5212080" cy="2743200"/>
          </a:xfrm>
          <a:prstGeom prst="rect">
            <a:avLst/>
          </a:prstGeom>
          <a:noFill/>
          <a:ln/>
        </p:spPr>
        <p:txBody>
          <a:bodyPr wrap="square" lIns="0" tIns="0" rIns="0" bIns="0" rtlCol="0" anchor="t"/>
          <a:lstStyle/>
          <a:p>
            <a:pPr indent="0" marL="0">
              <a:spcAft>
                <a:spcPts val="600"/>
              </a:spcAft>
              <a:buNone/>
            </a:pPr>
            <a:r>
              <a:rPr lang="en-US" sz="1700" dirty="0">
                <a:solidFill>
                  <a:schemeClr val="bg1"/>
                </a:solidFill>
              </a:rPr>
              <a:t>Part A (A1 to A4): HttpCommand and the Joke API: rc versus HttpStatus, BaseURL, a namespace of settings</a:t>
            </a:r>
            <a:endParaRPr lang="en-US" sz="1700" dirty="0"/>
          </a:p>
          <a:p>
            <a:pPr indent="0" marL="0">
              <a:spcAft>
                <a:spcPts val="600"/>
              </a:spcAft>
              <a:buNone/>
            </a:pPr>
            <a:r>
              <a:rPr lang="en-US" sz="1700" dirty="0">
                <a:solidFill>
                  <a:schemeClr val="bg1"/>
                </a:solidFill>
              </a:rPr>
              <a:t>Part B (B1 to B6): a Jarvis service with Hello and Sum, called with a JSON body and with a query string</a:t>
            </a:r>
            <a:endParaRPr lang="en-US" sz="1700" dirty="0"/>
          </a:p>
        </p:txBody>
      </p:sp>
      <p:sp>
        <p:nvSpPr>
          <p:cNvPr id="7" name="first head-170"/>
          <p:cNvSpPr txBox="1"/>
          <p:nvPr/>
        </p:nvSpPr>
        <p:spPr>
          <a:xfrm>
            <a:off x="548640" y="4160520"/>
            <a:ext cx="7315200" cy="365760"/>
          </a:xfrm>
          <a:prstGeom prst="rect">
            <a:avLst/>
          </a:prstGeom>
          <a:noFill/>
          <a:ln/>
        </p:spPr>
        <p:txBody>
          <a:bodyPr wrap="square" lIns="0" tIns="0" rIns="0" bIns="0" rtlCol="0" anchor="ctr"/>
          <a:lstStyle/>
          <a:p>
            <a:pPr indent="0" marL="0">
              <a:buNone/>
            </a:pPr>
            <a:r>
              <a:rPr lang="en-US" sz="1600" b="1" dirty="0">
                <a:solidFill>
                  <a:schemeClr val="accent4"/>
                </a:solidFill>
              </a:rPr>
              <a:t>Start here, after Setup</a:t>
            </a:r>
            <a:endParaRPr lang="en-US" sz="1600" dirty="0"/>
          </a:p>
        </p:txBody>
      </p:sp>
      <p:sp>
        <p:nvSpPr>
          <p:cNvPr id="8" name="code panel-171"/>
          <p:cNvSpPr/>
          <p:nvPr/>
        </p:nvSpPr>
        <p:spPr>
          <a:xfrm>
            <a:off x="548640" y="4572000"/>
            <a:ext cx="11094415" cy="685800"/>
          </a:xfrm>
          <a:prstGeom prst="roundRect">
            <a:avLst>
              <a:gd name="adj" fmla="val 10667"/>
            </a:avLst>
          </a:prstGeom>
          <a:solidFill>
            <a:schemeClr val="tx2"/>
          </a:solidFill>
          <a:ln w="12700">
            <a:solidFill>
              <a:schemeClr val="tx2"/>
            </a:solidFill>
            <a:prstDash val="solid"/>
          </a:ln>
        </p:spPr>
      </p:sp>
      <p:sp>
        <p:nvSpPr>
          <p:cNvPr id="9" name="code-172"/>
          <p:cNvSpPr txBox="1"/>
          <p:nvPr/>
        </p:nvSpPr>
        <p:spPr>
          <a:xfrm>
            <a:off x="731520" y="4681728"/>
            <a:ext cx="10728655" cy="466344"/>
          </a:xfrm>
          <a:prstGeom prst="rect">
            <a:avLst/>
          </a:prstGeom>
          <a:noFill/>
          <a:ln/>
        </p:spPr>
        <p:txBody>
          <a:bodyPr wrap="square" lIns="0" tIns="0" rIns="0" bIns="0" rtlCol="0" anchor="t"/>
          <a:lstStyle/>
          <a:p>
            <a:pPr indent="0" marL="0">
              <a:buNone/>
            </a:pPr>
            <a:r>
              <a:rPr lang="en-US" sz="1500" dirty="0">
                <a:solidFill>
                  <a:schemeClr val="bg1"/>
                </a:solidFill>
                <a:latin typeface="APL385 Unicode" pitchFamily="34" charset="0"/>
                <a:ea typeface="APL385 Unicode" pitchFamily="34" charset="-122"/>
                <a:cs typeface="APL385 Unicode" pitchFamily="34" charset="-120"/>
              </a:rPr>
              <a:t>2 ⎕FIX 'file://',#.WorkshopRoot,'/Exercises/Ex1-Tools/Run.aplf'</a:t>
            </a:r>
            <a:endParaRPr lang="en-US" sz="1500" dirty="0"/>
          </a:p>
        </p:txBody>
      </p:sp>
      <p:sp>
        <p:nvSpPr>
          <p:cNvPr id="10" name="readme-173"/>
          <p:cNvSpPr txBox="1"/>
          <p:nvPr/>
        </p:nvSpPr>
        <p:spPr>
          <a:xfrm>
            <a:off x="548640" y="6355080"/>
            <a:ext cx="10058400" cy="320040"/>
          </a:xfrm>
          <a:prstGeom prst="rect">
            <a:avLst/>
          </a:prstGeom>
          <a:noFill/>
          <a:ln/>
        </p:spPr>
        <p:txBody>
          <a:bodyPr wrap="square" lIns="0" tIns="0" rIns="0" bIns="0" rtlCol="0" anchor="ctr"/>
          <a:lstStyle/>
          <a:p>
            <a:pPr indent="0" marL="0">
              <a:buNone/>
            </a:pPr>
            <a:r>
              <a:rPr lang="en-US" sz="1300" dirty="0">
                <a:solidFill>
                  <a:schemeClr val="accent5"/>
                </a:solidFill>
              </a:rPr>
              <a:t>Exercises/Ex1-Tools/README.md    No network? The README has an offline route.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731520" y="2103120"/>
            <a:ext cx="10515600" cy="1188720"/>
          </a:xfrm>
          <a:prstGeom prst="rect">
            <a:avLst/>
          </a:prstGeom>
          <a:noFill/>
          <a:ln/>
        </p:spPr>
        <p:txBody>
          <a:bodyPr wrap="square" lIns="0" tIns="0" rIns="0" bIns="0" rtlCol="0" anchor="b"/>
          <a:lstStyle/>
          <a:p>
            <a:pPr algn="l" indent="0" marL="0">
              <a:buNone/>
            </a:pPr>
            <a:r>
              <a:rPr lang="en-US" sz="5000" b="1" dirty="0">
                <a:solidFill>
                  <a:schemeClr val="bg1"/>
                </a:solidFill>
              </a:rPr>
              <a:t>Web hooks</a:t>
            </a:r>
            <a:endParaRPr lang="en-US" sz="5000" dirty="0"/>
          </a:p>
        </p:txBody>
      </p:sp>
      <p:sp>
        <p:nvSpPr>
          <p:cNvPr id="3" name="Text 1"/>
          <p:cNvSpPr/>
          <p:nvPr>
            <p:ph idx="102" type="body" hasCustomPrompt="1"/>
          </p:nvPr>
        </p:nvSpPr>
        <p:spPr>
          <a:xfrm>
            <a:off x="731520" y="3429000"/>
            <a:ext cx="10515600" cy="731520"/>
          </a:xfrm>
          <a:prstGeom prst="rect">
            <a:avLst/>
          </a:prstGeom>
          <a:noFill/>
          <a:ln/>
        </p:spPr>
        <p:txBody>
          <a:bodyPr wrap="square" lIns="0" tIns="0" rIns="0" bIns="0" rtlCol="0" anchor="t"/>
          <a:lstStyle/>
          <a:p>
            <a:pPr indent="0" marL="0">
              <a:buNone/>
            </a:pPr>
            <a:r>
              <a:rPr lang="en-US" sz="2400" dirty="0">
                <a:solidFill>
                  <a:schemeClr val="accent4"/>
                </a:solidFill>
              </a:rPr>
              <a:t>Don't wait for the answer: get a ticket, and be called back</a:t>
            </a:r>
            <a:endParaRPr lang="en-US" sz="2400" dirty="0"/>
          </a:p>
        </p:txBody>
      </p:sp>
      <p:sp>
        <p:nvSpPr>
          <p:cNvPr id="4" name="Text 1"/>
          <p:cNvSpPr/>
          <p:nvPr>
            <p:ph idx="103" type="body" hasCustomPrompt="1"/>
          </p:nvPr>
        </p:nvSpPr>
        <p:spPr>
          <a:xfrm>
            <a:off x="731520" y="5303520"/>
            <a:ext cx="10515600" cy="457200"/>
          </a:xfrm>
          <a:prstGeom prst="rect">
            <a:avLst/>
          </a:prstGeom>
          <a:noFill/>
          <a:ln/>
        </p:spPr>
        <p:txBody>
          <a:bodyPr wrap="square" lIns="0" tIns="0" rIns="0" bIns="0" rtlCol="0"/>
          <a:lstStyle/>
          <a:p>
            <a:pPr indent="0" marL="0">
              <a:buNone/>
            </a:pPr>
            <a:r>
              <a:rPr lang="en-US" sz="1600" dirty="0">
                <a:solidFill>
                  <a:schemeClr val="accent5"/>
                </a:solidFill>
              </a:rPr>
              <a:t>10 minutes, then Exercise 2 after the break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ticket pattern</a:t>
            </a:r>
            <a:endParaRPr lang="en-US" sz="3400" dirty="0"/>
          </a:p>
        </p:txBody>
      </p:sp>
      <p:sp>
        <p:nvSpPr>
          <p:cNvPr id="3" name="lane-174"/>
          <p:cNvSpPr/>
          <p:nvPr/>
        </p:nvSpPr>
        <p:spPr>
          <a:xfrm>
            <a:off x="2397709" y="1920240"/>
            <a:ext cx="0" cy="4023360"/>
          </a:xfrm>
          <a:prstGeom prst="line">
            <a:avLst/>
          </a:prstGeom>
          <a:noFill/>
          <a:ln w="15875">
            <a:solidFill>
              <a:schemeClr val="accent3"/>
            </a:solidFill>
            <a:prstDash val="dash"/>
          </a:ln>
        </p:spPr>
      </p:sp>
      <p:sp>
        <p:nvSpPr>
          <p:cNvPr id="4" name="lane head-175"/>
          <p:cNvSpPr/>
          <p:nvPr/>
        </p:nvSpPr>
        <p:spPr>
          <a:xfrm>
            <a:off x="1208989" y="1417320"/>
            <a:ext cx="2377440" cy="502920"/>
          </a:xfrm>
          <a:prstGeom prst="roundRect">
            <a:avLst>
              <a:gd name="adj" fmla="val 14545"/>
            </a:avLst>
          </a:prstGeom>
          <a:solidFill>
            <a:schemeClr val="accent4"/>
          </a:solidFill>
          <a:ln w="12700">
            <a:solidFill>
              <a:schemeClr val="accent4"/>
            </a:solidFill>
            <a:prstDash val="solid"/>
          </a:ln>
        </p:spPr>
      </p:sp>
      <p:sp>
        <p:nvSpPr>
          <p:cNvPr id="5" name="lane name-176"/>
          <p:cNvSpPr txBox="1"/>
          <p:nvPr/>
        </p:nvSpPr>
        <p:spPr>
          <a:xfrm>
            <a:off x="1208989" y="141732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Client</a:t>
            </a:r>
            <a:endParaRPr lang="en-US" sz="1500" dirty="0"/>
          </a:p>
        </p:txBody>
      </p:sp>
      <p:sp>
        <p:nvSpPr>
          <p:cNvPr id="6" name="lane-177"/>
          <p:cNvSpPr/>
          <p:nvPr/>
        </p:nvSpPr>
        <p:spPr>
          <a:xfrm>
            <a:off x="6095848" y="1920240"/>
            <a:ext cx="0" cy="4023360"/>
          </a:xfrm>
          <a:prstGeom prst="line">
            <a:avLst/>
          </a:prstGeom>
          <a:noFill/>
          <a:ln w="15875">
            <a:solidFill>
              <a:schemeClr val="accent3"/>
            </a:solidFill>
            <a:prstDash val="dash"/>
          </a:ln>
        </p:spPr>
      </p:sp>
      <p:sp>
        <p:nvSpPr>
          <p:cNvPr id="7" name="lane head-178"/>
          <p:cNvSpPr/>
          <p:nvPr/>
        </p:nvSpPr>
        <p:spPr>
          <a:xfrm>
            <a:off x="4907128" y="1417320"/>
            <a:ext cx="2377440" cy="502920"/>
          </a:xfrm>
          <a:prstGeom prst="roundRect">
            <a:avLst>
              <a:gd name="adj" fmla="val 14545"/>
            </a:avLst>
          </a:prstGeom>
          <a:solidFill>
            <a:schemeClr val="accent4"/>
          </a:solidFill>
          <a:ln w="12700">
            <a:solidFill>
              <a:schemeClr val="accent4"/>
            </a:solidFill>
            <a:prstDash val="solid"/>
          </a:ln>
        </p:spPr>
      </p:sp>
      <p:sp>
        <p:nvSpPr>
          <p:cNvPr id="8" name="lane name-179"/>
          <p:cNvSpPr txBox="1"/>
          <p:nvPr/>
        </p:nvSpPr>
        <p:spPr>
          <a:xfrm>
            <a:off x="4907128" y="141732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Ticket server :8081</a:t>
            </a:r>
            <a:endParaRPr lang="en-US" sz="1500" dirty="0"/>
          </a:p>
        </p:txBody>
      </p:sp>
      <p:sp>
        <p:nvSpPr>
          <p:cNvPr id="9" name="lane-180"/>
          <p:cNvSpPr/>
          <p:nvPr/>
        </p:nvSpPr>
        <p:spPr>
          <a:xfrm>
            <a:off x="9793986" y="1920240"/>
            <a:ext cx="0" cy="4023360"/>
          </a:xfrm>
          <a:prstGeom prst="line">
            <a:avLst/>
          </a:prstGeom>
          <a:noFill/>
          <a:ln w="15875">
            <a:solidFill>
              <a:schemeClr val="accent3"/>
            </a:solidFill>
            <a:prstDash val="dash"/>
          </a:ln>
        </p:spPr>
      </p:sp>
      <p:sp>
        <p:nvSpPr>
          <p:cNvPr id="10" name="lane head-181"/>
          <p:cNvSpPr/>
          <p:nvPr/>
        </p:nvSpPr>
        <p:spPr>
          <a:xfrm>
            <a:off x="8605266" y="1417320"/>
            <a:ext cx="2377440" cy="502920"/>
          </a:xfrm>
          <a:prstGeom prst="roundRect">
            <a:avLst>
              <a:gd name="adj" fmla="val 14545"/>
            </a:avLst>
          </a:prstGeom>
          <a:solidFill>
            <a:schemeClr val="accent4"/>
          </a:solidFill>
          <a:ln w="12700">
            <a:solidFill>
              <a:schemeClr val="accent4"/>
            </a:solidFill>
            <a:prstDash val="solid"/>
          </a:ln>
        </p:spPr>
      </p:sp>
      <p:sp>
        <p:nvSpPr>
          <p:cNvPr id="11" name="lane name-182"/>
          <p:cNvSpPr txBox="1"/>
          <p:nvPr/>
        </p:nvSpPr>
        <p:spPr>
          <a:xfrm>
            <a:off x="8605266" y="141732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Callback server :8082</a:t>
            </a:r>
            <a:endParaRPr lang="en-US" sz="1500" dirty="0"/>
          </a:p>
        </p:txBody>
      </p:sp>
      <p:sp>
        <p:nvSpPr>
          <p:cNvPr id="12" name="message-183"/>
          <p:cNvSpPr/>
          <p:nvPr/>
        </p:nvSpPr>
        <p:spPr>
          <a:xfrm>
            <a:off x="2397709" y="2880360"/>
            <a:ext cx="3698138" cy="0"/>
          </a:xfrm>
          <a:prstGeom prst="line">
            <a:avLst/>
          </a:prstGeom>
          <a:noFill/>
          <a:ln w="28575">
            <a:solidFill>
              <a:schemeClr val="accent1"/>
            </a:solidFill>
            <a:prstDash val="solid"/>
            <a:tailEnd type="triangle"/>
          </a:ln>
        </p:spPr>
      </p:sp>
      <p:sp>
        <p:nvSpPr>
          <p:cNvPr id="13" name="message label-184"/>
          <p:cNvSpPr txBox="1"/>
          <p:nvPr/>
        </p:nvSpPr>
        <p:spPr>
          <a:xfrm>
            <a:off x="2443429" y="2039112"/>
            <a:ext cx="3606698" cy="777240"/>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POST /Submit</a:t>
            </a:r>
            <a:endParaRPr lang="en-US" sz="1200" dirty="0"/>
          </a:p>
          <a:p>
            <a:pPr algn="ctr" indent="0" marL="0">
              <a:buNone/>
            </a:pPr>
            <a:r>
              <a:rPr lang="en-US" sz="1200" dirty="0">
                <a:solidFill>
                  <a:schemeClr val="tx1"/>
                </a:solidFill>
                <a:latin typeface="APL385 Unicode" pitchFamily="34" charset="0"/>
                <a:ea typeface="APL385 Unicode" pitchFamily="34" charset="-122"/>
                <a:cs typeface="APL385 Unicode" pitchFamily="34" charset="-120"/>
              </a:rPr>
              <a:t>{"n":360,"callback":</a:t>
            </a:r>
            <a:endParaRPr lang="en-US" sz="1200" dirty="0"/>
          </a:p>
          <a:p>
            <a:pPr algn="ctr" indent="0" marL="0">
              <a:buNone/>
            </a:pPr>
            <a:r>
              <a:rPr lang="en-US" sz="1200" dirty="0">
                <a:solidFill>
                  <a:schemeClr val="tx1"/>
                </a:solidFill>
                <a:latin typeface="APL385 Unicode" pitchFamily="34" charset="0"/>
                <a:ea typeface="APL385 Unicode" pitchFamily="34" charset="-122"/>
                <a:cs typeface="APL385 Unicode" pitchFamily="34" charset="-120"/>
              </a:rPr>
              <a:t>"http://localhost:8082/Result"}</a:t>
            </a:r>
            <a:endParaRPr lang="en-US" sz="1200" dirty="0"/>
          </a:p>
        </p:txBody>
      </p:sp>
      <p:sp>
        <p:nvSpPr>
          <p:cNvPr id="14" name="message-185"/>
          <p:cNvSpPr/>
          <p:nvPr/>
        </p:nvSpPr>
        <p:spPr>
          <a:xfrm>
            <a:off x="2397709" y="3520440"/>
            <a:ext cx="3698138" cy="0"/>
          </a:xfrm>
          <a:prstGeom prst="line">
            <a:avLst/>
          </a:prstGeom>
          <a:noFill/>
          <a:ln w="28575">
            <a:solidFill>
              <a:schemeClr val="accent2"/>
            </a:solidFill>
            <a:prstDash val="solid"/>
            <a:headEnd type="triangle"/>
          </a:ln>
        </p:spPr>
      </p:sp>
      <p:sp>
        <p:nvSpPr>
          <p:cNvPr id="15" name="message label-186"/>
          <p:cNvSpPr txBox="1"/>
          <p:nvPr/>
        </p:nvSpPr>
        <p:spPr>
          <a:xfrm>
            <a:off x="2443429" y="3127248"/>
            <a:ext cx="3606698"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{"ticket":17}  at once</a:t>
            </a:r>
            <a:endParaRPr lang="en-US" sz="1200" dirty="0"/>
          </a:p>
        </p:txBody>
      </p:sp>
      <p:sp>
        <p:nvSpPr>
          <p:cNvPr id="16" name="lane note-187"/>
          <p:cNvSpPr/>
          <p:nvPr/>
        </p:nvSpPr>
        <p:spPr>
          <a:xfrm>
            <a:off x="4724248" y="3840480"/>
            <a:ext cx="2743200" cy="822960"/>
          </a:xfrm>
          <a:prstGeom prst="roundRect">
            <a:avLst>
              <a:gd name="adj" fmla="val 6667"/>
            </a:avLst>
          </a:prstGeom>
          <a:solidFill>
            <a:schemeClr val="accent5"/>
          </a:solidFill>
          <a:ln w="12700">
            <a:solidFill>
              <a:schemeClr val="accent5"/>
            </a:solidFill>
            <a:prstDash val="solid"/>
          </a:ln>
        </p:spPr>
      </p:sp>
      <p:sp>
        <p:nvSpPr>
          <p:cNvPr id="17" name="lane note text-188"/>
          <p:cNvSpPr txBox="1"/>
          <p:nvPr/>
        </p:nvSpPr>
        <p:spPr>
          <a:xfrm>
            <a:off x="4797400" y="3840480"/>
            <a:ext cx="2596896" cy="822960"/>
          </a:xfrm>
          <a:prstGeom prst="rect">
            <a:avLst/>
          </a:prstGeom>
          <a:noFill/>
          <a:ln/>
        </p:spPr>
        <p:txBody>
          <a:bodyPr wrap="square" lIns="0" tIns="0" rIns="0" bIns="0" rtlCol="0" anchor="ctr"/>
          <a:lstStyle/>
          <a:p>
            <a:pPr algn="ctr" indent="0" marL="0">
              <a:buNone/>
            </a:pPr>
            <a:r>
              <a:rPr lang="en-US" sz="1300" dirty="0">
                <a:solidFill>
                  <a:schemeClr val="tx1"/>
                </a:solidFill>
              </a:rPr>
              <a:t>Work runs in its own thread:</a:t>
            </a:r>
            <a:endParaRPr lang="en-US" sz="1300" dirty="0"/>
          </a:p>
          <a:p>
            <a:pPr algn="ctr" indent="0" marL="0">
              <a:buNone/>
            </a:pPr>
            <a:r>
              <a:rPr lang="en-US" sz="1300" dirty="0">
                <a:solidFill>
                  <a:schemeClr val="tx1"/>
                </a:solidFill>
              </a:rPr>
              <a:t>Factors 360</a:t>
            </a:r>
            <a:endParaRPr lang="en-US" sz="1300" dirty="0"/>
          </a:p>
        </p:txBody>
      </p:sp>
      <p:sp>
        <p:nvSpPr>
          <p:cNvPr id="18" name="message-189"/>
          <p:cNvSpPr/>
          <p:nvPr/>
        </p:nvSpPr>
        <p:spPr>
          <a:xfrm>
            <a:off x="6095848" y="5715000"/>
            <a:ext cx="3698138" cy="0"/>
          </a:xfrm>
          <a:prstGeom prst="line">
            <a:avLst/>
          </a:prstGeom>
          <a:noFill/>
          <a:ln w="28575">
            <a:solidFill>
              <a:schemeClr val="accent2"/>
            </a:solidFill>
            <a:prstDash val="solid"/>
            <a:tailEnd type="triangle"/>
          </a:ln>
        </p:spPr>
      </p:sp>
      <p:sp>
        <p:nvSpPr>
          <p:cNvPr id="19" name="message label-190"/>
          <p:cNvSpPr txBox="1"/>
          <p:nvPr/>
        </p:nvSpPr>
        <p:spPr>
          <a:xfrm>
            <a:off x="6141568" y="4873752"/>
            <a:ext cx="3606698" cy="777240"/>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POST /Result</a:t>
            </a:r>
            <a:endParaRPr lang="en-US" sz="1200" dirty="0"/>
          </a:p>
          <a:p>
            <a:pPr algn="ctr" indent="0" marL="0">
              <a:buNone/>
            </a:pPr>
            <a:r>
              <a:rPr lang="en-US" sz="1200" dirty="0">
                <a:solidFill>
                  <a:schemeClr val="tx1"/>
                </a:solidFill>
                <a:latin typeface="APL385 Unicode" pitchFamily="34" charset="0"/>
                <a:ea typeface="APL385 Unicode" pitchFamily="34" charset="-122"/>
                <a:cs typeface="APL385 Unicode" pitchFamily="34" charset="-120"/>
              </a:rPr>
              <a:t>{"ticket":17,"n":360,</a:t>
            </a:r>
            <a:endParaRPr lang="en-US" sz="1200" dirty="0"/>
          </a:p>
          <a:p>
            <a:pPr algn="ctr" indent="0" marL="0">
              <a:buNone/>
            </a:pPr>
            <a:r>
              <a:rPr lang="en-US" sz="1200" dirty="0">
                <a:solidFill>
                  <a:schemeClr val="tx1"/>
                </a:solidFill>
                <a:latin typeface="APL385 Unicode" pitchFamily="34" charset="0"/>
                <a:ea typeface="APL385 Unicode" pitchFamily="34" charset="-122"/>
                <a:cs typeface="APL385 Unicode" pitchFamily="34" charset="-120"/>
              </a:rPr>
              <a:t>"factors":[2,2,2,3,3,5]}</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Answer now, work later</a:t>
            </a:r>
            <a:endParaRPr lang="en-US" sz="3400" dirty="0"/>
          </a:p>
        </p:txBody>
      </p:sp>
      <p:sp>
        <p:nvSpPr>
          <p:cNvPr id="3" name="code panel-191"/>
          <p:cNvSpPr/>
          <p:nvPr/>
        </p:nvSpPr>
        <p:spPr>
          <a:xfrm>
            <a:off x="548640" y="1463040"/>
            <a:ext cx="6309360" cy="3017520"/>
          </a:xfrm>
          <a:prstGeom prst="roundRect">
            <a:avLst>
              <a:gd name="adj" fmla="val 2424"/>
            </a:avLst>
          </a:prstGeom>
          <a:solidFill>
            <a:schemeClr val="bg2"/>
          </a:solidFill>
          <a:ln w="12700">
            <a:solidFill>
              <a:schemeClr val="bg2"/>
            </a:solidFill>
            <a:prstDash val="solid"/>
          </a:ln>
        </p:spPr>
      </p:sp>
      <p:sp>
        <p:nvSpPr>
          <p:cNvPr id="4" name="code-192"/>
          <p:cNvSpPr txBox="1"/>
          <p:nvPr/>
        </p:nvSpPr>
        <p:spPr>
          <a:xfrm>
            <a:off x="731520" y="1572768"/>
            <a:ext cx="5943600" cy="2798064"/>
          </a:xfrm>
          <a:prstGeom prst="rect">
            <a:avLst/>
          </a:prstGeom>
          <a:noFill/>
          <a:ln/>
        </p:spPr>
        <p:txBody>
          <a:bodyPr wrap="square" lIns="0" tIns="0" rIns="0" bIns="0" rtlCol="0" anchor="t"/>
          <a:lstStyle/>
          <a:p>
            <a:pPr indent="0" marL="0">
              <a:buNone/>
            </a:pPr>
            <a:r>
              <a:rPr lang="en-US" sz="1600" dirty="0">
                <a:solidFill>
                  <a:schemeClr val="tx1"/>
                </a:solidFill>
                <a:latin typeface="APL385 Unicode" pitchFamily="34" charset="0"/>
                <a:ea typeface="APL385 Unicode" pitchFamily="34" charset="-122"/>
                <a:cs typeface="APL385 Unicode" pitchFamily="34" charset="-120"/>
              </a:rPr>
              <a:t> :Hold 'Ex2Ticket'</a:t>
            </a:r>
            <a:endParaRPr lang="en-US" sz="1600" dirty="0"/>
          </a:p>
          <a:p>
            <a:pPr indent="0" marL="0">
              <a:buNone/>
            </a:pPr>
            <a:r>
              <a:rPr lang="en-US" sz="1600" dirty="0">
                <a:solidFill>
                  <a:schemeClr val="tx1"/>
                </a:solidFill>
                <a:latin typeface="APL385 Unicode" pitchFamily="34" charset="0"/>
                <a:ea typeface="APL385 Unicode" pitchFamily="34" charset="-122"/>
                <a:cs typeface="APL385 Unicode" pitchFamily="34" charset="-120"/>
              </a:rPr>
              <a:t>     ticket←LastTicket←LastTicket+1</a:t>
            </a:r>
            <a:endParaRPr lang="en-US" sz="1600" dirty="0"/>
          </a:p>
          <a:p>
            <a:pPr indent="0" marL="0">
              <a:buNone/>
            </a:pPr>
            <a:r>
              <a:rPr lang="en-US" sz="1600" dirty="0">
                <a:solidFill>
                  <a:schemeClr val="tx1"/>
                </a:solidFill>
                <a:latin typeface="APL385 Unicode" pitchFamily="34" charset="0"/>
                <a:ea typeface="APL385 Unicode" pitchFamily="34" charset="-122"/>
                <a:cs typeface="APL385 Unicode" pitchFamily="34" charset="-120"/>
              </a:rPr>
              <a:t> :EndHold</a:t>
            </a:r>
            <a:endParaRPr lang="en-US" sz="1600" dirty="0"/>
          </a:p>
          <a:p>
            <a:pPr indent="0" marL="0">
              <a:buNone/>
            </a:pPr>
            <a:r>
              <a:rPr lang="en-US" sz="1600" dirty="0">
                <a:solidFill>
                  <a:schemeClr val="tx1"/>
                </a:solidFill>
                <a:latin typeface="APL385 Unicode" pitchFamily="34" charset="0"/>
                <a:ea typeface="APL385 Unicode" pitchFamily="34" charset="-122"/>
                <a:cs typeface="APL385 Unicode" pitchFamily="34" charset="-120"/>
              </a:rPr>
              <a:t> Work&amp;ticket job   ⍝ &amp; starts a new thread</a:t>
            </a:r>
            <a:endParaRPr lang="en-US" sz="1600" dirty="0"/>
          </a:p>
          <a:p>
            <a:pPr indent="0" marL="0">
              <a:buNone/>
            </a:pPr>
            <a:r>
              <a:rPr lang="en-US" sz="1600" dirty="0">
                <a:solidFill>
                  <a:schemeClr val="tx1"/>
                </a:solidFill>
                <a:latin typeface="APL385 Unicode" pitchFamily="34" charset="0"/>
                <a:ea typeface="APL385 Unicode" pitchFamily="34" charset="-122"/>
                <a:cs typeface="APL385 Unicode" pitchFamily="34" charset="-120"/>
              </a:rPr>
              <a:t> r←⎕NS''</a:t>
            </a:r>
            <a:endParaRPr lang="en-US" sz="1600" dirty="0"/>
          </a:p>
          <a:p>
            <a:pPr indent="0" marL="0">
              <a:buNone/>
            </a:pPr>
            <a:r>
              <a:rPr lang="en-US" sz="1600" dirty="0">
                <a:solidFill>
                  <a:schemeClr val="tx1"/>
                </a:solidFill>
                <a:latin typeface="APL385 Unicode" pitchFamily="34" charset="0"/>
                <a:ea typeface="APL385 Unicode" pitchFamily="34" charset="-122"/>
                <a:cs typeface="APL385 Unicode" pitchFamily="34" charset="-120"/>
              </a:rPr>
              <a:t> r.ticket←ticket</a:t>
            </a:r>
            <a:endParaRPr lang="en-US" sz="1600" dirty="0"/>
          </a:p>
        </p:txBody>
      </p:sp>
      <p:sp>
        <p:nvSpPr>
          <p:cNvPr id="5" name="text-193"/>
          <p:cNvSpPr txBox="1"/>
          <p:nvPr/>
        </p:nvSpPr>
        <p:spPr>
          <a:xfrm>
            <a:off x="548640" y="4663440"/>
            <a:ext cx="6309360" cy="457200"/>
          </a:xfrm>
          <a:prstGeom prst="rect">
            <a:avLst/>
          </a:prstGeom>
          <a:noFill/>
          <a:ln/>
        </p:spPr>
        <p:txBody>
          <a:bodyPr wrap="square" lIns="0" tIns="0" rIns="0" bIns="0" rtlCol="0" anchor="t"/>
          <a:lstStyle/>
          <a:p>
            <a:pPr indent="0" marL="0">
              <a:buNone/>
            </a:pPr>
            <a:r>
              <a:rPr lang="en-US" sz="1400" dirty="0">
                <a:solidFill>
                  <a:schemeClr val="accent3"/>
                </a:solidFill>
              </a:rPr>
              <a:t>From Submit, the ticket server's endpoint</a:t>
            </a:r>
            <a:endParaRPr lang="en-US" sz="1400" dirty="0"/>
          </a:p>
        </p:txBody>
      </p:sp>
      <p:sp>
        <p:nvSpPr>
          <p:cNvPr id="6" name="card-194"/>
          <p:cNvSpPr/>
          <p:nvPr/>
        </p:nvSpPr>
        <p:spPr>
          <a:xfrm>
            <a:off x="7132320" y="1463040"/>
            <a:ext cx="4480560" cy="1463040"/>
          </a:xfrm>
          <a:prstGeom prst="roundRect">
            <a:avLst>
              <a:gd name="adj" fmla="val 6250"/>
            </a:avLst>
          </a:prstGeom>
          <a:solidFill>
            <a:schemeClr val="bg2"/>
          </a:solidFill>
          <a:ln w="12700">
            <a:solidFill>
              <a:schemeClr val="bg2"/>
            </a:solidFill>
            <a:prstDash val="solid"/>
          </a:ln>
        </p:spPr>
      </p:sp>
      <p:sp>
        <p:nvSpPr>
          <p:cNvPr id="7" name="card head-195"/>
          <p:cNvSpPr txBox="1"/>
          <p:nvPr/>
        </p:nvSpPr>
        <p:spPr>
          <a:xfrm>
            <a:off x="7406640" y="1691640"/>
            <a:ext cx="39319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Reply at once</a:t>
            </a:r>
            <a:endParaRPr lang="en-US" sz="1900" dirty="0"/>
          </a:p>
        </p:txBody>
      </p:sp>
      <p:sp>
        <p:nvSpPr>
          <p:cNvPr id="8" name="card body-196"/>
          <p:cNvSpPr txBox="1"/>
          <p:nvPr/>
        </p:nvSpPr>
        <p:spPr>
          <a:xfrm>
            <a:off x="7406640" y="2240280"/>
            <a:ext cx="3931920" cy="502920"/>
          </a:xfrm>
          <a:prstGeom prst="rect">
            <a:avLst/>
          </a:prstGeom>
          <a:noFill/>
          <a:ln/>
        </p:spPr>
        <p:txBody>
          <a:bodyPr wrap="square" lIns="0" tIns="0" rIns="0" bIns="0" rtlCol="0" anchor="t"/>
          <a:lstStyle/>
          <a:p>
            <a:pPr indent="0" marL="0">
              <a:buNone/>
            </a:pPr>
            <a:r>
              <a:rPr lang="en-US" sz="1500" dirty="0">
                <a:solidFill>
                  <a:schemeClr val="tx1"/>
                </a:solidFill>
              </a:rPr>
              <a:t>&amp; runs Work in a new thread, so Submit returns the ticket straight away.</a:t>
            </a:r>
            <a:endParaRPr lang="en-US" sz="1500" dirty="0"/>
          </a:p>
        </p:txBody>
      </p:sp>
      <p:sp>
        <p:nvSpPr>
          <p:cNvPr id="9" name="card-197"/>
          <p:cNvSpPr/>
          <p:nvPr/>
        </p:nvSpPr>
        <p:spPr>
          <a:xfrm>
            <a:off x="7132320" y="3063240"/>
            <a:ext cx="4480560" cy="1463040"/>
          </a:xfrm>
          <a:prstGeom prst="roundRect">
            <a:avLst>
              <a:gd name="adj" fmla="val 6250"/>
            </a:avLst>
          </a:prstGeom>
          <a:solidFill>
            <a:schemeClr val="bg2"/>
          </a:solidFill>
          <a:ln w="12700">
            <a:solidFill>
              <a:schemeClr val="bg2"/>
            </a:solidFill>
            <a:prstDash val="solid"/>
          </a:ln>
        </p:spPr>
      </p:sp>
      <p:sp>
        <p:nvSpPr>
          <p:cNvPr id="10" name="card head-198"/>
          <p:cNvSpPr txBox="1"/>
          <p:nvPr/>
        </p:nvSpPr>
        <p:spPr>
          <a:xfrm>
            <a:off x="7406640" y="3291840"/>
            <a:ext cx="39319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One ticket each</a:t>
            </a:r>
            <a:endParaRPr lang="en-US" sz="1900" dirty="0"/>
          </a:p>
        </p:txBody>
      </p:sp>
      <p:sp>
        <p:nvSpPr>
          <p:cNvPr id="11" name="card body-199"/>
          <p:cNvSpPr txBox="1"/>
          <p:nvPr/>
        </p:nvSpPr>
        <p:spPr>
          <a:xfrm>
            <a:off x="7406640" y="3840480"/>
            <a:ext cx="3931920" cy="502920"/>
          </a:xfrm>
          <a:prstGeom prst="rect">
            <a:avLst/>
          </a:prstGeom>
          <a:noFill/>
          <a:ln/>
        </p:spPr>
        <p:txBody>
          <a:bodyPr wrap="square" lIns="0" tIns="0" rIns="0" bIns="0" rtlCol="0" anchor="t"/>
          <a:lstStyle/>
          <a:p>
            <a:pPr indent="0" marL="0">
              <a:buNone/>
            </a:pPr>
            <a:r>
              <a:rPr lang="en-US" sz="1500" dirty="0">
                <a:solidFill>
                  <a:schemeClr val="tx1"/>
                </a:solidFill>
              </a:rPr>
              <a:t>:Hold makes sure two requests never get the same number.</a:t>
            </a:r>
            <a:endParaRPr lang="en-US" sz="1500" dirty="0"/>
          </a:p>
        </p:txBody>
      </p:sp>
      <p:sp>
        <p:nvSpPr>
          <p:cNvPr id="12" name="card-200"/>
          <p:cNvSpPr/>
          <p:nvPr/>
        </p:nvSpPr>
        <p:spPr>
          <a:xfrm>
            <a:off x="7132320" y="4663440"/>
            <a:ext cx="4480560" cy="1463040"/>
          </a:xfrm>
          <a:prstGeom prst="roundRect">
            <a:avLst>
              <a:gd name="adj" fmla="val 6250"/>
            </a:avLst>
          </a:prstGeom>
          <a:solidFill>
            <a:schemeClr val="bg2"/>
          </a:solidFill>
          <a:ln w="12700">
            <a:solidFill>
              <a:schemeClr val="bg2"/>
            </a:solidFill>
            <a:prstDash val="solid"/>
          </a:ln>
        </p:spPr>
      </p:sp>
      <p:sp>
        <p:nvSpPr>
          <p:cNvPr id="13" name="card head-201"/>
          <p:cNvSpPr txBox="1"/>
          <p:nvPr/>
        </p:nvSpPr>
        <p:spPr>
          <a:xfrm>
            <a:off x="7406640" y="4892040"/>
            <a:ext cx="39319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Check first</a:t>
            </a:r>
            <a:endParaRPr lang="en-US" sz="1900" dirty="0"/>
          </a:p>
        </p:txBody>
      </p:sp>
      <p:sp>
        <p:nvSpPr>
          <p:cNvPr id="14" name="card body-202"/>
          <p:cNvSpPr txBox="1"/>
          <p:nvPr/>
        </p:nvSpPr>
        <p:spPr>
          <a:xfrm>
            <a:off x="7406640" y="5440680"/>
            <a:ext cx="3931920" cy="502920"/>
          </a:xfrm>
          <a:prstGeom prst="rect">
            <a:avLst/>
          </a:prstGeom>
          <a:noFill/>
          <a:ln/>
        </p:spPr>
        <p:txBody>
          <a:bodyPr wrap="square" lIns="0" tIns="0" rIns="0" bIns="0" rtlCol="0" anchor="t"/>
          <a:lstStyle/>
          <a:p>
            <a:pPr indent="0" marL="0">
              <a:buNone/>
            </a:pPr>
            <a:r>
              <a:rPr lang="en-US" sz="1500" dirty="0">
                <a:solidFill>
                  <a:schemeClr val="tx1"/>
                </a:solidFill>
              </a:rPr>
              <a:t>Validate the job before giving out a ticket: once it has a ticket, a bad job can only fail out of sight.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When the call back fails</a:t>
            </a:r>
            <a:endParaRPr lang="en-US" sz="3400" dirty="0"/>
          </a:p>
        </p:txBody>
      </p:sp>
      <p:sp>
        <p:nvSpPr>
          <p:cNvPr id="3" name="code panel-203"/>
          <p:cNvSpPr/>
          <p:nvPr/>
        </p:nvSpPr>
        <p:spPr>
          <a:xfrm>
            <a:off x="548640" y="1463040"/>
            <a:ext cx="11094415" cy="1828800"/>
          </a:xfrm>
          <a:prstGeom prst="roundRect">
            <a:avLst>
              <a:gd name="adj" fmla="val 4000"/>
            </a:avLst>
          </a:prstGeom>
          <a:solidFill>
            <a:schemeClr val="bg2"/>
          </a:solidFill>
          <a:ln w="12700">
            <a:solidFill>
              <a:schemeClr val="bg2"/>
            </a:solidFill>
            <a:prstDash val="solid"/>
          </a:ln>
        </p:spPr>
      </p:sp>
      <p:sp>
        <p:nvSpPr>
          <p:cNvPr id="4" name="code-204"/>
          <p:cNvSpPr txBox="1"/>
          <p:nvPr/>
        </p:nvSpPr>
        <p:spPr>
          <a:xfrm>
            <a:off x="731520" y="1572768"/>
            <a:ext cx="10728655" cy="1609344"/>
          </a:xfrm>
          <a:prstGeom prst="rect">
            <a:avLst/>
          </a:prstGeom>
          <a:noFill/>
          <a:ln/>
        </p:spPr>
        <p:txBody>
          <a:bodyPr wrap="square" lIns="0" tIns="0" rIns="0" bIns="0" rtlCol="0" anchor="t"/>
          <a:lstStyle/>
          <a:p>
            <a:pPr indent="0" marL="0">
              <a:buNone/>
            </a:pPr>
            <a:r>
              <a:rPr lang="en-US" sz="1500" dirty="0">
                <a:solidFill>
                  <a:schemeClr val="tx1"/>
                </a:solidFill>
                <a:latin typeface="APL385 Unicode" pitchFamily="34" charset="0"/>
                <a:ea typeface="APL385 Unicode" pitchFamily="34" charset="-122"/>
                <a:cs typeface="APL385 Unicode" pitchFamily="34" charset="-120"/>
              </a:rPr>
              <a:t> r←#.HttpCommand.GetJSON 'post' job.callback payload</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 :If r.rc≠0                ⍝ the request failed: e.g. the callback server isn't running</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 :ElseIf r.HttpStatus≠200  ⍝ the callback server said no</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 :EndIf</a:t>
            </a:r>
            <a:endParaRPr lang="en-US" sz="1500" dirty="0"/>
          </a:p>
        </p:txBody>
      </p:sp>
      <p:sp>
        <p:nvSpPr>
          <p:cNvPr id="5" name="card-205"/>
          <p:cNvSpPr/>
          <p:nvPr/>
        </p:nvSpPr>
        <p:spPr>
          <a:xfrm>
            <a:off x="548640" y="3611880"/>
            <a:ext cx="5394960" cy="2286000"/>
          </a:xfrm>
          <a:prstGeom prst="roundRect">
            <a:avLst>
              <a:gd name="adj" fmla="val 4000"/>
            </a:avLst>
          </a:prstGeom>
          <a:solidFill>
            <a:schemeClr val="bg2"/>
          </a:solidFill>
          <a:ln w="12700">
            <a:solidFill>
              <a:schemeClr val="bg2"/>
            </a:solidFill>
            <a:prstDash val="solid"/>
          </a:ln>
        </p:spPr>
      </p:sp>
      <p:sp>
        <p:nvSpPr>
          <p:cNvPr id="6" name="card head-206"/>
          <p:cNvSpPr txBox="1"/>
          <p:nvPr/>
        </p:nvSpPr>
        <p:spPr>
          <a:xfrm>
            <a:off x="822960" y="3840480"/>
            <a:ext cx="48463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Check both</a:t>
            </a:r>
            <a:endParaRPr lang="en-US" sz="2000" dirty="0"/>
          </a:p>
        </p:txBody>
      </p:sp>
      <p:sp>
        <p:nvSpPr>
          <p:cNvPr id="7" name="card body-207"/>
          <p:cNvSpPr txBox="1"/>
          <p:nvPr/>
        </p:nvSpPr>
        <p:spPr>
          <a:xfrm>
            <a:off x="822960" y="4389120"/>
            <a:ext cx="4846320" cy="1325880"/>
          </a:xfrm>
          <a:prstGeom prst="rect">
            <a:avLst/>
          </a:prstGeom>
          <a:noFill/>
          <a:ln/>
        </p:spPr>
        <p:txBody>
          <a:bodyPr wrap="square" lIns="0" tIns="0" rIns="0" bIns="0" rtlCol="0" anchor="t"/>
          <a:lstStyle/>
          <a:p>
            <a:pPr indent="0" marL="0">
              <a:buNone/>
            </a:pPr>
            <a:r>
              <a:rPr lang="en-US" sz="1600" dirty="0">
                <a:solidFill>
                  <a:schemeClr val="tx1"/>
                </a:solidFill>
              </a:rPr>
              <a:t>rc≠0: the request itself failed (nobody answered).</a:t>
            </a:r>
            <a:endParaRPr lang="en-US" sz="1600" dirty="0"/>
          </a:p>
          <a:p>
            <a:pPr indent="0" marL="0">
              <a:buNone/>
            </a:pPr>
            <a:r>
              <a:rPr lang="en-US" sz="1600" dirty="0">
                <a:solidFill>
                  <a:schemeClr val="tx1"/>
                </a:solidFill>
              </a:rPr>
              <a:t>HttpStatus≠200: the server answered, and said no.</a:t>
            </a:r>
            <a:endParaRPr lang="en-US" sz="1600" dirty="0"/>
          </a:p>
        </p:txBody>
      </p:sp>
      <p:sp>
        <p:nvSpPr>
          <p:cNvPr id="8" name="card-208"/>
          <p:cNvSpPr/>
          <p:nvPr/>
        </p:nvSpPr>
        <p:spPr>
          <a:xfrm>
            <a:off x="6217920" y="3611880"/>
            <a:ext cx="5394960" cy="2286000"/>
          </a:xfrm>
          <a:prstGeom prst="roundRect">
            <a:avLst>
              <a:gd name="adj" fmla="val 4000"/>
            </a:avLst>
          </a:prstGeom>
          <a:solidFill>
            <a:schemeClr val="accent5"/>
          </a:solidFill>
          <a:ln w="12700">
            <a:solidFill>
              <a:schemeClr val="accent5"/>
            </a:solidFill>
            <a:prstDash val="solid"/>
          </a:ln>
        </p:spPr>
      </p:sp>
      <p:sp>
        <p:nvSpPr>
          <p:cNvPr id="9" name="card head-209"/>
          <p:cNvSpPr txBox="1"/>
          <p:nvPr/>
        </p:nvSpPr>
        <p:spPr>
          <a:xfrm>
            <a:off x="6492240" y="3840480"/>
            <a:ext cx="48463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Trap inside the thread</a:t>
            </a:r>
            <a:endParaRPr lang="en-US" sz="2000" dirty="0"/>
          </a:p>
        </p:txBody>
      </p:sp>
      <p:sp>
        <p:nvSpPr>
          <p:cNvPr id="10" name="card body-210"/>
          <p:cNvSpPr txBox="1"/>
          <p:nvPr/>
        </p:nvSpPr>
        <p:spPr>
          <a:xfrm>
            <a:off x="6492240" y="4389120"/>
            <a:ext cx="4846320" cy="1325880"/>
          </a:xfrm>
          <a:prstGeom prst="rect">
            <a:avLst/>
          </a:prstGeom>
          <a:noFill/>
          <a:ln/>
        </p:spPr>
        <p:txBody>
          <a:bodyPr wrap="square" lIns="0" tIns="0" rIns="0" bIns="0" rtlCol="0" anchor="t"/>
          <a:lstStyle/>
          <a:p>
            <a:pPr indent="0" marL="0">
              <a:buNone/>
            </a:pPr>
            <a:r>
              <a:rPr lang="en-US" sz="1600" dirty="0">
                <a:solidFill>
                  <a:schemeClr val="tx1"/>
                </a:solidFill>
              </a:rPr>
              <a:t>Jarvis traps errors in endpoints, but nothing traps errors in a thread you start with &amp;. Put Work's body in :Trap 0, so one bad job can't stop the server.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Web hook or polling?</a:t>
            </a:r>
            <a:endParaRPr lang="en-US" sz="3400" dirty="0"/>
          </a:p>
        </p:txBody>
      </p:sp>
      <p:graphicFrame>
        <p:nvGraphicFramePr>
          <p:cNvPr id="14" name="table-211"/>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77440"/>
                <a:gridCol w="4343400"/>
                <a:gridCol w="4370832"/>
              </a:tblGrid>
              <a:tr h="0">
                <a:tc>
                  <a:txBody>
                    <a:bodyPr/>
                    <a:lstStyle/>
                    <a:p>
                      <a:pPr indent="0" marL="0">
                        <a:buNone/>
                      </a:pP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900" b="1" dirty="0">
                          <a:solidFill>
                            <a:schemeClr val="bg1"/>
                          </a:solidFill>
                        </a:rPr>
                        <a:t>Polling</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900" b="1" dirty="0">
                          <a:solidFill>
                            <a:schemeClr val="bg1"/>
                          </a:solidFill>
                        </a:rPr>
                        <a:t>Web hook</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accent2"/>
                    </a:solidFill>
                  </a:tcPr>
                </a:tc>
              </a:tr>
              <a:tr h="0">
                <a:tc>
                  <a:txBody>
                    <a:bodyPr/>
                    <a:lstStyle/>
                    <a:p>
                      <a:pPr indent="0" marL="0">
                        <a:buNone/>
                      </a:pPr>
                      <a:r>
                        <a:rPr lang="en-US" sz="1900" b="1" dirty="0">
                          <a:solidFill>
                            <a:schemeClr val="tx1"/>
                          </a:solidFill>
                        </a:rPr>
                        <a:t>Who starts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The client, again and again</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The server, once, when the result is ready</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900" b="1" dirty="0">
                          <a:solidFill>
                            <a:schemeClr val="tx1"/>
                          </a:solidFill>
                        </a:rPr>
                        <a:t>Wasted requests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Most of them</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None</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900" b="1" dirty="0">
                          <a:solidFill>
                            <a:schemeClr val="tx1"/>
                          </a:solidFill>
                        </a:rPr>
                        <a:t>The client needs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Nothing special</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A URL the server can reach</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900" b="1" dirty="0">
                          <a:solidFill>
                            <a:schemeClr val="tx1"/>
                          </a:solidFill>
                        </a:rPr>
                        <a:t>If the callback is down</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Not an issue</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The result is lost unless the server retries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900" b="1" dirty="0">
                          <a:solidFill>
                            <a:schemeClr val="tx1"/>
                          </a:solidFill>
                        </a:rPr>
                        <a:t>Often used together</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As a fallback</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With a Status endpoint for polling</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bg1"/>
                </a:solidFill>
              </a:rPr>
              <a:t>Exercise 2: Web hook</a:t>
            </a:r>
            <a:endParaRPr lang="en-US" sz="3400" dirty="0"/>
          </a:p>
        </p:txBody>
      </p:sp>
      <p:sp>
        <p:nvSpPr>
          <p:cNvPr id="3" name="time-212"/>
          <p:cNvSpPr txBox="1"/>
          <p:nvPr/>
        </p:nvSpPr>
        <p:spPr>
          <a:xfrm>
            <a:off x="548640" y="1234440"/>
            <a:ext cx="3657600" cy="411480"/>
          </a:xfrm>
          <a:prstGeom prst="rect">
            <a:avLst/>
          </a:prstGeom>
          <a:noFill/>
          <a:ln/>
        </p:spPr>
        <p:txBody>
          <a:bodyPr wrap="square" lIns="0" tIns="0" rIns="0" bIns="0" rtlCol="0" anchor="ctr"/>
          <a:lstStyle/>
          <a:p>
            <a:pPr indent="0" marL="0">
              <a:buNone/>
            </a:pPr>
            <a:r>
              <a:rPr lang="en-US" sz="1800" b="1" dirty="0">
                <a:solidFill>
                  <a:schemeClr val="accent1"/>
                </a:solidFill>
              </a:rPr>
              <a:t>30 minutes</a:t>
            </a:r>
            <a:endParaRPr lang="en-US" sz="1800" dirty="0"/>
          </a:p>
        </p:txBody>
      </p:sp>
      <p:sp>
        <p:nvSpPr>
          <p:cNvPr id="4" name="goal-213"/>
          <p:cNvSpPr txBox="1"/>
          <p:nvPr/>
        </p:nvSpPr>
        <p:spPr>
          <a:xfrm>
            <a:off x="548640" y="1691640"/>
            <a:ext cx="5486400" cy="1097280"/>
          </a:xfrm>
          <a:prstGeom prst="rect">
            <a:avLst/>
          </a:prstGeom>
          <a:noFill/>
          <a:ln/>
        </p:spPr>
        <p:txBody>
          <a:bodyPr wrap="square" lIns="0" tIns="0" rIns="0" bIns="0" rtlCol="0" anchor="t"/>
          <a:lstStyle/>
          <a:p>
            <a:pPr indent="0" marL="0">
              <a:buNone/>
            </a:pPr>
            <a:r>
              <a:rPr lang="en-US" sz="2200" dirty="0">
                <a:solidFill>
                  <a:schemeClr val="bg1"/>
                </a:solidFill>
              </a:rPr>
              <a:t>Give out tickets at once, do the work in a separate thread, and deliver each result by calling the client back.</a:t>
            </a:r>
            <a:endParaRPr lang="en-US" sz="2200" dirty="0"/>
          </a:p>
        </p:txBody>
      </p:sp>
      <p:sp>
        <p:nvSpPr>
          <p:cNvPr id="5" name="steps head-214"/>
          <p:cNvSpPr txBox="1"/>
          <p:nvPr/>
        </p:nvSpPr>
        <p:spPr>
          <a:xfrm>
            <a:off x="6400800" y="1280160"/>
            <a:ext cx="5212080" cy="365760"/>
          </a:xfrm>
          <a:prstGeom prst="rect">
            <a:avLst/>
          </a:prstGeom>
          <a:noFill/>
          <a:ln/>
        </p:spPr>
        <p:txBody>
          <a:bodyPr wrap="square" lIns="0" tIns="0" rIns="0" bIns="0" rtlCol="0" anchor="ctr"/>
          <a:lstStyle/>
          <a:p>
            <a:pPr indent="0" marL="0">
              <a:buNone/>
            </a:pPr>
            <a:r>
              <a:rPr lang="en-US" sz="1600" b="1" dirty="0">
                <a:solidFill>
                  <a:schemeClr val="accent4"/>
                </a:solidFill>
              </a:rPr>
              <a:t>Core steps</a:t>
            </a:r>
            <a:endParaRPr lang="en-US" sz="1600" dirty="0"/>
          </a:p>
        </p:txBody>
      </p:sp>
      <p:sp>
        <p:nvSpPr>
          <p:cNvPr id="6" name="steps-215"/>
          <p:cNvSpPr txBox="1"/>
          <p:nvPr/>
        </p:nvSpPr>
        <p:spPr>
          <a:xfrm>
            <a:off x="6400800" y="1691640"/>
            <a:ext cx="5212080" cy="2743200"/>
          </a:xfrm>
          <a:prstGeom prst="rect">
            <a:avLst/>
          </a:prstGeom>
          <a:noFill/>
          <a:ln/>
        </p:spPr>
        <p:txBody>
          <a:bodyPr wrap="square" lIns="0" tIns="0" rIns="0" bIns="0" rtlCol="0" anchor="t"/>
          <a:lstStyle/>
          <a:p>
            <a:pPr indent="0" marL="0">
              <a:spcAft>
                <a:spcPts val="600"/>
              </a:spcAft>
              <a:buNone/>
            </a:pPr>
            <a:r>
              <a:rPr lang="en-US" sz="1700" dirty="0">
                <a:solidFill>
                  <a:schemeClr val="bg1"/>
                </a:solidFill>
              </a:rPr>
              <a:t>C1  Start both servers</a:t>
            </a:r>
            <a:endParaRPr lang="en-US" sz="1700" dirty="0"/>
          </a:p>
          <a:p>
            <a:pPr indent="0" marL="0">
              <a:spcAft>
                <a:spcPts val="600"/>
              </a:spcAft>
              <a:buNone/>
            </a:pPr>
            <a:r>
              <a:rPr lang="en-US" sz="1700" dirty="0">
                <a:solidFill>
                  <a:schemeClr val="bg1"/>
                </a:solidFill>
              </a:rPr>
              <a:t>C2  Result: receive and keep a result</a:t>
            </a:r>
            <a:endParaRPr lang="en-US" sz="1700" dirty="0"/>
          </a:p>
          <a:p>
            <a:pPr indent="0" marL="0">
              <a:spcAft>
                <a:spcPts val="600"/>
              </a:spcAft>
              <a:buNone/>
            </a:pPr>
            <a:r>
              <a:rPr lang="en-US" sz="1700" dirty="0">
                <a:solidFill>
                  <a:schemeClr val="bg1"/>
                </a:solidFill>
              </a:rPr>
              <a:t>C3  Submit: check the job, give a ticket, start Work</a:t>
            </a:r>
            <a:endParaRPr lang="en-US" sz="1700" dirty="0"/>
          </a:p>
          <a:p>
            <a:pPr indent="0" marL="0">
              <a:spcAft>
                <a:spcPts val="600"/>
              </a:spcAft>
              <a:buNone/>
            </a:pPr>
            <a:r>
              <a:rPr lang="en-US" sz="1700" dirty="0">
                <a:solidFill>
                  <a:schemeClr val="bg1"/>
                </a:solidFill>
              </a:rPr>
              <a:t>C4  Work: factor, then call back (inside :Trap)</a:t>
            </a:r>
            <a:endParaRPr lang="en-US" sz="1700" dirty="0"/>
          </a:p>
          <a:p>
            <a:pPr indent="0" marL="0">
              <a:spcAft>
                <a:spcPts val="600"/>
              </a:spcAft>
              <a:buNone/>
            </a:pPr>
            <a:r>
              <a:rPr lang="en-US" sz="1700" dirty="0">
                <a:solidFill>
                  <a:schemeClr val="bg1"/>
                </a:solidFill>
              </a:rPr>
              <a:t>C5  Client 5: tickets at once, results out of order</a:t>
            </a:r>
            <a:endParaRPr lang="en-US" sz="1700" dirty="0"/>
          </a:p>
          <a:p>
            <a:pPr indent="0" marL="0">
              <a:spcAft>
                <a:spcPts val="600"/>
              </a:spcAft>
              <a:buNone/>
            </a:pPr>
            <a:r>
              <a:rPr lang="en-US" sz="1700" dirty="0">
                <a:solidFill>
                  <a:schemeClr val="bg1"/>
                </a:solidFill>
              </a:rPr>
              <a:t>C6  Stop</a:t>
            </a:r>
            <a:endParaRPr lang="en-US" sz="1700" dirty="0"/>
          </a:p>
        </p:txBody>
      </p:sp>
      <p:sp>
        <p:nvSpPr>
          <p:cNvPr id="7" name="first head-216"/>
          <p:cNvSpPr txBox="1"/>
          <p:nvPr/>
        </p:nvSpPr>
        <p:spPr>
          <a:xfrm>
            <a:off x="548640" y="4160520"/>
            <a:ext cx="7315200" cy="365760"/>
          </a:xfrm>
          <a:prstGeom prst="rect">
            <a:avLst/>
          </a:prstGeom>
          <a:noFill/>
          <a:ln/>
        </p:spPr>
        <p:txBody>
          <a:bodyPr wrap="square" lIns="0" tIns="0" rIns="0" bIns="0" rtlCol="0" anchor="ctr"/>
          <a:lstStyle/>
          <a:p>
            <a:pPr indent="0" marL="0">
              <a:buNone/>
            </a:pPr>
            <a:r>
              <a:rPr lang="en-US" sz="1600" b="1" dirty="0">
                <a:solidFill>
                  <a:schemeClr val="accent4"/>
                </a:solidFill>
              </a:rPr>
              <a:t>Start here, after Setup</a:t>
            </a:r>
            <a:endParaRPr lang="en-US" sz="1600" dirty="0"/>
          </a:p>
        </p:txBody>
      </p:sp>
      <p:sp>
        <p:nvSpPr>
          <p:cNvPr id="8" name="code panel-217"/>
          <p:cNvSpPr/>
          <p:nvPr/>
        </p:nvSpPr>
        <p:spPr>
          <a:xfrm>
            <a:off x="548640" y="4572000"/>
            <a:ext cx="11094415" cy="960120"/>
          </a:xfrm>
          <a:prstGeom prst="roundRect">
            <a:avLst>
              <a:gd name="adj" fmla="val 7619"/>
            </a:avLst>
          </a:prstGeom>
          <a:solidFill>
            <a:schemeClr val="tx2"/>
          </a:solidFill>
          <a:ln w="12700">
            <a:solidFill>
              <a:schemeClr val="tx2"/>
            </a:solidFill>
            <a:prstDash val="solid"/>
          </a:ln>
        </p:spPr>
      </p:sp>
      <p:sp>
        <p:nvSpPr>
          <p:cNvPr id="9" name="code-218"/>
          <p:cNvSpPr txBox="1"/>
          <p:nvPr/>
        </p:nvSpPr>
        <p:spPr>
          <a:xfrm>
            <a:off x="731520" y="4681728"/>
            <a:ext cx="10728655" cy="740664"/>
          </a:xfrm>
          <a:prstGeom prst="rect">
            <a:avLst/>
          </a:prstGeom>
          <a:noFill/>
          <a:ln/>
        </p:spPr>
        <p:txBody>
          <a:bodyPr wrap="square" lIns="0" tIns="0" rIns="0" bIns="0" rtlCol="0" anchor="t"/>
          <a:lstStyle/>
          <a:p>
            <a:pPr indent="0" marL="0">
              <a:buNone/>
            </a:pPr>
            <a:r>
              <a:rPr lang="en-US" sz="1500" dirty="0">
                <a:solidFill>
                  <a:schemeClr val="bg1"/>
                </a:solidFill>
                <a:latin typeface="APL385 Unicode" pitchFamily="34" charset="0"/>
                <a:ea typeface="APL385 Unicode" pitchFamily="34" charset="-122"/>
                <a:cs typeface="APL385 Unicode" pitchFamily="34" charset="-120"/>
              </a:rPr>
              <a:t>2 ⎕FIX 'file://',#.WorkshopRoot,'/Exercises/Ex2-WebHook/Run.aplf'</a:t>
            </a:r>
            <a:endParaRPr lang="en-US" sz="1500" dirty="0"/>
          </a:p>
          <a:p>
            <a:pPr indent="0" marL="0">
              <a:buNone/>
            </a:pPr>
            <a:r>
              <a:rPr lang="en-US" sz="1500" dirty="0">
                <a:solidFill>
                  <a:schemeClr val="bg1"/>
                </a:solidFill>
                <a:latin typeface="APL385 Unicode" pitchFamily="34" charset="0"/>
                <a:ea typeface="APL385 Unicode" pitchFamily="34" charset="-122"/>
                <a:cs typeface="APL385 Unicode" pitchFamily="34" charset="-120"/>
              </a:rPr>
              <a:t>2 ⎕FIX 'file://',#.WorkshopRoot,'/Exercises/Ex2-WebHook/Client.aplf'</a:t>
            </a:r>
            <a:endParaRPr lang="en-US" sz="1500" dirty="0"/>
          </a:p>
        </p:txBody>
      </p:sp>
      <p:sp>
        <p:nvSpPr>
          <p:cNvPr id="10" name="readme-219"/>
          <p:cNvSpPr txBox="1"/>
          <p:nvPr/>
        </p:nvSpPr>
        <p:spPr>
          <a:xfrm>
            <a:off x="548640" y="6355080"/>
            <a:ext cx="10058400" cy="320040"/>
          </a:xfrm>
          <a:prstGeom prst="rect">
            <a:avLst/>
          </a:prstGeom>
          <a:noFill/>
          <a:ln/>
        </p:spPr>
        <p:txBody>
          <a:bodyPr wrap="square" lIns="0" tIns="0" rIns="0" bIns="0" rtlCol="0" anchor="ctr"/>
          <a:lstStyle/>
          <a:p>
            <a:pPr indent="0" marL="0">
              <a:buNone/>
            </a:pPr>
            <a:r>
              <a:rPr lang="en-US" sz="1300" dirty="0">
                <a:solidFill>
                  <a:schemeClr val="accent5"/>
                </a:solidFill>
              </a:rPr>
              <a:t>Exercises/Ex2-WebHook/README.md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731520" y="2103120"/>
            <a:ext cx="10515600" cy="1188720"/>
          </a:xfrm>
          <a:prstGeom prst="rect">
            <a:avLst/>
          </a:prstGeom>
          <a:noFill/>
          <a:ln/>
        </p:spPr>
        <p:txBody>
          <a:bodyPr wrap="square" lIns="0" tIns="0" rIns="0" bIns="0" rtlCol="0" anchor="b"/>
          <a:lstStyle/>
          <a:p>
            <a:pPr algn="l" indent="0" marL="0">
              <a:buNone/>
            </a:pPr>
            <a:r>
              <a:rPr lang="en-US" sz="5000" b="1" dirty="0">
                <a:solidFill>
                  <a:schemeClr val="bg1"/>
                </a:solidFill>
              </a:rPr>
              <a:t>Server-Sent Events</a:t>
            </a:r>
            <a:endParaRPr lang="en-US" sz="5000" dirty="0"/>
          </a:p>
        </p:txBody>
      </p:sp>
      <p:sp>
        <p:nvSpPr>
          <p:cNvPr id="3" name="Text 1"/>
          <p:cNvSpPr/>
          <p:nvPr>
            <p:ph idx="102" type="body" hasCustomPrompt="1"/>
          </p:nvPr>
        </p:nvSpPr>
        <p:spPr>
          <a:xfrm>
            <a:off x="731520" y="3429000"/>
            <a:ext cx="10515600" cy="731520"/>
          </a:xfrm>
          <a:prstGeom prst="rect">
            <a:avLst/>
          </a:prstGeom>
          <a:noFill/>
          <a:ln/>
        </p:spPr>
        <p:txBody>
          <a:bodyPr wrap="square" lIns="0" tIns="0" rIns="0" bIns="0" rtlCol="0" anchor="t"/>
          <a:lstStyle/>
          <a:p>
            <a:pPr indent="0" marL="0">
              <a:buNone/>
            </a:pPr>
            <a:r>
              <a:rPr lang="en-US" sz="2400" dirty="0">
                <a:solidFill>
                  <a:schemeClr val="accent4"/>
                </a:solidFill>
              </a:rPr>
              <a:t>One request, then the server keeps talking</a:t>
            </a:r>
            <a:endParaRPr lang="en-US" sz="2400" dirty="0"/>
          </a:p>
        </p:txBody>
      </p:sp>
      <p:sp>
        <p:nvSpPr>
          <p:cNvPr id="4" name="Text 1"/>
          <p:cNvSpPr/>
          <p:nvPr>
            <p:ph idx="103" type="body" hasCustomPrompt="1"/>
          </p:nvPr>
        </p:nvSpPr>
        <p:spPr>
          <a:xfrm>
            <a:off x="731520" y="5303520"/>
            <a:ext cx="10515600" cy="457200"/>
          </a:xfrm>
          <a:prstGeom prst="rect">
            <a:avLst/>
          </a:prstGeom>
          <a:noFill/>
          <a:ln/>
        </p:spPr>
        <p:txBody>
          <a:bodyPr wrap="square" lIns="0" tIns="0" rIns="0" bIns="0" rtlCol="0"/>
          <a:lstStyle/>
          <a:p>
            <a:pPr indent="0" marL="0">
              <a:buNone/>
            </a:pPr>
            <a:r>
              <a:rPr lang="en-US" sz="1600" dirty="0">
                <a:solidFill>
                  <a:schemeClr val="accent5"/>
                </a:solidFill>
              </a:rPr>
              <a:t>10 minutes, then Exercise 3</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One request, many events</a:t>
            </a:r>
            <a:endParaRPr lang="en-US" sz="3400" dirty="0"/>
          </a:p>
        </p:txBody>
      </p:sp>
      <p:sp>
        <p:nvSpPr>
          <p:cNvPr id="3" name="lane-220"/>
          <p:cNvSpPr/>
          <p:nvPr/>
        </p:nvSpPr>
        <p:spPr>
          <a:xfrm>
            <a:off x="2217420" y="1920240"/>
            <a:ext cx="0" cy="4023360"/>
          </a:xfrm>
          <a:prstGeom prst="line">
            <a:avLst/>
          </a:prstGeom>
          <a:noFill/>
          <a:ln w="15875">
            <a:solidFill>
              <a:schemeClr val="accent3"/>
            </a:solidFill>
            <a:prstDash val="dash"/>
          </a:ln>
        </p:spPr>
      </p:sp>
      <p:sp>
        <p:nvSpPr>
          <p:cNvPr id="4" name="lane head-221"/>
          <p:cNvSpPr/>
          <p:nvPr/>
        </p:nvSpPr>
        <p:spPr>
          <a:xfrm>
            <a:off x="1028700" y="1417320"/>
            <a:ext cx="2377440" cy="502920"/>
          </a:xfrm>
          <a:prstGeom prst="roundRect">
            <a:avLst>
              <a:gd name="adj" fmla="val 14545"/>
            </a:avLst>
          </a:prstGeom>
          <a:solidFill>
            <a:schemeClr val="accent4"/>
          </a:solidFill>
          <a:ln w="12700">
            <a:solidFill>
              <a:schemeClr val="accent4"/>
            </a:solidFill>
            <a:prstDash val="solid"/>
          </a:ln>
        </p:spPr>
      </p:sp>
      <p:sp>
        <p:nvSpPr>
          <p:cNvPr id="5" name="lane name-222"/>
          <p:cNvSpPr txBox="1"/>
          <p:nvPr/>
        </p:nvSpPr>
        <p:spPr>
          <a:xfrm>
            <a:off x="1028700" y="141732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Browser</a:t>
            </a:r>
            <a:endParaRPr lang="en-US" sz="1500" dirty="0"/>
          </a:p>
        </p:txBody>
      </p:sp>
      <p:sp>
        <p:nvSpPr>
          <p:cNvPr id="6" name="lane-223"/>
          <p:cNvSpPr/>
          <p:nvPr/>
        </p:nvSpPr>
        <p:spPr>
          <a:xfrm>
            <a:off x="5554980" y="1920240"/>
            <a:ext cx="0" cy="4023360"/>
          </a:xfrm>
          <a:prstGeom prst="line">
            <a:avLst/>
          </a:prstGeom>
          <a:noFill/>
          <a:ln w="15875">
            <a:solidFill>
              <a:schemeClr val="accent3"/>
            </a:solidFill>
            <a:prstDash val="dash"/>
          </a:ln>
        </p:spPr>
      </p:sp>
      <p:sp>
        <p:nvSpPr>
          <p:cNvPr id="7" name="lane head-224"/>
          <p:cNvSpPr/>
          <p:nvPr/>
        </p:nvSpPr>
        <p:spPr>
          <a:xfrm>
            <a:off x="4366260" y="1417320"/>
            <a:ext cx="2377440" cy="502920"/>
          </a:xfrm>
          <a:prstGeom prst="roundRect">
            <a:avLst>
              <a:gd name="adj" fmla="val 14545"/>
            </a:avLst>
          </a:prstGeom>
          <a:solidFill>
            <a:schemeClr val="accent4"/>
          </a:solidFill>
          <a:ln w="12700">
            <a:solidFill>
              <a:schemeClr val="accent4"/>
            </a:solidFill>
            <a:prstDash val="solid"/>
          </a:ln>
        </p:spPr>
      </p:sp>
      <p:sp>
        <p:nvSpPr>
          <p:cNvPr id="8" name="lane name-225"/>
          <p:cNvSpPr txBox="1"/>
          <p:nvPr/>
        </p:nvSpPr>
        <p:spPr>
          <a:xfrm>
            <a:off x="4366260" y="141732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Jarvis :8083</a:t>
            </a:r>
            <a:endParaRPr lang="en-US" sz="1500" dirty="0"/>
          </a:p>
        </p:txBody>
      </p:sp>
      <p:sp>
        <p:nvSpPr>
          <p:cNvPr id="9" name="message-226"/>
          <p:cNvSpPr/>
          <p:nvPr/>
        </p:nvSpPr>
        <p:spPr>
          <a:xfrm>
            <a:off x="2217420" y="2423160"/>
            <a:ext cx="3337560" cy="0"/>
          </a:xfrm>
          <a:prstGeom prst="line">
            <a:avLst/>
          </a:prstGeom>
          <a:noFill/>
          <a:ln w="28575">
            <a:solidFill>
              <a:schemeClr val="accent1"/>
            </a:solidFill>
            <a:prstDash val="solid"/>
            <a:tailEnd type="triangle"/>
          </a:ln>
        </p:spPr>
      </p:sp>
      <p:sp>
        <p:nvSpPr>
          <p:cNvPr id="10" name="message label-227"/>
          <p:cNvSpPr txBox="1"/>
          <p:nvPr/>
        </p:nvSpPr>
        <p:spPr>
          <a:xfrm>
            <a:off x="2263140" y="2029968"/>
            <a:ext cx="324612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GET /Ticker</a:t>
            </a:r>
            <a:endParaRPr lang="en-US" sz="1200" dirty="0"/>
          </a:p>
        </p:txBody>
      </p:sp>
      <p:sp>
        <p:nvSpPr>
          <p:cNvPr id="11" name="message-228"/>
          <p:cNvSpPr/>
          <p:nvPr/>
        </p:nvSpPr>
        <p:spPr>
          <a:xfrm>
            <a:off x="2217420" y="3017520"/>
            <a:ext cx="3337560" cy="0"/>
          </a:xfrm>
          <a:prstGeom prst="line">
            <a:avLst/>
          </a:prstGeom>
          <a:noFill/>
          <a:ln w="28575">
            <a:solidFill>
              <a:schemeClr val="accent2"/>
            </a:solidFill>
            <a:prstDash val="solid"/>
            <a:headEnd type="triangle"/>
          </a:ln>
        </p:spPr>
      </p:sp>
      <p:sp>
        <p:nvSpPr>
          <p:cNvPr id="12" name="message label-229"/>
          <p:cNvSpPr txBox="1"/>
          <p:nvPr/>
        </p:nvSpPr>
        <p:spPr>
          <a:xfrm>
            <a:off x="2263140" y="2660904"/>
            <a:ext cx="3246120" cy="292608"/>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event: welcome</a:t>
            </a:r>
            <a:endParaRPr lang="en-US" sz="1200" dirty="0"/>
          </a:p>
        </p:txBody>
      </p:sp>
      <p:sp>
        <p:nvSpPr>
          <p:cNvPr id="13" name="message-230"/>
          <p:cNvSpPr/>
          <p:nvPr/>
        </p:nvSpPr>
        <p:spPr>
          <a:xfrm>
            <a:off x="2217420" y="3584448"/>
            <a:ext cx="3337560" cy="0"/>
          </a:xfrm>
          <a:prstGeom prst="line">
            <a:avLst/>
          </a:prstGeom>
          <a:noFill/>
          <a:ln w="28575">
            <a:solidFill>
              <a:schemeClr val="accent2"/>
            </a:solidFill>
            <a:prstDash val="solid"/>
            <a:headEnd type="triangle"/>
          </a:ln>
        </p:spPr>
      </p:sp>
      <p:sp>
        <p:nvSpPr>
          <p:cNvPr id="14" name="message label-231"/>
          <p:cNvSpPr txBox="1"/>
          <p:nvPr/>
        </p:nvSpPr>
        <p:spPr>
          <a:xfrm>
            <a:off x="2263140" y="3227832"/>
            <a:ext cx="3246120" cy="292608"/>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event: price</a:t>
            </a:r>
            <a:endParaRPr lang="en-US" sz="1200" dirty="0"/>
          </a:p>
        </p:txBody>
      </p:sp>
      <p:sp>
        <p:nvSpPr>
          <p:cNvPr id="15" name="message-232"/>
          <p:cNvSpPr/>
          <p:nvPr/>
        </p:nvSpPr>
        <p:spPr>
          <a:xfrm>
            <a:off x="2217420" y="4151376"/>
            <a:ext cx="3337560" cy="0"/>
          </a:xfrm>
          <a:prstGeom prst="line">
            <a:avLst/>
          </a:prstGeom>
          <a:noFill/>
          <a:ln w="28575">
            <a:solidFill>
              <a:schemeClr val="accent2"/>
            </a:solidFill>
            <a:prstDash val="solid"/>
            <a:headEnd type="triangle"/>
          </a:ln>
        </p:spPr>
      </p:sp>
      <p:sp>
        <p:nvSpPr>
          <p:cNvPr id="16" name="message label-233"/>
          <p:cNvSpPr txBox="1"/>
          <p:nvPr/>
        </p:nvSpPr>
        <p:spPr>
          <a:xfrm>
            <a:off x="2263140" y="3794760"/>
            <a:ext cx="3246120" cy="292608"/>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event: price</a:t>
            </a:r>
            <a:endParaRPr lang="en-US" sz="1200" dirty="0"/>
          </a:p>
        </p:txBody>
      </p:sp>
      <p:sp>
        <p:nvSpPr>
          <p:cNvPr id="17" name="message-234"/>
          <p:cNvSpPr/>
          <p:nvPr/>
        </p:nvSpPr>
        <p:spPr>
          <a:xfrm>
            <a:off x="2217420" y="4718304"/>
            <a:ext cx="3337560" cy="0"/>
          </a:xfrm>
          <a:prstGeom prst="line">
            <a:avLst/>
          </a:prstGeom>
          <a:noFill/>
          <a:ln w="28575">
            <a:solidFill>
              <a:schemeClr val="accent2"/>
            </a:solidFill>
            <a:prstDash val="solid"/>
            <a:headEnd type="triangle"/>
          </a:ln>
        </p:spPr>
      </p:sp>
      <p:sp>
        <p:nvSpPr>
          <p:cNvPr id="18" name="message label-235"/>
          <p:cNvSpPr txBox="1"/>
          <p:nvPr/>
        </p:nvSpPr>
        <p:spPr>
          <a:xfrm>
            <a:off x="2263140" y="4361688"/>
            <a:ext cx="3246120" cy="292608"/>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event: price</a:t>
            </a:r>
            <a:endParaRPr lang="en-US" sz="1200" dirty="0"/>
          </a:p>
        </p:txBody>
      </p:sp>
      <p:sp>
        <p:nvSpPr>
          <p:cNvPr id="19" name="message-236"/>
          <p:cNvSpPr/>
          <p:nvPr/>
        </p:nvSpPr>
        <p:spPr>
          <a:xfrm>
            <a:off x="2217420" y="5285232"/>
            <a:ext cx="3337560" cy="0"/>
          </a:xfrm>
          <a:prstGeom prst="line">
            <a:avLst/>
          </a:prstGeom>
          <a:noFill/>
          <a:ln w="28575">
            <a:solidFill>
              <a:schemeClr val="accent2"/>
            </a:solidFill>
            <a:prstDash val="solid"/>
            <a:headEnd type="triangle"/>
          </a:ln>
        </p:spPr>
      </p:sp>
      <p:sp>
        <p:nvSpPr>
          <p:cNvPr id="20" name="message label-237"/>
          <p:cNvSpPr txBox="1"/>
          <p:nvPr/>
        </p:nvSpPr>
        <p:spPr>
          <a:xfrm>
            <a:off x="2263140" y="4928616"/>
            <a:ext cx="3246120" cy="292608"/>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event: news</a:t>
            </a:r>
            <a:endParaRPr lang="en-US" sz="1200" dirty="0"/>
          </a:p>
        </p:txBody>
      </p:sp>
      <p:sp>
        <p:nvSpPr>
          <p:cNvPr id="21" name="card-238"/>
          <p:cNvSpPr/>
          <p:nvPr/>
        </p:nvSpPr>
        <p:spPr>
          <a:xfrm>
            <a:off x="7589520" y="1417320"/>
            <a:ext cx="4023360" cy="1463040"/>
          </a:xfrm>
          <a:prstGeom prst="roundRect">
            <a:avLst>
              <a:gd name="adj" fmla="val 6250"/>
            </a:avLst>
          </a:prstGeom>
          <a:solidFill>
            <a:schemeClr val="bg2"/>
          </a:solidFill>
          <a:ln w="12700">
            <a:solidFill>
              <a:schemeClr val="bg2"/>
            </a:solidFill>
            <a:prstDash val="solid"/>
          </a:ln>
        </p:spPr>
      </p:sp>
      <p:sp>
        <p:nvSpPr>
          <p:cNvPr id="22" name="card head-239"/>
          <p:cNvSpPr txBox="1"/>
          <p:nvPr/>
        </p:nvSpPr>
        <p:spPr>
          <a:xfrm>
            <a:off x="7863840" y="1645920"/>
            <a:ext cx="34747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One way</a:t>
            </a:r>
            <a:endParaRPr lang="en-US" sz="1900" dirty="0"/>
          </a:p>
        </p:txBody>
      </p:sp>
      <p:sp>
        <p:nvSpPr>
          <p:cNvPr id="23" name="card body-240"/>
          <p:cNvSpPr txBox="1"/>
          <p:nvPr/>
        </p:nvSpPr>
        <p:spPr>
          <a:xfrm>
            <a:off x="7863840" y="2194560"/>
            <a:ext cx="3474720" cy="502920"/>
          </a:xfrm>
          <a:prstGeom prst="rect">
            <a:avLst/>
          </a:prstGeom>
          <a:noFill/>
          <a:ln/>
        </p:spPr>
        <p:txBody>
          <a:bodyPr wrap="square" lIns="0" tIns="0" rIns="0" bIns="0" rtlCol="0" anchor="t"/>
          <a:lstStyle/>
          <a:p>
            <a:pPr indent="0" marL="0">
              <a:buNone/>
            </a:pPr>
            <a:r>
              <a:rPr lang="en-US" sz="1500" dirty="0">
                <a:solidFill>
                  <a:schemeClr val="tx1"/>
                </a:solidFill>
              </a:rPr>
              <a:t>Only the server sends. The browser asked once.</a:t>
            </a:r>
            <a:endParaRPr lang="en-US" sz="1500" dirty="0"/>
          </a:p>
        </p:txBody>
      </p:sp>
      <p:sp>
        <p:nvSpPr>
          <p:cNvPr id="24" name="card-241"/>
          <p:cNvSpPr/>
          <p:nvPr/>
        </p:nvSpPr>
        <p:spPr>
          <a:xfrm>
            <a:off x="7589520" y="3017520"/>
            <a:ext cx="4023360" cy="1463040"/>
          </a:xfrm>
          <a:prstGeom prst="roundRect">
            <a:avLst>
              <a:gd name="adj" fmla="val 6250"/>
            </a:avLst>
          </a:prstGeom>
          <a:solidFill>
            <a:schemeClr val="bg2"/>
          </a:solidFill>
          <a:ln w="12700">
            <a:solidFill>
              <a:schemeClr val="bg2"/>
            </a:solidFill>
            <a:prstDash val="solid"/>
          </a:ln>
        </p:spPr>
      </p:sp>
      <p:sp>
        <p:nvSpPr>
          <p:cNvPr id="25" name="card head-242"/>
          <p:cNvSpPr txBox="1"/>
          <p:nvPr/>
        </p:nvSpPr>
        <p:spPr>
          <a:xfrm>
            <a:off x="7863840" y="3246120"/>
            <a:ext cx="34747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Plain HTTP</a:t>
            </a:r>
            <a:endParaRPr lang="en-US" sz="1900" dirty="0"/>
          </a:p>
        </p:txBody>
      </p:sp>
      <p:sp>
        <p:nvSpPr>
          <p:cNvPr id="26" name="card body-243"/>
          <p:cNvSpPr txBox="1"/>
          <p:nvPr/>
        </p:nvSpPr>
        <p:spPr>
          <a:xfrm>
            <a:off x="7863840" y="3794760"/>
            <a:ext cx="3474720" cy="502920"/>
          </a:xfrm>
          <a:prstGeom prst="rect">
            <a:avLst/>
          </a:prstGeom>
          <a:noFill/>
          <a:ln/>
        </p:spPr>
        <p:txBody>
          <a:bodyPr wrap="square" lIns="0" tIns="0" rIns="0" bIns="0" rtlCol="0" anchor="t"/>
          <a:lstStyle/>
          <a:p>
            <a:pPr indent="0" marL="0">
              <a:buNone/>
            </a:pPr>
            <a:r>
              <a:rPr lang="en-US" sz="1500" dirty="0">
                <a:solidFill>
                  <a:schemeClr val="tx1"/>
                </a:solidFill>
              </a:rPr>
              <a:t>A normal GET whose response never ends.</a:t>
            </a:r>
            <a:endParaRPr lang="en-US" sz="1500" dirty="0"/>
          </a:p>
        </p:txBody>
      </p:sp>
      <p:sp>
        <p:nvSpPr>
          <p:cNvPr id="27" name="card-244"/>
          <p:cNvSpPr/>
          <p:nvPr/>
        </p:nvSpPr>
        <p:spPr>
          <a:xfrm>
            <a:off x="7589520" y="4617720"/>
            <a:ext cx="4023360" cy="1463040"/>
          </a:xfrm>
          <a:prstGeom prst="roundRect">
            <a:avLst>
              <a:gd name="adj" fmla="val 6250"/>
            </a:avLst>
          </a:prstGeom>
          <a:solidFill>
            <a:schemeClr val="bg2"/>
          </a:solidFill>
          <a:ln w="12700">
            <a:solidFill>
              <a:schemeClr val="bg2"/>
            </a:solidFill>
            <a:prstDash val="solid"/>
          </a:ln>
        </p:spPr>
      </p:sp>
      <p:sp>
        <p:nvSpPr>
          <p:cNvPr id="28" name="card head-245"/>
          <p:cNvSpPr txBox="1"/>
          <p:nvPr/>
        </p:nvSpPr>
        <p:spPr>
          <a:xfrm>
            <a:off x="7863840" y="4846320"/>
            <a:ext cx="34747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Reconnects</a:t>
            </a:r>
            <a:endParaRPr lang="en-US" sz="1900" dirty="0"/>
          </a:p>
        </p:txBody>
      </p:sp>
      <p:sp>
        <p:nvSpPr>
          <p:cNvPr id="29" name="card body-246"/>
          <p:cNvSpPr txBox="1"/>
          <p:nvPr/>
        </p:nvSpPr>
        <p:spPr>
          <a:xfrm>
            <a:off x="7863840" y="5394960"/>
            <a:ext cx="3474720" cy="502920"/>
          </a:xfrm>
          <a:prstGeom prst="rect">
            <a:avLst/>
          </a:prstGeom>
          <a:noFill/>
          <a:ln/>
        </p:spPr>
        <p:txBody>
          <a:bodyPr wrap="square" lIns="0" tIns="0" rIns="0" bIns="0" rtlCol="0" anchor="t"/>
          <a:lstStyle/>
          <a:p>
            <a:pPr indent="0" marL="0">
              <a:buNone/>
            </a:pPr>
            <a:r>
              <a:rPr lang="en-US" sz="1500" dirty="0">
                <a:solidFill>
                  <a:schemeClr val="tx1"/>
                </a:solidFill>
              </a:rPr>
              <a:t>If the line drops, the browser reconnects by itself.</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An event on the wire</a:t>
            </a:r>
            <a:endParaRPr lang="en-US" sz="3400" dirty="0"/>
          </a:p>
        </p:txBody>
      </p:sp>
      <p:sp>
        <p:nvSpPr>
          <p:cNvPr id="3" name="code panel-247"/>
          <p:cNvSpPr/>
          <p:nvPr/>
        </p:nvSpPr>
        <p:spPr>
          <a:xfrm>
            <a:off x="548640" y="1463040"/>
            <a:ext cx="6675120" cy="2377440"/>
          </a:xfrm>
          <a:prstGeom prst="roundRect">
            <a:avLst>
              <a:gd name="adj" fmla="val 3077"/>
            </a:avLst>
          </a:prstGeom>
          <a:solidFill>
            <a:schemeClr val="bg2"/>
          </a:solidFill>
          <a:ln w="12700">
            <a:solidFill>
              <a:schemeClr val="bg2"/>
            </a:solidFill>
            <a:prstDash val="solid"/>
          </a:ln>
        </p:spPr>
      </p:sp>
      <p:sp>
        <p:nvSpPr>
          <p:cNvPr id="4" name="code-248"/>
          <p:cNvSpPr txBox="1"/>
          <p:nvPr/>
        </p:nvSpPr>
        <p:spPr>
          <a:xfrm>
            <a:off x="731520" y="1572768"/>
            <a:ext cx="6309360" cy="2157984"/>
          </a:xfrm>
          <a:prstGeom prst="rect">
            <a:avLst/>
          </a:prstGeom>
          <a:noFill/>
          <a:ln/>
        </p:spPr>
        <p:txBody>
          <a:bodyPr wrap="square" lIns="0" tIns="0" rIns="0" bIns="0" rtlCol="0" anchor="t"/>
          <a:lstStyle/>
          <a:p>
            <a:pPr indent="0" marL="0">
              <a:buNone/>
            </a:pPr>
            <a:r>
              <a:rPr lang="en-US" sz="1500" dirty="0">
                <a:solidFill>
                  <a:schemeClr val="tx1"/>
                </a:solidFill>
                <a:latin typeface="APL385 Unicode" pitchFamily="34" charset="0"/>
                <a:ea typeface="APL385 Unicode" pitchFamily="34" charset="-122"/>
                <a:cs typeface="APL385 Unicode" pitchFamily="34" charset="-120"/>
              </a:rPr>
              <a:t>event: price</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data: {"change":0.1,"price":85.6,"symbol":"IOTA"}</a:t>
            </a:r>
            <a:endParaRPr lang="en-US" sz="1500" dirty="0"/>
          </a:p>
          <a:p>
            <a:pPr indent="0" marL="0">
              <a:buNone/>
            </a:pP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a:t>
            </a:r>
            <a:endParaRPr lang="en-US" sz="1500" dirty="0"/>
          </a:p>
        </p:txBody>
      </p:sp>
      <p:sp>
        <p:nvSpPr>
          <p:cNvPr id="5" name="part-249"/>
          <p:cNvSpPr txBox="1"/>
          <p:nvPr/>
        </p:nvSpPr>
        <p:spPr>
          <a:xfrm>
            <a:off x="7498080" y="1463040"/>
            <a:ext cx="1371600" cy="548640"/>
          </a:xfrm>
          <a:prstGeom prst="rect">
            <a:avLst/>
          </a:prstGeom>
          <a:noFill/>
          <a:ln/>
        </p:spPr>
        <p:txBody>
          <a:bodyPr wrap="square" lIns="0" tIns="0" rIns="0" bIns="0" rtlCol="0" anchor="t"/>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event:</a:t>
            </a:r>
            <a:endParaRPr lang="en-US" sz="1600" dirty="0"/>
          </a:p>
        </p:txBody>
      </p:sp>
      <p:sp>
        <p:nvSpPr>
          <p:cNvPr id="6" name="text-250"/>
          <p:cNvSpPr txBox="1"/>
          <p:nvPr/>
        </p:nvSpPr>
        <p:spPr>
          <a:xfrm>
            <a:off x="8869680" y="1463040"/>
            <a:ext cx="2743200" cy="640080"/>
          </a:xfrm>
          <a:prstGeom prst="rect">
            <a:avLst/>
          </a:prstGeom>
          <a:noFill/>
          <a:ln/>
        </p:spPr>
        <p:txBody>
          <a:bodyPr wrap="square" lIns="0" tIns="0" rIns="0" bIns="0" rtlCol="0" anchor="t"/>
          <a:lstStyle/>
          <a:p>
            <a:pPr indent="0" marL="0">
              <a:buNone/>
            </a:pPr>
            <a:r>
              <a:rPr lang="en-US" sz="1500" dirty="0">
                <a:solidFill>
                  <a:schemeClr val="tx1"/>
                </a:solidFill>
              </a:rPr>
              <a:t>the event's type</a:t>
            </a:r>
            <a:endParaRPr lang="en-US" sz="1500" dirty="0"/>
          </a:p>
        </p:txBody>
      </p:sp>
      <p:sp>
        <p:nvSpPr>
          <p:cNvPr id="7" name="part-251"/>
          <p:cNvSpPr txBox="1"/>
          <p:nvPr/>
        </p:nvSpPr>
        <p:spPr>
          <a:xfrm>
            <a:off x="7498080" y="2148840"/>
            <a:ext cx="1371600" cy="548640"/>
          </a:xfrm>
          <a:prstGeom prst="rect">
            <a:avLst/>
          </a:prstGeom>
          <a:noFill/>
          <a:ln/>
        </p:spPr>
        <p:txBody>
          <a:bodyPr wrap="square" lIns="0" tIns="0" rIns="0" bIns="0" rtlCol="0" anchor="t"/>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data:</a:t>
            </a:r>
            <a:endParaRPr lang="en-US" sz="1600" dirty="0"/>
          </a:p>
        </p:txBody>
      </p:sp>
      <p:sp>
        <p:nvSpPr>
          <p:cNvPr id="8" name="text-252"/>
          <p:cNvSpPr txBox="1"/>
          <p:nvPr/>
        </p:nvSpPr>
        <p:spPr>
          <a:xfrm>
            <a:off x="8869680" y="2148840"/>
            <a:ext cx="2743200" cy="640080"/>
          </a:xfrm>
          <a:prstGeom prst="rect">
            <a:avLst/>
          </a:prstGeom>
          <a:noFill/>
          <a:ln/>
        </p:spPr>
        <p:txBody>
          <a:bodyPr wrap="square" lIns="0" tIns="0" rIns="0" bIns="0" rtlCol="0" anchor="t"/>
          <a:lstStyle/>
          <a:p>
            <a:pPr indent="0" marL="0">
              <a:buNone/>
            </a:pPr>
            <a:r>
              <a:rPr lang="en-US" sz="1500" dirty="0">
                <a:solidFill>
                  <a:schemeClr val="tx1"/>
                </a:solidFill>
              </a:rPr>
              <a:t>its content; here, JSON</a:t>
            </a:r>
            <a:endParaRPr lang="en-US" sz="1500" dirty="0"/>
          </a:p>
        </p:txBody>
      </p:sp>
      <p:sp>
        <p:nvSpPr>
          <p:cNvPr id="9" name="part-253"/>
          <p:cNvSpPr txBox="1"/>
          <p:nvPr/>
        </p:nvSpPr>
        <p:spPr>
          <a:xfrm>
            <a:off x="7498080" y="2834640"/>
            <a:ext cx="1371600" cy="548640"/>
          </a:xfrm>
          <a:prstGeom prst="rect">
            <a:avLst/>
          </a:prstGeom>
          <a:noFill/>
          <a:ln/>
        </p:spPr>
        <p:txBody>
          <a:bodyPr wrap="square" lIns="0" tIns="0" rIns="0" bIns="0" rtlCol="0" anchor="t"/>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blank line</a:t>
            </a:r>
            <a:endParaRPr lang="en-US" sz="1600" dirty="0"/>
          </a:p>
        </p:txBody>
      </p:sp>
      <p:sp>
        <p:nvSpPr>
          <p:cNvPr id="10" name="text-254"/>
          <p:cNvSpPr txBox="1"/>
          <p:nvPr/>
        </p:nvSpPr>
        <p:spPr>
          <a:xfrm>
            <a:off x="8869680" y="2834640"/>
            <a:ext cx="2743200" cy="640080"/>
          </a:xfrm>
          <a:prstGeom prst="rect">
            <a:avLst/>
          </a:prstGeom>
          <a:noFill/>
          <a:ln/>
        </p:spPr>
        <p:txBody>
          <a:bodyPr wrap="square" lIns="0" tIns="0" rIns="0" bIns="0" rtlCol="0" anchor="t"/>
          <a:lstStyle/>
          <a:p>
            <a:pPr indent="0" marL="0">
              <a:buNone/>
            </a:pPr>
            <a:r>
              <a:rPr lang="en-US" sz="1500" dirty="0">
                <a:solidFill>
                  <a:schemeClr val="tx1"/>
                </a:solidFill>
              </a:rPr>
              <a:t>ends the event</a:t>
            </a:r>
            <a:endParaRPr lang="en-US" sz="1500" dirty="0"/>
          </a:p>
        </p:txBody>
      </p:sp>
      <p:sp>
        <p:nvSpPr>
          <p:cNvPr id="11" name="part-255"/>
          <p:cNvSpPr txBox="1"/>
          <p:nvPr/>
        </p:nvSpPr>
        <p:spPr>
          <a:xfrm>
            <a:off x="7498080" y="3520440"/>
            <a:ext cx="1371600" cy="548640"/>
          </a:xfrm>
          <a:prstGeom prst="rect">
            <a:avLst/>
          </a:prstGeom>
          <a:noFill/>
          <a:ln/>
        </p:spPr>
        <p:txBody>
          <a:bodyPr wrap="square" lIns="0" tIns="0" rIns="0" bIns="0" rtlCol="0" anchor="t"/>
          <a:lstStyle/>
          <a:p>
            <a:pPr indent="0" marL="0">
              <a:buNone/>
            </a:pPr>
            <a:r>
              <a:rPr lang="en-US" sz="1600" b="1" dirty="0">
                <a:solidFill>
                  <a:schemeClr val="accent2"/>
                </a:solidFill>
                <a:latin typeface="APL385 Unicode" pitchFamily="34" charset="0"/>
                <a:ea typeface="APL385 Unicode" pitchFamily="34" charset="-122"/>
                <a:cs typeface="APL385 Unicode" pitchFamily="34" charset="-120"/>
              </a:rPr>
              <a:t>:</a:t>
            </a:r>
            <a:endParaRPr lang="en-US" sz="1600" dirty="0"/>
          </a:p>
        </p:txBody>
      </p:sp>
      <p:sp>
        <p:nvSpPr>
          <p:cNvPr id="12" name="text-256"/>
          <p:cNvSpPr txBox="1"/>
          <p:nvPr/>
        </p:nvSpPr>
        <p:spPr>
          <a:xfrm>
            <a:off x="8869680" y="3520440"/>
            <a:ext cx="2743200" cy="640080"/>
          </a:xfrm>
          <a:prstGeom prst="rect">
            <a:avLst/>
          </a:prstGeom>
          <a:noFill/>
          <a:ln/>
        </p:spPr>
        <p:txBody>
          <a:bodyPr wrap="square" lIns="0" tIns="0" rIns="0" bIns="0" rtlCol="0" anchor="t"/>
          <a:lstStyle/>
          <a:p>
            <a:pPr indent="0" marL="0">
              <a:buNone/>
            </a:pPr>
            <a:r>
              <a:rPr lang="en-US" sz="1500" dirty="0">
                <a:solidFill>
                  <a:schemeClr val="tx1"/>
                </a:solidFill>
              </a:rPr>
              <a:t>a comment: Jarvis sends one every 30 seconds to keep the line alive</a:t>
            </a:r>
            <a:endParaRPr lang="en-US" sz="1500" dirty="0"/>
          </a:p>
        </p:txBody>
      </p:sp>
      <p:sp>
        <p:nvSpPr>
          <p:cNvPr id="13" name="label-257"/>
          <p:cNvSpPr txBox="1"/>
          <p:nvPr/>
        </p:nvSpPr>
        <p:spPr>
          <a:xfrm>
            <a:off x="548640" y="4434840"/>
            <a:ext cx="5486400" cy="365760"/>
          </a:xfrm>
          <a:prstGeom prst="rect">
            <a:avLst/>
          </a:prstGeom>
          <a:noFill/>
          <a:ln/>
        </p:spPr>
        <p:txBody>
          <a:bodyPr wrap="square" lIns="0" tIns="0" rIns="0" bIns="0" rtlCol="0" anchor="ctr"/>
          <a:lstStyle/>
          <a:p>
            <a:pPr indent="0" marL="0">
              <a:buNone/>
            </a:pPr>
            <a:r>
              <a:rPr lang="en-US" sz="1600" b="1" dirty="0">
                <a:solidFill>
                  <a:schemeClr val="accent1"/>
                </a:solidFill>
              </a:rPr>
              <a:t>Making one in APL</a:t>
            </a:r>
            <a:endParaRPr lang="en-US" sz="1600" dirty="0"/>
          </a:p>
        </p:txBody>
      </p:sp>
      <p:sp>
        <p:nvSpPr>
          <p:cNvPr id="14" name="code panel-258"/>
          <p:cNvSpPr/>
          <p:nvPr/>
        </p:nvSpPr>
        <p:spPr>
          <a:xfrm>
            <a:off x="548640" y="4846320"/>
            <a:ext cx="11094415" cy="1097280"/>
          </a:xfrm>
          <a:prstGeom prst="roundRect">
            <a:avLst>
              <a:gd name="adj" fmla="val 6667"/>
            </a:avLst>
          </a:prstGeom>
          <a:solidFill>
            <a:schemeClr val="bg2"/>
          </a:solidFill>
          <a:ln w="12700">
            <a:solidFill>
              <a:schemeClr val="bg2"/>
            </a:solidFill>
            <a:prstDash val="solid"/>
          </a:ln>
        </p:spPr>
      </p:sp>
      <p:sp>
        <p:nvSpPr>
          <p:cNvPr id="15" name="code-259"/>
          <p:cNvSpPr txBox="1"/>
          <p:nvPr/>
        </p:nvSpPr>
        <p:spPr>
          <a:xfrm>
            <a:off x="731520" y="4956048"/>
            <a:ext cx="10728655" cy="877824"/>
          </a:xfrm>
          <a:prstGeom prst="rect">
            <a:avLst/>
          </a:prstGeom>
          <a:noFill/>
          <a:ln/>
        </p:spPr>
        <p:txBody>
          <a:bodyPr wrap="square" lIns="0" tIns="0" rIns="0" bIns="0" rtlCol="0" anchor="t"/>
          <a:lstStyle/>
          <a:p>
            <a:pPr indent="0" marL="0">
              <a:buNone/>
            </a:pPr>
            <a:r>
              <a:rPr lang="en-US" sz="1600" dirty="0">
                <a:solidFill>
                  <a:schemeClr val="tx1"/>
                </a:solidFill>
                <a:latin typeface="APL385 Unicode" pitchFamily="34" charset="0"/>
                <a:ea typeface="APL385 Unicode" pitchFamily="34" charset="-122"/>
                <a:cs typeface="APL385 Unicode" pitchFamily="34" charset="-120"/>
              </a:rPr>
              <a:t>d←⎕NS'' ⋄ d.(symbol price change)←'IOTA' 85.6 0.1</a:t>
            </a:r>
            <a:endParaRPr lang="en-US" sz="1600" dirty="0"/>
          </a:p>
          <a:p>
            <a:pPr indent="0" marL="0">
              <a:buNone/>
            </a:pPr>
            <a:r>
              <a:rPr lang="en-US" sz="1600" dirty="0">
                <a:solidFill>
                  <a:schemeClr val="tx1"/>
                </a:solidFill>
                <a:latin typeface="APL385 Unicode" pitchFamily="34" charset="0"/>
                <a:ea typeface="APL385 Unicode" pitchFamily="34" charset="-122"/>
                <a:cs typeface="APL385 Unicode" pitchFamily="34" charset="-120"/>
              </a:rPr>
              <a:t>'price' Jarvis.FormatSSE 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In the browser: EventSource</a:t>
            </a:r>
            <a:endParaRPr lang="en-US" sz="3400" dirty="0"/>
          </a:p>
        </p:txBody>
      </p:sp>
      <p:sp>
        <p:nvSpPr>
          <p:cNvPr id="3" name="code panel-260"/>
          <p:cNvSpPr/>
          <p:nvPr/>
        </p:nvSpPr>
        <p:spPr>
          <a:xfrm>
            <a:off x="548640" y="1463040"/>
            <a:ext cx="6766560" cy="2743200"/>
          </a:xfrm>
          <a:prstGeom prst="roundRect">
            <a:avLst>
              <a:gd name="adj" fmla="val 2667"/>
            </a:avLst>
          </a:prstGeom>
          <a:solidFill>
            <a:schemeClr val="bg2"/>
          </a:solidFill>
          <a:ln w="12700">
            <a:solidFill>
              <a:schemeClr val="bg2"/>
            </a:solidFill>
            <a:prstDash val="solid"/>
          </a:ln>
        </p:spPr>
      </p:sp>
      <p:sp>
        <p:nvSpPr>
          <p:cNvPr id="4" name="code-261"/>
          <p:cNvSpPr txBox="1"/>
          <p:nvPr/>
        </p:nvSpPr>
        <p:spPr>
          <a:xfrm>
            <a:off x="731520" y="1572768"/>
            <a:ext cx="6400800" cy="2523744"/>
          </a:xfrm>
          <a:prstGeom prst="rect">
            <a:avLst/>
          </a:prstGeom>
          <a:noFill/>
          <a:ln/>
        </p:spPr>
        <p:txBody>
          <a:bodyPr wrap="square" lIns="0" tIns="0" rIns="0" bIns="0" rtlCol="0" anchor="t"/>
          <a:lstStyle/>
          <a:p>
            <a:pPr indent="0" marL="0">
              <a:buNone/>
            </a:pPr>
            <a:r>
              <a:rPr lang="en-US" sz="1500" dirty="0">
                <a:solidFill>
                  <a:schemeClr val="tx1"/>
                </a:solidFill>
                <a:latin typeface="APL385 Unicode" pitchFamily="34" charset="0"/>
                <a:ea typeface="APL385 Unicode" pitchFamily="34" charset="-122"/>
                <a:cs typeface="APL385 Unicode" pitchFamily="34" charset="-120"/>
              </a:rPr>
              <a:t>const source = new EventSource("/Ticker");</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source.addEventListener("price", function (e) {</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  const data = JSON.parse(e.data);</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  updatePrice(data.symbol, data.price, data.change);</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a:t>
            </a:r>
            <a:endParaRPr lang="en-US" sz="1500" dirty="0"/>
          </a:p>
        </p:txBody>
      </p:sp>
      <p:sp>
        <p:nvSpPr>
          <p:cNvPr id="5" name="text-262"/>
          <p:cNvSpPr txBox="1"/>
          <p:nvPr/>
        </p:nvSpPr>
        <p:spPr>
          <a:xfrm>
            <a:off x="548640" y="4389120"/>
            <a:ext cx="6766560" cy="457200"/>
          </a:xfrm>
          <a:prstGeom prst="rect">
            <a:avLst/>
          </a:prstGeom>
          <a:noFill/>
          <a:ln/>
        </p:spPr>
        <p:txBody>
          <a:bodyPr wrap="square" lIns="0" tIns="0" rIns="0" bIns="0" rtlCol="0" anchor="t"/>
          <a:lstStyle/>
          <a:p>
            <a:pPr indent="0" marL="0">
              <a:buNone/>
            </a:pPr>
            <a:r>
              <a:rPr lang="en-US" sz="1400" dirty="0">
                <a:solidFill>
                  <a:schemeClr val="accent3"/>
                </a:solidFill>
              </a:rPr>
              <a:t>From html/index.html, which is supplied</a:t>
            </a:r>
            <a:endParaRPr lang="en-US" sz="1400" dirty="0"/>
          </a:p>
        </p:txBody>
      </p:sp>
      <p:sp>
        <p:nvSpPr>
          <p:cNvPr id="6" name="points-263"/>
          <p:cNvSpPr txBox="1"/>
          <p:nvPr/>
        </p:nvSpPr>
        <p:spPr>
          <a:xfrm>
            <a:off x="7680960" y="1463040"/>
            <a:ext cx="3931920" cy="41148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One listener per event type</a:t>
            </a:r>
            <a:endParaRPr lang="en-US" sz="1700" dirty="0"/>
          </a:p>
          <a:p>
            <a:pPr marL="342900" indent="-342900">
              <a:spcAft>
                <a:spcPts val="800"/>
              </a:spcAft>
              <a:buSzPct val="100000"/>
              <a:buChar char="•"/>
            </a:pPr>
            <a:r>
              <a:rPr lang="en-US" sz="1700" dirty="0">
                <a:solidFill>
                  <a:schemeClr val="tx1"/>
                </a:solidFill>
              </a:rPr>
              <a:t>Reconnects by itself, and calls Ticker again</a:t>
            </a:r>
            <a:endParaRPr lang="en-US" sz="1700" dirty="0"/>
          </a:p>
          <a:p>
            <a:pPr marL="342900" indent="-342900">
              <a:spcAft>
                <a:spcPts val="800"/>
              </a:spcAft>
              <a:buSzPct val="100000"/>
              <a:buChar char="•"/>
            </a:pPr>
            <a:r>
              <a:rPr lang="en-US" sz="1700" dirty="0">
                <a:solidFill>
                  <a:schemeClr val="tx1"/>
                </a:solidFill>
              </a:rPr>
              <a:t>You don't need to change the page: only one marked EDIT HERE section, for a stretch goal</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Server-Sent Events in Jarvis</a:t>
            </a:r>
            <a:endParaRPr lang="en-US" sz="3400" dirty="0"/>
          </a:p>
        </p:txBody>
      </p:sp>
      <p:graphicFrame>
        <p:nvGraphicFramePr>
          <p:cNvPr id="20" name="table-264"/>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840480"/>
                <a:gridCol w="7251192"/>
              </a:tblGrid>
              <a:tr h="0">
                <a:tc>
                  <a:txBody>
                    <a:bodyPr/>
                    <a:lstStyle/>
                    <a:p>
                      <a:pPr indent="0" marL="0">
                        <a:buNone/>
                      </a:pPr>
                      <a:r>
                        <a:rPr lang="en-US" sz="1600" b="1" dirty="0">
                          <a:solidFill>
                            <a:schemeClr val="bg1"/>
                          </a:solidFill>
                        </a:rPr>
                        <a:t>Jarvis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600" b="1" dirty="0">
                          <a:solidFill>
                            <a:schemeClr val="bg1"/>
                          </a:solidFill>
                        </a:rPr>
                        <a:t>What it does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accent2"/>
                    </a:solidFill>
                  </a:tcPr>
                </a:tc>
              </a:tr>
              <a:tr h="0">
                <a:tc>
                  <a:txBody>
                    <a:bodyPr/>
                    <a:lstStyle/>
                    <a:p>
                      <a:pPr indent="0" marL="0">
                        <a:buNone/>
                      </a:pPr>
                      <a:r>
                        <a:rPr lang="en-US" sz="1600" b="1" dirty="0">
                          <a:solidFill>
                            <a:schemeClr val="tx1"/>
                          </a:solidFill>
                        </a:rPr>
                        <a:t>SSEEndpoints←'Ticker'</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GET /Ticker opens a stream; Jarvis calls your Ticker once when a client connects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600" b="1" dirty="0">
                          <a:solidFill>
                            <a:schemeClr val="tx1"/>
                          </a:solidFill>
                        </a:rPr>
                        <a:t>server.SSEConnections 'Ticker'</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The clients connected right now</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600" b="1" dirty="0">
                          <a:solidFill>
                            <a:schemeClr val="tx1"/>
                          </a:solidFill>
                        </a:rPr>
                        <a:t>'price' server.FormatSSE data</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Formats an event; a namespace becomes JSON</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600" b="1" dirty="0">
                          <a:solidFill>
                            <a:schemeClr val="tx1"/>
                          </a:solidFill>
                        </a:rPr>
                        <a:t>clients server.SendSSE event</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Sends an event to one client, or many</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code panel-265"/>
          <p:cNvSpPr/>
          <p:nvPr/>
        </p:nvSpPr>
        <p:spPr>
          <a:xfrm>
            <a:off x="548640" y="3749040"/>
            <a:ext cx="11094415" cy="914400"/>
          </a:xfrm>
          <a:prstGeom prst="roundRect">
            <a:avLst>
              <a:gd name="adj" fmla="val 8000"/>
            </a:avLst>
          </a:prstGeom>
          <a:solidFill>
            <a:schemeClr val="bg2"/>
          </a:solidFill>
          <a:ln w="12700">
            <a:solidFill>
              <a:schemeClr val="bg2"/>
            </a:solidFill>
            <a:prstDash val="solid"/>
          </a:ln>
        </p:spPr>
      </p:sp>
      <p:sp>
        <p:nvSpPr>
          <p:cNvPr id="5" name="code-266"/>
          <p:cNvSpPr txBox="1"/>
          <p:nvPr/>
        </p:nvSpPr>
        <p:spPr>
          <a:xfrm>
            <a:off x="731520" y="3858768"/>
            <a:ext cx="10728655" cy="694944"/>
          </a:xfrm>
          <a:prstGeom prst="rect">
            <a:avLst/>
          </a:prstGeom>
          <a:noFill/>
          <a:ln/>
        </p:spPr>
        <p:txBody>
          <a:bodyPr wrap="square" lIns="0" tIns="0" rIns="0" bIns="0" rtlCol="0" anchor="t"/>
          <a:lstStyle/>
          <a:p>
            <a:pPr indent="0" marL="0">
              <a:buNone/>
            </a:pPr>
            <a:r>
              <a:rPr lang="en-US" sz="1600" dirty="0">
                <a:solidFill>
                  <a:schemeClr val="tx1"/>
                </a:solidFill>
                <a:latin typeface="APL385 Unicode" pitchFamily="34" charset="0"/>
                <a:ea typeface="APL385 Unicode" pitchFamily="34" charset="-122"/>
                <a:cs typeface="APL385 Unicode" pitchFamily="34" charset="-120"/>
              </a:rPr>
              <a:t>clients←server.SSEConnections 'Ticker'</a:t>
            </a:r>
            <a:endParaRPr lang="en-US" sz="1600" dirty="0"/>
          </a:p>
          <a:p>
            <a:pPr indent="0" marL="0">
              <a:buNone/>
            </a:pPr>
            <a:r>
              <a:rPr lang="en-US" sz="1600" dirty="0">
                <a:solidFill>
                  <a:schemeClr val="tx1"/>
                </a:solidFill>
                <a:latin typeface="APL385 Unicode" pitchFamily="34" charset="0"/>
                <a:ea typeface="APL385 Unicode" pitchFamily="34" charset="-122"/>
                <a:cs typeface="APL385 Unicode" pitchFamily="34" charset="-120"/>
              </a:rPr>
              <a:t>clients server.SendSSE 'price' server.FormatSSE data</a:t>
            </a:r>
            <a:endParaRPr lang="en-US" sz="1600" dirty="0"/>
          </a:p>
        </p:txBody>
      </p:sp>
      <p:sp>
        <p:nvSpPr>
          <p:cNvPr id="6" name="text-267"/>
          <p:cNvSpPr txBox="1"/>
          <p:nvPr/>
        </p:nvSpPr>
        <p:spPr>
          <a:xfrm>
            <a:off x="548640" y="4937760"/>
            <a:ext cx="11094415" cy="822960"/>
          </a:xfrm>
          <a:prstGeom prst="rect">
            <a:avLst/>
          </a:prstGeom>
          <a:noFill/>
          <a:ln/>
        </p:spPr>
        <p:txBody>
          <a:bodyPr wrap="square" lIns="0" tIns="0" rIns="0" bIns="0" rtlCol="0" anchor="t"/>
          <a:lstStyle/>
          <a:p>
            <a:pPr indent="0" marL="0">
              <a:buNone/>
            </a:pPr>
            <a:r>
              <a:rPr lang="en-US" sz="1600" dirty="0">
                <a:solidFill>
                  <a:schemeClr val="tx1"/>
                </a:solidFill>
              </a:rPr>
              <a:t>In Exercise 3, Broadcast loops in its own thread and sends prices every second. After editing it, run Restart, not Run: Run reloads the files and loses your edits.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bg1"/>
                </a:solidFill>
              </a:rPr>
              <a:t>Exercise 3: Server-Sent Events</a:t>
            </a:r>
            <a:endParaRPr lang="en-US" sz="3400" dirty="0"/>
          </a:p>
        </p:txBody>
      </p:sp>
      <p:sp>
        <p:nvSpPr>
          <p:cNvPr id="3" name="time-268"/>
          <p:cNvSpPr txBox="1"/>
          <p:nvPr/>
        </p:nvSpPr>
        <p:spPr>
          <a:xfrm>
            <a:off x="548640" y="1234440"/>
            <a:ext cx="3657600" cy="411480"/>
          </a:xfrm>
          <a:prstGeom prst="rect">
            <a:avLst/>
          </a:prstGeom>
          <a:noFill/>
          <a:ln/>
        </p:spPr>
        <p:txBody>
          <a:bodyPr wrap="square" lIns="0" tIns="0" rIns="0" bIns="0" rtlCol="0" anchor="ctr"/>
          <a:lstStyle/>
          <a:p>
            <a:pPr indent="0" marL="0">
              <a:buNone/>
            </a:pPr>
            <a:r>
              <a:rPr lang="en-US" sz="1800" b="1" dirty="0">
                <a:solidFill>
                  <a:schemeClr val="accent1"/>
                </a:solidFill>
              </a:rPr>
              <a:t>30 minutes</a:t>
            </a:r>
            <a:endParaRPr lang="en-US" sz="1800" dirty="0"/>
          </a:p>
        </p:txBody>
      </p:sp>
      <p:sp>
        <p:nvSpPr>
          <p:cNvPr id="4" name="goal-269"/>
          <p:cNvSpPr txBox="1"/>
          <p:nvPr/>
        </p:nvSpPr>
        <p:spPr>
          <a:xfrm>
            <a:off x="548640" y="1691640"/>
            <a:ext cx="5486400" cy="1097280"/>
          </a:xfrm>
          <a:prstGeom prst="rect">
            <a:avLst/>
          </a:prstGeom>
          <a:noFill/>
          <a:ln/>
        </p:spPr>
        <p:txBody>
          <a:bodyPr wrap="square" lIns="0" tIns="0" rIns="0" bIns="0" rtlCol="0" anchor="t"/>
          <a:lstStyle/>
          <a:p>
            <a:pPr indent="0" marL="0">
              <a:buNone/>
            </a:pPr>
            <a:r>
              <a:rPr lang="en-US" sz="2200" dirty="0">
                <a:solidFill>
                  <a:schemeClr val="bg1"/>
                </a:solidFill>
              </a:rPr>
              <a:t>Push live prices and news from APL to a web page, to every browser that's connected.</a:t>
            </a:r>
            <a:endParaRPr lang="en-US" sz="2200" dirty="0"/>
          </a:p>
        </p:txBody>
      </p:sp>
      <p:sp>
        <p:nvSpPr>
          <p:cNvPr id="5" name="steps head-270"/>
          <p:cNvSpPr txBox="1"/>
          <p:nvPr/>
        </p:nvSpPr>
        <p:spPr>
          <a:xfrm>
            <a:off x="6400800" y="1280160"/>
            <a:ext cx="5212080" cy="365760"/>
          </a:xfrm>
          <a:prstGeom prst="rect">
            <a:avLst/>
          </a:prstGeom>
          <a:noFill/>
          <a:ln/>
        </p:spPr>
        <p:txBody>
          <a:bodyPr wrap="square" lIns="0" tIns="0" rIns="0" bIns="0" rtlCol="0" anchor="ctr"/>
          <a:lstStyle/>
          <a:p>
            <a:pPr indent="0" marL="0">
              <a:buNone/>
            </a:pPr>
            <a:r>
              <a:rPr lang="en-US" sz="1600" b="1" dirty="0">
                <a:solidFill>
                  <a:schemeClr val="accent4"/>
                </a:solidFill>
              </a:rPr>
              <a:t>Core steps</a:t>
            </a:r>
            <a:endParaRPr lang="en-US" sz="1600" dirty="0"/>
          </a:p>
        </p:txBody>
      </p:sp>
      <p:sp>
        <p:nvSpPr>
          <p:cNvPr id="6" name="steps-271"/>
          <p:cNvSpPr txBox="1"/>
          <p:nvPr/>
        </p:nvSpPr>
        <p:spPr>
          <a:xfrm>
            <a:off x="6400800" y="1691640"/>
            <a:ext cx="5212080" cy="2743200"/>
          </a:xfrm>
          <a:prstGeom prst="rect">
            <a:avLst/>
          </a:prstGeom>
          <a:noFill/>
          <a:ln/>
        </p:spPr>
        <p:txBody>
          <a:bodyPr wrap="square" lIns="0" tIns="0" rIns="0" bIns="0" rtlCol="0" anchor="t"/>
          <a:lstStyle/>
          <a:p>
            <a:pPr indent="0" marL="0">
              <a:spcAft>
                <a:spcPts val="600"/>
              </a:spcAft>
              <a:buNone/>
            </a:pPr>
            <a:r>
              <a:rPr lang="en-US" sz="1700" dirty="0">
                <a:solidFill>
                  <a:schemeClr val="bg1"/>
                </a:solidFill>
              </a:rPr>
              <a:t>S1  Start the service, open the page</a:t>
            </a:r>
            <a:endParaRPr lang="en-US" sz="1700" dirty="0"/>
          </a:p>
          <a:p>
            <a:pPr indent="0" marL="0">
              <a:spcAft>
                <a:spcPts val="600"/>
              </a:spcAft>
              <a:buNone/>
            </a:pPr>
            <a:r>
              <a:rPr lang="en-US" sz="1700" dirty="0">
                <a:solidFill>
                  <a:schemeClr val="bg1"/>
                </a:solidFill>
              </a:rPr>
              <a:t>S2  Ticker: welcome each new client</a:t>
            </a:r>
            <a:endParaRPr lang="en-US" sz="1700" dirty="0"/>
          </a:p>
          <a:p>
            <a:pPr indent="0" marL="0">
              <a:spcAft>
                <a:spcPts val="600"/>
              </a:spcAft>
              <a:buNone/>
            </a:pPr>
            <a:r>
              <a:rPr lang="en-US" sz="1700" dirty="0">
                <a:solidFill>
                  <a:schemeClr val="bg1"/>
                </a:solidFill>
              </a:rPr>
              <a:t>S3  Broadcast: send to everyone, then Restart</a:t>
            </a:r>
            <a:endParaRPr lang="en-US" sz="1700" dirty="0"/>
          </a:p>
          <a:p>
            <a:pPr indent="0" marL="0">
              <a:spcAft>
                <a:spcPts val="600"/>
              </a:spcAft>
              <a:buNone/>
            </a:pPr>
            <a:r>
              <a:rPr lang="en-US" sz="1700" dirty="0">
                <a:solidFill>
                  <a:schemeClr val="bg1"/>
                </a:solidFill>
              </a:rPr>
              <a:t>S4  Two tabs; server.Stop and server.Start</a:t>
            </a:r>
            <a:endParaRPr lang="en-US" sz="1700" dirty="0"/>
          </a:p>
          <a:p>
            <a:pPr indent="0" marL="0">
              <a:spcAft>
                <a:spcPts val="600"/>
              </a:spcAft>
              <a:buNone/>
            </a:pPr>
            <a:r>
              <a:rPr lang="en-US" sz="1700" dirty="0">
                <a:solidFill>
                  <a:schemeClr val="bg1"/>
                </a:solidFill>
              </a:rPr>
              <a:t>S5  Stop</a:t>
            </a:r>
            <a:endParaRPr lang="en-US" sz="1700" dirty="0"/>
          </a:p>
        </p:txBody>
      </p:sp>
      <p:sp>
        <p:nvSpPr>
          <p:cNvPr id="7" name="first head-272"/>
          <p:cNvSpPr txBox="1"/>
          <p:nvPr/>
        </p:nvSpPr>
        <p:spPr>
          <a:xfrm>
            <a:off x="548640" y="4160520"/>
            <a:ext cx="7315200" cy="365760"/>
          </a:xfrm>
          <a:prstGeom prst="rect">
            <a:avLst/>
          </a:prstGeom>
          <a:noFill/>
          <a:ln/>
        </p:spPr>
        <p:txBody>
          <a:bodyPr wrap="square" lIns="0" tIns="0" rIns="0" bIns="0" rtlCol="0" anchor="ctr"/>
          <a:lstStyle/>
          <a:p>
            <a:pPr indent="0" marL="0">
              <a:buNone/>
            </a:pPr>
            <a:r>
              <a:rPr lang="en-US" sz="1600" b="1" dirty="0">
                <a:solidFill>
                  <a:schemeClr val="accent4"/>
                </a:solidFill>
              </a:rPr>
              <a:t>Start here, after Setup</a:t>
            </a:r>
            <a:endParaRPr lang="en-US" sz="1600" dirty="0"/>
          </a:p>
        </p:txBody>
      </p:sp>
      <p:sp>
        <p:nvSpPr>
          <p:cNvPr id="8" name="code panel-273"/>
          <p:cNvSpPr/>
          <p:nvPr/>
        </p:nvSpPr>
        <p:spPr>
          <a:xfrm>
            <a:off x="548640" y="4572000"/>
            <a:ext cx="11094415" cy="685800"/>
          </a:xfrm>
          <a:prstGeom prst="roundRect">
            <a:avLst>
              <a:gd name="adj" fmla="val 10667"/>
            </a:avLst>
          </a:prstGeom>
          <a:solidFill>
            <a:schemeClr val="tx2"/>
          </a:solidFill>
          <a:ln w="12700">
            <a:solidFill>
              <a:schemeClr val="tx2"/>
            </a:solidFill>
            <a:prstDash val="solid"/>
          </a:ln>
        </p:spPr>
      </p:sp>
      <p:sp>
        <p:nvSpPr>
          <p:cNvPr id="9" name="code-274"/>
          <p:cNvSpPr txBox="1"/>
          <p:nvPr/>
        </p:nvSpPr>
        <p:spPr>
          <a:xfrm>
            <a:off x="731520" y="4681728"/>
            <a:ext cx="10728655" cy="466344"/>
          </a:xfrm>
          <a:prstGeom prst="rect">
            <a:avLst/>
          </a:prstGeom>
          <a:noFill/>
          <a:ln/>
        </p:spPr>
        <p:txBody>
          <a:bodyPr wrap="square" lIns="0" tIns="0" rIns="0" bIns="0" rtlCol="0" anchor="t"/>
          <a:lstStyle/>
          <a:p>
            <a:pPr indent="0" marL="0">
              <a:buNone/>
            </a:pPr>
            <a:r>
              <a:rPr lang="en-US" sz="1500" dirty="0">
                <a:solidFill>
                  <a:schemeClr val="bg1"/>
                </a:solidFill>
                <a:latin typeface="APL385 Unicode" pitchFamily="34" charset="0"/>
                <a:ea typeface="APL385 Unicode" pitchFamily="34" charset="-122"/>
                <a:cs typeface="APL385 Unicode" pitchFamily="34" charset="-120"/>
              </a:rPr>
              <a:t>2 ⎕FIX 'file://',#.WorkshopRoot,'/Exercises/Ex3-SSE/Run.aplf'</a:t>
            </a:r>
            <a:endParaRPr lang="en-US" sz="1500" dirty="0"/>
          </a:p>
        </p:txBody>
      </p:sp>
      <p:sp>
        <p:nvSpPr>
          <p:cNvPr id="10" name="readme-275"/>
          <p:cNvSpPr txBox="1"/>
          <p:nvPr/>
        </p:nvSpPr>
        <p:spPr>
          <a:xfrm>
            <a:off x="548640" y="6355080"/>
            <a:ext cx="10058400" cy="320040"/>
          </a:xfrm>
          <a:prstGeom prst="rect">
            <a:avLst/>
          </a:prstGeom>
          <a:noFill/>
          <a:ln/>
        </p:spPr>
        <p:txBody>
          <a:bodyPr wrap="square" lIns="0" tIns="0" rIns="0" bIns="0" rtlCol="0" anchor="ctr"/>
          <a:lstStyle/>
          <a:p>
            <a:pPr indent="0" marL="0">
              <a:buNone/>
            </a:pPr>
            <a:r>
              <a:rPr lang="en-US" sz="1300" dirty="0">
                <a:solidFill>
                  <a:schemeClr val="accent5"/>
                </a:solidFill>
              </a:rPr>
              <a:t>Exercises/Ex3-SSE/README.md    After editing Broadcast: Restart, not Run.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731520" y="2103120"/>
            <a:ext cx="10515600" cy="1188720"/>
          </a:xfrm>
          <a:prstGeom prst="rect">
            <a:avLst/>
          </a:prstGeom>
          <a:noFill/>
          <a:ln/>
        </p:spPr>
        <p:txBody>
          <a:bodyPr wrap="square" lIns="0" tIns="0" rIns="0" bIns="0" rtlCol="0" anchor="b"/>
          <a:lstStyle/>
          <a:p>
            <a:pPr algn="l" indent="0" marL="0">
              <a:buNone/>
            </a:pPr>
            <a:r>
              <a:rPr lang="en-US" sz="5000" b="1" dirty="0">
                <a:solidFill>
                  <a:schemeClr val="bg1"/>
                </a:solidFill>
              </a:rPr>
              <a:t>WebSockets</a:t>
            </a:r>
            <a:endParaRPr lang="en-US" sz="5000" dirty="0"/>
          </a:p>
        </p:txBody>
      </p:sp>
      <p:sp>
        <p:nvSpPr>
          <p:cNvPr id="3" name="Text 1"/>
          <p:cNvSpPr/>
          <p:nvPr>
            <p:ph idx="102" type="body" hasCustomPrompt="1"/>
          </p:nvPr>
        </p:nvSpPr>
        <p:spPr>
          <a:xfrm>
            <a:off x="731520" y="3429000"/>
            <a:ext cx="10515600" cy="731520"/>
          </a:xfrm>
          <a:prstGeom prst="rect">
            <a:avLst/>
          </a:prstGeom>
          <a:noFill/>
          <a:ln/>
        </p:spPr>
        <p:txBody>
          <a:bodyPr wrap="square" lIns="0" tIns="0" rIns="0" bIns="0" rtlCol="0" anchor="t"/>
          <a:lstStyle/>
          <a:p>
            <a:pPr indent="0" marL="0">
              <a:buNone/>
            </a:pPr>
            <a:r>
              <a:rPr lang="en-US" sz="2400" dirty="0">
                <a:solidFill>
                  <a:schemeClr val="accent4"/>
                </a:solidFill>
              </a:rPr>
              <a:t>One connection, and both sides talk whenever they like</a:t>
            </a:r>
            <a:endParaRPr lang="en-US" sz="2400" dirty="0"/>
          </a:p>
        </p:txBody>
      </p:sp>
      <p:sp>
        <p:nvSpPr>
          <p:cNvPr id="4" name="Text 1"/>
          <p:cNvSpPr/>
          <p:nvPr>
            <p:ph idx="103" type="body" hasCustomPrompt="1"/>
          </p:nvPr>
        </p:nvSpPr>
        <p:spPr>
          <a:xfrm>
            <a:off x="731520" y="5303520"/>
            <a:ext cx="10515600" cy="457200"/>
          </a:xfrm>
          <a:prstGeom prst="rect">
            <a:avLst/>
          </a:prstGeom>
          <a:noFill/>
          <a:ln/>
        </p:spPr>
        <p:txBody>
          <a:bodyPr wrap="square" lIns="0" tIns="0" rIns="0" bIns="0" rtlCol="0"/>
          <a:lstStyle/>
          <a:p>
            <a:pPr indent="0" marL="0">
              <a:buNone/>
            </a:pPr>
            <a:r>
              <a:rPr lang="en-US" sz="1600" dirty="0">
                <a:solidFill>
                  <a:schemeClr val="accent5"/>
                </a:solidFill>
              </a:rPr>
              <a:t>10 minutes, then Exercise 4 after the break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Upgrade, then talk both ways</a:t>
            </a:r>
            <a:endParaRPr lang="en-US" sz="3400" dirty="0"/>
          </a:p>
        </p:txBody>
      </p:sp>
      <p:sp>
        <p:nvSpPr>
          <p:cNvPr id="3" name="lane-276"/>
          <p:cNvSpPr/>
          <p:nvPr/>
        </p:nvSpPr>
        <p:spPr>
          <a:xfrm>
            <a:off x="2217420" y="1920240"/>
            <a:ext cx="0" cy="4023360"/>
          </a:xfrm>
          <a:prstGeom prst="line">
            <a:avLst/>
          </a:prstGeom>
          <a:noFill/>
          <a:ln w="15875">
            <a:solidFill>
              <a:schemeClr val="accent3"/>
            </a:solidFill>
            <a:prstDash val="dash"/>
          </a:ln>
        </p:spPr>
      </p:sp>
      <p:sp>
        <p:nvSpPr>
          <p:cNvPr id="4" name="lane head-277"/>
          <p:cNvSpPr/>
          <p:nvPr/>
        </p:nvSpPr>
        <p:spPr>
          <a:xfrm>
            <a:off x="1028700" y="1417320"/>
            <a:ext cx="2377440" cy="502920"/>
          </a:xfrm>
          <a:prstGeom prst="roundRect">
            <a:avLst>
              <a:gd name="adj" fmla="val 14545"/>
            </a:avLst>
          </a:prstGeom>
          <a:solidFill>
            <a:schemeClr val="accent4"/>
          </a:solidFill>
          <a:ln w="12700">
            <a:solidFill>
              <a:schemeClr val="accent4"/>
            </a:solidFill>
            <a:prstDash val="solid"/>
          </a:ln>
        </p:spPr>
      </p:sp>
      <p:sp>
        <p:nvSpPr>
          <p:cNvPr id="5" name="lane name-278"/>
          <p:cNvSpPr txBox="1"/>
          <p:nvPr/>
        </p:nvSpPr>
        <p:spPr>
          <a:xfrm>
            <a:off x="1028700" y="141732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Browser</a:t>
            </a:r>
            <a:endParaRPr lang="en-US" sz="1500" dirty="0"/>
          </a:p>
        </p:txBody>
      </p:sp>
      <p:sp>
        <p:nvSpPr>
          <p:cNvPr id="6" name="lane-279"/>
          <p:cNvSpPr/>
          <p:nvPr/>
        </p:nvSpPr>
        <p:spPr>
          <a:xfrm>
            <a:off x="5554980" y="1920240"/>
            <a:ext cx="0" cy="4023360"/>
          </a:xfrm>
          <a:prstGeom prst="line">
            <a:avLst/>
          </a:prstGeom>
          <a:noFill/>
          <a:ln w="15875">
            <a:solidFill>
              <a:schemeClr val="accent3"/>
            </a:solidFill>
            <a:prstDash val="dash"/>
          </a:ln>
        </p:spPr>
      </p:sp>
      <p:sp>
        <p:nvSpPr>
          <p:cNvPr id="7" name="lane head-280"/>
          <p:cNvSpPr/>
          <p:nvPr/>
        </p:nvSpPr>
        <p:spPr>
          <a:xfrm>
            <a:off x="4366260" y="1417320"/>
            <a:ext cx="2377440" cy="502920"/>
          </a:xfrm>
          <a:prstGeom prst="roundRect">
            <a:avLst>
              <a:gd name="adj" fmla="val 14545"/>
            </a:avLst>
          </a:prstGeom>
          <a:solidFill>
            <a:schemeClr val="accent4"/>
          </a:solidFill>
          <a:ln w="12700">
            <a:solidFill>
              <a:schemeClr val="accent4"/>
            </a:solidFill>
            <a:prstDash val="solid"/>
          </a:ln>
        </p:spPr>
      </p:sp>
      <p:sp>
        <p:nvSpPr>
          <p:cNvPr id="8" name="lane name-281"/>
          <p:cNvSpPr txBox="1"/>
          <p:nvPr/>
        </p:nvSpPr>
        <p:spPr>
          <a:xfrm>
            <a:off x="4366260" y="141732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rPr>
              <a:t>Jarvis :8084</a:t>
            </a:r>
            <a:endParaRPr lang="en-US" sz="1500" dirty="0"/>
          </a:p>
        </p:txBody>
      </p:sp>
      <p:sp>
        <p:nvSpPr>
          <p:cNvPr id="9" name="message-282"/>
          <p:cNvSpPr/>
          <p:nvPr/>
        </p:nvSpPr>
        <p:spPr>
          <a:xfrm>
            <a:off x="2217420" y="2423160"/>
            <a:ext cx="3337560" cy="0"/>
          </a:xfrm>
          <a:prstGeom prst="line">
            <a:avLst/>
          </a:prstGeom>
          <a:noFill/>
          <a:ln w="28575">
            <a:solidFill>
              <a:schemeClr val="accent1"/>
            </a:solidFill>
            <a:prstDash val="solid"/>
            <a:tailEnd type="triangle"/>
          </a:ln>
        </p:spPr>
      </p:sp>
      <p:sp>
        <p:nvSpPr>
          <p:cNvPr id="10" name="message label-283"/>
          <p:cNvSpPr txBox="1"/>
          <p:nvPr/>
        </p:nvSpPr>
        <p:spPr>
          <a:xfrm>
            <a:off x="2263140" y="2029968"/>
            <a:ext cx="324612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GET /chat  Upgrade: websocket</a:t>
            </a:r>
            <a:endParaRPr lang="en-US" sz="1200" dirty="0"/>
          </a:p>
        </p:txBody>
      </p:sp>
      <p:sp>
        <p:nvSpPr>
          <p:cNvPr id="11" name="message-284"/>
          <p:cNvSpPr/>
          <p:nvPr/>
        </p:nvSpPr>
        <p:spPr>
          <a:xfrm>
            <a:off x="2217420" y="2971800"/>
            <a:ext cx="3337560" cy="0"/>
          </a:xfrm>
          <a:prstGeom prst="line">
            <a:avLst/>
          </a:prstGeom>
          <a:noFill/>
          <a:ln w="28575">
            <a:solidFill>
              <a:schemeClr val="accent2"/>
            </a:solidFill>
            <a:prstDash val="solid"/>
            <a:headEnd type="triangle"/>
          </a:ln>
        </p:spPr>
      </p:sp>
      <p:sp>
        <p:nvSpPr>
          <p:cNvPr id="12" name="message label-285"/>
          <p:cNvSpPr txBox="1"/>
          <p:nvPr/>
        </p:nvSpPr>
        <p:spPr>
          <a:xfrm>
            <a:off x="2263140" y="2578608"/>
            <a:ext cx="324612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101 Switching Protocols</a:t>
            </a:r>
            <a:endParaRPr lang="en-US" sz="1200" dirty="0"/>
          </a:p>
        </p:txBody>
      </p:sp>
      <p:sp>
        <p:nvSpPr>
          <p:cNvPr id="13" name="message-286"/>
          <p:cNvSpPr/>
          <p:nvPr/>
        </p:nvSpPr>
        <p:spPr>
          <a:xfrm>
            <a:off x="2217420" y="3657600"/>
            <a:ext cx="3337560" cy="0"/>
          </a:xfrm>
          <a:prstGeom prst="line">
            <a:avLst/>
          </a:prstGeom>
          <a:noFill/>
          <a:ln w="28575">
            <a:solidFill>
              <a:schemeClr val="accent1"/>
            </a:solidFill>
            <a:prstDash val="solid"/>
            <a:tailEnd type="triangle"/>
          </a:ln>
        </p:spPr>
      </p:sp>
      <p:sp>
        <p:nvSpPr>
          <p:cNvPr id="14" name="message label-287"/>
          <p:cNvSpPr txBox="1"/>
          <p:nvPr/>
        </p:nvSpPr>
        <p:spPr>
          <a:xfrm>
            <a:off x="2263140" y="3264408"/>
            <a:ext cx="324612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{"type":"join","user":"Ada"}</a:t>
            </a:r>
            <a:endParaRPr lang="en-US" sz="1200" dirty="0"/>
          </a:p>
        </p:txBody>
      </p:sp>
      <p:sp>
        <p:nvSpPr>
          <p:cNvPr id="15" name="message-288"/>
          <p:cNvSpPr/>
          <p:nvPr/>
        </p:nvSpPr>
        <p:spPr>
          <a:xfrm>
            <a:off x="2217420" y="4206240"/>
            <a:ext cx="3337560" cy="0"/>
          </a:xfrm>
          <a:prstGeom prst="line">
            <a:avLst/>
          </a:prstGeom>
          <a:noFill/>
          <a:ln w="28575">
            <a:solidFill>
              <a:schemeClr val="accent2"/>
            </a:solidFill>
            <a:prstDash val="solid"/>
            <a:headEnd type="triangle"/>
          </a:ln>
        </p:spPr>
      </p:sp>
      <p:sp>
        <p:nvSpPr>
          <p:cNvPr id="16" name="message label-289"/>
          <p:cNvSpPr txBox="1"/>
          <p:nvPr/>
        </p:nvSpPr>
        <p:spPr>
          <a:xfrm>
            <a:off x="2263140" y="3813048"/>
            <a:ext cx="324612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{"type":"join","user":"Ada",…}</a:t>
            </a:r>
            <a:endParaRPr lang="en-US" sz="1200" dirty="0"/>
          </a:p>
        </p:txBody>
      </p:sp>
      <p:sp>
        <p:nvSpPr>
          <p:cNvPr id="17" name="message-290"/>
          <p:cNvSpPr/>
          <p:nvPr/>
        </p:nvSpPr>
        <p:spPr>
          <a:xfrm>
            <a:off x="2217420" y="4800600"/>
            <a:ext cx="3337560" cy="0"/>
          </a:xfrm>
          <a:prstGeom prst="line">
            <a:avLst/>
          </a:prstGeom>
          <a:noFill/>
          <a:ln w="28575">
            <a:solidFill>
              <a:schemeClr val="accent1"/>
            </a:solidFill>
            <a:prstDash val="solid"/>
            <a:tailEnd type="triangle"/>
          </a:ln>
        </p:spPr>
      </p:sp>
      <p:sp>
        <p:nvSpPr>
          <p:cNvPr id="18" name="message label-291"/>
          <p:cNvSpPr txBox="1"/>
          <p:nvPr/>
        </p:nvSpPr>
        <p:spPr>
          <a:xfrm>
            <a:off x="2263140" y="4407408"/>
            <a:ext cx="324612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{"type":"msg","text":"Hello"}</a:t>
            </a:r>
            <a:endParaRPr lang="en-US" sz="1200" dirty="0"/>
          </a:p>
        </p:txBody>
      </p:sp>
      <p:sp>
        <p:nvSpPr>
          <p:cNvPr id="19" name="message-292"/>
          <p:cNvSpPr/>
          <p:nvPr/>
        </p:nvSpPr>
        <p:spPr>
          <a:xfrm>
            <a:off x="2217420" y="5349240"/>
            <a:ext cx="3337560" cy="0"/>
          </a:xfrm>
          <a:prstGeom prst="line">
            <a:avLst/>
          </a:prstGeom>
          <a:noFill/>
          <a:ln w="28575">
            <a:solidFill>
              <a:schemeClr val="accent2"/>
            </a:solidFill>
            <a:prstDash val="solid"/>
            <a:headEnd type="triangle"/>
          </a:ln>
        </p:spPr>
      </p:sp>
      <p:sp>
        <p:nvSpPr>
          <p:cNvPr id="20" name="message label-293"/>
          <p:cNvSpPr txBox="1"/>
          <p:nvPr/>
        </p:nvSpPr>
        <p:spPr>
          <a:xfrm>
            <a:off x="2263140" y="4956048"/>
            <a:ext cx="3246120" cy="329184"/>
          </a:xfrm>
          <a:prstGeom prst="rect">
            <a:avLst/>
          </a:prstGeom>
          <a:noFill/>
          <a:ln/>
        </p:spPr>
        <p:txBody>
          <a:bodyPr wrap="square" lIns="0" tIns="0" rIns="0" bIns="0" rtlCol="0" anchor="b"/>
          <a:lstStyle/>
          <a:p>
            <a:pPr algn="ctr" indent="0" marL="0">
              <a:buNone/>
            </a:pPr>
            <a:r>
              <a:rPr lang="en-US" sz="1200" dirty="0">
                <a:solidFill>
                  <a:schemeClr val="tx1"/>
                </a:solidFill>
                <a:latin typeface="APL385 Unicode" pitchFamily="34" charset="0"/>
                <a:ea typeface="APL385 Unicode" pitchFamily="34" charset="-122"/>
                <a:cs typeface="APL385 Unicode" pitchFamily="34" charset="-120"/>
              </a:rPr>
              <a:t>{"type":"msg","user":"Ada",…}</a:t>
            </a:r>
            <a:endParaRPr lang="en-US" sz="1200" dirty="0"/>
          </a:p>
        </p:txBody>
      </p:sp>
      <p:sp>
        <p:nvSpPr>
          <p:cNvPr id="21" name="card-294"/>
          <p:cNvSpPr/>
          <p:nvPr/>
        </p:nvSpPr>
        <p:spPr>
          <a:xfrm>
            <a:off x="7589520" y="1417320"/>
            <a:ext cx="4023360" cy="1463040"/>
          </a:xfrm>
          <a:prstGeom prst="roundRect">
            <a:avLst>
              <a:gd name="adj" fmla="val 6250"/>
            </a:avLst>
          </a:prstGeom>
          <a:solidFill>
            <a:schemeClr val="bg2"/>
          </a:solidFill>
          <a:ln w="12700">
            <a:solidFill>
              <a:schemeClr val="bg2"/>
            </a:solidFill>
            <a:prstDash val="solid"/>
          </a:ln>
        </p:spPr>
      </p:sp>
      <p:sp>
        <p:nvSpPr>
          <p:cNvPr id="22" name="card head-295"/>
          <p:cNvSpPr txBox="1"/>
          <p:nvPr/>
        </p:nvSpPr>
        <p:spPr>
          <a:xfrm>
            <a:off x="7863840" y="1645920"/>
            <a:ext cx="34747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Starts as HTTP</a:t>
            </a:r>
            <a:endParaRPr lang="en-US" sz="1900" dirty="0"/>
          </a:p>
        </p:txBody>
      </p:sp>
      <p:sp>
        <p:nvSpPr>
          <p:cNvPr id="23" name="card body-296"/>
          <p:cNvSpPr txBox="1"/>
          <p:nvPr/>
        </p:nvSpPr>
        <p:spPr>
          <a:xfrm>
            <a:off x="7863840" y="2194560"/>
            <a:ext cx="3474720" cy="502920"/>
          </a:xfrm>
          <a:prstGeom prst="rect">
            <a:avLst/>
          </a:prstGeom>
          <a:noFill/>
          <a:ln/>
        </p:spPr>
        <p:txBody>
          <a:bodyPr wrap="square" lIns="0" tIns="0" rIns="0" bIns="0" rtlCol="0" anchor="t"/>
          <a:lstStyle/>
          <a:p>
            <a:pPr indent="0" marL="0">
              <a:buNone/>
            </a:pPr>
            <a:r>
              <a:rPr lang="en-US" sz="1500" dirty="0">
                <a:solidFill>
                  <a:schemeClr val="tx1"/>
                </a:solidFill>
              </a:rPr>
              <a:t>The browser asks to upgrade; the server agrees.</a:t>
            </a:r>
            <a:endParaRPr lang="en-US" sz="1500" dirty="0"/>
          </a:p>
        </p:txBody>
      </p:sp>
      <p:sp>
        <p:nvSpPr>
          <p:cNvPr id="24" name="card-297"/>
          <p:cNvSpPr/>
          <p:nvPr/>
        </p:nvSpPr>
        <p:spPr>
          <a:xfrm>
            <a:off x="7589520" y="3017520"/>
            <a:ext cx="4023360" cy="1463040"/>
          </a:xfrm>
          <a:prstGeom prst="roundRect">
            <a:avLst>
              <a:gd name="adj" fmla="val 6250"/>
            </a:avLst>
          </a:prstGeom>
          <a:solidFill>
            <a:schemeClr val="bg2"/>
          </a:solidFill>
          <a:ln w="12700">
            <a:solidFill>
              <a:schemeClr val="bg2"/>
            </a:solidFill>
            <a:prstDash val="solid"/>
          </a:ln>
        </p:spPr>
      </p:sp>
      <p:sp>
        <p:nvSpPr>
          <p:cNvPr id="25" name="card head-298"/>
          <p:cNvSpPr txBox="1"/>
          <p:nvPr/>
        </p:nvSpPr>
        <p:spPr>
          <a:xfrm>
            <a:off x="7863840" y="3246120"/>
            <a:ext cx="34747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Then two-way</a:t>
            </a:r>
            <a:endParaRPr lang="en-US" sz="1900" dirty="0"/>
          </a:p>
        </p:txBody>
      </p:sp>
      <p:sp>
        <p:nvSpPr>
          <p:cNvPr id="26" name="card body-299"/>
          <p:cNvSpPr txBox="1"/>
          <p:nvPr/>
        </p:nvSpPr>
        <p:spPr>
          <a:xfrm>
            <a:off x="7863840" y="3794760"/>
            <a:ext cx="3474720" cy="502920"/>
          </a:xfrm>
          <a:prstGeom prst="rect">
            <a:avLst/>
          </a:prstGeom>
          <a:noFill/>
          <a:ln/>
        </p:spPr>
        <p:txBody>
          <a:bodyPr wrap="square" lIns="0" tIns="0" rIns="0" bIns="0" rtlCol="0" anchor="t"/>
          <a:lstStyle/>
          <a:p>
            <a:pPr indent="0" marL="0">
              <a:buNone/>
            </a:pPr>
            <a:r>
              <a:rPr lang="en-US" sz="1500" dirty="0">
                <a:solidFill>
                  <a:schemeClr val="tx1"/>
                </a:solidFill>
              </a:rPr>
              <a:t>Either side sends a message at any time.</a:t>
            </a:r>
            <a:endParaRPr lang="en-US" sz="1500" dirty="0"/>
          </a:p>
        </p:txBody>
      </p:sp>
      <p:sp>
        <p:nvSpPr>
          <p:cNvPr id="27" name="card-300"/>
          <p:cNvSpPr/>
          <p:nvPr/>
        </p:nvSpPr>
        <p:spPr>
          <a:xfrm>
            <a:off x="7589520" y="4617720"/>
            <a:ext cx="4023360" cy="1463040"/>
          </a:xfrm>
          <a:prstGeom prst="roundRect">
            <a:avLst>
              <a:gd name="adj" fmla="val 6250"/>
            </a:avLst>
          </a:prstGeom>
          <a:solidFill>
            <a:schemeClr val="bg2"/>
          </a:solidFill>
          <a:ln w="12700">
            <a:solidFill>
              <a:schemeClr val="bg2"/>
            </a:solidFill>
            <a:prstDash val="solid"/>
          </a:ln>
        </p:spPr>
      </p:sp>
      <p:sp>
        <p:nvSpPr>
          <p:cNvPr id="28" name="card head-301"/>
          <p:cNvSpPr txBox="1"/>
          <p:nvPr/>
        </p:nvSpPr>
        <p:spPr>
          <a:xfrm>
            <a:off x="7863840" y="4846320"/>
            <a:ext cx="347472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No reconnecting</a:t>
            </a:r>
            <a:endParaRPr lang="en-US" sz="1900" dirty="0"/>
          </a:p>
        </p:txBody>
      </p:sp>
      <p:sp>
        <p:nvSpPr>
          <p:cNvPr id="29" name="card body-302"/>
          <p:cNvSpPr txBox="1"/>
          <p:nvPr/>
        </p:nvSpPr>
        <p:spPr>
          <a:xfrm>
            <a:off x="7863840" y="5394960"/>
            <a:ext cx="3474720" cy="502920"/>
          </a:xfrm>
          <a:prstGeom prst="rect">
            <a:avLst/>
          </a:prstGeom>
          <a:noFill/>
          <a:ln/>
        </p:spPr>
        <p:txBody>
          <a:bodyPr wrap="square" lIns="0" tIns="0" rIns="0" bIns="0" rtlCol="0" anchor="t"/>
          <a:lstStyle/>
          <a:p>
            <a:pPr indent="0" marL="0">
              <a:buNone/>
            </a:pPr>
            <a:r>
              <a:rPr lang="en-US" sz="1500" dirty="0">
                <a:solidFill>
                  <a:schemeClr val="tx1"/>
                </a:solidFill>
              </a:rPr>
              <a:t>If it closes, it stays closed.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Three hooks, written by you</a:t>
            </a:r>
            <a:endParaRPr lang="en-US" sz="3400" dirty="0"/>
          </a:p>
        </p:txBody>
      </p:sp>
      <p:graphicFrame>
        <p:nvGraphicFramePr>
          <p:cNvPr id="24" name="table-303"/>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017520"/>
                <a:gridCol w="2926080"/>
                <a:gridCol w="5148072"/>
              </a:tblGrid>
              <a:tr h="0">
                <a:tc>
                  <a:txBody>
                    <a:bodyPr/>
                    <a:lstStyle/>
                    <a:p>
                      <a:pPr indent="0" marL="0">
                        <a:buNone/>
                      </a:pPr>
                      <a:r>
                        <a:rPr lang="en-US" sz="1600" b="1" dirty="0">
                          <a:solidFill>
                            <a:schemeClr val="bg1"/>
                          </a:solidFill>
                        </a:rPr>
                        <a:t>Your function</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600" b="1" dirty="0">
                          <a:solidFill>
                            <a:schemeClr val="bg1"/>
                          </a:solidFill>
                        </a:rPr>
                        <a:t>Jarvis calls it when</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600" b="1" dirty="0">
                          <a:solidFill>
                            <a:schemeClr val="bg1"/>
                          </a:solidFill>
                        </a:rPr>
                        <a:t>In the chat</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accent2"/>
                    </a:solidFill>
                  </a:tcPr>
                </a:tc>
              </a:tr>
              <a:tr h="0">
                <a:tc>
                  <a:txBody>
                    <a:bodyPr/>
                    <a:lstStyle/>
                    <a:p>
                      <a:pPr indent="0" marL="0">
                        <a:buNone/>
                      </a:pPr>
                      <a:r>
                        <a:rPr lang="en-US" sz="1600" b="1" dirty="0">
                          <a:solidFill>
                            <a:schemeClr val="tx1"/>
                          </a:solidFill>
                        </a:rPr>
                        <a:t>Connect ns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a client connects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Remember the connection's name: Clients,←⊂ns.conx</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600" b="1" dirty="0">
                          <a:solidFill>
                            <a:schemeClr val="tx1"/>
                          </a:solidFill>
                        </a:rPr>
                        <a:t>Receive msg</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a message arrives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Read the JSON, add the name and time, send it to everyone</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600" b="1" dirty="0">
                          <a:solidFill>
                            <a:schemeClr val="tx1"/>
                          </a:solidFill>
                        </a:rPr>
                        <a:t>Disconnect ns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a connection closes</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Forget it, and tell everyone who left</a:t>
                      </a:r>
                      <a:endParaRPr lang="en-US" sz="1600" dirty="0"/>
                    </a:p>
                  </a:txBody>
                  <a:tcPr marL="109728" marR="109728" marT="73152" marB="7315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code panel-304"/>
          <p:cNvSpPr/>
          <p:nvPr/>
        </p:nvSpPr>
        <p:spPr>
          <a:xfrm>
            <a:off x="548640" y="3566160"/>
            <a:ext cx="11094415" cy="685800"/>
          </a:xfrm>
          <a:prstGeom prst="roundRect">
            <a:avLst>
              <a:gd name="adj" fmla="val 10667"/>
            </a:avLst>
          </a:prstGeom>
          <a:solidFill>
            <a:schemeClr val="bg2"/>
          </a:solidFill>
          <a:ln w="12700">
            <a:solidFill>
              <a:schemeClr val="bg2"/>
            </a:solidFill>
            <a:prstDash val="solid"/>
          </a:ln>
        </p:spPr>
      </p:sp>
      <p:sp>
        <p:nvSpPr>
          <p:cNvPr id="5" name="code-305"/>
          <p:cNvSpPr txBox="1"/>
          <p:nvPr/>
        </p:nvSpPr>
        <p:spPr>
          <a:xfrm>
            <a:off x="731520" y="3675888"/>
            <a:ext cx="10728655" cy="466344"/>
          </a:xfrm>
          <a:prstGeom prst="rect">
            <a:avLst/>
          </a:prstGeom>
          <a:noFill/>
          <a:ln/>
        </p:spPr>
        <p:txBody>
          <a:bodyPr wrap="square" lIns="0" tIns="0" rIns="0" bIns="0" rtlCol="0" anchor="t"/>
          <a:lstStyle/>
          <a:p>
            <a:pPr indent="0" marL="0">
              <a:buNone/>
            </a:pPr>
            <a:r>
              <a:rPr lang="en-US" sz="1600" dirty="0">
                <a:solidFill>
                  <a:schemeClr val="tx1"/>
                </a:solidFill>
                <a:latin typeface="APL385 Unicode" pitchFamily="34" charset="0"/>
                <a:ea typeface="APL385 Unicode" pitchFamily="34" charset="-122"/>
                <a:cs typeface="APL385 Unicode" pitchFamily="34" charset="-120"/>
              </a:rPr>
              <a:t>Clients ns.Server.WsSend out   ⍝ send to connection names, not namespaces</a:t>
            </a:r>
            <a:endParaRPr lang="en-US" sz="1600" dirty="0"/>
          </a:p>
        </p:txBody>
      </p:sp>
      <p:sp>
        <p:nvSpPr>
          <p:cNvPr id="6" name="card-306"/>
          <p:cNvSpPr/>
          <p:nvPr/>
        </p:nvSpPr>
        <p:spPr>
          <a:xfrm>
            <a:off x="548640" y="4526280"/>
            <a:ext cx="5394960" cy="1600200"/>
          </a:xfrm>
          <a:prstGeom prst="roundRect">
            <a:avLst>
              <a:gd name="adj" fmla="val 5714"/>
            </a:avLst>
          </a:prstGeom>
          <a:solidFill>
            <a:schemeClr val="bg2"/>
          </a:solidFill>
          <a:ln w="12700">
            <a:solidFill>
              <a:schemeClr val="bg2"/>
            </a:solidFill>
            <a:prstDash val="solid"/>
          </a:ln>
        </p:spPr>
      </p:sp>
      <p:sp>
        <p:nvSpPr>
          <p:cNvPr id="7" name="card head-307"/>
          <p:cNvSpPr txBox="1"/>
          <p:nvPr/>
        </p:nvSpPr>
        <p:spPr>
          <a:xfrm>
            <a:off x="822960" y="4754880"/>
            <a:ext cx="484632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Every hook returns a result</a:t>
            </a:r>
            <a:endParaRPr lang="en-US" sz="1800" dirty="0"/>
          </a:p>
        </p:txBody>
      </p:sp>
      <p:sp>
        <p:nvSpPr>
          <p:cNvPr id="8" name="card body-308"/>
          <p:cNvSpPr txBox="1"/>
          <p:nvPr/>
        </p:nvSpPr>
        <p:spPr>
          <a:xfrm>
            <a:off x="822960" y="5303520"/>
            <a:ext cx="4846320" cy="640080"/>
          </a:xfrm>
          <a:prstGeom prst="rect">
            <a:avLst/>
          </a:prstGeom>
          <a:noFill/>
          <a:ln/>
        </p:spPr>
        <p:txBody>
          <a:bodyPr wrap="square" lIns="0" tIns="0" rIns="0" bIns="0" rtlCol="0" anchor="t"/>
          <a:lstStyle/>
          <a:p>
            <a:pPr indent="0" marL="0">
              <a:buNone/>
            </a:pPr>
            <a:r>
              <a:rPr lang="en-US" sz="1500" dirty="0">
                <a:solidFill>
                  <a:schemeClr val="tx1"/>
                </a:solidFill>
              </a:rPr>
              <a:t>0 carries on. Anything else from Connect or Receive closes the connection.</a:t>
            </a:r>
            <a:endParaRPr lang="en-US" sz="1500" dirty="0"/>
          </a:p>
        </p:txBody>
      </p:sp>
      <p:sp>
        <p:nvSpPr>
          <p:cNvPr id="9" name="card-309"/>
          <p:cNvSpPr/>
          <p:nvPr/>
        </p:nvSpPr>
        <p:spPr>
          <a:xfrm>
            <a:off x="6217920" y="4526280"/>
            <a:ext cx="5394960" cy="1600200"/>
          </a:xfrm>
          <a:prstGeom prst="roundRect">
            <a:avLst>
              <a:gd name="adj" fmla="val 5714"/>
            </a:avLst>
          </a:prstGeom>
          <a:solidFill>
            <a:schemeClr val="accent5"/>
          </a:solidFill>
          <a:ln w="12700">
            <a:solidFill>
              <a:schemeClr val="accent5"/>
            </a:solidFill>
            <a:prstDash val="solid"/>
          </a:ln>
        </p:spPr>
      </p:sp>
      <p:sp>
        <p:nvSpPr>
          <p:cNvPr id="10" name="card head-310"/>
          <p:cNvSpPr txBox="1"/>
          <p:nvPr/>
        </p:nvSpPr>
        <p:spPr>
          <a:xfrm>
            <a:off x="6492240" y="4754880"/>
            <a:ext cx="484632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Jarvis 1.23.1</a:t>
            </a:r>
            <a:endParaRPr lang="en-US" sz="1800" dirty="0"/>
          </a:p>
        </p:txBody>
      </p:sp>
      <p:sp>
        <p:nvSpPr>
          <p:cNvPr id="11" name="card body-311"/>
          <p:cNvSpPr txBox="1"/>
          <p:nvPr/>
        </p:nvSpPr>
        <p:spPr>
          <a:xfrm>
            <a:off x="6492240" y="5303520"/>
            <a:ext cx="4846320" cy="640080"/>
          </a:xfrm>
          <a:prstGeom prst="rect">
            <a:avLst/>
          </a:prstGeom>
          <a:noFill/>
          <a:ln/>
        </p:spPr>
        <p:txBody>
          <a:bodyPr wrap="square" lIns="0" tIns="0" rIns="0" bIns="0" rtlCol="0" anchor="t"/>
          <a:lstStyle/>
          <a:p>
            <a:pPr indent="0" marL="0">
              <a:buNone/>
            </a:pPr>
            <a:r>
              <a:rPr lang="en-US" sz="1500" dirty="0">
                <a:solidFill>
                  <a:schemeClr val="tx1"/>
                </a:solidFill>
              </a:rPr>
              <a:t>Calls Disconnect when a connection closes; 1.23.0 didn't.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From APL: WebSocketClient</a:t>
            </a:r>
            <a:endParaRPr lang="en-US" sz="3400" dirty="0"/>
          </a:p>
        </p:txBody>
      </p:sp>
      <p:sp>
        <p:nvSpPr>
          <p:cNvPr id="3" name="code panel-312"/>
          <p:cNvSpPr/>
          <p:nvPr/>
        </p:nvSpPr>
        <p:spPr>
          <a:xfrm>
            <a:off x="548640" y="1417320"/>
            <a:ext cx="11094415" cy="1828800"/>
          </a:xfrm>
          <a:prstGeom prst="roundRect">
            <a:avLst>
              <a:gd name="adj" fmla="val 4000"/>
            </a:avLst>
          </a:prstGeom>
          <a:solidFill>
            <a:schemeClr val="bg2"/>
          </a:solidFill>
          <a:ln w="12700">
            <a:solidFill>
              <a:schemeClr val="bg2"/>
            </a:solidFill>
            <a:prstDash val="solid"/>
          </a:ln>
        </p:spPr>
      </p:sp>
      <p:sp>
        <p:nvSpPr>
          <p:cNvPr id="4" name="code-313"/>
          <p:cNvSpPr txBox="1"/>
          <p:nvPr/>
        </p:nvSpPr>
        <p:spPr>
          <a:xfrm>
            <a:off x="731520" y="1527048"/>
            <a:ext cx="10728655" cy="1609344"/>
          </a:xfrm>
          <a:prstGeom prst="rect">
            <a:avLst/>
          </a:prstGeom>
          <a:noFill/>
          <a:ln/>
        </p:spPr>
        <p:txBody>
          <a:bodyPr wrap="square" lIns="0" tIns="0" rIns="0" bIns="0" rtlCol="0" anchor="t"/>
          <a:lstStyle/>
          <a:p>
            <a:pPr indent="0" marL="0">
              <a:buNone/>
            </a:pPr>
            <a:r>
              <a:rPr lang="en-US" sz="1500" dirty="0">
                <a:solidFill>
                  <a:schemeClr val="tx1"/>
                </a:solidFill>
                <a:latin typeface="APL385 Unicode" pitchFamily="34" charset="0"/>
                <a:ea typeface="APL385 Unicode" pitchFamily="34" charset="-122"/>
                <a:cs typeface="APL385 Unicode" pitchFamily="34" charset="-120"/>
              </a:rPr>
              <a:t>s←⎕NS''</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s.(URL OnWSReceive)←'ws://localhost:8084/chat' '#.Chat.ShowMessage'</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c←WebSocketClient.New s</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c.Connect</a:t>
            </a:r>
            <a:endParaRPr lang="en-US" sz="1500" dirty="0"/>
          </a:p>
          <a:p>
            <a:pPr indent="0" marL="0">
              <a:buNone/>
            </a:pP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 client ShowMessage message   ⍝ message.buffer is the text</a:t>
            </a:r>
            <a:endParaRPr lang="en-US" sz="1500" dirty="0"/>
          </a:p>
        </p:txBody>
      </p:sp>
      <p:sp>
        <p:nvSpPr>
          <p:cNvPr id="5" name="card-314"/>
          <p:cNvSpPr/>
          <p:nvPr/>
        </p:nvSpPr>
        <p:spPr>
          <a:xfrm>
            <a:off x="548640" y="3520440"/>
            <a:ext cx="5577840" cy="2377440"/>
          </a:xfrm>
          <a:prstGeom prst="roundRect">
            <a:avLst>
              <a:gd name="adj" fmla="val 3846"/>
            </a:avLst>
          </a:prstGeom>
          <a:solidFill>
            <a:schemeClr val="accent5"/>
          </a:solidFill>
          <a:ln w="12700">
            <a:solidFill>
              <a:schemeClr val="accent5"/>
            </a:solidFill>
            <a:prstDash val="solid"/>
          </a:ln>
        </p:spPr>
      </p:sp>
      <p:sp>
        <p:nvSpPr>
          <p:cNvPr id="6" name="card head-315"/>
          <p:cNvSpPr txBox="1"/>
          <p:nvPr/>
        </p:nvSpPr>
        <p:spPr>
          <a:xfrm>
            <a:off x="822960" y="3749040"/>
            <a:ext cx="502920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Dyadic, always</a:t>
            </a:r>
            <a:endParaRPr lang="en-US" sz="1900" dirty="0"/>
          </a:p>
        </p:txBody>
      </p:sp>
      <p:sp>
        <p:nvSpPr>
          <p:cNvPr id="7" name="card body-316"/>
          <p:cNvSpPr txBox="1"/>
          <p:nvPr/>
        </p:nvSpPr>
        <p:spPr>
          <a:xfrm>
            <a:off x="822960" y="4297680"/>
            <a:ext cx="5029200" cy="1417320"/>
          </a:xfrm>
          <a:prstGeom prst="rect">
            <a:avLst/>
          </a:prstGeom>
          <a:noFill/>
          <a:ln/>
        </p:spPr>
        <p:txBody>
          <a:bodyPr wrap="square" lIns="0" tIns="0" rIns="0" bIns="0" rtlCol="0" anchor="t"/>
          <a:lstStyle/>
          <a:p>
            <a:pPr indent="0" marL="0">
              <a:buNone/>
            </a:pPr>
            <a:r>
              <a:rPr lang="en-US" sz="1500" dirty="0">
                <a:solidFill>
                  <a:schemeClr val="tx1"/>
                </a:solidFill>
              </a:rPr>
              <a:t>WebSocketClient calls the receive function as client ShowMessage message. A monadic function fails inside the listener thread, and the connection closes with no error in your session.</a:t>
            </a:r>
            <a:endParaRPr lang="en-US" sz="1500" dirty="0"/>
          </a:p>
        </p:txBody>
      </p:sp>
      <p:sp>
        <p:nvSpPr>
          <p:cNvPr id="8" name="text-317"/>
          <p:cNvSpPr txBox="1"/>
          <p:nvPr/>
        </p:nvSpPr>
        <p:spPr>
          <a:xfrm>
            <a:off x="6446520" y="3520440"/>
            <a:ext cx="5166360" cy="411480"/>
          </a:xfrm>
          <a:prstGeom prst="rect">
            <a:avLst/>
          </a:prstGeom>
          <a:noFill/>
          <a:ln/>
        </p:spPr>
        <p:txBody>
          <a:bodyPr wrap="square" lIns="0" tIns="0" rIns="0" bIns="0" rtlCol="0" anchor="t"/>
          <a:lstStyle/>
          <a:p>
            <a:pPr indent="0" marL="0">
              <a:buNone/>
            </a:pPr>
            <a:r>
              <a:rPr lang="en-US" sz="1700" dirty="0">
                <a:solidFill>
                  <a:schemeClr val="tx1"/>
                </a:solidFill>
              </a:rPr>
              <a:t>In Exercise 4 this is supplied, as Chat:</a:t>
            </a:r>
            <a:endParaRPr lang="en-US" sz="1700" dirty="0"/>
          </a:p>
        </p:txBody>
      </p:sp>
      <p:sp>
        <p:nvSpPr>
          <p:cNvPr id="9" name="code panel-318"/>
          <p:cNvSpPr/>
          <p:nvPr/>
        </p:nvSpPr>
        <p:spPr>
          <a:xfrm>
            <a:off x="6446520" y="4023360"/>
            <a:ext cx="5193792" cy="1188720"/>
          </a:xfrm>
          <a:prstGeom prst="roundRect">
            <a:avLst>
              <a:gd name="adj" fmla="val 6154"/>
            </a:avLst>
          </a:prstGeom>
          <a:solidFill>
            <a:schemeClr val="bg2"/>
          </a:solidFill>
          <a:ln w="12700">
            <a:solidFill>
              <a:schemeClr val="bg2"/>
            </a:solidFill>
            <a:prstDash val="solid"/>
          </a:ln>
        </p:spPr>
      </p:sp>
      <p:sp>
        <p:nvSpPr>
          <p:cNvPr id="10" name="code-319"/>
          <p:cNvSpPr txBox="1"/>
          <p:nvPr/>
        </p:nvSpPr>
        <p:spPr>
          <a:xfrm>
            <a:off x="6629400" y="4133088"/>
            <a:ext cx="4828032" cy="969264"/>
          </a:xfrm>
          <a:prstGeom prst="rect">
            <a:avLst/>
          </a:prstGeom>
          <a:noFill/>
          <a:ln/>
        </p:spPr>
        <p:txBody>
          <a:bodyPr wrap="square" lIns="0" tIns="0" rIns="0" bIns="0" rtlCol="0" anchor="t"/>
          <a:lstStyle/>
          <a:p>
            <a:pPr indent="0" marL="0">
              <a:buNone/>
            </a:pPr>
            <a:r>
              <a:rPr lang="en-US" sz="1500" dirty="0">
                <a:solidFill>
                  <a:schemeClr val="tx1"/>
                </a:solidFill>
                <a:latin typeface="APL385 Unicode" pitchFamily="34" charset="0"/>
                <a:ea typeface="APL385 Unicode" pitchFamily="34" charset="-122"/>
                <a:cs typeface="APL385 Unicode" pitchFamily="34" charset="-120"/>
              </a:rPr>
              <a:t>Chat.Join 'APL'</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Chat.Say 'Hello from APL'</a:t>
            </a:r>
            <a:endParaRPr lang="en-US" sz="1500" dirty="0"/>
          </a:p>
          <a:p>
            <a:pPr indent="0" marL="0">
              <a:buNone/>
            </a:pPr>
            <a:r>
              <a:rPr lang="en-US" sz="1500" dirty="0">
                <a:solidFill>
                  <a:schemeClr val="tx1"/>
                </a:solidFill>
                <a:latin typeface="APL385 Unicode" pitchFamily="34" charset="0"/>
                <a:ea typeface="APL385 Unicode" pitchFamily="34" charset="-122"/>
                <a:cs typeface="APL385 Unicode" pitchFamily="34" charset="-120"/>
              </a:rPr>
              <a:t>Chat.Leave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Server-Sent Events or WebSockets?</a:t>
            </a:r>
            <a:endParaRPr lang="en-US" sz="3400" dirty="0"/>
          </a:p>
        </p:txBody>
      </p:sp>
      <p:graphicFrame>
        <p:nvGraphicFramePr>
          <p:cNvPr id="26" name="table-32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743200"/>
                <a:gridCol w="4169664"/>
                <a:gridCol w="4178808"/>
              </a:tblGrid>
              <a:tr h="0">
                <a:tc>
                  <a:txBody>
                    <a:bodyPr/>
                    <a:lstStyle/>
                    <a:p>
                      <a:pPr indent="0" marL="0">
                        <a:buNone/>
                      </a:pP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900" b="1" dirty="0">
                          <a:solidFill>
                            <a:schemeClr val="bg1"/>
                          </a:solidFill>
                        </a:rPr>
                        <a:t>Server-Sent Events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900" b="1" dirty="0">
                          <a:solidFill>
                            <a:schemeClr val="bg1"/>
                          </a:solidFill>
                        </a:rPr>
                        <a:t>WebSockets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accent2"/>
                    </a:solidFill>
                  </a:tcPr>
                </a:tc>
              </a:tr>
              <a:tr h="0">
                <a:tc>
                  <a:txBody>
                    <a:bodyPr/>
                    <a:lstStyle/>
                    <a:p>
                      <a:pPr indent="0" marL="0">
                        <a:buNone/>
                      </a:pPr>
                      <a:r>
                        <a:rPr lang="en-US" sz="1900" b="1" dirty="0">
                          <a:solidFill>
                            <a:schemeClr val="tx1"/>
                          </a:solidFill>
                        </a:rPr>
                        <a:t>Direction</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Server to client only</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Both ways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900" b="1" dirty="0">
                          <a:solidFill>
                            <a:schemeClr val="tx1"/>
                          </a:solidFill>
                        </a:rPr>
                        <a:t>Connection</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Plain HTTP, a response that never ends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Upgraded from HTTP</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900" b="1" dirty="0">
                          <a:solidFill>
                            <a:schemeClr val="tx1"/>
                          </a:solidFill>
                        </a:rPr>
                        <a:t>Dropped connection</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The browser reconnects by itself</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Your code reconnects, if it wants to</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900" b="1" dirty="0">
                          <a:solidFill>
                            <a:schemeClr val="tx1"/>
                          </a:solidFill>
                        </a:rPr>
                        <a:t>Messages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Text events with a type</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900" dirty="0">
                          <a:solidFill>
                            <a:schemeClr val="tx1"/>
                          </a:solidFill>
                        </a:rPr>
                        <a:t>Any text or binary</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900" b="1" dirty="0">
                          <a:solidFill>
                            <a:schemeClr val="tx1"/>
                          </a:solidFill>
                        </a:rPr>
                        <a:t>Use it for</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Live updates: prices, progress, notifications</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900" dirty="0">
                          <a:solidFill>
                            <a:schemeClr val="tx1"/>
                          </a:solidFill>
                        </a:rPr>
                        <a:t>Conversations: chat, games, collaboration</a:t>
                      </a:r>
                      <a:endParaRPr lang="en-US" sz="1900" dirty="0"/>
                    </a:p>
                  </a:txBody>
                  <a:tcPr marL="109728" marR="109728" marT="155448" marB="155448"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bg1"/>
                </a:solidFill>
              </a:rPr>
              <a:t>Exercise 4: WebSockets</a:t>
            </a:r>
            <a:endParaRPr lang="en-US" sz="3400" dirty="0"/>
          </a:p>
        </p:txBody>
      </p:sp>
      <p:sp>
        <p:nvSpPr>
          <p:cNvPr id="3" name="time-321"/>
          <p:cNvSpPr txBox="1"/>
          <p:nvPr/>
        </p:nvSpPr>
        <p:spPr>
          <a:xfrm>
            <a:off x="548640" y="1234440"/>
            <a:ext cx="3657600" cy="411480"/>
          </a:xfrm>
          <a:prstGeom prst="rect">
            <a:avLst/>
          </a:prstGeom>
          <a:noFill/>
          <a:ln/>
        </p:spPr>
        <p:txBody>
          <a:bodyPr wrap="square" lIns="0" tIns="0" rIns="0" bIns="0" rtlCol="0" anchor="ctr"/>
          <a:lstStyle/>
          <a:p>
            <a:pPr indent="0" marL="0">
              <a:buNone/>
            </a:pPr>
            <a:r>
              <a:rPr lang="en-US" sz="1800" b="1" dirty="0">
                <a:solidFill>
                  <a:schemeClr val="accent1"/>
                </a:solidFill>
              </a:rPr>
              <a:t>30 minutes</a:t>
            </a:r>
            <a:endParaRPr lang="en-US" sz="1800" dirty="0"/>
          </a:p>
        </p:txBody>
      </p:sp>
      <p:sp>
        <p:nvSpPr>
          <p:cNvPr id="4" name="goal-322"/>
          <p:cNvSpPr txBox="1"/>
          <p:nvPr/>
        </p:nvSpPr>
        <p:spPr>
          <a:xfrm>
            <a:off x="548640" y="1691640"/>
            <a:ext cx="5486400" cy="1097280"/>
          </a:xfrm>
          <a:prstGeom prst="rect">
            <a:avLst/>
          </a:prstGeom>
          <a:noFill/>
          <a:ln/>
        </p:spPr>
        <p:txBody>
          <a:bodyPr wrap="square" lIns="0" tIns="0" rIns="0" bIns="0" rtlCol="0" anchor="t"/>
          <a:lstStyle/>
          <a:p>
            <a:pPr indent="0" marL="0">
              <a:buNone/>
            </a:pPr>
            <a:r>
              <a:rPr lang="en-US" sz="2200" dirty="0">
                <a:solidFill>
                  <a:schemeClr val="bg1"/>
                </a:solidFill>
              </a:rPr>
              <a:t>Build a chat server with three hooks, chat from two browser tabs, then join the same chat from APL.</a:t>
            </a:r>
            <a:endParaRPr lang="en-US" sz="2200" dirty="0"/>
          </a:p>
        </p:txBody>
      </p:sp>
      <p:sp>
        <p:nvSpPr>
          <p:cNvPr id="5" name="steps head-323"/>
          <p:cNvSpPr txBox="1"/>
          <p:nvPr/>
        </p:nvSpPr>
        <p:spPr>
          <a:xfrm>
            <a:off x="6400800" y="1280160"/>
            <a:ext cx="5212080" cy="365760"/>
          </a:xfrm>
          <a:prstGeom prst="rect">
            <a:avLst/>
          </a:prstGeom>
          <a:noFill/>
          <a:ln/>
        </p:spPr>
        <p:txBody>
          <a:bodyPr wrap="square" lIns="0" tIns="0" rIns="0" bIns="0" rtlCol="0" anchor="ctr"/>
          <a:lstStyle/>
          <a:p>
            <a:pPr indent="0" marL="0">
              <a:buNone/>
            </a:pPr>
            <a:r>
              <a:rPr lang="en-US" sz="1600" b="1" dirty="0">
                <a:solidFill>
                  <a:schemeClr val="accent4"/>
                </a:solidFill>
              </a:rPr>
              <a:t>Core steps</a:t>
            </a:r>
            <a:endParaRPr lang="en-US" sz="1600" dirty="0"/>
          </a:p>
        </p:txBody>
      </p:sp>
      <p:sp>
        <p:nvSpPr>
          <p:cNvPr id="6" name="steps-324"/>
          <p:cNvSpPr txBox="1"/>
          <p:nvPr/>
        </p:nvSpPr>
        <p:spPr>
          <a:xfrm>
            <a:off x="6400800" y="1691640"/>
            <a:ext cx="5212080" cy="2743200"/>
          </a:xfrm>
          <a:prstGeom prst="rect">
            <a:avLst/>
          </a:prstGeom>
          <a:noFill/>
          <a:ln/>
        </p:spPr>
        <p:txBody>
          <a:bodyPr wrap="square" lIns="0" tIns="0" rIns="0" bIns="0" rtlCol="0" anchor="t"/>
          <a:lstStyle/>
          <a:p>
            <a:pPr indent="0" marL="0">
              <a:spcAft>
                <a:spcPts val="600"/>
              </a:spcAft>
              <a:buNone/>
            </a:pPr>
            <a:r>
              <a:rPr lang="en-US" sz="1700" dirty="0">
                <a:solidFill>
                  <a:schemeClr val="bg1"/>
                </a:solidFill>
              </a:rPr>
              <a:t>W1  Start the server, join from the page</a:t>
            </a:r>
            <a:endParaRPr lang="en-US" sz="1700" dirty="0"/>
          </a:p>
          <a:p>
            <a:pPr indent="0" marL="0">
              <a:spcAft>
                <a:spcPts val="600"/>
              </a:spcAft>
              <a:buNone/>
            </a:pPr>
            <a:r>
              <a:rPr lang="en-US" sz="1700" dirty="0">
                <a:solidFill>
                  <a:schemeClr val="bg1"/>
                </a:solidFill>
              </a:rPr>
              <a:t>W2  Connect: remember the connection</a:t>
            </a:r>
            <a:endParaRPr lang="en-US" sz="1700" dirty="0"/>
          </a:p>
          <a:p>
            <a:pPr indent="0" marL="0">
              <a:spcAft>
                <a:spcPts val="600"/>
              </a:spcAft>
              <a:buNone/>
            </a:pPr>
            <a:r>
              <a:rPr lang="en-US" sz="1700" dirty="0">
                <a:solidFill>
                  <a:schemeClr val="bg1"/>
                </a:solidFill>
              </a:rPr>
              <a:t>W3  Receive: send messages on to everyone</a:t>
            </a:r>
            <a:endParaRPr lang="en-US" sz="1700" dirty="0"/>
          </a:p>
          <a:p>
            <a:pPr indent="0" marL="0">
              <a:spcAft>
                <a:spcPts val="600"/>
              </a:spcAft>
              <a:buNone/>
            </a:pPr>
            <a:r>
              <a:rPr lang="en-US" sz="1700" dirty="0">
                <a:solidFill>
                  <a:schemeClr val="bg1"/>
                </a:solidFill>
              </a:rPr>
              <a:t>W4  Disconnect: announce who left</a:t>
            </a:r>
            <a:endParaRPr lang="en-US" sz="1700" dirty="0"/>
          </a:p>
          <a:p>
            <a:pPr indent="0" marL="0">
              <a:spcAft>
                <a:spcPts val="600"/>
              </a:spcAft>
              <a:buNone/>
            </a:pPr>
            <a:r>
              <a:rPr lang="en-US" sz="1700" dirty="0">
                <a:solidFill>
                  <a:schemeClr val="bg1"/>
                </a:solidFill>
              </a:rPr>
              <a:t>W5  Join from APL with Chat</a:t>
            </a:r>
            <a:endParaRPr lang="en-US" sz="1700" dirty="0"/>
          </a:p>
          <a:p>
            <a:pPr indent="0" marL="0">
              <a:spcAft>
                <a:spcPts val="600"/>
              </a:spcAft>
              <a:buNone/>
            </a:pPr>
            <a:r>
              <a:rPr lang="en-US" sz="1700" dirty="0">
                <a:solidFill>
                  <a:schemeClr val="bg1"/>
                </a:solidFill>
              </a:rPr>
              <a:t>W6  Stop</a:t>
            </a:r>
            <a:endParaRPr lang="en-US" sz="1700" dirty="0"/>
          </a:p>
        </p:txBody>
      </p:sp>
      <p:sp>
        <p:nvSpPr>
          <p:cNvPr id="7" name="first head-325"/>
          <p:cNvSpPr txBox="1"/>
          <p:nvPr/>
        </p:nvSpPr>
        <p:spPr>
          <a:xfrm>
            <a:off x="548640" y="4160520"/>
            <a:ext cx="7315200" cy="365760"/>
          </a:xfrm>
          <a:prstGeom prst="rect">
            <a:avLst/>
          </a:prstGeom>
          <a:noFill/>
          <a:ln/>
        </p:spPr>
        <p:txBody>
          <a:bodyPr wrap="square" lIns="0" tIns="0" rIns="0" bIns="0" rtlCol="0" anchor="ctr"/>
          <a:lstStyle/>
          <a:p>
            <a:pPr indent="0" marL="0">
              <a:buNone/>
            </a:pPr>
            <a:r>
              <a:rPr lang="en-US" sz="1600" b="1" dirty="0">
                <a:solidFill>
                  <a:schemeClr val="accent4"/>
                </a:solidFill>
              </a:rPr>
              <a:t>Start here, after Setup</a:t>
            </a:r>
            <a:endParaRPr lang="en-US" sz="1600" dirty="0"/>
          </a:p>
        </p:txBody>
      </p:sp>
      <p:sp>
        <p:nvSpPr>
          <p:cNvPr id="8" name="code panel-326"/>
          <p:cNvSpPr/>
          <p:nvPr/>
        </p:nvSpPr>
        <p:spPr>
          <a:xfrm>
            <a:off x="548640" y="4572000"/>
            <a:ext cx="11094415" cy="685800"/>
          </a:xfrm>
          <a:prstGeom prst="roundRect">
            <a:avLst>
              <a:gd name="adj" fmla="val 10667"/>
            </a:avLst>
          </a:prstGeom>
          <a:solidFill>
            <a:schemeClr val="tx2"/>
          </a:solidFill>
          <a:ln w="12700">
            <a:solidFill>
              <a:schemeClr val="tx2"/>
            </a:solidFill>
            <a:prstDash val="solid"/>
          </a:ln>
        </p:spPr>
      </p:sp>
      <p:sp>
        <p:nvSpPr>
          <p:cNvPr id="9" name="code-327"/>
          <p:cNvSpPr txBox="1"/>
          <p:nvPr/>
        </p:nvSpPr>
        <p:spPr>
          <a:xfrm>
            <a:off x="731520" y="4681728"/>
            <a:ext cx="10728655" cy="466344"/>
          </a:xfrm>
          <a:prstGeom prst="rect">
            <a:avLst/>
          </a:prstGeom>
          <a:noFill/>
          <a:ln/>
        </p:spPr>
        <p:txBody>
          <a:bodyPr wrap="square" lIns="0" tIns="0" rIns="0" bIns="0" rtlCol="0" anchor="t"/>
          <a:lstStyle/>
          <a:p>
            <a:pPr indent="0" marL="0">
              <a:buNone/>
            </a:pPr>
            <a:r>
              <a:rPr lang="en-US" sz="1500" dirty="0">
                <a:solidFill>
                  <a:schemeClr val="bg1"/>
                </a:solidFill>
                <a:latin typeface="APL385 Unicode" pitchFamily="34" charset="0"/>
                <a:ea typeface="APL385 Unicode" pitchFamily="34" charset="-122"/>
                <a:cs typeface="APL385 Unicode" pitchFamily="34" charset="-120"/>
              </a:rPr>
              <a:t>2 ⎕FIX 'file://',#.WorkshopRoot,'/Exercises/Ex4-WebSockets/Run.aplf'</a:t>
            </a:r>
            <a:endParaRPr lang="en-US" sz="1500" dirty="0"/>
          </a:p>
        </p:txBody>
      </p:sp>
      <p:sp>
        <p:nvSpPr>
          <p:cNvPr id="10" name="readme-328"/>
          <p:cNvSpPr txBox="1"/>
          <p:nvPr/>
        </p:nvSpPr>
        <p:spPr>
          <a:xfrm>
            <a:off x="548640" y="6355080"/>
            <a:ext cx="10058400" cy="320040"/>
          </a:xfrm>
          <a:prstGeom prst="rect">
            <a:avLst/>
          </a:prstGeom>
          <a:noFill/>
          <a:ln/>
        </p:spPr>
        <p:txBody>
          <a:bodyPr wrap="square" lIns="0" tIns="0" rIns="0" bIns="0" rtlCol="0" anchor="ctr"/>
          <a:lstStyle/>
          <a:p>
            <a:pPr indent="0" marL="0">
              <a:buNone/>
            </a:pPr>
            <a:r>
              <a:rPr lang="en-US" sz="1300" dirty="0">
                <a:solidFill>
                  <a:schemeClr val="accent5"/>
                </a:solidFill>
              </a:rPr>
              <a:t>Exercises/Ex4-WebSockets/README.md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Choosing an approach</a:t>
            </a:r>
            <a:endParaRPr lang="en-US" sz="3400" dirty="0"/>
          </a:p>
        </p:txBody>
      </p:sp>
      <p:graphicFrame>
        <p:nvGraphicFramePr>
          <p:cNvPr id="28" name="table-329"/>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77440"/>
                <a:gridCol w="2194560"/>
                <a:gridCol w="2377440"/>
                <a:gridCol w="4142232"/>
              </a:tblGrid>
              <a:tr h="0">
                <a:tc>
                  <a:txBody>
                    <a:bodyPr/>
                    <a:lstStyle/>
                    <a:p>
                      <a:pPr indent="0" marL="0">
                        <a:buNone/>
                      </a:pP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800" b="1" dirty="0">
                          <a:solidFill>
                            <a:schemeClr val="bg1"/>
                          </a:solidFill>
                        </a:rPr>
                        <a:t>Who starts</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800" b="1" dirty="0">
                          <a:solidFill>
                            <a:schemeClr val="bg1"/>
                          </a:solidFill>
                        </a:rPr>
                        <a:t>Direction</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800" b="1" dirty="0">
                          <a:solidFill>
                            <a:schemeClr val="bg1"/>
                          </a:solidFill>
                        </a:rPr>
                        <a:t>Use it when</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accent2"/>
                    </a:solidFill>
                  </a:tcPr>
                </a:tc>
              </a:tr>
              <a:tr h="0">
                <a:tc>
                  <a:txBody>
                    <a:bodyPr/>
                    <a:lstStyle/>
                    <a:p>
                      <a:pPr indent="0" marL="0">
                        <a:buNone/>
                      </a:pPr>
                      <a:r>
                        <a:rPr lang="en-US" sz="1800" b="1" dirty="0">
                          <a:solidFill>
                            <a:schemeClr val="tx1"/>
                          </a:solidFill>
                        </a:rPr>
                        <a:t>Request and response</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Client</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Ask, then answer</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The answer is quick</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800" b="1" dirty="0">
                          <a:solidFill>
                            <a:schemeClr val="tx1"/>
                          </a:solidFill>
                        </a:rPr>
                        <a:t>Polling</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Client, repeatedly</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Ask, then answer</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Nothing else is possible</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800" b="1" dirty="0">
                          <a:solidFill>
                            <a:schemeClr val="tx1"/>
                          </a:solidFill>
                        </a:rPr>
                        <a:t>Web hook</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Server calls back</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One result, later</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Work is slow and the client can be reached</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r>
              <a:tr h="0">
                <a:tc>
                  <a:txBody>
                    <a:bodyPr/>
                    <a:lstStyle/>
                    <a:p>
                      <a:pPr indent="0" marL="0">
                        <a:buNone/>
                      </a:pPr>
                      <a:r>
                        <a:rPr lang="en-US" sz="1800" b="1" dirty="0">
                          <a:solidFill>
                            <a:schemeClr val="tx1"/>
                          </a:solidFill>
                        </a:rPr>
                        <a:t>Server-Sent Events</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Client, once</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Server to client</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The server pushes updates</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1"/>
                    </a:solidFill>
                  </a:tcPr>
                </a:tc>
              </a:tr>
              <a:tr h="0">
                <a:tc>
                  <a:txBody>
                    <a:bodyPr/>
                    <a:lstStyle/>
                    <a:p>
                      <a:pPr indent="0" marL="0">
                        <a:buNone/>
                      </a:pPr>
                      <a:r>
                        <a:rPr lang="en-US" sz="1800" b="1" dirty="0">
                          <a:solidFill>
                            <a:schemeClr val="tx1"/>
                          </a:solidFill>
                        </a:rPr>
                        <a:t>WebSockets</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Either side</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Both ways</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Both sides talk, any time</a:t>
                      </a:r>
                      <a:endParaRPr lang="en-US" sz="1800" dirty="0"/>
                    </a:p>
                  </a:txBody>
                  <a:tcPr marL="109728" marR="109728" marT="128016" marB="12801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330"/>
          <p:cNvSpPr txBox="1"/>
          <p:nvPr/>
        </p:nvSpPr>
        <p:spPr>
          <a:xfrm>
            <a:off x="548640" y="5303520"/>
            <a:ext cx="11094415" cy="731520"/>
          </a:xfrm>
          <a:prstGeom prst="rect">
            <a:avLst/>
          </a:prstGeom>
          <a:noFill/>
          <a:ln/>
        </p:spPr>
        <p:txBody>
          <a:bodyPr wrap="square" lIns="0" tIns="0" rIns="0" bIns="0" rtlCol="0" anchor="t"/>
          <a:lstStyle/>
          <a:p>
            <a:pPr indent="0" marL="0">
              <a:buNone/>
            </a:pPr>
            <a:r>
              <a:rPr lang="en-US" sz="1900" dirty="0">
                <a:solidFill>
                  <a:schemeClr val="tx1"/>
                </a:solidFill>
              </a:rPr>
              <a:t>All of them in APL: HttpCommand to call, Jarvis to serve, WebSocketClient to talk both ways.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731520" y="1920240"/>
            <a:ext cx="7498080" cy="1371600"/>
          </a:xfrm>
          <a:prstGeom prst="rect">
            <a:avLst/>
          </a:prstGeom>
          <a:noFill/>
          <a:ln/>
        </p:spPr>
        <p:txBody>
          <a:bodyPr wrap="square" lIns="0" tIns="0" rIns="0" bIns="0" rtlCol="0" anchor="b"/>
          <a:lstStyle/>
          <a:p>
            <a:pPr algn="l" indent="0" marL="0">
              <a:buNone/>
            </a:pPr>
            <a:r>
              <a:rPr lang="en-US" sz="5400" b="1" dirty="0">
                <a:solidFill>
                  <a:schemeClr val="bg1"/>
                </a:solidFill>
              </a:rPr>
              <a:t>Questions?</a:t>
            </a:r>
            <a:endParaRPr lang="en-US" sz="5400" dirty="0"/>
          </a:p>
        </p:txBody>
      </p:sp>
      <p:sp>
        <p:nvSpPr>
          <p:cNvPr id="3" name="Text 1"/>
          <p:cNvSpPr/>
          <p:nvPr>
            <p:ph idx="102" type="body" hasCustomPrompt="1"/>
          </p:nvPr>
        </p:nvSpPr>
        <p:spPr>
          <a:xfrm>
            <a:off x="731520" y="3429000"/>
            <a:ext cx="7498080" cy="914400"/>
          </a:xfrm>
          <a:prstGeom prst="rect">
            <a:avLst/>
          </a:prstGeom>
          <a:noFill/>
          <a:ln/>
        </p:spPr>
        <p:txBody>
          <a:bodyPr wrap="square" lIns="0" tIns="0" rIns="0" bIns="0" rtlCol="0" anchor="t"/>
          <a:lstStyle/>
          <a:p>
            <a:pPr indent="0" marL="0">
              <a:buNone/>
            </a:pPr>
            <a:r>
              <a:rPr lang="en-US" sz="2200" dirty="0">
                <a:solidFill>
                  <a:schemeClr val="accent4"/>
                </a:solidFill>
              </a:rPr>
              <a:t>Thank you</a:t>
            </a:r>
            <a:endParaRPr lang="en-US" sz="2200" dirty="0"/>
          </a:p>
        </p:txBody>
      </p:sp>
      <p:sp>
        <p:nvSpPr>
          <p:cNvPr id="4" name="Text 1"/>
          <p:cNvSpPr/>
          <p:nvPr>
            <p:ph idx="103" type="body" hasCustomPrompt="1"/>
          </p:nvPr>
        </p:nvSpPr>
        <p:spPr>
          <a:xfrm>
            <a:off x="731520" y="5303520"/>
            <a:ext cx="7498080" cy="457200"/>
          </a:xfrm>
          <a:prstGeom prst="rect">
            <a:avLst/>
          </a:prstGeom>
          <a:noFill/>
          <a:ln/>
        </p:spPr>
        <p:txBody>
          <a:bodyPr wrap="square" lIns="0" tIns="0" rIns="0" bIns="0" rtlCol="0"/>
          <a:lstStyle/>
          <a:p>
            <a:pPr indent="0" marL="0">
              <a:buNone/>
            </a:pPr>
            <a:r>
              <a:rPr lang="en-US" sz="1600" dirty="0">
                <a:solidFill>
                  <a:schemeClr val="accent5"/>
                </a:solidFill>
              </a:rPr>
              <a:t>Workshop materials: github.com/dyalog-training/2026-MP2</a:t>
            </a:r>
            <a:endParaRPr lang="en-US" sz="1600" dirty="0"/>
          </a:p>
        </p:txBody>
      </p:sp>
      <p:sp>
        <p:nvSpPr>
          <p:cNvPr id="5" name="link name-331"/>
          <p:cNvSpPr txBox="1"/>
          <p:nvPr/>
        </p:nvSpPr>
        <p:spPr>
          <a:xfrm>
            <a:off x="8595360" y="182880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HttpCommand</a:t>
            </a:r>
            <a:endParaRPr lang="en-US" sz="1800" dirty="0"/>
          </a:p>
        </p:txBody>
      </p:sp>
      <p:sp>
        <p:nvSpPr>
          <p:cNvPr id="6" name="link url-332">
            <a:hlinkClick r:id="rId1" tooltip=""/>
          </p:cNvPr>
          <p:cNvSpPr txBox="1"/>
          <p:nvPr/>
        </p:nvSpPr>
        <p:spPr>
          <a:xfrm>
            <a:off x="8595360" y="2194560"/>
            <a:ext cx="3108960" cy="365760"/>
          </a:xfrm>
          <a:prstGeom prst="rect">
            <a:avLst/>
          </a:prstGeom>
          <a:noFill/>
          <a:ln/>
        </p:spPr>
        <p:txBody>
          <a:bodyPr wrap="square" lIns="0" tIns="0" rIns="0" bIns="0" rtlCol="0" anchor="ctr"/>
          <a:lstStyle/>
          <a:p>
            <a:pPr indent="0" marL="0">
              <a:buNone/>
            </a:pPr>
            <a:r>
              <a:rPr lang="en-US" sz="1500"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dyalog.github.io/HttpCommand</a:t>
            </a:r>
            <a:endParaRPr lang="en-US" sz="1500" dirty="0"/>
          </a:p>
        </p:txBody>
      </p:sp>
      <p:sp>
        <p:nvSpPr>
          <p:cNvPr id="7" name="link name-333"/>
          <p:cNvSpPr txBox="1"/>
          <p:nvPr/>
        </p:nvSpPr>
        <p:spPr>
          <a:xfrm>
            <a:off x="8595360" y="288036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Jarvis</a:t>
            </a:r>
            <a:endParaRPr lang="en-US" sz="1800" dirty="0"/>
          </a:p>
        </p:txBody>
      </p:sp>
      <p:sp>
        <p:nvSpPr>
          <p:cNvPr id="8" name="link url-334">
            <a:hlinkClick r:id="rId2" tooltip=""/>
          </p:cNvPr>
          <p:cNvSpPr txBox="1"/>
          <p:nvPr/>
        </p:nvSpPr>
        <p:spPr>
          <a:xfrm>
            <a:off x="8595360" y="3246120"/>
            <a:ext cx="3108960" cy="365760"/>
          </a:xfrm>
          <a:prstGeom prst="rect">
            <a:avLst/>
          </a:prstGeom>
          <a:noFill/>
          <a:ln/>
        </p:spPr>
        <p:txBody>
          <a:bodyPr wrap="square" lIns="0" tIns="0" rIns="0" bIns="0" rtlCol="0" anchor="ctr"/>
          <a:lstStyle/>
          <a:p>
            <a:pPr indent="0" marL="0">
              <a:buNone/>
            </a:pPr>
            <a:r>
              <a:rPr lang="en-US" sz="1500" u="sng" dirty="0">
                <a:solidFill>
                  <a:schemeClr val="accent4"/>
                </a:solidFill>
                <a:hlinkClick r:id="rId2" invalidUrl="" action="" tgtFrame="" tooltip="" history="1" highlightClick="0" endSnd="0">
                  <a:extLst>
                    <a:ext uri="{A12FA001-AC4F-418D-AE19-62706E023703}">
                      <ahyp:hlinkClr xmlns:ahyp="http://schemas.microsoft.com/office/drawing/2018/hyperlinkcolor" val="tx"/>
                    </a:ext>
                  </a:extLst>
                </a:hlinkClick>
              </a:rPr>
              <a:t>dyalog.github.io/Jarvis</a:t>
            </a:r>
            <a:endParaRPr lang="en-US" sz="1500" dirty="0"/>
          </a:p>
        </p:txBody>
      </p:sp>
      <p:sp>
        <p:nvSpPr>
          <p:cNvPr id="9" name="link name-335"/>
          <p:cNvSpPr txBox="1"/>
          <p:nvPr/>
        </p:nvSpPr>
        <p:spPr>
          <a:xfrm>
            <a:off x="8595360" y="393192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WebSocketClient</a:t>
            </a:r>
            <a:endParaRPr lang="en-US" sz="1800" dirty="0"/>
          </a:p>
        </p:txBody>
      </p:sp>
      <p:sp>
        <p:nvSpPr>
          <p:cNvPr id="10" name="link url-336">
            <a:hlinkClick r:id="rId3" tooltip=""/>
          </p:cNvPr>
          <p:cNvSpPr txBox="1"/>
          <p:nvPr/>
        </p:nvSpPr>
        <p:spPr>
          <a:xfrm>
            <a:off x="8595360" y="4297680"/>
            <a:ext cx="3108960" cy="365760"/>
          </a:xfrm>
          <a:prstGeom prst="rect">
            <a:avLst/>
          </a:prstGeom>
          <a:noFill/>
          <a:ln/>
        </p:spPr>
        <p:txBody>
          <a:bodyPr wrap="square" lIns="0" tIns="0" rIns="0" bIns="0" rtlCol="0" anchor="ctr"/>
          <a:lstStyle/>
          <a:p>
            <a:pPr indent="0" marL="0">
              <a:buNone/>
            </a:pPr>
            <a:r>
              <a:rPr lang="en-US" sz="1500" u="sng" dirty="0">
                <a:solidFill>
                  <a:schemeClr val="accent4"/>
                </a:solidFill>
                <a:hlinkClick r:id="rId3" invalidUrl="" action="" tgtFrame="" tooltip="" history="1" highlightClick="0" endSnd="0">
                  <a:extLst>
                    <a:ext uri="{A12FA001-AC4F-418D-AE19-62706E023703}">
                      <ahyp:hlinkClr xmlns:ahyp="http://schemas.microsoft.com/office/drawing/2018/hyperlinkcolor" val="tx"/>
                    </a:ext>
                  </a:extLst>
                </a:hlinkClick>
              </a:rPr>
              <a:t>dyalog.github.io/WebSocketClient</a:t>
            </a:r>
            <a:endParaRPr lang="en-US" sz="1500" dirty="0"/>
          </a:p>
        </p:txBody>
      </p:sp>
    </p:spTree>
  </p:cSld>
  <p:clrMapOvr>
    <a:masterClrMapping/>
  </p:clrMapOvr>
</p:sld>
</file>

<file path=ppt/theme/theme1.xml><?xml version="1.0" encoding="utf-8"?>
<a:theme xmlns:a="http://schemas.openxmlformats.org/drawingml/2006/main" name="Asynchronous Services">
  <a:themeElements>
    <a:clrScheme name="Asynchronous Services">
      <a:dk1>
        <a:srgbClr val="1B2A33"/>
      </a:dk1>
      <a:lt1>
        <a:srgbClr val="FFFFFF"/>
      </a:lt1>
      <a:dk2>
        <a:srgbClr val="24414F"/>
      </a:dk2>
      <a:lt2>
        <a:srgbClr val="EEF2F4"/>
      </a:lt2>
      <a:accent1>
        <a:srgbClr val="E0782A"/>
      </a:accent1>
      <a:accent2>
        <a:srgbClr val="2A8C82"/>
      </a:accent2>
      <a:accent3>
        <a:srgbClr val="6B7F8C"/>
      </a:accent3>
      <a:accent4>
        <a:srgbClr val="CFE3E1"/>
      </a:accent4>
      <a:accent5>
        <a:srgbClr val="F6DCC4"/>
      </a:accent5>
      <a:accent6>
        <a:srgbClr val="B3261E"/>
      </a:accent6>
      <a:hlink>
        <a:srgbClr val="2A8C82"/>
      </a:hlink>
      <a:folHlink>
        <a:srgbClr val="6B7F8C"/>
      </a:folHlink>
    </a:clrScheme>
    <a:fontScheme name="Asynchronous Servic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Asynchronous Services</dc:title>
  <dc:subject>Dyalog26 User Meeting workshop: web hooks, Server-Sent Events and WebSockets in Dyalog APL</dc:subject>
  <dc:creator>Asynchronous Services workshop</dc:creator>
  <cp:lastModifiedBy>Asynchronous Services workshop</cp:lastModifiedBy>
  <cp:revision>1</cp:revision>
  <dcterms:created xsi:type="dcterms:W3CDTF">2026-10-04T04:35:21Z</dcterms:created>
  <dcterms:modified xsi:type="dcterms:W3CDTF">2026-10-04T04:35:21Z</dcterms:modified>
</cp:coreProperties>
</file>